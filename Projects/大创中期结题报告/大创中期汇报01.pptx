
<file path=[Content_Types].xml><?xml version="1.0" encoding="utf-8"?>
<Types xmlns="http://schemas.openxmlformats.org/package/2006/content-types">
  <Default Extension="png" ContentType="image/png"/>
  <Default Extension="wdp" ContentType="image/vnd.ms-photo"/>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handoutMasters/handoutMaster1.xml" ContentType="application/vnd.openxmlformats-officedocument.presentationml.handoutMaster+xml"/>
  <Override PartName="/ppt/media/image11.svg" ContentType="image/svg+xml"/>
  <Override PartName="/ppt/media/image13.svg" ContentType="image/svg+xml"/>
  <Override PartName="/ppt/media/image15.svg" ContentType="image/svg+xml"/>
  <Override PartName="/ppt/media/image17.svg" ContentType="image/svg+xml"/>
  <Override PartName="/ppt/media/image19.svg" ContentType="image/svg+xml"/>
  <Override PartName="/ppt/media/image23.svg" ContentType="image/svg+xml"/>
  <Override PartName="/ppt/media/image25.svg" ContentType="image/svg+xml"/>
  <Override PartName="/ppt/media/image27.svg" ContentType="image/svg+xml"/>
  <Override PartName="/ppt/media/image30.svg" ContentType="image/svg+xml"/>
  <Override PartName="/ppt/media/image32.svg" ContentType="image/svg+xml"/>
  <Override PartName="/ppt/media/image34.svg" ContentType="image/svg+xml"/>
  <Override PartName="/ppt/media/image37.svg" ContentType="image/svg+xml"/>
  <Override PartName="/ppt/media/image39.svg" ContentType="image/svg+xml"/>
  <Override PartName="/ppt/media/image42.svg" ContentType="image/svg+xml"/>
  <Override PartName="/ppt/media/image44.svg" ContentType="image/svg+xml"/>
  <Override PartName="/ppt/media/image62.svg" ContentType="image/svg+xml"/>
  <Override PartName="/ppt/media/image64.svg" ContentType="image/svg+xml"/>
  <Override PartName="/ppt/media/image66.svg" ContentType="image/svg+xml"/>
  <Override PartName="/ppt/media/image69.svg" ContentType="image/svg+xml"/>
  <Override PartName="/ppt/media/image72.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p:sldMasterIdLst>
    <p:sldMasterId id="2147483648" r:id="rId1"/>
  </p:sldMasterIdLst>
  <p:notesMasterIdLst>
    <p:notesMasterId r:id="rId4"/>
  </p:notesMasterIdLst>
  <p:handoutMasterIdLst>
    <p:handoutMasterId r:id="rId31"/>
  </p:handoutMasterIdLst>
  <p:sldIdLst>
    <p:sldId id="1946" r:id="rId3"/>
    <p:sldId id="1947" r:id="rId5"/>
    <p:sldId id="2045" r:id="rId6"/>
    <p:sldId id="1949" r:id="rId7"/>
    <p:sldId id="2022" r:id="rId8"/>
    <p:sldId id="2023" r:id="rId9"/>
    <p:sldId id="2046" r:id="rId10"/>
    <p:sldId id="2002" r:id="rId11"/>
    <p:sldId id="1957" r:id="rId12"/>
    <p:sldId id="1999" r:id="rId13"/>
    <p:sldId id="2000" r:id="rId14"/>
    <p:sldId id="2001" r:id="rId15"/>
    <p:sldId id="2024" r:id="rId16"/>
    <p:sldId id="2040" r:id="rId17"/>
    <p:sldId id="2047" r:id="rId18"/>
    <p:sldId id="2003" r:id="rId19"/>
    <p:sldId id="2004" r:id="rId20"/>
    <p:sldId id="2007" r:id="rId21"/>
    <p:sldId id="2014" r:id="rId22"/>
    <p:sldId id="2015" r:id="rId23"/>
    <p:sldId id="2016" r:id="rId24"/>
    <p:sldId id="2005" r:id="rId25"/>
    <p:sldId id="2042" r:id="rId26"/>
    <p:sldId id="2043" r:id="rId27"/>
    <p:sldId id="2048" r:id="rId28"/>
    <p:sldId id="1980" r:id="rId29"/>
    <p:sldId id="1952" r:id="rId30"/>
  </p:sldIdLst>
  <p:sldSz cx="12192000" cy="6858000"/>
  <p:notesSz cx="9928225" cy="6797675"/>
  <p:embeddedFontLst>
    <p:embeddedFont>
      <p:font typeface="微软雅黑" panose="020B0503020204020204" pitchFamily="34" charset="-122"/>
      <p:regular r:id="rId36"/>
    </p:embeddedFont>
    <p:embeddedFont>
      <p:font typeface="Calibri" panose="020F0502020204030204"/>
      <p:regular r:id="rId37"/>
      <p:bold r:id="rId38"/>
      <p:italic r:id="rId39"/>
      <p:boldItalic r:id="rId40"/>
    </p:embeddedFont>
    <p:embeddedFont>
      <p:font typeface="等线" panose="02010600030101010101" pitchFamily="2" charset="-122"/>
      <p:regular r:id="rId41"/>
    </p:embeddedFont>
    <p:embeddedFont>
      <p:font typeface="Calibri" panose="020F0502020204030204" pitchFamily="34" charset="0"/>
      <p:regular r:id="rId42"/>
      <p:bold r:id="rId43"/>
      <p:italic r:id="rId44"/>
      <p:boldItalic r:id="rId45"/>
    </p:embeddedFont>
    <p:embeddedFont>
      <p:font typeface="华文行楷" panose="02010800040101010101" charset="-122"/>
      <p:regular r:id="rId46"/>
    </p:embeddedFont>
    <p:embeddedFont>
      <p:font typeface="Noto Sans SC" panose="020B0200000000000000" charset="-122"/>
      <p:regular r:id="rId47"/>
    </p:embeddedFont>
    <p:embeddedFont>
      <p:font typeface="等线 Light" panose="02010600030101010101" charset="-122"/>
      <p:regular r:id="rId48"/>
    </p:embeddedFont>
  </p:embeddedFontLst>
  <p:custDataLst>
    <p:tags r:id="rId4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648" userDrawn="1">
          <p15:clr>
            <a:srgbClr val="A4A3A4"/>
          </p15:clr>
        </p15:guide>
        <p15:guide id="2" pos="3840" userDrawn="1">
          <p15:clr>
            <a:srgbClr val="A4A3A4"/>
          </p15:clr>
        </p15:guide>
        <p15:guide id="3" orient="horz" pos="116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李伯钊" initials="李伯钊"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5E0B4"/>
    <a:srgbClr val="005825"/>
    <a:srgbClr val="00481C"/>
    <a:srgbClr val="8E4B23"/>
    <a:srgbClr val="A40000"/>
    <a:srgbClr val="04640B"/>
    <a:srgbClr val="CC9B00"/>
    <a:srgbClr val="E24E0C"/>
    <a:srgbClr val="06A211"/>
    <a:srgbClr val="1E267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54D6A88-18FC-46BF-8F70-5FD4559684DD}" styleName="表样式 1">
    <a:wholeTbl>
      <a:tcTxStyle>
        <a:fontRef idx="none">
          <a:srgbClr val="000000"/>
        </a:fontRef>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a:noFill/>
            </a:ln>
          </a:insideH>
          <a:insideV>
            <a:ln>
              <a:noFill/>
            </a:ln>
          </a:insideV>
        </a:tcBdr>
        <a:fill>
          <a:solidFill>
            <a:srgbClr val="FFFFFF"/>
          </a:solidFill>
        </a:fill>
      </a:tcStyle>
    </a:wholeTbl>
    <a:band2H>
      <a:tcStyle>
        <a:tcBdr/>
        <a:fill>
          <a:solidFill>
            <a:schemeClr val="accent6">
              <a:lumMod val="10000"/>
              <a:lumOff val="90000"/>
            </a:schemeClr>
          </a:solidFill>
        </a:fill>
      </a:tcStyle>
    </a:band2H>
    <a:band1V>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a:noFill/>
            </a:ln>
          </a:insideH>
          <a:insideV>
            <a:ln>
              <a:noFill/>
            </a:ln>
          </a:insideV>
        </a:tcBdr>
        <a:fill>
          <a:solidFill>
            <a:schemeClr val="accent6">
              <a:lumMod val="10000"/>
              <a:lumOff val="90000"/>
            </a:schemeClr>
          </a:solidFill>
        </a:fill>
      </a:tcStyle>
    </a:band1V>
    <a:band2V>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solidFill>
            <a:schemeClr val="bg1"/>
          </a:solidFill>
        </a:fill>
      </a:tcStyle>
    </a:band2V>
    <a:lastCol>
      <a:tcTxStyle b="on">
        <a:fontRef idx="none">
          <a:srgbClr val="08090C"/>
        </a:fontRef>
      </a:tcTxStyle>
      <a:tcStyle>
        <a:tcBdr>
          <a:left>
            <a:ln>
              <a:noFill/>
            </a:ln>
          </a:left>
          <a:right>
            <a:ln w="12700" cmpd="sng">
              <a:solidFill>
                <a:schemeClr val="accent6"/>
              </a:solidFill>
            </a:ln>
          </a:right>
          <a:top>
            <a:ln w="12700" cmpd="sng">
              <a:solidFill>
                <a:schemeClr val="accent6"/>
              </a:solidFill>
            </a:ln>
          </a:top>
          <a:bottom>
            <a:ln w="12700" cmpd="sng">
              <a:solidFill>
                <a:schemeClr val="accent6"/>
              </a:solidFill>
            </a:ln>
          </a:bottom>
          <a:insideH>
            <a:ln>
              <a:noFill/>
            </a:ln>
          </a:insideH>
          <a:insideV>
            <a:ln>
              <a:noFill/>
            </a:ln>
          </a:insideV>
        </a:tcBdr>
        <a:fill>
          <a:solidFill>
            <a:schemeClr val="accent6">
              <a:lumMod val="20000"/>
              <a:lumOff val="80000"/>
            </a:schemeClr>
          </a:solidFill>
        </a:fill>
      </a:tcStyle>
    </a:lastCol>
    <a:firstCol>
      <a:tcTxStyle b="on">
        <a:fontRef idx="none">
          <a:srgbClr val="08090C"/>
        </a:fontRef>
      </a:tcTxStyle>
      <a:tcStyle>
        <a:tcBdr>
          <a:left>
            <a:ln w="12700" cmpd="sng">
              <a:solidFill>
                <a:schemeClr val="accent6"/>
              </a:solid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solidFill>
            <a:schemeClr val="accent6">
              <a:lumMod val="20000"/>
              <a:lumOff val="80000"/>
            </a:schemeClr>
          </a:solidFill>
        </a:fill>
      </a:tcStyle>
    </a:firstCol>
    <a:lastRow>
      <a:tcTxStyle b="on">
        <a:fontRef idx="none">
          <a:schemeClr val="accent6"/>
        </a:fontRef>
      </a:tcTxStyle>
      <a:tcStyle>
        <a:tcBdr>
          <a:left>
            <a:ln w="12700" cmpd="sng">
              <a:solidFill>
                <a:schemeClr val="accent6"/>
              </a:solidFill>
            </a:ln>
          </a:left>
          <a:right>
            <a:ln w="12700" cmpd="sng">
              <a:solidFill>
                <a:schemeClr val="accent6"/>
              </a:solidFill>
            </a:ln>
          </a:right>
          <a:top>
            <a:ln w="9525" cmpd="sng">
              <a:solidFill>
                <a:schemeClr val="accent6"/>
              </a:solidFill>
            </a:ln>
          </a:top>
          <a:bottom>
            <a:ln w="12700" cmpd="sng">
              <a:solidFill>
                <a:schemeClr val="accent6"/>
              </a:solidFill>
            </a:ln>
          </a:bottom>
          <a:insideH>
            <a:ln>
              <a:noFill/>
            </a:ln>
          </a:insideH>
          <a:insideV>
            <a:ln>
              <a:noFill/>
            </a:ln>
          </a:insideV>
        </a:tcBdr>
        <a:fill>
          <a:solidFill>
            <a:srgbClr val="FFFFFF"/>
          </a:solidFill>
        </a:fill>
      </a:tcStyle>
    </a:lastRow>
    <a:firstRow>
      <a:tcTxStyle b="on">
        <a:fontRef idx="none">
          <a:srgbClr val="FFFFFF"/>
        </a:fontRef>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472" autoAdjust="0"/>
    <p:restoredTop sz="80245" autoAdjust="0"/>
  </p:normalViewPr>
  <p:slideViewPr>
    <p:cSldViewPr snapToGrid="0" showGuides="1">
      <p:cViewPr varScale="1">
        <p:scale>
          <a:sx n="88" d="100"/>
          <a:sy n="88" d="100"/>
        </p:scale>
        <p:origin x="912" y="72"/>
      </p:cViewPr>
      <p:guideLst>
        <p:guide orient="horz" pos="2648"/>
        <p:guide pos="3840"/>
        <p:guide orient="horz" pos="1162"/>
      </p:guideLst>
    </p:cSldViewPr>
  </p:slideViewPr>
  <p:notesTextViewPr>
    <p:cViewPr>
      <p:scale>
        <a:sx n="3" d="2"/>
        <a:sy n="3" d="2"/>
      </p:scale>
      <p:origin x="0" y="0"/>
    </p:cViewPr>
  </p:notesTextViewPr>
  <p:sorterViewPr>
    <p:cViewPr varScale="1">
      <p:scale>
        <a:sx n="1" d="1"/>
        <a:sy n="1" d="1"/>
      </p:scale>
      <p:origin x="0" y="0"/>
    </p:cViewPr>
  </p:sorterViewPr>
  <p:notesViewPr>
    <p:cSldViewPr snapToGrid="0">
      <p:cViewPr varScale="1">
        <p:scale>
          <a:sx n="80" d="100"/>
          <a:sy n="80" d="100"/>
        </p:scale>
        <p:origin x="3204" y="96"/>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9" Type="http://schemas.openxmlformats.org/officeDocument/2006/relationships/tags" Target="tags/tag42.xml"/><Relationship Id="rId48" Type="http://schemas.openxmlformats.org/officeDocument/2006/relationships/font" Target="fonts/font13.fntdata"/><Relationship Id="rId47" Type="http://schemas.openxmlformats.org/officeDocument/2006/relationships/font" Target="fonts/font12.fntdata"/><Relationship Id="rId46" Type="http://schemas.openxmlformats.org/officeDocument/2006/relationships/font" Target="fonts/font11.fntdata"/><Relationship Id="rId45" Type="http://schemas.openxmlformats.org/officeDocument/2006/relationships/font" Target="fonts/font10.fntdata"/><Relationship Id="rId44" Type="http://schemas.openxmlformats.org/officeDocument/2006/relationships/font" Target="fonts/font9.fntdata"/><Relationship Id="rId43" Type="http://schemas.openxmlformats.org/officeDocument/2006/relationships/font" Target="fonts/font8.fntdata"/><Relationship Id="rId42" Type="http://schemas.openxmlformats.org/officeDocument/2006/relationships/font" Target="fonts/font7.fntdata"/><Relationship Id="rId41" Type="http://schemas.openxmlformats.org/officeDocument/2006/relationships/font" Target="fonts/font6.fntdata"/><Relationship Id="rId40" Type="http://schemas.openxmlformats.org/officeDocument/2006/relationships/font" Target="fonts/font5.fntdata"/><Relationship Id="rId4" Type="http://schemas.openxmlformats.org/officeDocument/2006/relationships/notesMaster" Target="notesMasters/notesMaster1.xml"/><Relationship Id="rId39" Type="http://schemas.openxmlformats.org/officeDocument/2006/relationships/font" Target="fonts/font4.fntdata"/><Relationship Id="rId38" Type="http://schemas.openxmlformats.org/officeDocument/2006/relationships/font" Target="fonts/font3.fntdata"/><Relationship Id="rId37" Type="http://schemas.openxmlformats.org/officeDocument/2006/relationships/font" Target="fonts/font2.fntdata"/><Relationship Id="rId36" Type="http://schemas.openxmlformats.org/officeDocument/2006/relationships/font" Target="fonts/font1.fntdata"/><Relationship Id="rId35" Type="http://schemas.openxmlformats.org/officeDocument/2006/relationships/commentAuthors" Target="commentAuthors.xml"/><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handoutMaster" Target="handoutMasters/handoutMaster1.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4302231" cy="341064"/>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5623697" y="1"/>
            <a:ext cx="4302231" cy="341064"/>
          </a:xfrm>
          <a:prstGeom prst="rect">
            <a:avLst/>
          </a:prstGeom>
        </p:spPr>
        <p:txBody>
          <a:bodyPr vert="horz" lIns="91440" tIns="45720" rIns="91440" bIns="45720" rtlCol="0"/>
          <a:lstStyle>
            <a:lvl1pPr algn="r">
              <a:defRPr sz="1200"/>
            </a:lvl1pPr>
          </a:lstStyle>
          <a:p>
            <a:fld id="{B478E0E4-DC06-4041-AFA7-BB6F527FFA3F}" type="datetimeFigureOut">
              <a:rPr lang="zh-CN" altLang="en-US" smtClean="0"/>
            </a:fld>
            <a:endParaRPr lang="zh-CN" altLang="en-US"/>
          </a:p>
        </p:txBody>
      </p:sp>
      <p:sp>
        <p:nvSpPr>
          <p:cNvPr id="4" name="页脚占位符 3"/>
          <p:cNvSpPr>
            <a:spLocks noGrp="1"/>
          </p:cNvSpPr>
          <p:nvPr>
            <p:ph type="ftr" sz="quarter" idx="2"/>
          </p:nvPr>
        </p:nvSpPr>
        <p:spPr>
          <a:xfrm>
            <a:off x="0" y="6456612"/>
            <a:ext cx="4302231" cy="341063"/>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5623697" y="6456612"/>
            <a:ext cx="4302231" cy="341063"/>
          </a:xfrm>
          <a:prstGeom prst="rect">
            <a:avLst/>
          </a:prstGeom>
        </p:spPr>
        <p:txBody>
          <a:bodyPr vert="horz" lIns="91440" tIns="45720" rIns="91440" bIns="45720" rtlCol="0" anchor="b"/>
          <a:lstStyle>
            <a:lvl1pPr algn="r">
              <a:defRPr sz="1200"/>
            </a:lvl1pPr>
          </a:lstStyle>
          <a:p>
            <a:fld id="{B14B7432-8BB0-4EFA-A417-EFCDC17B2811}"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4302231" cy="341064"/>
          </a:xfrm>
          <a:prstGeom prst="rect">
            <a:avLst/>
          </a:prstGeom>
        </p:spPr>
        <p:txBody>
          <a:bodyPr vert="horz" lIns="91440" tIns="45720" rIns="91440" bIns="45720" rtlCol="0"/>
          <a:lstStyle>
            <a:lvl1pPr algn="l">
              <a:defRPr sz="1200">
                <a:ea typeface="微软雅黑" panose="020B0503020204020204" pitchFamily="34" charset="-122"/>
              </a:defRPr>
            </a:lvl1pPr>
          </a:lstStyle>
          <a:p>
            <a:endParaRPr lang="zh-CN" altLang="en-US"/>
          </a:p>
        </p:txBody>
      </p:sp>
      <p:sp>
        <p:nvSpPr>
          <p:cNvPr id="3" name="日期占位符 2"/>
          <p:cNvSpPr>
            <a:spLocks noGrp="1"/>
          </p:cNvSpPr>
          <p:nvPr>
            <p:ph type="dt" idx="1"/>
          </p:nvPr>
        </p:nvSpPr>
        <p:spPr>
          <a:xfrm>
            <a:off x="5623697" y="1"/>
            <a:ext cx="4302231" cy="341064"/>
          </a:xfrm>
          <a:prstGeom prst="rect">
            <a:avLst/>
          </a:prstGeom>
        </p:spPr>
        <p:txBody>
          <a:bodyPr vert="horz" lIns="91440" tIns="45720" rIns="91440" bIns="45720" rtlCol="0"/>
          <a:lstStyle>
            <a:lvl1pPr algn="r">
              <a:defRPr sz="1200">
                <a:ea typeface="微软雅黑" panose="020B0503020204020204" pitchFamily="34" charset="-122"/>
              </a:defRPr>
            </a:lvl1pPr>
          </a:lstStyle>
          <a:p>
            <a:fld id="{E86D8963-CFCD-4740-AF60-049850373CDF}"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2925763" y="849313"/>
            <a:ext cx="4076700" cy="2293937"/>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992823" y="3271381"/>
            <a:ext cx="7942580" cy="2676585"/>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6456612"/>
            <a:ext cx="4302231" cy="341063"/>
          </a:xfrm>
          <a:prstGeom prst="rect">
            <a:avLst/>
          </a:prstGeom>
        </p:spPr>
        <p:txBody>
          <a:bodyPr vert="horz" lIns="91440" tIns="45720" rIns="91440" bIns="45720" rtlCol="0" anchor="b"/>
          <a:lstStyle>
            <a:lvl1pPr algn="l">
              <a:defRPr sz="1200">
                <a:ea typeface="微软雅黑" panose="020B0503020204020204" pitchFamily="34" charset="-122"/>
              </a:defRPr>
            </a:lvl1pPr>
          </a:lstStyle>
          <a:p>
            <a:endParaRPr lang="zh-CN" altLang="en-US"/>
          </a:p>
        </p:txBody>
      </p:sp>
      <p:sp>
        <p:nvSpPr>
          <p:cNvPr id="7" name="灯片编号占位符 6"/>
          <p:cNvSpPr>
            <a:spLocks noGrp="1"/>
          </p:cNvSpPr>
          <p:nvPr>
            <p:ph type="sldNum" sz="quarter" idx="5"/>
          </p:nvPr>
        </p:nvSpPr>
        <p:spPr>
          <a:xfrm>
            <a:off x="5623697" y="6456612"/>
            <a:ext cx="4302231" cy="341063"/>
          </a:xfrm>
          <a:prstGeom prst="rect">
            <a:avLst/>
          </a:prstGeom>
        </p:spPr>
        <p:txBody>
          <a:bodyPr vert="horz" lIns="91440" tIns="45720" rIns="91440" bIns="45720" rtlCol="0" anchor="b"/>
          <a:lstStyle>
            <a:lvl1pPr algn="r">
              <a:defRPr sz="1200">
                <a:ea typeface="微软雅黑" panose="020B0503020204020204" pitchFamily="34" charset="-122"/>
              </a:defRPr>
            </a:lvl1pPr>
          </a:lstStyle>
          <a:p>
            <a:fld id="{E9E6FDB6-6D2B-46C1-9FA1-D82906A37C3A}"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微软雅黑" panose="020B0503020204020204" pitchFamily="34" charset="-122"/>
        <a:cs typeface="+mn-cs"/>
      </a:defRPr>
    </a:lvl1pPr>
    <a:lvl2pPr marL="457200" algn="l" defTabSz="914400" rtl="0" eaLnBrk="1" latinLnBrk="0" hangingPunct="1">
      <a:defRPr sz="1200" kern="1200">
        <a:solidFill>
          <a:schemeClr val="tx1"/>
        </a:solidFill>
        <a:latin typeface="+mn-lt"/>
        <a:ea typeface="微软雅黑" panose="020B0503020204020204" pitchFamily="34" charset="-122"/>
        <a:cs typeface="+mn-cs"/>
      </a:defRPr>
    </a:lvl2pPr>
    <a:lvl3pPr marL="914400" algn="l" defTabSz="914400" rtl="0" eaLnBrk="1" latinLnBrk="0" hangingPunct="1">
      <a:defRPr sz="1200" kern="1200">
        <a:solidFill>
          <a:schemeClr val="tx1"/>
        </a:solidFill>
        <a:latin typeface="+mn-lt"/>
        <a:ea typeface="微软雅黑" panose="020B0503020204020204" pitchFamily="34" charset="-122"/>
        <a:cs typeface="+mn-cs"/>
      </a:defRPr>
    </a:lvl3pPr>
    <a:lvl4pPr marL="1371600" algn="l" defTabSz="914400" rtl="0" eaLnBrk="1" latinLnBrk="0" hangingPunct="1">
      <a:defRPr sz="1200" kern="1200">
        <a:solidFill>
          <a:schemeClr val="tx1"/>
        </a:solidFill>
        <a:latin typeface="+mn-lt"/>
        <a:ea typeface="微软雅黑" panose="020B0503020204020204" pitchFamily="34" charset="-122"/>
        <a:cs typeface="+mn-cs"/>
      </a:defRPr>
    </a:lvl4pPr>
    <a:lvl5pPr marL="1828800" algn="l" defTabSz="914400" rtl="0" eaLnBrk="1" latinLnBrk="0" hangingPunct="1">
      <a:defRPr sz="1200" kern="1200">
        <a:solidFill>
          <a:schemeClr val="tx1"/>
        </a:solidFill>
        <a:latin typeface="+mn-lt"/>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各位老师好，我是</a:t>
            </a:r>
            <a:r>
              <a:rPr lang="en-US" altLang="zh-CN"/>
              <a:t>24</a:t>
            </a:r>
            <a:r>
              <a:rPr lang="zh-CN" altLang="en-US"/>
              <a:t>地科班的匡怡琳，我今天汇报的项目是</a:t>
            </a:r>
            <a:r>
              <a:rPr lang="en-US" altLang="zh-CN"/>
              <a:t>“</a:t>
            </a:r>
            <a:r>
              <a:rPr lang="zh-CN" altLang="en-US"/>
              <a:t>集成大语言模型与知识图谱的在线地图制图智能体研发</a:t>
            </a:r>
            <a:r>
              <a:rPr lang="en-US" altLang="zh-CN"/>
              <a:t>“</a:t>
            </a:r>
            <a:r>
              <a:rPr lang="zh-CN" altLang="en-US"/>
              <a:t>，项目成员还有</a:t>
            </a:r>
            <a:r>
              <a:rPr lang="en-US" altLang="zh-CN"/>
              <a:t>24</a:t>
            </a:r>
            <a:r>
              <a:rPr lang="zh-CN" altLang="en-US"/>
              <a:t>制图的秦潞杰和徐欣，指导老师是蔡忠亮</a:t>
            </a:r>
            <a:r>
              <a:rPr lang="zh-CN" altLang="en-US"/>
              <a:t>老师。</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本次汇报分为四个部分：选题背景、项目方案、项目进展、总结</a:t>
            </a:r>
            <a:r>
              <a:rPr lang="zh-CN" altLang="en-US"/>
              <a:t>展望</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首先是选题背景，</a:t>
            </a:r>
            <a:r>
              <a:rPr lang="zh-CN" altLang="en-US" dirty="0">
                <a:sym typeface="+mn-ea"/>
              </a:rPr>
              <a:t>将按照研究背景与现状、研究意义</a:t>
            </a:r>
            <a:r>
              <a:rPr lang="zh-CN" altLang="en-US" dirty="0">
                <a:sym typeface="+mn-ea"/>
              </a:rPr>
              <a:t>两个方面来进行分析</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25" name="幻灯片图像占位符 1"/>
          <p:cNvSpPr>
            <a:spLocks noGrp="1"/>
          </p:cNvSpPr>
          <p:nvPr>
            <p:ph type="sldImg" idx="2"/>
          </p:nvPr>
        </p:nvSpPr>
        <p:spPr/>
        <p:txBody>
          <a:bodyPr/>
          <a:p/>
        </p:txBody>
      </p:sp>
      <p:sp>
        <p:nvSpPr>
          <p:cNvPr id="26" name="文本占位符 2"/>
          <p:cNvSpPr>
            <a:spLocks noGrp="1"/>
          </p:cNvSpPr>
          <p:nvPr>
            <p:ph type="body" idx="3"/>
          </p:nvPr>
        </p:nvSpPr>
        <p:spPr/>
        <p:txBody>
          <a:bodyPr/>
          <a:p>
            <a:r>
              <a:rPr lang="zh-CN" altLang="en-US"/>
              <a:t>随着信息技术的飞速发展，</a:t>
            </a:r>
            <a:r>
              <a:rPr lang="zh-CN" altLang="zh-CN" dirty="0">
                <a:effectLst/>
                <a:ea typeface="+mn-ea"/>
                <a:sym typeface="+mn-ea"/>
              </a:rPr>
              <a:t>地图呈现出大众化的趋势。但是</a:t>
            </a:r>
            <a:r>
              <a:rPr lang="zh-CN" altLang="en-US"/>
              <a:t>传统的地图制图过程依然高度专业化，普通用户难以参与。</a:t>
            </a:r>
            <a:endParaRPr lang="zh-CN" altLang="en-US"/>
          </a:p>
          <a:p>
            <a:r>
              <a:rPr lang="zh-CN" altLang="en-US"/>
              <a:t>目前也研究多</a:t>
            </a:r>
            <a:r>
              <a:rPr lang="zh-CN" altLang="en-US">
                <a:sym typeface="+mn-ea"/>
              </a:rPr>
              <a:t>聚焦空间语义理解、对于制图生成研究不成熟，再加上通用大语言模型存在</a:t>
            </a:r>
            <a:r>
              <a:rPr lang="en-US" altLang="zh-CN">
                <a:sym typeface="+mn-ea"/>
              </a:rPr>
              <a:t>“</a:t>
            </a:r>
            <a:r>
              <a:rPr lang="zh-CN" altLang="en-US">
                <a:sym typeface="+mn-ea"/>
              </a:rPr>
              <a:t>幻觉</a:t>
            </a:r>
            <a:r>
              <a:rPr lang="en-US" altLang="zh-CN">
                <a:sym typeface="+mn-ea"/>
              </a:rPr>
              <a:t>”</a:t>
            </a:r>
            <a:r>
              <a:rPr lang="zh-CN" altLang="en-US">
                <a:sym typeface="+mn-ea"/>
              </a:rPr>
              <a:t>问题，未能形成完整的</a:t>
            </a:r>
            <a:r>
              <a:rPr lang="zh-CN" altLang="en-US">
                <a:sym typeface="+mn-ea"/>
              </a:rPr>
              <a:t>智能制图体系。</a:t>
            </a:r>
            <a:endParaRPr lang="zh-CN" altLang="en-US">
              <a:sym typeface="+mn-ea"/>
            </a:endParaRPr>
          </a:p>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25" name="幻灯片图像占位符 1"/>
          <p:cNvSpPr>
            <a:spLocks noGrp="1"/>
          </p:cNvSpPr>
          <p:nvPr>
            <p:ph type="sldImg" idx="2"/>
          </p:nvPr>
        </p:nvSpPr>
        <p:spPr/>
        <p:txBody>
          <a:bodyPr/>
          <a:p/>
        </p:txBody>
      </p:sp>
      <p:sp>
        <p:nvSpPr>
          <p:cNvPr id="26" name="文本占位符 2"/>
          <p:cNvSpPr>
            <a:spLocks noGrp="1"/>
          </p:cNvSpPr>
          <p:nvPr>
            <p:ph type="body" idx="3"/>
          </p:nvPr>
        </p:nvSpPr>
        <p:spPr/>
        <p:txBody>
          <a:bodyPr/>
          <a:p>
            <a:r>
              <a:rPr lang="zh-CN" altLang="en-US"/>
              <a:t>但人工智能的发展也给制图领域带来了新的机遇，知识图谱、大语言模型、智能体等等都能简化复杂的制图过程。</a:t>
            </a:r>
            <a:endParaRPr lang="zh-CN" altLang="en-US"/>
          </a:p>
          <a:p>
            <a:r>
              <a:rPr lang="zh-CN" altLang="en-US">
                <a:sym typeface="+mn-ea"/>
              </a:rPr>
              <a:t>我们期望融合三者，构建一个</a:t>
            </a:r>
            <a:r>
              <a:rPr lang="en-US" altLang="zh-CN">
                <a:sym typeface="+mn-ea"/>
              </a:rPr>
              <a:t>“</a:t>
            </a:r>
            <a:r>
              <a:rPr lang="zh-CN" altLang="en-US">
                <a:sym typeface="+mn-ea"/>
              </a:rPr>
              <a:t>人人皆可制图</a:t>
            </a:r>
            <a:r>
              <a:rPr lang="en-US" altLang="zh-CN">
                <a:sym typeface="+mn-ea"/>
              </a:rPr>
              <a:t>”</a:t>
            </a:r>
            <a:r>
              <a:rPr lang="zh-CN" altLang="en-US">
                <a:sym typeface="+mn-ea"/>
              </a:rPr>
              <a:t>的智能制图系统，</a:t>
            </a:r>
            <a:r>
              <a:rPr lang="zh-CN" altLang="en-US"/>
              <a:t>以解决传统制图的困境，推动空间信息的民主化。</a:t>
            </a:r>
            <a:endParaRPr lang="zh-CN" altLang="en-US"/>
          </a:p>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25" name="幻灯片图像占位符 1"/>
          <p:cNvSpPr>
            <a:spLocks noGrp="1"/>
          </p:cNvSpPr>
          <p:nvPr>
            <p:ph type="sldImg" idx="2"/>
          </p:nvPr>
        </p:nvSpPr>
        <p:spPr/>
        <p:txBody>
          <a:bodyPr/>
          <a:p/>
        </p:txBody>
      </p:sp>
      <p:sp>
        <p:nvSpPr>
          <p:cNvPr id="26" name="文本占位符 2"/>
          <p:cNvSpPr>
            <a:spLocks noGrp="1"/>
          </p:cNvSpPr>
          <p:nvPr>
            <p:ph type="body" idx="3"/>
          </p:nvPr>
        </p:nvSpPr>
        <p:spPr/>
        <p:txBody>
          <a:bodyPr/>
          <a:p>
            <a:r>
              <a:rPr lang="zh-CN" altLang="en-US"/>
              <a:t>本项目研究意义重大，既可以从理论上，推动地图学与人工智能交叉融合，探索大语言模型与知识图谱在制图领域的应用，</a:t>
            </a:r>
            <a:endParaRPr lang="zh-CN" altLang="en-US"/>
          </a:p>
          <a:p>
            <a:r>
              <a:rPr lang="zh-CN" altLang="en-US"/>
              <a:t>还可以在实践中，降低制图门槛，提升专业人员制图效率，同时还能促进</a:t>
            </a:r>
            <a:r>
              <a:rPr lang="zh-CN" altLang="en-US"/>
              <a:t>空间信息的民主化，为多领域应用提供智能化、个性化的地图服务支撑。</a:t>
            </a: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接下来介绍该项目的项目</a:t>
            </a:r>
            <a:r>
              <a:rPr lang="zh-CN" altLang="en-US"/>
              <a:t>方案。</a:t>
            </a:r>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25" name="幻灯片图像占位符 1"/>
          <p:cNvSpPr>
            <a:spLocks noGrp="1"/>
          </p:cNvSpPr>
          <p:nvPr>
            <p:ph type="sldImg" idx="2"/>
          </p:nvPr>
        </p:nvSpPr>
        <p:spPr/>
        <p:txBody>
          <a:bodyPr/>
          <a:p/>
        </p:txBody>
      </p:sp>
      <p:sp>
        <p:nvSpPr>
          <p:cNvPr id="26" name="文本占位符 2"/>
          <p:cNvSpPr>
            <a:spLocks noGrp="1"/>
          </p:cNvSpPr>
          <p:nvPr>
            <p:ph type="body" idx="3"/>
          </p:nvPr>
        </p:nvSpPr>
        <p:spPr/>
        <p:txBody>
          <a:bodyPr/>
          <a:p>
            <a:r>
              <a:rPr lang="zh-CN" altLang="en-US"/>
              <a:t>这是本项目的总体框架，我们的项目包括面向智能制图的地图学知识图谱构建，在线地图制图智能体设计，大语言模型、知识图谱、智能体的</a:t>
            </a:r>
            <a:r>
              <a:rPr lang="zh-CN" altLang="en-US"/>
              <a:t>技术融合，实验验证与原型系统开发四个内</a:t>
            </a:r>
            <a:r>
              <a:rPr lang="zh-CN" altLang="en-US"/>
              <a:t>容。</a:t>
            </a:r>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25" name="幻灯片图像占位符 1"/>
          <p:cNvSpPr>
            <a:spLocks noGrp="1"/>
          </p:cNvSpPr>
          <p:nvPr>
            <p:ph type="sldImg" idx="2"/>
          </p:nvPr>
        </p:nvSpPr>
        <p:spPr/>
        <p:txBody>
          <a:bodyPr/>
          <a:p/>
        </p:txBody>
      </p:sp>
      <p:sp>
        <p:nvSpPr>
          <p:cNvPr id="26" name="文本占位符 2"/>
          <p:cNvSpPr>
            <a:spLocks noGrp="1"/>
          </p:cNvSpPr>
          <p:nvPr>
            <p:ph type="body" idx="3"/>
          </p:nvPr>
        </p:nvSpPr>
        <p:spPr/>
        <p:txBody>
          <a:bodyPr/>
          <a:p>
            <a:r>
              <a:rPr lang="zh-CN" altLang="en-US"/>
              <a:t>构建地图学知识图谱有两大目的，一是搭建专业知识底座，支撑智能制图系统；二是抑制大模型幻觉，确保</a:t>
            </a:r>
            <a:r>
              <a:rPr lang="en-US" altLang="zh-CN"/>
              <a:t>AI</a:t>
            </a:r>
            <a:r>
              <a:rPr lang="zh-CN" altLang="en-US"/>
              <a:t>制图专业规范。采用知识体系梳理、多源知识抽取等方法，预期获取本体模型、结构化数据库及编程接口。</a:t>
            </a:r>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25" name="幻灯片图像占位符 1"/>
          <p:cNvSpPr>
            <a:spLocks noGrp="1"/>
          </p:cNvSpPr>
          <p:nvPr>
            <p:ph type="sldImg" idx="2"/>
          </p:nvPr>
        </p:nvSpPr>
        <p:spPr/>
        <p:txBody>
          <a:bodyPr/>
          <a:p/>
        </p:txBody>
      </p:sp>
      <p:sp>
        <p:nvSpPr>
          <p:cNvPr id="26" name="文本占位符 2"/>
          <p:cNvSpPr>
            <a:spLocks noGrp="1"/>
          </p:cNvSpPr>
          <p:nvPr>
            <p:ph type="body" idx="3"/>
          </p:nvPr>
        </p:nvSpPr>
        <p:spPr/>
        <p:txBody>
          <a:bodyPr/>
          <a:p>
            <a:r>
              <a:rPr lang="zh-CN" altLang="en-US"/>
              <a:t>本部分聚焦基于</a:t>
            </a:r>
            <a:r>
              <a:rPr lang="en-US" altLang="zh-CN"/>
              <a:t>ReAct</a:t>
            </a:r>
            <a:r>
              <a:rPr lang="zh-CN" altLang="en-US"/>
              <a:t>范式的智能体研发。通过封装标准化地图</a:t>
            </a:r>
            <a:r>
              <a:rPr lang="en-US" altLang="zh-CN"/>
              <a:t>API</a:t>
            </a:r>
            <a:r>
              <a:rPr lang="zh-CN" altLang="en-US"/>
              <a:t>工具集，实现模块化调用，构建管控与容错体系，增强系统适应性与稳定性。以</a:t>
            </a:r>
            <a:r>
              <a:rPr lang="en-US" altLang="zh-CN"/>
              <a:t>LangChain</a:t>
            </a:r>
            <a:r>
              <a:rPr lang="zh-CN" altLang="en-US"/>
              <a:t>框架设计决策循环机制，用</a:t>
            </a:r>
            <a:r>
              <a:rPr lang="en-US" altLang="zh-CN"/>
              <a:t>Prompt</a:t>
            </a:r>
            <a:r>
              <a:rPr lang="zh-CN" altLang="en-US"/>
              <a:t>工程分解任务，将绘制功能封装为</a:t>
            </a:r>
            <a:r>
              <a:rPr lang="en-US" altLang="zh-CN"/>
              <a:t>API</a:t>
            </a:r>
            <a:r>
              <a:rPr lang="zh-CN" altLang="en-US"/>
              <a:t>，提升制图效率。</a:t>
            </a:r>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25" name="幻灯片图像占位符 1"/>
          <p:cNvSpPr>
            <a:spLocks noGrp="1"/>
          </p:cNvSpPr>
          <p:nvPr>
            <p:ph type="sldImg" idx="2"/>
          </p:nvPr>
        </p:nvSpPr>
        <p:spPr/>
        <p:txBody>
          <a:bodyPr/>
          <a:p/>
        </p:txBody>
      </p:sp>
      <p:sp>
        <p:nvSpPr>
          <p:cNvPr id="26" name="文本占位符 2"/>
          <p:cNvSpPr>
            <a:spLocks noGrp="1"/>
          </p:cNvSpPr>
          <p:nvPr>
            <p:ph type="body" idx="3"/>
          </p:nvPr>
        </p:nvSpPr>
        <p:spPr/>
        <p:txBody>
          <a:bodyPr/>
          <a:p>
            <a:r>
              <a:rPr lang="zh-CN" altLang="en-US"/>
              <a:t>本部分聚焦</a:t>
            </a:r>
            <a:r>
              <a:rPr lang="en-US" altLang="zh-CN"/>
              <a:t>LLM</a:t>
            </a:r>
            <a:r>
              <a:rPr lang="zh-CN" altLang="en-US"/>
              <a:t>与知识图谱融合，核心在于</a:t>
            </a:r>
            <a:r>
              <a:rPr lang="en-US" altLang="zh-CN"/>
              <a:t>RAG</a:t>
            </a:r>
            <a:r>
              <a:rPr lang="zh-CN" altLang="en-US"/>
              <a:t>与结构化。研究目标是构建全链路智能化体系，形成完整制图方法体系，实现全链路闭环。通过</a:t>
            </a:r>
            <a:r>
              <a:rPr lang="en-US" altLang="zh-CN"/>
              <a:t>RAG</a:t>
            </a:r>
            <a:r>
              <a:rPr lang="zh-CN" altLang="en-US"/>
              <a:t>查询专业规则规范输出，以方案结构化将需求转为可执行方案，推动制图智能化发展。</a:t>
            </a:r>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25" name="幻灯片图像占位符 1"/>
          <p:cNvSpPr>
            <a:spLocks noGrp="1"/>
          </p:cNvSpPr>
          <p:nvPr>
            <p:ph type="sldImg" idx="2"/>
          </p:nvPr>
        </p:nvSpPr>
        <p:spPr/>
        <p:txBody>
          <a:bodyPr/>
          <a:p/>
        </p:txBody>
      </p:sp>
      <p:sp>
        <p:nvSpPr>
          <p:cNvPr id="26" name="文本占位符 2"/>
          <p:cNvSpPr>
            <a:spLocks noGrp="1"/>
          </p:cNvSpPr>
          <p:nvPr>
            <p:ph type="body" idx="3"/>
          </p:nvPr>
        </p:nvSpPr>
        <p:spPr/>
        <p:txBody>
          <a:bodyPr/>
          <a:p>
            <a:r>
              <a:rPr lang="zh-CN" altLang="en-US"/>
              <a:t>本部分聚焦知识驱动的原型系统开发与验证。采用前后端分离架构，前端用</a:t>
            </a:r>
            <a:r>
              <a:rPr lang="en-US" altLang="zh-CN"/>
              <a:t>Vue.js</a:t>
            </a:r>
            <a:r>
              <a:rPr lang="zh-CN" altLang="en-US"/>
              <a:t>，后端用</a:t>
            </a:r>
            <a:r>
              <a:rPr lang="en-US" altLang="zh-CN"/>
              <a:t>Flask</a:t>
            </a:r>
            <a:r>
              <a:rPr lang="zh-CN" altLang="en-US"/>
              <a:t>，集成</a:t>
            </a:r>
            <a:r>
              <a:rPr lang="en-US" altLang="zh-CN"/>
              <a:t>OpenLayers</a:t>
            </a:r>
            <a:r>
              <a:rPr lang="zh-CN" altLang="en-US"/>
              <a:t>实现可视化。核心功能模块集成交互、服务、工具模块。经典型场景测试和多维评估，将产出可交互的</a:t>
            </a:r>
            <a:r>
              <a:rPr lang="en-US" altLang="zh-CN"/>
              <a:t>Web</a:t>
            </a:r>
            <a:r>
              <a:rPr lang="zh-CN" altLang="en-US"/>
              <a:t>端原型系统。</a:t>
            </a:r>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25" name="幻灯片图像占位符 1"/>
          <p:cNvSpPr>
            <a:spLocks noGrp="1"/>
          </p:cNvSpPr>
          <p:nvPr>
            <p:ph type="sldImg" idx="2"/>
          </p:nvPr>
        </p:nvSpPr>
        <p:spPr/>
        <p:txBody>
          <a:bodyPr/>
          <a:p/>
        </p:txBody>
      </p:sp>
      <p:sp>
        <p:nvSpPr>
          <p:cNvPr id="26" name="文本占位符 2"/>
          <p:cNvSpPr>
            <a:spLocks noGrp="1"/>
          </p:cNvSpPr>
          <p:nvPr>
            <p:ph type="body" idx="3"/>
          </p:nvPr>
        </p:nvSpPr>
        <p:spPr/>
        <p:txBody>
          <a:bodyPr/>
          <a:p>
            <a:r>
              <a:rPr lang="zh-CN" altLang="en-US"/>
              <a:t>本项目的总体技术路线是达成目标的关键。它串联起知识驱动的图谱构建、执行驱动的智能体研发、智能融合的体系搭建以及原型系统开发验证等环节，是项目推进的清晰指引，确保各环节有序协作。</a:t>
            </a:r>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25" name="幻灯片图像占位符 1"/>
          <p:cNvSpPr>
            <a:spLocks noGrp="1"/>
          </p:cNvSpPr>
          <p:nvPr>
            <p:ph type="sldImg" idx="2"/>
          </p:nvPr>
        </p:nvSpPr>
        <p:spPr/>
        <p:txBody>
          <a:bodyPr/>
          <a:p/>
        </p:txBody>
      </p:sp>
      <p:sp>
        <p:nvSpPr>
          <p:cNvPr id="26" name="文本占位符 2"/>
          <p:cNvSpPr>
            <a:spLocks noGrp="1"/>
          </p:cNvSpPr>
          <p:nvPr>
            <p:ph type="body" idx="3"/>
          </p:nvPr>
        </p:nvSpPr>
        <p:spPr/>
        <p:txBody>
          <a:bodyPr/>
          <a:p>
            <a:r>
              <a:rPr lang="zh-CN" altLang="en-US"/>
              <a:t>本次项目方案涉及人员分工。合理的人员分工是项目顺利推进的关键，明确各职位职责，能使团队成员各司其职，保障知识图谱构建、智能体研发等工作高效开展，确保项目达成预期目标。</a:t>
            </a:r>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现在进入项目进展部分。此部分将详细展示项目在各方面的推进情况，包括地图制图知识图谱构建、基于大语言模型的知识图谱构建器等，能让大家清晰了解项目的实际成果与发展态势。</a:t>
            </a:r>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25" name="幻灯片图像占位符 1"/>
          <p:cNvSpPr>
            <a:spLocks noGrp="1"/>
          </p:cNvSpPr>
          <p:nvPr>
            <p:ph type="sldImg" idx="2"/>
          </p:nvPr>
        </p:nvSpPr>
        <p:spPr/>
        <p:txBody>
          <a:bodyPr/>
          <a:p/>
        </p:txBody>
      </p:sp>
      <p:sp>
        <p:nvSpPr>
          <p:cNvPr id="26" name="文本占位符 2"/>
          <p:cNvSpPr>
            <a:spLocks noGrp="1"/>
          </p:cNvSpPr>
          <p:nvPr>
            <p:ph type="body" idx="3"/>
          </p:nvPr>
        </p:nvSpPr>
        <p:spPr/>
        <p:txBody>
          <a:bodyPr/>
          <a:p>
            <a:r>
              <a:rPr lang="zh-CN" altLang="en-US"/>
              <a:t>项目在地图制图知识图谱构建上取得进展，完成地图学核心知识梳理与预处理，明确了地图、图层等核心类及其关系。涵盖地图类型、数学基础等多方面。值得一提的是，</a:t>
            </a:r>
            <a:r>
              <a:rPr lang="en-US" altLang="zh-CN"/>
              <a:t>csv</a:t>
            </a:r>
            <a:r>
              <a:rPr lang="zh-CN" altLang="en-US"/>
              <a:t>文件可直接导入</a:t>
            </a:r>
            <a:r>
              <a:rPr lang="en-US" altLang="zh-CN"/>
              <a:t>neo4j</a:t>
            </a:r>
            <a:r>
              <a:rPr lang="zh-CN" altLang="en-US"/>
              <a:t>构建图谱，为后续研究奠定基础。</a:t>
            </a:r>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25" name="幻灯片图像占位符 1"/>
          <p:cNvSpPr>
            <a:spLocks noGrp="1"/>
          </p:cNvSpPr>
          <p:nvPr>
            <p:ph type="sldImg" idx="2"/>
          </p:nvPr>
        </p:nvSpPr>
        <p:spPr/>
        <p:txBody>
          <a:bodyPr/>
          <a:p/>
        </p:txBody>
      </p:sp>
      <p:sp>
        <p:nvSpPr>
          <p:cNvPr id="26" name="文本占位符 2"/>
          <p:cNvSpPr>
            <a:spLocks noGrp="1"/>
          </p:cNvSpPr>
          <p:nvPr>
            <p:ph type="body" idx="3"/>
          </p:nvPr>
        </p:nvSpPr>
        <p:spPr/>
        <p:txBody>
          <a:bodyPr/>
          <a:p>
            <a:r>
              <a:rPr lang="zh-CN" altLang="en-US"/>
              <a:t>在地图制图知识图谱构建方面成果显著，从多种来源抽取地图学知识构建的图谱，包含</a:t>
            </a:r>
            <a:r>
              <a:rPr lang="en-US" altLang="zh-CN"/>
              <a:t>1224</a:t>
            </a:r>
            <a:r>
              <a:rPr lang="zh-CN" altLang="en-US"/>
              <a:t>个实体、</a:t>
            </a:r>
            <a:r>
              <a:rPr lang="en-US" altLang="zh-CN"/>
              <a:t>1354</a:t>
            </a:r>
            <a:r>
              <a:rPr lang="zh-CN" altLang="en-US"/>
              <a:t>条关系。该图谱实用性强，可查询地图投影、河流流经省份、专题地图数据源，为地图学研究提供有力支持。</a:t>
            </a:r>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25" name="幻灯片图像占位符 1"/>
          <p:cNvSpPr>
            <a:spLocks noGrp="1"/>
          </p:cNvSpPr>
          <p:nvPr>
            <p:ph type="sldImg" idx="2"/>
          </p:nvPr>
        </p:nvSpPr>
        <p:spPr/>
        <p:txBody>
          <a:bodyPr/>
          <a:p/>
        </p:txBody>
      </p:sp>
      <p:sp>
        <p:nvSpPr>
          <p:cNvPr id="26" name="文本占位符 2"/>
          <p:cNvSpPr>
            <a:spLocks noGrp="1"/>
          </p:cNvSpPr>
          <p:nvPr>
            <p:ph type="body" idx="3"/>
          </p:nvPr>
        </p:nvSpPr>
        <p:spPr/>
        <p:txBody>
          <a:bodyPr/>
          <a:p>
            <a:r>
              <a:rPr lang="zh-CN" altLang="en-US"/>
              <a:t>接下来介绍项目进展中的基于大语言模型（</a:t>
            </a:r>
            <a:r>
              <a:rPr lang="en-US" altLang="zh-CN"/>
              <a:t>LLM</a:t>
            </a:r>
            <a:r>
              <a:rPr lang="zh-CN" altLang="en-US"/>
              <a:t>）的知识图谱构建器。首先是端到端知识构建流水线，其能实现从非结构化文本自动提取实体与关系，构建完整知识图谱结构，可大幅提升构建效率。</a:t>
            </a:r>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25" name="幻灯片图像占位符 1"/>
          <p:cNvSpPr>
            <a:spLocks noGrp="1"/>
          </p:cNvSpPr>
          <p:nvPr>
            <p:ph type="sldImg" idx="2"/>
          </p:nvPr>
        </p:nvSpPr>
        <p:spPr/>
        <p:txBody>
          <a:bodyPr/>
          <a:p/>
        </p:txBody>
      </p:sp>
      <p:sp>
        <p:nvSpPr>
          <p:cNvPr id="26" name="文本占位符 2"/>
          <p:cNvSpPr>
            <a:spLocks noGrp="1"/>
          </p:cNvSpPr>
          <p:nvPr>
            <p:ph type="body" idx="3"/>
          </p:nvPr>
        </p:nvSpPr>
        <p:spPr/>
        <p:txBody>
          <a:bodyPr/>
          <a:p>
            <a:r>
              <a:rPr lang="zh-CN" altLang="en-US"/>
              <a:t>基于大语言模型的知识图谱构建器，可从非结构化文本自动提取实体与关系，构建完整知识图谱结构。此方法突破传统构建局限，大幅提升构建效率，为地图学知识图谱的快速准确搭建提供有力支持。</a:t>
            </a:r>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25" name="幻灯片图像占位符 1"/>
          <p:cNvSpPr>
            <a:spLocks noGrp="1"/>
          </p:cNvSpPr>
          <p:nvPr>
            <p:ph type="sldImg" idx="2"/>
          </p:nvPr>
        </p:nvSpPr>
        <p:spPr/>
        <p:txBody>
          <a:bodyPr/>
          <a:p/>
        </p:txBody>
      </p:sp>
      <p:sp>
        <p:nvSpPr>
          <p:cNvPr id="26" name="文本占位符 2"/>
          <p:cNvSpPr>
            <a:spLocks noGrp="1"/>
          </p:cNvSpPr>
          <p:nvPr>
            <p:ph type="body" idx="3"/>
          </p:nvPr>
        </p:nvSpPr>
        <p:spPr/>
        <p:txBody>
          <a:bodyPr/>
          <a:p>
            <a:r>
              <a:rPr lang="zh-CN" altLang="en-US"/>
              <a:t>基于大语言模型的知识图谱构建器中的图谱推理智能体，集成智能问答模块。它依托构建的图谱，能解答地图学等专业复杂问题，并提供精准推理支持，为专业领域的知识应用带来了更高效的解决方案。</a:t>
            </a:r>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25" name="幻灯片图像占位符 1"/>
          <p:cNvSpPr>
            <a:spLocks noGrp="1"/>
          </p:cNvSpPr>
          <p:nvPr>
            <p:ph type="sldImg" idx="2"/>
          </p:nvPr>
        </p:nvSpPr>
        <p:spPr/>
        <p:txBody>
          <a:bodyPr/>
          <a:p/>
        </p:txBody>
      </p:sp>
      <p:sp>
        <p:nvSpPr>
          <p:cNvPr id="26" name="文本占位符 2"/>
          <p:cNvSpPr>
            <a:spLocks noGrp="1"/>
          </p:cNvSpPr>
          <p:nvPr>
            <p:ph type="body" idx="3"/>
          </p:nvPr>
        </p:nvSpPr>
        <p:spPr/>
        <p:txBody>
          <a:bodyPr/>
          <a:p>
            <a:r>
              <a:rPr lang="zh-CN" altLang="en-US"/>
              <a:t>在基于大语言模型（</a:t>
            </a:r>
            <a:r>
              <a:rPr lang="en-US" altLang="zh-CN"/>
              <a:t>LLM</a:t>
            </a:r>
            <a:r>
              <a:rPr lang="zh-CN" altLang="en-US"/>
              <a:t>）的知识图谱构建器中，已实现可视化</a:t>
            </a:r>
            <a:r>
              <a:rPr lang="en-US" altLang="zh-CN"/>
              <a:t>Web</a:t>
            </a:r>
            <a:r>
              <a:rPr lang="zh-CN" altLang="en-US"/>
              <a:t>原型系统。此系统是项目重要成果，它将抽象的知识图谱以直观的</a:t>
            </a:r>
            <a:r>
              <a:rPr lang="en-US" altLang="zh-CN"/>
              <a:t>Web</a:t>
            </a:r>
            <a:r>
              <a:rPr lang="zh-CN" altLang="en-US"/>
              <a:t>界面呈现，方便用户操作与交互，为后续地图学知识的应用与推广奠定基础。</a:t>
            </a:r>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25" name="幻灯片图像占位符 1"/>
          <p:cNvSpPr>
            <a:spLocks noGrp="1"/>
          </p:cNvSpPr>
          <p:nvPr>
            <p:ph type="sldImg" idx="2"/>
          </p:nvPr>
        </p:nvSpPr>
        <p:spPr/>
        <p:txBody>
          <a:bodyPr/>
          <a:p/>
        </p:txBody>
      </p:sp>
      <p:sp>
        <p:nvSpPr>
          <p:cNvPr id="26" name="文本占位符 2"/>
          <p:cNvSpPr>
            <a:spLocks noGrp="1"/>
          </p:cNvSpPr>
          <p:nvPr>
            <p:ph type="body" idx="3"/>
          </p:nvPr>
        </p:nvSpPr>
        <p:spPr/>
        <p:txBody>
          <a:bodyPr/>
          <a:p>
            <a:r>
              <a:rPr lang="zh-CN" altLang="en-US"/>
              <a:t>基于地图制图知识图谱的智能问答系统，有三大关键步骤。先完成地图学数据爬取与结构化处理，构建基础数据库；再基于</a:t>
            </a:r>
            <a:r>
              <a:rPr lang="en-US" altLang="zh-CN"/>
              <a:t>Neo4j</a:t>
            </a:r>
            <a:r>
              <a:rPr lang="zh-CN" altLang="en-US"/>
              <a:t>和规则匹配解析用户问题；最后查询图谱生成专业答案。该系统成功验证知识图谱与大模型结合的技术可行性，实现端到端交互。</a:t>
            </a:r>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25" name="幻灯片图像占位符 1"/>
          <p:cNvSpPr>
            <a:spLocks noGrp="1"/>
          </p:cNvSpPr>
          <p:nvPr>
            <p:ph type="sldImg" idx="2"/>
          </p:nvPr>
        </p:nvSpPr>
        <p:spPr/>
        <p:txBody>
          <a:bodyPr/>
          <a:p/>
        </p:txBody>
      </p:sp>
      <p:sp>
        <p:nvSpPr>
          <p:cNvPr id="26" name="文本占位符 2"/>
          <p:cNvSpPr>
            <a:spLocks noGrp="1"/>
          </p:cNvSpPr>
          <p:nvPr>
            <p:ph type="body" idx="3"/>
          </p:nvPr>
        </p:nvSpPr>
        <p:spPr/>
        <p:txBody>
          <a:bodyPr/>
          <a:p>
            <a:r>
              <a:rPr lang="zh-CN" altLang="en-US"/>
              <a:t>制图原型模块具备创新性，可接收自然语言指令，借助知识图谱获取制图规则，结合地理数据实时生成交互式地图。目前已支持武汉市交通图初步生成，还具备基础空间知识问答能力，为后续地图学发展奠定良好基础。</a:t>
            </a:r>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25" name="幻灯片图像占位符 1"/>
          <p:cNvSpPr>
            <a:spLocks noGrp="1"/>
          </p:cNvSpPr>
          <p:nvPr>
            <p:ph type="sldImg" idx="2"/>
          </p:nvPr>
        </p:nvSpPr>
        <p:spPr/>
        <p:txBody>
          <a:bodyPr/>
          <a:p/>
        </p:txBody>
      </p:sp>
      <p:sp>
        <p:nvSpPr>
          <p:cNvPr id="26" name="文本占位符 2"/>
          <p:cNvSpPr>
            <a:spLocks noGrp="1"/>
          </p:cNvSpPr>
          <p:nvPr>
            <p:ph type="body" idx="3"/>
          </p:nvPr>
        </p:nvSpPr>
        <p:spPr/>
        <p:txBody>
          <a:bodyPr/>
          <a:p>
            <a:r>
              <a:rPr lang="zh-CN" altLang="en-US"/>
              <a:t>本次项目的用户端</a:t>
            </a:r>
            <a:r>
              <a:rPr lang="en-US" altLang="zh-CN"/>
              <a:t> UI </a:t>
            </a:r>
            <a:r>
              <a:rPr lang="zh-CN" altLang="en-US"/>
              <a:t>界面设计丰富。设有个人中心、收藏、历史记录等功能，侧边栏提供标点、标线等绘图工具。不过部分图标存在问题，如测面、测距图标及指南针，后续需优化以提升用户体验。</a:t>
            </a:r>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现在进入第四部分</a:t>
            </a:r>
            <a:r>
              <a:rPr lang="en-US" altLang="zh-CN"/>
              <a:t>——</a:t>
            </a:r>
            <a:r>
              <a:rPr lang="zh-CN" altLang="en-US"/>
              <a:t>总结展望。此前我们介绍了项目各方面内容，接下来将总结已取得的成果，并对未来发展进行展望，明确后续努力方向，以推动项目持续完善与进步。</a:t>
            </a:r>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25" name="幻灯片图像占位符 1"/>
          <p:cNvSpPr>
            <a:spLocks noGrp="1"/>
          </p:cNvSpPr>
          <p:nvPr>
            <p:ph type="sldImg" idx="2"/>
          </p:nvPr>
        </p:nvSpPr>
        <p:spPr/>
        <p:txBody>
          <a:bodyPr/>
          <a:p/>
        </p:txBody>
      </p:sp>
      <p:sp>
        <p:nvSpPr>
          <p:cNvPr id="26" name="文本占位符 2"/>
          <p:cNvSpPr>
            <a:spLocks noGrp="1"/>
          </p:cNvSpPr>
          <p:nvPr>
            <p:ph type="body" idx="3"/>
          </p:nvPr>
        </p:nvSpPr>
        <p:spPr/>
        <p:txBody>
          <a:bodyPr/>
          <a:p>
            <a:r>
              <a:rPr lang="zh-CN" altLang="en-US"/>
              <a:t>项目总结有多项成果，完成地图学知识图谱核心构建，掌握全流程核心技术，创建智能问答系统等。不过，解释变量缺乏衡量车道舒适度的精确指标。展望未来，要优化知识图谱，集成验证原型系统，增强智能体能力，优化算法，拓展应用场景。</a:t>
            </a:r>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尊敬的各位老师，今天我们共同探讨了集成大语言模型与知识图谱的在线地图制图智能体研发项目。通过本次汇报，我们总结了已取得的成果，包括完成地图学知识图谱的核心构建、掌握全流程核心技术、创建智能问答系统、实现智能制图最小闭环以及完成用户端</a:t>
            </a:r>
            <a:r>
              <a:rPr lang="en-US" altLang="zh-CN"/>
              <a:t> UI </a:t>
            </a:r>
            <a:r>
              <a:rPr lang="zh-CN" altLang="en-US"/>
              <a:t>界面设计等。这些成果是项目团队不懈努力的结晶，也为地图学领域的智能化发展奠定了坚实基础。</a:t>
            </a:r>
            <a:r>
              <a:rPr lang="en-US" altLang="zh-CN"/>
              <a:t>
</a:t>
            </a:r>
            <a:r>
              <a:rPr lang="zh-CN" altLang="en-US"/>
              <a:t>然而，我们也清醒地认识到，目前仍存在一些问题，如缺乏精确指标衡量机动车道和非机动车道的舒适度水平。展望未来，我们将持续优化知识图谱，提升知识的覆盖率和准确率；完成原型系统集成与验证；增强智能体处理复杂任务和异常情况的能力；优化算法，提升系统响应速度和地图生成质量；拓展更多应用场景，进行更广泛的用户测试与反馈收集。</a:t>
            </a:r>
            <a:r>
              <a:rPr lang="en-US" altLang="zh-CN"/>
              <a:t>
</a:t>
            </a:r>
            <a:r>
              <a:rPr lang="zh-CN" altLang="en-US"/>
              <a:t>在此，我恳请各位老师不吝批评指正，您的宝贵意见将是我们前进的动力。相信在大家的共同努力下，我们能够推动在线地图制图智能体研发项目取得更大的突破，为地图学领域的发展贡献更多的智慧和力量。</a:t>
            </a:r>
            <a:r>
              <a:rPr lang="en-US" altLang="zh-CN"/>
              <a:t>
</a:t>
            </a:r>
            <a:r>
              <a:rPr lang="zh-CN" altLang="en-US"/>
              <a:t>最后，再次感谢各位老师抽出宝贵的时间参与本次汇报。谢谢大家！</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B098AF9F-2D75-4F26-BD1B-A5ACD20A7B0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F36FF16-D2A7-4508-B6F0-177A2BE6065A}" type="slidenum">
              <a:rPr lang="zh-CN" altLang="en-US" smtClean="0"/>
            </a:fld>
            <a:endParaRPr lang="zh-CN" altLang="en-US"/>
          </a:p>
        </p:txBody>
      </p:sp>
    </p:spTree>
  </p:cSld>
  <p:clrMapOvr>
    <a:masterClrMapping/>
  </p:clrMapOvr>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标题和内容">
    <p:spTree>
      <p:nvGrpSpPr>
        <p:cNvPr id="7" name=""/>
        <p:cNvGrpSpPr/>
        <p:nvPr/>
      </p:nvGrpSpPr>
      <p:grpSpPr>
        <a:xfrm>
          <a:off x="0" y="0"/>
          <a:ext cx="0" cy="0"/>
          <a:chOff x="0" y="0"/>
          <a:chExt cx="0" cy="0"/>
        </a:xfrm>
      </p:grpSpPr>
      <p:sp>
        <p:nvSpPr>
          <p:cNvPr id="8" name="标题 1"/>
          <p:cNvSpPr>
            <a:spLocks noGrp="1"/>
          </p:cNvSpPr>
          <p:nvPr>
            <p:ph type="title"/>
          </p:nvPr>
        </p:nvSpPr>
        <p:spPr/>
        <p:txBody>
          <a:bodyPr/>
          <a:lstStyle/>
          <a:p>
            <a:r>
              <a:rPr lang="zh-CN" altLang="en-US"/>
              <a:t>单击此处编辑母版标题样式</a:t>
            </a:r>
            <a:endParaRPr lang="zh-CN" altLang="en-US"/>
          </a:p>
        </p:txBody>
      </p:sp>
      <p:sp>
        <p:nvSpPr>
          <p:cNvPr id="9"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10" name="日期占位符 3"/>
          <p:cNvSpPr>
            <a:spLocks noGrp="1"/>
          </p:cNvSpPr>
          <p:nvPr>
            <p:ph type="dt" sz="half" idx="10"/>
          </p:nvPr>
        </p:nvSpPr>
        <p:spPr/>
        <p:txBody>
          <a:bodyPr/>
          <a:lstStyle/>
          <a:p>
            <a:fld id="{B098AF9F-2D75-4F26-BD1B-A5ACD20A7B01}" type="datetimeFigureOut">
              <a:rPr lang="zh-CN" altLang="en-US" smtClean="0"/>
            </a:fld>
            <a:endParaRPr lang="zh-CN" altLang="en-US"/>
          </a:p>
        </p:txBody>
      </p:sp>
      <p:sp>
        <p:nvSpPr>
          <p:cNvPr id="11" name="页脚占位符 4"/>
          <p:cNvSpPr>
            <a:spLocks noGrp="1"/>
          </p:cNvSpPr>
          <p:nvPr>
            <p:ph type="ftr" sz="quarter" idx="11"/>
          </p:nvPr>
        </p:nvSpPr>
        <p:spPr/>
        <p:txBody>
          <a:bodyPr/>
          <a:lstStyle/>
          <a:p>
            <a:endParaRPr lang="zh-CN" altLang="en-US"/>
          </a:p>
        </p:txBody>
      </p:sp>
      <p:sp>
        <p:nvSpPr>
          <p:cNvPr id="12" name="灯片编号占位符 5"/>
          <p:cNvSpPr>
            <a:spLocks noGrp="1"/>
          </p:cNvSpPr>
          <p:nvPr>
            <p:ph type="sldNum" sz="quarter" idx="12"/>
          </p:nvPr>
        </p:nvSpPr>
        <p:spPr/>
        <p:txBody>
          <a:bodyPr/>
          <a:lstStyle/>
          <a:p>
            <a:fld id="{AF36FF16-D2A7-4508-B6F0-177A2BE6065A}" type="slidenum">
              <a:rPr lang="zh-CN" altLang="en-US" smtClean="0"/>
            </a:fld>
            <a:endParaRPr lang="zh-CN" altLang="en-US"/>
          </a:p>
        </p:txBody>
      </p:sp>
    </p:spTree>
  </p:cSld>
  <p:clrMapOvr>
    <a:masterClrMapping/>
  </p:clrMapOvr>
  <p:hf sldNum="0"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节标题">
    <p:spTree>
      <p:nvGrpSpPr>
        <p:cNvPr id="19" name=""/>
        <p:cNvGrpSpPr/>
        <p:nvPr/>
      </p:nvGrpSpPr>
      <p:grpSpPr>
        <a:xfrm>
          <a:off x="0" y="0"/>
          <a:ext cx="0" cy="0"/>
          <a:chOff x="0" y="0"/>
          <a:chExt cx="0" cy="0"/>
        </a:xfrm>
      </p:grpSpPr>
      <p:sp>
        <p:nvSpPr>
          <p:cNvPr id="20"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21"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22" name="日期占位符 3"/>
          <p:cNvSpPr>
            <a:spLocks noGrp="1"/>
          </p:cNvSpPr>
          <p:nvPr>
            <p:ph type="dt" sz="half" idx="10"/>
          </p:nvPr>
        </p:nvSpPr>
        <p:spPr/>
        <p:txBody>
          <a:bodyPr/>
          <a:lstStyle/>
          <a:p>
            <a:fld id="{B098AF9F-2D75-4F26-BD1B-A5ACD20A7B01}" type="datetimeFigureOut">
              <a:rPr lang="zh-CN" altLang="en-US" smtClean="0"/>
            </a:fld>
            <a:endParaRPr lang="zh-CN" altLang="en-US"/>
          </a:p>
        </p:txBody>
      </p:sp>
      <p:sp>
        <p:nvSpPr>
          <p:cNvPr id="23" name="页脚占位符 4"/>
          <p:cNvSpPr>
            <a:spLocks noGrp="1"/>
          </p:cNvSpPr>
          <p:nvPr>
            <p:ph type="ftr" sz="quarter" idx="11"/>
          </p:nvPr>
        </p:nvSpPr>
        <p:spPr/>
        <p:txBody>
          <a:bodyPr/>
          <a:lstStyle/>
          <a:p>
            <a:endParaRPr lang="zh-CN" altLang="en-US"/>
          </a:p>
        </p:txBody>
      </p:sp>
      <p:sp>
        <p:nvSpPr>
          <p:cNvPr id="24" name="灯片编号占位符 5"/>
          <p:cNvSpPr>
            <a:spLocks noGrp="1"/>
          </p:cNvSpPr>
          <p:nvPr>
            <p:ph type="sldNum" sz="quarter" idx="12"/>
          </p:nvPr>
        </p:nvSpPr>
        <p:spPr/>
        <p:txBody>
          <a:bodyPr/>
          <a:lstStyle/>
          <a:p>
            <a:fld id="{AF36FF16-D2A7-4508-B6F0-177A2BE6065A}" type="slidenum">
              <a:rPr lang="zh-CN" altLang="en-US" smtClean="0"/>
            </a:fld>
            <a:endParaRPr lang="zh-CN" altLang="en-US"/>
          </a:p>
        </p:txBody>
      </p:sp>
    </p:spTree>
  </p:cSld>
  <p:clrMapOvr>
    <a:masterClrMapping/>
  </p:clrMapOvr>
  <p:hf sldNum="0"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两栏内容">
    <p:spTree>
      <p:nvGrpSpPr>
        <p:cNvPr id="25" name=""/>
        <p:cNvGrpSpPr/>
        <p:nvPr/>
      </p:nvGrpSpPr>
      <p:grpSpPr>
        <a:xfrm>
          <a:off x="0" y="0"/>
          <a:ext cx="0" cy="0"/>
          <a:chOff x="0" y="0"/>
          <a:chExt cx="0" cy="0"/>
        </a:xfrm>
      </p:grpSpPr>
      <p:sp>
        <p:nvSpPr>
          <p:cNvPr id="26" name="标题 1"/>
          <p:cNvSpPr>
            <a:spLocks noGrp="1"/>
          </p:cNvSpPr>
          <p:nvPr>
            <p:ph type="title"/>
          </p:nvPr>
        </p:nvSpPr>
        <p:spPr/>
        <p:txBody>
          <a:bodyPr/>
          <a:lstStyle/>
          <a:p>
            <a:r>
              <a:rPr lang="zh-CN" altLang="en-US"/>
              <a:t>单击此处编辑母版标题样式</a:t>
            </a:r>
            <a:endParaRPr lang="zh-CN" altLang="en-US"/>
          </a:p>
        </p:txBody>
      </p:sp>
      <p:sp>
        <p:nvSpPr>
          <p:cNvPr id="27"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28"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29" name="日期占位符 4"/>
          <p:cNvSpPr>
            <a:spLocks noGrp="1"/>
          </p:cNvSpPr>
          <p:nvPr>
            <p:ph type="dt" sz="half" idx="10"/>
          </p:nvPr>
        </p:nvSpPr>
        <p:spPr/>
        <p:txBody>
          <a:bodyPr/>
          <a:lstStyle/>
          <a:p>
            <a:fld id="{B098AF9F-2D75-4F26-BD1B-A5ACD20A7B01}" type="datetimeFigureOut">
              <a:rPr lang="zh-CN" altLang="en-US" smtClean="0"/>
            </a:fld>
            <a:endParaRPr lang="zh-CN" altLang="en-US"/>
          </a:p>
        </p:txBody>
      </p:sp>
      <p:sp>
        <p:nvSpPr>
          <p:cNvPr id="30" name="页脚占位符 5"/>
          <p:cNvSpPr>
            <a:spLocks noGrp="1"/>
          </p:cNvSpPr>
          <p:nvPr>
            <p:ph type="ftr" sz="quarter" idx="11"/>
          </p:nvPr>
        </p:nvSpPr>
        <p:spPr/>
        <p:txBody>
          <a:bodyPr/>
          <a:lstStyle/>
          <a:p>
            <a:endParaRPr lang="zh-CN" altLang="en-US"/>
          </a:p>
        </p:txBody>
      </p:sp>
      <p:sp>
        <p:nvSpPr>
          <p:cNvPr id="31" name="灯片编号占位符 6"/>
          <p:cNvSpPr>
            <a:spLocks noGrp="1"/>
          </p:cNvSpPr>
          <p:nvPr>
            <p:ph type="sldNum" sz="quarter" idx="12"/>
          </p:nvPr>
        </p:nvSpPr>
        <p:spPr/>
        <p:txBody>
          <a:bodyPr/>
          <a:lstStyle/>
          <a:p>
            <a:fld id="{AF36FF16-D2A7-4508-B6F0-177A2BE6065A}" type="slidenum">
              <a:rPr lang="zh-CN" altLang="en-US" smtClean="0"/>
            </a:fld>
            <a:endParaRPr lang="zh-CN" altLang="en-US"/>
          </a:p>
        </p:txBody>
      </p:sp>
    </p:spTree>
  </p:cSld>
  <p:clrMapOvr>
    <a:masterClrMapping/>
  </p:clrMapOvr>
  <p:hf sldNum="0"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比较">
    <p:spTree>
      <p:nvGrpSpPr>
        <p:cNvPr id="32" name=""/>
        <p:cNvGrpSpPr/>
        <p:nvPr/>
      </p:nvGrpSpPr>
      <p:grpSpPr>
        <a:xfrm>
          <a:off x="0" y="0"/>
          <a:ext cx="0" cy="0"/>
          <a:chOff x="0" y="0"/>
          <a:chExt cx="0" cy="0"/>
        </a:xfrm>
      </p:grpSpPr>
      <p:sp>
        <p:nvSpPr>
          <p:cNvPr id="33"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4"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35"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36"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37"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38" name="日期占位符 6"/>
          <p:cNvSpPr>
            <a:spLocks noGrp="1"/>
          </p:cNvSpPr>
          <p:nvPr>
            <p:ph type="dt" sz="half" idx="10"/>
          </p:nvPr>
        </p:nvSpPr>
        <p:spPr/>
        <p:txBody>
          <a:bodyPr/>
          <a:lstStyle/>
          <a:p>
            <a:fld id="{B098AF9F-2D75-4F26-BD1B-A5ACD20A7B01}" type="datetimeFigureOut">
              <a:rPr lang="zh-CN" altLang="en-US" smtClean="0"/>
            </a:fld>
            <a:endParaRPr lang="zh-CN" altLang="en-US"/>
          </a:p>
        </p:txBody>
      </p:sp>
      <p:sp>
        <p:nvSpPr>
          <p:cNvPr id="39" name="页脚占位符 7"/>
          <p:cNvSpPr>
            <a:spLocks noGrp="1"/>
          </p:cNvSpPr>
          <p:nvPr>
            <p:ph type="ftr" sz="quarter" idx="11"/>
          </p:nvPr>
        </p:nvSpPr>
        <p:spPr/>
        <p:txBody>
          <a:bodyPr/>
          <a:lstStyle/>
          <a:p>
            <a:endParaRPr lang="zh-CN" altLang="en-US"/>
          </a:p>
        </p:txBody>
      </p:sp>
      <p:sp>
        <p:nvSpPr>
          <p:cNvPr id="40" name="灯片编号占位符 8"/>
          <p:cNvSpPr>
            <a:spLocks noGrp="1"/>
          </p:cNvSpPr>
          <p:nvPr>
            <p:ph type="sldNum" sz="quarter" idx="12"/>
          </p:nvPr>
        </p:nvSpPr>
        <p:spPr/>
        <p:txBody>
          <a:bodyPr/>
          <a:lstStyle/>
          <a:p>
            <a:fld id="{AF36FF16-D2A7-4508-B6F0-177A2BE6065A}" type="slidenum">
              <a:rPr lang="zh-CN" altLang="en-US" smtClean="0"/>
            </a:fld>
            <a:endParaRPr lang="zh-CN" altLang="en-US"/>
          </a:p>
        </p:txBody>
      </p:sp>
    </p:spTree>
  </p:cSld>
  <p:clrMapOvr>
    <a:masterClrMapping/>
  </p:clrMapOvr>
  <p:hf sldNum="0"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仅标题">
    <p:spTree>
      <p:nvGrpSpPr>
        <p:cNvPr id="41" name=""/>
        <p:cNvGrpSpPr/>
        <p:nvPr/>
      </p:nvGrpSpPr>
      <p:grpSpPr>
        <a:xfrm>
          <a:off x="0" y="0"/>
          <a:ext cx="0" cy="0"/>
          <a:chOff x="0" y="0"/>
          <a:chExt cx="0" cy="0"/>
        </a:xfrm>
      </p:grpSpPr>
      <p:sp>
        <p:nvSpPr>
          <p:cNvPr id="42" name="标题 1"/>
          <p:cNvSpPr>
            <a:spLocks noGrp="1"/>
          </p:cNvSpPr>
          <p:nvPr>
            <p:ph type="title"/>
          </p:nvPr>
        </p:nvSpPr>
        <p:spPr/>
        <p:txBody>
          <a:bodyPr/>
          <a:lstStyle/>
          <a:p>
            <a:r>
              <a:rPr lang="zh-CN" altLang="en-US"/>
              <a:t>单击此处编辑母版标题样式</a:t>
            </a:r>
            <a:endParaRPr lang="zh-CN" altLang="en-US"/>
          </a:p>
        </p:txBody>
      </p:sp>
      <p:sp>
        <p:nvSpPr>
          <p:cNvPr id="43" name="日期占位符 2"/>
          <p:cNvSpPr>
            <a:spLocks noGrp="1"/>
          </p:cNvSpPr>
          <p:nvPr>
            <p:ph type="dt" sz="half" idx="10"/>
          </p:nvPr>
        </p:nvSpPr>
        <p:spPr/>
        <p:txBody>
          <a:bodyPr/>
          <a:lstStyle/>
          <a:p>
            <a:fld id="{B098AF9F-2D75-4F26-BD1B-A5ACD20A7B01}" type="datetimeFigureOut">
              <a:rPr lang="zh-CN" altLang="en-US" smtClean="0"/>
            </a:fld>
            <a:endParaRPr lang="zh-CN" altLang="en-US"/>
          </a:p>
        </p:txBody>
      </p:sp>
      <p:sp>
        <p:nvSpPr>
          <p:cNvPr id="44" name="页脚占位符 3"/>
          <p:cNvSpPr>
            <a:spLocks noGrp="1"/>
          </p:cNvSpPr>
          <p:nvPr>
            <p:ph type="ftr" sz="quarter" idx="11"/>
          </p:nvPr>
        </p:nvSpPr>
        <p:spPr/>
        <p:txBody>
          <a:bodyPr/>
          <a:lstStyle/>
          <a:p>
            <a:endParaRPr lang="zh-CN" altLang="en-US"/>
          </a:p>
        </p:txBody>
      </p:sp>
      <p:sp>
        <p:nvSpPr>
          <p:cNvPr id="45" name="灯片编号占位符 4"/>
          <p:cNvSpPr>
            <a:spLocks noGrp="1"/>
          </p:cNvSpPr>
          <p:nvPr>
            <p:ph type="sldNum" sz="quarter" idx="12"/>
          </p:nvPr>
        </p:nvSpPr>
        <p:spPr/>
        <p:txBody>
          <a:bodyPr/>
          <a:lstStyle/>
          <a:p>
            <a:fld id="{AF36FF16-D2A7-4508-B6F0-177A2BE6065A}" type="slidenum">
              <a:rPr lang="zh-CN" altLang="en-US" smtClean="0"/>
            </a:fld>
            <a:endParaRPr lang="zh-CN" altLang="en-US"/>
          </a:p>
        </p:txBody>
      </p:sp>
    </p:spTree>
  </p:cSld>
  <p:clrMapOvr>
    <a:masterClrMapping/>
  </p:clrMapOvr>
  <p:hf sldNum="0"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空白">
    <p:spTree>
      <p:nvGrpSpPr>
        <p:cNvPr id="46" name=""/>
        <p:cNvGrpSpPr/>
        <p:nvPr/>
      </p:nvGrpSpPr>
      <p:grpSpPr>
        <a:xfrm>
          <a:off x="0" y="0"/>
          <a:ext cx="0" cy="0"/>
          <a:chOff x="0" y="0"/>
          <a:chExt cx="0" cy="0"/>
        </a:xfrm>
      </p:grpSpPr>
      <p:sp>
        <p:nvSpPr>
          <p:cNvPr id="47" name="日期占位符 1"/>
          <p:cNvSpPr>
            <a:spLocks noGrp="1"/>
          </p:cNvSpPr>
          <p:nvPr>
            <p:ph type="dt" sz="half" idx="10"/>
          </p:nvPr>
        </p:nvSpPr>
        <p:spPr/>
        <p:txBody>
          <a:bodyPr/>
          <a:lstStyle/>
          <a:p>
            <a:fld id="{B098AF9F-2D75-4F26-BD1B-A5ACD20A7B01}" type="datetimeFigureOut">
              <a:rPr lang="zh-CN" altLang="en-US" smtClean="0"/>
            </a:fld>
            <a:endParaRPr lang="zh-CN" altLang="en-US"/>
          </a:p>
        </p:txBody>
      </p:sp>
      <p:sp>
        <p:nvSpPr>
          <p:cNvPr id="48" name="页脚占位符 2"/>
          <p:cNvSpPr>
            <a:spLocks noGrp="1"/>
          </p:cNvSpPr>
          <p:nvPr>
            <p:ph type="ftr" sz="quarter" idx="11"/>
          </p:nvPr>
        </p:nvSpPr>
        <p:spPr/>
        <p:txBody>
          <a:bodyPr/>
          <a:lstStyle/>
          <a:p>
            <a:endParaRPr lang="zh-CN" altLang="en-US"/>
          </a:p>
        </p:txBody>
      </p:sp>
      <p:sp>
        <p:nvSpPr>
          <p:cNvPr id="49" name="灯片编号占位符 3"/>
          <p:cNvSpPr>
            <a:spLocks noGrp="1"/>
          </p:cNvSpPr>
          <p:nvPr>
            <p:ph type="sldNum" sz="quarter" idx="12"/>
          </p:nvPr>
        </p:nvSpPr>
        <p:spPr/>
        <p:txBody>
          <a:bodyPr/>
          <a:lstStyle/>
          <a:p>
            <a:fld id="{AF36FF16-D2A7-4508-B6F0-177A2BE6065A}" type="slidenum">
              <a:rPr lang="zh-CN" altLang="en-US" smtClean="0"/>
            </a:fld>
            <a:endParaRPr lang="zh-CN" altLang="en-US"/>
          </a:p>
        </p:txBody>
      </p:sp>
    </p:spTree>
  </p:cSld>
  <p:clrMapOvr>
    <a:masterClrMapping/>
  </p:clrMapOvr>
  <p:hf sldNum="0"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内容与标题">
    <p:spTree>
      <p:nvGrpSpPr>
        <p:cNvPr id="50" name=""/>
        <p:cNvGrpSpPr/>
        <p:nvPr/>
      </p:nvGrpSpPr>
      <p:grpSpPr>
        <a:xfrm>
          <a:off x="0" y="0"/>
          <a:ext cx="0" cy="0"/>
          <a:chOff x="0" y="0"/>
          <a:chExt cx="0" cy="0"/>
        </a:xfrm>
      </p:grpSpPr>
      <p:sp>
        <p:nvSpPr>
          <p:cNvPr id="51"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52"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3"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4" name="日期占位符 4"/>
          <p:cNvSpPr>
            <a:spLocks noGrp="1"/>
          </p:cNvSpPr>
          <p:nvPr>
            <p:ph type="dt" sz="half" idx="10"/>
          </p:nvPr>
        </p:nvSpPr>
        <p:spPr/>
        <p:txBody>
          <a:bodyPr/>
          <a:lstStyle/>
          <a:p>
            <a:fld id="{B098AF9F-2D75-4F26-BD1B-A5ACD20A7B01}" type="datetimeFigureOut">
              <a:rPr lang="zh-CN" altLang="en-US" smtClean="0"/>
            </a:fld>
            <a:endParaRPr lang="zh-CN" altLang="en-US"/>
          </a:p>
        </p:txBody>
      </p:sp>
      <p:sp>
        <p:nvSpPr>
          <p:cNvPr id="55" name="页脚占位符 5"/>
          <p:cNvSpPr>
            <a:spLocks noGrp="1"/>
          </p:cNvSpPr>
          <p:nvPr>
            <p:ph type="ftr" sz="quarter" idx="11"/>
          </p:nvPr>
        </p:nvSpPr>
        <p:spPr/>
        <p:txBody>
          <a:bodyPr/>
          <a:lstStyle/>
          <a:p>
            <a:endParaRPr lang="zh-CN" altLang="en-US"/>
          </a:p>
        </p:txBody>
      </p:sp>
      <p:sp>
        <p:nvSpPr>
          <p:cNvPr id="56" name="灯片编号占位符 6"/>
          <p:cNvSpPr>
            <a:spLocks noGrp="1"/>
          </p:cNvSpPr>
          <p:nvPr>
            <p:ph type="sldNum" sz="quarter" idx="12"/>
          </p:nvPr>
        </p:nvSpPr>
        <p:spPr/>
        <p:txBody>
          <a:bodyPr/>
          <a:lstStyle/>
          <a:p>
            <a:fld id="{AF36FF16-D2A7-4508-B6F0-177A2BE6065A}" type="slidenum">
              <a:rPr lang="zh-CN" altLang="en-US" smtClean="0"/>
            </a:fld>
            <a:endParaRPr lang="zh-CN" altLang="en-US"/>
          </a:p>
        </p:txBody>
      </p:sp>
    </p:spTree>
  </p:cSld>
  <p:clrMapOvr>
    <a:masterClrMapping/>
  </p:clrMapOvr>
  <p:hf sldNum="0"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图片与标题">
    <p:spTree>
      <p:nvGrpSpPr>
        <p:cNvPr id="57" name=""/>
        <p:cNvGrpSpPr/>
        <p:nvPr/>
      </p:nvGrpSpPr>
      <p:grpSpPr>
        <a:xfrm>
          <a:off x="0" y="0"/>
          <a:ext cx="0" cy="0"/>
          <a:chOff x="0" y="0"/>
          <a:chExt cx="0" cy="0"/>
        </a:xfrm>
      </p:grpSpPr>
      <p:sp>
        <p:nvSpPr>
          <p:cNvPr id="58"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59"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60"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61" name="日期占位符 4"/>
          <p:cNvSpPr>
            <a:spLocks noGrp="1"/>
          </p:cNvSpPr>
          <p:nvPr>
            <p:ph type="dt" sz="half" idx="10"/>
          </p:nvPr>
        </p:nvSpPr>
        <p:spPr/>
        <p:txBody>
          <a:bodyPr/>
          <a:lstStyle/>
          <a:p>
            <a:fld id="{B098AF9F-2D75-4F26-BD1B-A5ACD20A7B01}" type="datetimeFigureOut">
              <a:rPr lang="zh-CN" altLang="en-US" smtClean="0"/>
            </a:fld>
            <a:endParaRPr lang="zh-CN" altLang="en-US"/>
          </a:p>
        </p:txBody>
      </p:sp>
      <p:sp>
        <p:nvSpPr>
          <p:cNvPr id="62" name="页脚占位符 5"/>
          <p:cNvSpPr>
            <a:spLocks noGrp="1"/>
          </p:cNvSpPr>
          <p:nvPr>
            <p:ph type="ftr" sz="quarter" idx="11"/>
          </p:nvPr>
        </p:nvSpPr>
        <p:spPr/>
        <p:txBody>
          <a:bodyPr/>
          <a:lstStyle/>
          <a:p>
            <a:endParaRPr lang="zh-CN" altLang="en-US"/>
          </a:p>
        </p:txBody>
      </p:sp>
      <p:sp>
        <p:nvSpPr>
          <p:cNvPr id="63" name="灯片编号占位符 6"/>
          <p:cNvSpPr>
            <a:spLocks noGrp="1"/>
          </p:cNvSpPr>
          <p:nvPr>
            <p:ph type="sldNum" sz="quarter" idx="12"/>
          </p:nvPr>
        </p:nvSpPr>
        <p:spPr/>
        <p:txBody>
          <a:bodyPr/>
          <a:lstStyle/>
          <a:p>
            <a:fld id="{AF36FF16-D2A7-4508-B6F0-177A2BE6065A}" type="slidenum">
              <a:rPr lang="zh-CN" altLang="en-US" smtClean="0"/>
            </a:fld>
            <a:endParaRPr lang="zh-CN" altLang="en-US"/>
          </a:p>
        </p:txBody>
      </p:sp>
    </p:spTree>
  </p:cSld>
  <p:clrMapOvr>
    <a:masterClrMapping/>
  </p:clrMapOvr>
  <p:hf sldNum="0"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标题和竖排文字">
    <p:spTree>
      <p:nvGrpSpPr>
        <p:cNvPr id="64" name=""/>
        <p:cNvGrpSpPr/>
        <p:nvPr/>
      </p:nvGrpSpPr>
      <p:grpSpPr>
        <a:xfrm>
          <a:off x="0" y="0"/>
          <a:ext cx="0" cy="0"/>
          <a:chOff x="0" y="0"/>
          <a:chExt cx="0" cy="0"/>
        </a:xfrm>
      </p:grpSpPr>
      <p:sp>
        <p:nvSpPr>
          <p:cNvPr id="65" name="标题 1"/>
          <p:cNvSpPr>
            <a:spLocks noGrp="1"/>
          </p:cNvSpPr>
          <p:nvPr>
            <p:ph type="title"/>
          </p:nvPr>
        </p:nvSpPr>
        <p:spPr/>
        <p:txBody>
          <a:bodyPr/>
          <a:lstStyle/>
          <a:p>
            <a:r>
              <a:rPr lang="zh-CN" altLang="en-US"/>
              <a:t>单击此处编辑母版标题样式</a:t>
            </a:r>
            <a:endParaRPr lang="zh-CN" altLang="en-US"/>
          </a:p>
        </p:txBody>
      </p:sp>
      <p:sp>
        <p:nvSpPr>
          <p:cNvPr id="66"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7" name="日期占位符 3"/>
          <p:cNvSpPr>
            <a:spLocks noGrp="1"/>
          </p:cNvSpPr>
          <p:nvPr>
            <p:ph type="dt" sz="half" idx="10"/>
          </p:nvPr>
        </p:nvSpPr>
        <p:spPr/>
        <p:txBody>
          <a:bodyPr/>
          <a:lstStyle/>
          <a:p>
            <a:fld id="{B098AF9F-2D75-4F26-BD1B-A5ACD20A7B01}" type="datetimeFigureOut">
              <a:rPr lang="zh-CN" altLang="en-US" smtClean="0"/>
            </a:fld>
            <a:endParaRPr lang="zh-CN" altLang="en-US"/>
          </a:p>
        </p:txBody>
      </p:sp>
      <p:sp>
        <p:nvSpPr>
          <p:cNvPr id="68" name="页脚占位符 4"/>
          <p:cNvSpPr>
            <a:spLocks noGrp="1"/>
          </p:cNvSpPr>
          <p:nvPr>
            <p:ph type="ftr" sz="quarter" idx="11"/>
          </p:nvPr>
        </p:nvSpPr>
        <p:spPr/>
        <p:txBody>
          <a:bodyPr/>
          <a:lstStyle/>
          <a:p>
            <a:endParaRPr lang="zh-CN" altLang="en-US"/>
          </a:p>
        </p:txBody>
      </p:sp>
      <p:sp>
        <p:nvSpPr>
          <p:cNvPr id="69" name="灯片编号占位符 5"/>
          <p:cNvSpPr>
            <a:spLocks noGrp="1"/>
          </p:cNvSpPr>
          <p:nvPr>
            <p:ph type="sldNum" sz="quarter" idx="12"/>
          </p:nvPr>
        </p:nvSpPr>
        <p:spPr/>
        <p:txBody>
          <a:bodyPr/>
          <a:lstStyle/>
          <a:p>
            <a:fld id="{AF36FF16-D2A7-4508-B6F0-177A2BE6065A}" type="slidenum">
              <a:rPr lang="zh-CN" altLang="en-US" smtClean="0"/>
            </a:fld>
            <a:endParaRPr lang="zh-CN" altLang="en-US"/>
          </a:p>
        </p:txBody>
      </p:sp>
    </p:spTree>
  </p:cSld>
  <p:clrMapOvr>
    <a:masterClrMapping/>
  </p:clrMapOvr>
  <p:hf sldNum="0"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竖排标题与文本">
    <p:spTree>
      <p:nvGrpSpPr>
        <p:cNvPr id="13" name=""/>
        <p:cNvGrpSpPr/>
        <p:nvPr/>
      </p:nvGrpSpPr>
      <p:grpSpPr>
        <a:xfrm>
          <a:off x="0" y="0"/>
          <a:ext cx="0" cy="0"/>
          <a:chOff x="0" y="0"/>
          <a:chExt cx="0" cy="0"/>
        </a:xfrm>
      </p:grpSpPr>
      <p:sp>
        <p:nvSpPr>
          <p:cNvPr id="14"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15"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16" name="日期占位符 3"/>
          <p:cNvSpPr>
            <a:spLocks noGrp="1"/>
          </p:cNvSpPr>
          <p:nvPr>
            <p:ph type="dt" sz="half" idx="10"/>
          </p:nvPr>
        </p:nvSpPr>
        <p:spPr/>
        <p:txBody>
          <a:bodyPr/>
          <a:lstStyle/>
          <a:p>
            <a:fld id="{B098AF9F-2D75-4F26-BD1B-A5ACD20A7B01}" type="datetimeFigureOut">
              <a:rPr lang="zh-CN" altLang="en-US" smtClean="0"/>
            </a:fld>
            <a:endParaRPr lang="zh-CN" altLang="en-US"/>
          </a:p>
        </p:txBody>
      </p:sp>
      <p:sp>
        <p:nvSpPr>
          <p:cNvPr id="17" name="页脚占位符 4"/>
          <p:cNvSpPr>
            <a:spLocks noGrp="1"/>
          </p:cNvSpPr>
          <p:nvPr>
            <p:ph type="ftr" sz="quarter" idx="11"/>
          </p:nvPr>
        </p:nvSpPr>
        <p:spPr/>
        <p:txBody>
          <a:bodyPr/>
          <a:lstStyle/>
          <a:p>
            <a:endParaRPr lang="zh-CN" altLang="en-US"/>
          </a:p>
        </p:txBody>
      </p:sp>
      <p:sp>
        <p:nvSpPr>
          <p:cNvPr id="18" name="灯片编号占位符 5"/>
          <p:cNvSpPr>
            <a:spLocks noGrp="1"/>
          </p:cNvSpPr>
          <p:nvPr>
            <p:ph type="sldNum" sz="quarter" idx="12"/>
          </p:nvPr>
        </p:nvSpPr>
        <p:spPr/>
        <p:txBody>
          <a:bodyPr/>
          <a:lstStyle/>
          <a:p>
            <a:fld id="{AF36FF16-D2A7-4508-B6F0-177A2BE6065A}" type="slidenum">
              <a:rPr lang="zh-CN" altLang="en-US" smtClean="0"/>
            </a:fld>
            <a:endParaRPr lang="zh-CN" altLang="en-US"/>
          </a:p>
        </p:txBody>
      </p:sp>
    </p:spTree>
  </p:cSld>
  <p:clrMapOvr>
    <a:masterClrMapping/>
  </p:clrMapOvr>
  <p:hf sldNum="0" hd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098AF9F-2D75-4F26-BD1B-A5ACD20A7B01}"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F36FF16-D2A7-4508-B6F0-177A2BE6065A}"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microsoft.com/office/2007/relationships/hdphoto" Target="../media/image2.wdp"/><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2" Type="http://schemas.openxmlformats.org/officeDocument/2006/relationships/notesSlide" Target="../notesSlides/notesSlide2.xml"/><Relationship Id="rId21" Type="http://schemas.openxmlformats.org/officeDocument/2006/relationships/slideLayout" Target="../slideLayouts/slideLayout1.xml"/><Relationship Id="rId20" Type="http://schemas.openxmlformats.org/officeDocument/2006/relationships/tags" Target="../tags/tag16.xml"/><Relationship Id="rId2" Type="http://schemas.openxmlformats.org/officeDocument/2006/relationships/tags" Target="../tags/tag1.xml"/><Relationship Id="rId19" Type="http://schemas.openxmlformats.org/officeDocument/2006/relationships/image" Target="../media/image4.png"/><Relationship Id="rId18" Type="http://schemas.openxmlformats.org/officeDocument/2006/relationships/image" Target="../media/image3.png"/><Relationship Id="rId17" Type="http://schemas.openxmlformats.org/officeDocument/2006/relationships/image" Target="../media/image5.png"/><Relationship Id="rId16" Type="http://schemas.openxmlformats.org/officeDocument/2006/relationships/tags" Target="../tags/tag15.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image" Target="../media/image6.jpe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slideLayout" Target="../slideLayouts/slideLayout2.xml"/><Relationship Id="rId5" Type="http://schemas.openxmlformats.org/officeDocument/2006/relationships/image" Target="../media/image9.svg"/><Relationship Id="rId4" Type="http://schemas.openxmlformats.org/officeDocument/2006/relationships/image" Target="../media/image8.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7.png"/></Relationships>
</file>

<file path=ppt/slides/_rels/slide5.xml.rels><?xml version="1.0" encoding="UTF-8" standalone="yes"?>
<Relationships xmlns="http://schemas.openxmlformats.org/package/2006/relationships"><Relationship Id="rId9" Type="http://schemas.openxmlformats.org/officeDocument/2006/relationships/tags" Target="../tags/tag20.xml"/><Relationship Id="rId8" Type="http://schemas.openxmlformats.org/officeDocument/2006/relationships/tags" Target="../tags/tag19.xml"/><Relationship Id="rId7" Type="http://schemas.openxmlformats.org/officeDocument/2006/relationships/image" Target="../media/image11.svg"/><Relationship Id="rId6" Type="http://schemas.openxmlformats.org/officeDocument/2006/relationships/image" Target="../media/image10.png"/><Relationship Id="rId5" Type="http://schemas.openxmlformats.org/officeDocument/2006/relationships/tags" Target="../tags/tag18.xml"/><Relationship Id="rId4" Type="http://schemas.openxmlformats.org/officeDocument/2006/relationships/tags" Target="../tags/tag17.xml"/><Relationship Id="rId3" Type="http://schemas.openxmlformats.org/officeDocument/2006/relationships/image" Target="../media/image4.png"/><Relationship Id="rId23" Type="http://schemas.openxmlformats.org/officeDocument/2006/relationships/notesSlide" Target="../notesSlides/notesSlide5.xml"/><Relationship Id="rId22" Type="http://schemas.openxmlformats.org/officeDocument/2006/relationships/slideLayout" Target="../slideLayouts/slideLayout2.xml"/><Relationship Id="rId21" Type="http://schemas.openxmlformats.org/officeDocument/2006/relationships/tags" Target="../tags/tag28.xml"/><Relationship Id="rId20" Type="http://schemas.openxmlformats.org/officeDocument/2006/relationships/tags" Target="../tags/tag27.xml"/><Relationship Id="rId2" Type="http://schemas.openxmlformats.org/officeDocument/2006/relationships/image" Target="../media/image3.png"/><Relationship Id="rId19" Type="http://schemas.openxmlformats.org/officeDocument/2006/relationships/image" Target="../media/image15.svg"/><Relationship Id="rId18" Type="http://schemas.openxmlformats.org/officeDocument/2006/relationships/image" Target="../media/image14.png"/><Relationship Id="rId17" Type="http://schemas.openxmlformats.org/officeDocument/2006/relationships/tags" Target="../tags/tag26.xml"/><Relationship Id="rId16" Type="http://schemas.openxmlformats.org/officeDocument/2006/relationships/tags" Target="../tags/tag25.xml"/><Relationship Id="rId15" Type="http://schemas.openxmlformats.org/officeDocument/2006/relationships/tags" Target="../tags/tag24.xml"/><Relationship Id="rId14" Type="http://schemas.openxmlformats.org/officeDocument/2006/relationships/tags" Target="../tags/tag23.xml"/><Relationship Id="rId13" Type="http://schemas.openxmlformats.org/officeDocument/2006/relationships/image" Target="../media/image13.svg"/><Relationship Id="rId12" Type="http://schemas.openxmlformats.org/officeDocument/2006/relationships/image" Target="../media/image12.png"/><Relationship Id="rId11" Type="http://schemas.openxmlformats.org/officeDocument/2006/relationships/tags" Target="../tags/tag22.xml"/><Relationship Id="rId10" Type="http://schemas.openxmlformats.org/officeDocument/2006/relationships/tags" Target="../tags/tag21.xml"/><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9" Type="http://schemas.openxmlformats.org/officeDocument/2006/relationships/notesSlide" Target="../notesSlides/notesSlide6.xml"/><Relationship Id="rId8" Type="http://schemas.openxmlformats.org/officeDocument/2006/relationships/slideLayout" Target="../slideLayouts/slideLayout2.xml"/><Relationship Id="rId7" Type="http://schemas.openxmlformats.org/officeDocument/2006/relationships/image" Target="../media/image19.svg"/><Relationship Id="rId6" Type="http://schemas.openxmlformats.org/officeDocument/2006/relationships/image" Target="../media/image18.png"/><Relationship Id="rId5" Type="http://schemas.openxmlformats.org/officeDocument/2006/relationships/image" Target="../media/image17.svg"/><Relationship Id="rId4" Type="http://schemas.openxmlformats.org/officeDocument/2006/relationships/image" Target="../media/image16.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2.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image" Target="../media/image20.png"/></Relationships>
</file>

<file path=ppt/slides/_rels/slide9.xml.rels><?xml version="1.0" encoding="UTF-8" standalone="yes"?>
<Relationships xmlns="http://schemas.openxmlformats.org/package/2006/relationships"><Relationship Id="rId9" Type="http://schemas.openxmlformats.org/officeDocument/2006/relationships/tags" Target="../tags/tag31.xml"/><Relationship Id="rId8" Type="http://schemas.openxmlformats.org/officeDocument/2006/relationships/tags" Target="../tags/tag30.xml"/><Relationship Id="rId7" Type="http://schemas.openxmlformats.org/officeDocument/2006/relationships/image" Target="../media/image23.svg"/><Relationship Id="rId6" Type="http://schemas.openxmlformats.org/officeDocument/2006/relationships/image" Target="../media/image22.png"/><Relationship Id="rId5" Type="http://schemas.openxmlformats.org/officeDocument/2006/relationships/tags" Target="../tags/tag29.xml"/><Relationship Id="rId4" Type="http://schemas.openxmlformats.org/officeDocument/2006/relationships/image" Target="../media/image21.png"/><Relationship Id="rId3" Type="http://schemas.openxmlformats.org/officeDocument/2006/relationships/image" Target="../media/image4.png"/><Relationship Id="rId2" Type="http://schemas.openxmlformats.org/officeDocument/2006/relationships/image" Target="../media/image3.png"/><Relationship Id="rId18" Type="http://schemas.openxmlformats.org/officeDocument/2006/relationships/notesSlide" Target="../notesSlides/notesSlide9.xml"/><Relationship Id="rId17" Type="http://schemas.openxmlformats.org/officeDocument/2006/relationships/slideLayout" Target="../slideLayouts/slideLayout2.xml"/><Relationship Id="rId16" Type="http://schemas.openxmlformats.org/officeDocument/2006/relationships/image" Target="../media/image27.svg"/><Relationship Id="rId15" Type="http://schemas.openxmlformats.org/officeDocument/2006/relationships/image" Target="../media/image26.png"/><Relationship Id="rId14" Type="http://schemas.openxmlformats.org/officeDocument/2006/relationships/tags" Target="../tags/tag34.xml"/><Relationship Id="rId13" Type="http://schemas.openxmlformats.org/officeDocument/2006/relationships/image" Target="../media/image25.svg"/><Relationship Id="rId12" Type="http://schemas.openxmlformats.org/officeDocument/2006/relationships/image" Target="../media/image24.png"/><Relationship Id="rId11" Type="http://schemas.openxmlformats.org/officeDocument/2006/relationships/tags" Target="../tags/tag33.xml"/><Relationship Id="rId10" Type="http://schemas.openxmlformats.org/officeDocument/2006/relationships/tags" Target="../tags/tag32.xml"/><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9" Type="http://schemas.openxmlformats.org/officeDocument/2006/relationships/image" Target="../media/image33.png"/><Relationship Id="rId8" Type="http://schemas.openxmlformats.org/officeDocument/2006/relationships/image" Target="../media/image32.svg"/><Relationship Id="rId7" Type="http://schemas.openxmlformats.org/officeDocument/2006/relationships/image" Target="../media/image31.png"/><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28.png"/><Relationship Id="rId3" Type="http://schemas.openxmlformats.org/officeDocument/2006/relationships/image" Target="../media/image4.png"/><Relationship Id="rId2" Type="http://schemas.openxmlformats.org/officeDocument/2006/relationships/image" Target="../media/image3.png"/><Relationship Id="rId12" Type="http://schemas.openxmlformats.org/officeDocument/2006/relationships/notesSlide" Target="../notesSlides/notesSlide10.xml"/><Relationship Id="rId11" Type="http://schemas.openxmlformats.org/officeDocument/2006/relationships/slideLayout" Target="../slideLayouts/slideLayout2.xml"/><Relationship Id="rId10" Type="http://schemas.openxmlformats.org/officeDocument/2006/relationships/image" Target="../media/image34.svg"/><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39.svg"/><Relationship Id="rId7" Type="http://schemas.openxmlformats.org/officeDocument/2006/relationships/image" Target="../media/image38.png"/><Relationship Id="rId6" Type="http://schemas.openxmlformats.org/officeDocument/2006/relationships/image" Target="../media/image37.svg"/><Relationship Id="rId5" Type="http://schemas.openxmlformats.org/officeDocument/2006/relationships/image" Target="../media/image36.png"/><Relationship Id="rId4" Type="http://schemas.openxmlformats.org/officeDocument/2006/relationships/image" Target="../media/image35.png"/><Relationship Id="rId3" Type="http://schemas.openxmlformats.org/officeDocument/2006/relationships/image" Target="../media/image4.png"/><Relationship Id="rId2" Type="http://schemas.openxmlformats.org/officeDocument/2006/relationships/image" Target="../media/image3.png"/><Relationship Id="rId10" Type="http://schemas.openxmlformats.org/officeDocument/2006/relationships/notesSlide" Target="../notesSlides/notesSlide11.xml"/><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9" Type="http://schemas.openxmlformats.org/officeDocument/2006/relationships/image" Target="../media/image43.png"/><Relationship Id="rId8" Type="http://schemas.openxmlformats.org/officeDocument/2006/relationships/image" Target="../media/image39.svg"/><Relationship Id="rId7" Type="http://schemas.openxmlformats.org/officeDocument/2006/relationships/image" Target="../media/image38.png"/><Relationship Id="rId6" Type="http://schemas.openxmlformats.org/officeDocument/2006/relationships/image" Target="../media/image42.svg"/><Relationship Id="rId5" Type="http://schemas.openxmlformats.org/officeDocument/2006/relationships/image" Target="../media/image41.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7.png"/><Relationship Id="rId12" Type="http://schemas.openxmlformats.org/officeDocument/2006/relationships/notesSlide" Target="../notesSlides/notesSlide12.xml"/><Relationship Id="rId11" Type="http://schemas.openxmlformats.org/officeDocument/2006/relationships/slideLayout" Target="../slideLayouts/slideLayout2.xml"/><Relationship Id="rId10" Type="http://schemas.openxmlformats.org/officeDocument/2006/relationships/image" Target="../media/image44.svg"/><Relationship Id="rId1" Type="http://schemas.openxmlformats.org/officeDocument/2006/relationships/image" Target="../media/image40.png"/></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2.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image" Target="../media/image45.png"/></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14.xml"/><Relationship Id="rId5" Type="http://schemas.openxmlformats.org/officeDocument/2006/relationships/slideLayout" Target="../slideLayouts/slideLayout2.xml"/><Relationship Id="rId4" Type="http://schemas.openxmlformats.org/officeDocument/2006/relationships/tags" Target="../tags/tag35.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7.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16.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50.png"/><Relationship Id="rId7" Type="http://schemas.openxmlformats.org/officeDocument/2006/relationships/image" Target="../media/image49.png"/><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 Id="rId3" Type="http://schemas.openxmlformats.org/officeDocument/2006/relationships/image" Target="../media/image4.png"/><Relationship Id="rId2" Type="http://schemas.openxmlformats.org/officeDocument/2006/relationships/image" Target="../media/image3.png"/><Relationship Id="rId10" Type="http://schemas.openxmlformats.org/officeDocument/2006/relationships/notesSlide" Target="../notesSlides/notesSlide16.xml"/><Relationship Id="rId1" Type="http://schemas.openxmlformats.org/officeDocument/2006/relationships/image" Target="../media/image7.png"/></Relationships>
</file>

<file path=ppt/slides/_rels/slide17.xml.rels><?xml version="1.0" encoding="UTF-8" standalone="yes"?>
<Relationships xmlns="http://schemas.openxmlformats.org/package/2006/relationships"><Relationship Id="rId9" Type="http://schemas.openxmlformats.org/officeDocument/2006/relationships/notesSlide" Target="../notesSlides/notesSlide17.xml"/><Relationship Id="rId8" Type="http://schemas.openxmlformats.org/officeDocument/2006/relationships/slideLayout" Target="../slideLayouts/slideLayout2.xml"/><Relationship Id="rId7" Type="http://schemas.openxmlformats.org/officeDocument/2006/relationships/image" Target="../media/image54.png"/><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7.png"/></Relationships>
</file>

<file path=ppt/slides/_rels/slide18.xml.rels><?xml version="1.0" encoding="UTF-8" standalone="yes"?>
<Relationships xmlns="http://schemas.openxmlformats.org/package/2006/relationships"><Relationship Id="rId7" Type="http://schemas.openxmlformats.org/officeDocument/2006/relationships/notesSlide" Target="../notesSlides/notesSlide18.xml"/><Relationship Id="rId6" Type="http://schemas.openxmlformats.org/officeDocument/2006/relationships/slideLayout" Target="../slideLayouts/slideLayout2.xml"/><Relationship Id="rId5" Type="http://schemas.openxmlformats.org/officeDocument/2006/relationships/image" Target="../media/image56.png"/><Relationship Id="rId4" Type="http://schemas.openxmlformats.org/officeDocument/2006/relationships/image" Target="../media/image5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7.png"/></Relationships>
</file>

<file path=ppt/slides/_rels/slide19.xml.rels><?xml version="1.0" encoding="UTF-8" standalone="yes"?>
<Relationships xmlns="http://schemas.openxmlformats.org/package/2006/relationships"><Relationship Id="rId6" Type="http://schemas.openxmlformats.org/officeDocument/2006/relationships/notesSlide" Target="../notesSlides/notesSlide19.xml"/><Relationship Id="rId5" Type="http://schemas.openxmlformats.org/officeDocument/2006/relationships/slideLayout" Target="../slideLayouts/slideLayout2.xml"/><Relationship Id="rId4" Type="http://schemas.openxmlformats.org/officeDocument/2006/relationships/image" Target="../media/image57.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7.png"/></Relationships>
</file>

<file path=ppt/slides/_rels/slide20.xml.rels><?xml version="1.0" encoding="UTF-8" standalone="yes"?>
<Relationships xmlns="http://schemas.openxmlformats.org/package/2006/relationships"><Relationship Id="rId7" Type="http://schemas.openxmlformats.org/officeDocument/2006/relationships/notesSlide" Target="../notesSlides/notesSlide20.xml"/><Relationship Id="rId6" Type="http://schemas.openxmlformats.org/officeDocument/2006/relationships/slideLayout" Target="../slideLayouts/slideLayout2.xml"/><Relationship Id="rId5" Type="http://schemas.openxmlformats.org/officeDocument/2006/relationships/image" Target="../media/image59.png"/><Relationship Id="rId4" Type="http://schemas.openxmlformats.org/officeDocument/2006/relationships/image" Target="../media/image58.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7.png"/></Relationships>
</file>

<file path=ppt/slides/_rels/slide21.xml.rels><?xml version="1.0" encoding="UTF-8" standalone="yes"?>
<Relationships xmlns="http://schemas.openxmlformats.org/package/2006/relationships"><Relationship Id="rId6" Type="http://schemas.openxmlformats.org/officeDocument/2006/relationships/notesSlide" Target="../notesSlides/notesSlide21.xml"/><Relationship Id="rId5" Type="http://schemas.openxmlformats.org/officeDocument/2006/relationships/slideLayout" Target="../slideLayouts/slideLayout2.xml"/><Relationship Id="rId4" Type="http://schemas.openxmlformats.org/officeDocument/2006/relationships/image" Target="../media/image60.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7.png"/></Relationships>
</file>

<file path=ppt/slides/_rels/slide22.xml.rels><?xml version="1.0" encoding="UTF-8" standalone="yes"?>
<Relationships xmlns="http://schemas.openxmlformats.org/package/2006/relationships"><Relationship Id="rId9" Type="http://schemas.openxmlformats.org/officeDocument/2006/relationships/image" Target="../media/image66.svg"/><Relationship Id="rId8" Type="http://schemas.openxmlformats.org/officeDocument/2006/relationships/image" Target="../media/image65.png"/><Relationship Id="rId7" Type="http://schemas.openxmlformats.org/officeDocument/2006/relationships/image" Target="../media/image64.svg"/><Relationship Id="rId6" Type="http://schemas.openxmlformats.org/officeDocument/2006/relationships/image" Target="../media/image63.png"/><Relationship Id="rId5" Type="http://schemas.openxmlformats.org/officeDocument/2006/relationships/image" Target="../media/image62.svg"/><Relationship Id="rId4" Type="http://schemas.openxmlformats.org/officeDocument/2006/relationships/image" Target="../media/image61.png"/><Relationship Id="rId3" Type="http://schemas.openxmlformats.org/officeDocument/2006/relationships/image" Target="../media/image4.png"/><Relationship Id="rId2" Type="http://schemas.openxmlformats.org/officeDocument/2006/relationships/image" Target="../media/image3.png"/><Relationship Id="rId14" Type="http://schemas.openxmlformats.org/officeDocument/2006/relationships/notesSlide" Target="../notesSlides/notesSlide22.xml"/><Relationship Id="rId13" Type="http://schemas.openxmlformats.org/officeDocument/2006/relationships/slideLayout" Target="../slideLayouts/slideLayout2.xml"/><Relationship Id="rId12" Type="http://schemas.openxmlformats.org/officeDocument/2006/relationships/image" Target="../media/image69.svg"/><Relationship Id="rId11" Type="http://schemas.openxmlformats.org/officeDocument/2006/relationships/image" Target="../media/image68.png"/><Relationship Id="rId10" Type="http://schemas.openxmlformats.org/officeDocument/2006/relationships/image" Target="../media/image67.jpeg"/><Relationship Id="rId1" Type="http://schemas.openxmlformats.org/officeDocument/2006/relationships/image" Target="../media/image7.png"/></Relationships>
</file>

<file path=ppt/slides/_rels/slide23.xml.rels><?xml version="1.0" encoding="UTF-8" standalone="yes"?>
<Relationships xmlns="http://schemas.openxmlformats.org/package/2006/relationships"><Relationship Id="rId8" Type="http://schemas.openxmlformats.org/officeDocument/2006/relationships/notesSlide" Target="../notesSlides/notesSlide23.xml"/><Relationship Id="rId7" Type="http://schemas.openxmlformats.org/officeDocument/2006/relationships/slideLayout" Target="../slideLayouts/slideLayout2.xml"/><Relationship Id="rId6" Type="http://schemas.openxmlformats.org/officeDocument/2006/relationships/image" Target="../media/image72.svg"/><Relationship Id="rId5" Type="http://schemas.openxmlformats.org/officeDocument/2006/relationships/image" Target="../media/image71.png"/><Relationship Id="rId4" Type="http://schemas.openxmlformats.org/officeDocument/2006/relationships/image" Target="../media/image70.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7.png"/></Relationships>
</file>

<file path=ppt/slides/_rels/slide24.xml.rels><?xml version="1.0" encoding="UTF-8" standalone="yes"?>
<Relationships xmlns="http://schemas.openxmlformats.org/package/2006/relationships"><Relationship Id="rId6" Type="http://schemas.openxmlformats.org/officeDocument/2006/relationships/notesSlide" Target="../notesSlides/notesSlide24.xml"/><Relationship Id="rId5" Type="http://schemas.openxmlformats.org/officeDocument/2006/relationships/slideLayout" Target="../slideLayouts/slideLayout2.xml"/><Relationship Id="rId4" Type="http://schemas.openxmlformats.org/officeDocument/2006/relationships/image" Target="../media/image73.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7.pn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26.xml.rels><?xml version="1.0" encoding="UTF-8" standalone="yes"?>
<Relationships xmlns="http://schemas.openxmlformats.org/package/2006/relationships"><Relationship Id="rId9" Type="http://schemas.openxmlformats.org/officeDocument/2006/relationships/tags" Target="../tags/tag41.xml"/><Relationship Id="rId8" Type="http://schemas.openxmlformats.org/officeDocument/2006/relationships/tags" Target="../tags/tag40.xml"/><Relationship Id="rId7" Type="http://schemas.openxmlformats.org/officeDocument/2006/relationships/tags" Target="../tags/tag39.xml"/><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tags" Target="../tags/tag36.xml"/><Relationship Id="rId3" Type="http://schemas.openxmlformats.org/officeDocument/2006/relationships/image" Target="../media/image4.png"/><Relationship Id="rId2" Type="http://schemas.openxmlformats.org/officeDocument/2006/relationships/image" Target="../media/image3.png"/><Relationship Id="rId11" Type="http://schemas.openxmlformats.org/officeDocument/2006/relationships/notesSlide" Target="../notesSlides/notesSlide26.xml"/><Relationship Id="rId10" Type="http://schemas.openxmlformats.org/officeDocument/2006/relationships/slideLayout" Target="../slideLayouts/slideLayout2.xml"/><Relationship Id="rId1" Type="http://schemas.openxmlformats.org/officeDocument/2006/relationships/image" Target="../media/image7.png"/></Relationships>
</file>

<file path=ppt/slides/_rels/slide27.xml.rels><?xml version="1.0" encoding="UTF-8" standalone="yes"?>
<Relationships xmlns="http://schemas.openxmlformats.org/package/2006/relationships"><Relationship Id="rId7" Type="http://schemas.openxmlformats.org/officeDocument/2006/relationships/notesSlide" Target="../notesSlides/notesSlide27.xml"/><Relationship Id="rId6"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microsoft.com/office/2007/relationships/hdphoto" Target="../media/image2.wdp"/><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07" name=""/>
        <p:cNvGrpSpPr/>
        <p:nvPr/>
      </p:nvGrpSpPr>
      <p:grpSpPr>
        <a:xfrm>
          <a:off x="0" y="0"/>
          <a:ext cx="0" cy="0"/>
          <a:chOff x="0" y="0"/>
          <a:chExt cx="0" cy="0"/>
        </a:xfrm>
      </p:grpSpPr>
      <p:pic>
        <p:nvPicPr>
          <p:cNvPr id="108" name="Picture 2"/>
          <p:cNvPicPr>
            <a:picLocks noChangeAspect="1" noChangeArrowheads="1"/>
          </p:cNvPicPr>
          <p:nvPr/>
        </p:nvPicPr>
        <p:blipFill rotWithShape="1">
          <a:blip r:embed="rId1">
            <a:extLst>
              <a:ext uri="{BEBA8EAE-BF5A-486C-A8C5-ECC9F3942E4B}">
                <a14:imgProps xmlns:a14="http://schemas.microsoft.com/office/drawing/2010/main">
                  <a14:imgLayer r:embed="rId2">
                    <a14:imgEffect>
                      <a14:brightnessContrast bright="20000" contrast="40000"/>
                    </a14:imgEffect>
                  </a14:imgLayer>
                </a14:imgProps>
              </a:ext>
            </a:extLst>
          </a:blip>
          <a:srcRect b="25979"/>
          <a:stretch>
            <a:fillRect/>
          </a:stretch>
        </p:blipFill>
        <p:spPr bwMode="auto">
          <a:xfrm>
            <a:off x="1" y="1592036"/>
            <a:ext cx="12191998" cy="3023421"/>
          </a:xfrm>
          <a:prstGeom prst="rect">
            <a:avLst/>
          </a:prstGeom>
          <a:noFill/>
        </p:spPr>
      </p:pic>
      <p:sp>
        <p:nvSpPr>
          <p:cNvPr id="109" name="矩形 4"/>
          <p:cNvSpPr/>
          <p:nvPr/>
        </p:nvSpPr>
        <p:spPr>
          <a:xfrm>
            <a:off x="0" y="1591945"/>
            <a:ext cx="12192000" cy="3020695"/>
          </a:xfrm>
          <a:prstGeom prst="rect">
            <a:avLst/>
          </a:prstGeom>
          <a:solidFill>
            <a:srgbClr val="014B30">
              <a:alpha val="82000"/>
            </a:srgbClr>
          </a:solidFill>
          <a:ln w="12700" cap="flat" cmpd="sng" algn="ctr">
            <a:noFill/>
            <a:prstDash val="solid"/>
            <a:miter lim="800000"/>
          </a:ln>
          <a:effectLst/>
        </p:spPr>
        <p:txBody>
          <a:bodyPr rtlCol="0" anchor="ctr"/>
          <a:lstStyle/>
          <a:p>
            <a:pPr algn="ctr">
              <a:defRPr/>
            </a:pPr>
            <a:endParaRPr lang="zh-CN" altLang="en-US" kern="0" dirty="0">
              <a:solidFill>
                <a:srgbClr val="FFFFFF"/>
              </a:solidFill>
              <a:latin typeface="Arial" panose="020B0604020202020204"/>
              <a:ea typeface="微软雅黑" panose="020B0503020204020204" pitchFamily="34" charset="-122"/>
              <a:cs typeface="+mn-ea"/>
              <a:sym typeface="+mn-lt"/>
            </a:endParaRPr>
          </a:p>
        </p:txBody>
      </p:sp>
      <p:grpSp>
        <p:nvGrpSpPr>
          <p:cNvPr id="110" name="组合 5"/>
          <p:cNvGrpSpPr>
            <a:grpSpLocks noChangeAspect="1"/>
          </p:cNvGrpSpPr>
          <p:nvPr/>
        </p:nvGrpSpPr>
        <p:grpSpPr>
          <a:xfrm rot="0">
            <a:off x="4342130" y="285115"/>
            <a:ext cx="3373120" cy="1060450"/>
            <a:chOff x="3985415" y="208718"/>
            <a:chExt cx="4288716" cy="1348022"/>
          </a:xfrm>
        </p:grpSpPr>
        <p:grpSp>
          <p:nvGrpSpPr>
            <p:cNvPr id="111" name="组合 6"/>
            <p:cNvGrpSpPr/>
            <p:nvPr/>
          </p:nvGrpSpPr>
          <p:grpSpPr>
            <a:xfrm>
              <a:off x="3985415" y="208718"/>
              <a:ext cx="4288716" cy="1348022"/>
              <a:chOff x="6212289" y="1237107"/>
              <a:chExt cx="5517703" cy="1734319"/>
            </a:xfrm>
          </p:grpSpPr>
          <p:pic>
            <p:nvPicPr>
              <p:cNvPr id="112" name="图片 8"/>
              <p:cNvPicPr>
                <a:picLocks noChangeAspect="1"/>
              </p:cNvPicPr>
              <p:nvPr/>
            </p:nvPicPr>
            <p:blipFill>
              <a:blip r:embed="rId3"/>
              <a:srcRect/>
              <a:stretch>
                <a:fillRect/>
              </a:stretch>
            </p:blipFill>
            <p:spPr>
              <a:xfrm>
                <a:off x="6212289" y="1237107"/>
                <a:ext cx="1760862" cy="1734319"/>
              </a:xfrm>
              <a:prstGeom prst="rect">
                <a:avLst/>
              </a:prstGeom>
            </p:spPr>
          </p:pic>
          <p:pic>
            <p:nvPicPr>
              <p:cNvPr id="113" name="图片 9"/>
              <p:cNvPicPr>
                <a:picLocks noChangeAspect="1"/>
              </p:cNvPicPr>
              <p:nvPr/>
            </p:nvPicPr>
            <p:blipFill>
              <a:blip r:embed="rId4"/>
              <a:srcRect/>
              <a:stretch>
                <a:fillRect/>
              </a:stretch>
            </p:blipFill>
            <p:spPr>
              <a:xfrm>
                <a:off x="8069580" y="1413307"/>
                <a:ext cx="3660412" cy="1006616"/>
              </a:xfrm>
              <a:prstGeom prst="rect">
                <a:avLst/>
              </a:prstGeom>
            </p:spPr>
          </p:pic>
        </p:grpSp>
        <p:sp>
          <p:nvSpPr>
            <p:cNvPr id="114" name="矩形 7"/>
            <p:cNvSpPr/>
            <p:nvPr/>
          </p:nvSpPr>
          <p:spPr>
            <a:xfrm>
              <a:off x="5399041" y="1126776"/>
              <a:ext cx="2845109" cy="389877"/>
            </a:xfrm>
            <a:prstGeom prst="rect">
              <a:avLst/>
            </a:prstGeom>
          </p:spPr>
          <p:txBody>
            <a:bodyPr wrap="square">
              <a:spAutoFit/>
            </a:bodyPr>
            <a:lstStyle/>
            <a:p>
              <a:pPr algn="dist">
                <a:defRPr/>
              </a:pPr>
              <a:r>
                <a:rPr lang="en-US" altLang="zh-CN" sz="1400" b="1" dirty="0">
                  <a:solidFill>
                    <a:prstClr val="black"/>
                  </a:solidFill>
                  <a:latin typeface="Calibri" panose="020F0502020204030204"/>
                  <a:ea typeface="微软雅黑" panose="020B0503020204020204" pitchFamily="34" charset="-122"/>
                </a:rPr>
                <a:t>WUHAN UNIVERSITY</a:t>
              </a:r>
              <a:endParaRPr lang="en-US" altLang="zh-CN" sz="1400" b="1" dirty="0">
                <a:solidFill>
                  <a:prstClr val="black"/>
                </a:solidFill>
                <a:latin typeface="Calibri" panose="020F0502020204030204"/>
                <a:ea typeface="微软雅黑" panose="020B0503020204020204" pitchFamily="34" charset="-122"/>
              </a:endParaRPr>
            </a:p>
          </p:txBody>
        </p:sp>
      </p:grpSp>
      <p:sp>
        <p:nvSpPr>
          <p:cNvPr id="115" name="TextBox 14"/>
          <p:cNvSpPr txBox="1"/>
          <p:nvPr/>
        </p:nvSpPr>
        <p:spPr>
          <a:xfrm>
            <a:off x="7876541" y="5445050"/>
            <a:ext cx="3062605" cy="829945"/>
          </a:xfrm>
          <a:prstGeom prst="rect">
            <a:avLst/>
          </a:prstGeom>
          <a:noFill/>
        </p:spPr>
        <p:txBody>
          <a:bodyPr wrap="none" rtlCol="0">
            <a:spAutoFit/>
          </a:bodyPr>
          <a:lstStyle/>
          <a:p>
            <a:pPr algn="l"/>
            <a:r>
              <a:rPr lang="zh-CN" sz="2400" b="1">
                <a:solidFill>
                  <a:srgbClr val="014B30">
                    <a:alpha val="100000"/>
                  </a:srgbClr>
                </a:solidFill>
                <a:latin typeface="Arial" panose="020B0604020202020204"/>
                <a:ea typeface="微软雅黑" panose="020B0503020204020204" pitchFamily="34" charset="-122"/>
                <a:cs typeface="等线" panose="02010600030101010101" pitchFamily="2" charset="-122"/>
              </a:rPr>
              <a:t>汇报人：匡怡</a:t>
            </a:r>
            <a:r>
              <a:rPr lang="zh-CN" sz="2400" b="1">
                <a:solidFill>
                  <a:srgbClr val="014B30">
                    <a:alpha val="100000"/>
                  </a:srgbClr>
                </a:solidFill>
                <a:latin typeface="Arial" panose="020B0604020202020204"/>
                <a:ea typeface="微软雅黑" panose="020B0503020204020204" pitchFamily="34" charset="-122"/>
                <a:cs typeface="等线" panose="02010600030101010101" pitchFamily="2" charset="-122"/>
              </a:rPr>
              <a:t>琳</a:t>
            </a:r>
            <a:endParaRPr lang="zh-CN" sz="2400" b="1">
              <a:solidFill>
                <a:srgbClr val="014B30">
                  <a:alpha val="100000"/>
                </a:srgbClr>
              </a:solidFill>
              <a:latin typeface="Arial" panose="020B0604020202020204"/>
              <a:ea typeface="微软雅黑" panose="020B0503020204020204" pitchFamily="34" charset="-122"/>
              <a:cs typeface="等线" panose="02010600030101010101" pitchFamily="2" charset="-122"/>
            </a:endParaRPr>
          </a:p>
          <a:p>
            <a:pPr algn="l"/>
            <a:r>
              <a:rPr lang="zh-CN" sz="2400" b="1">
                <a:solidFill>
                  <a:srgbClr val="014B30">
                    <a:alpha val="100000"/>
                  </a:srgbClr>
                </a:solidFill>
                <a:latin typeface="Arial" panose="020B0604020202020204"/>
                <a:ea typeface="微软雅黑" panose="020B0503020204020204" pitchFamily="34" charset="-122"/>
                <a:cs typeface="等线" panose="02010600030101010101" pitchFamily="2" charset="-122"/>
              </a:rPr>
              <a:t>汇报时间：</a:t>
            </a:r>
            <a:r>
              <a:rPr lang="en-US" altLang="zh-CN" sz="2400" b="1">
                <a:solidFill>
                  <a:srgbClr val="014B30">
                    <a:alpha val="100000"/>
                  </a:srgbClr>
                </a:solidFill>
                <a:latin typeface="Arial" panose="020B0604020202020204"/>
                <a:ea typeface="微软雅黑" panose="020B0503020204020204" pitchFamily="34" charset="-122"/>
                <a:cs typeface="等线" panose="02010600030101010101" pitchFamily="2" charset="-122"/>
              </a:rPr>
              <a:t>2026.3.14</a:t>
            </a:r>
            <a:endParaRPr lang="en-US" altLang="zh-CN" sz="2400" b="1">
              <a:solidFill>
                <a:srgbClr val="014B30">
                  <a:alpha val="100000"/>
                </a:srgbClr>
              </a:solidFill>
              <a:latin typeface="Arial" panose="020B0604020202020204"/>
              <a:ea typeface="微软雅黑" panose="020B0503020204020204" pitchFamily="34" charset="-122"/>
              <a:cs typeface="等线" panose="02010600030101010101" pitchFamily="2" charset="-122"/>
            </a:endParaRPr>
          </a:p>
        </p:txBody>
      </p:sp>
      <p:grpSp>
        <p:nvGrpSpPr>
          <p:cNvPr id="116" name="Group 15"/>
          <p:cNvGrpSpPr/>
          <p:nvPr/>
        </p:nvGrpSpPr>
        <p:grpSpPr>
          <a:xfrm rot="0">
            <a:off x="-23495" y="1933576"/>
            <a:ext cx="12215495" cy="3415030"/>
            <a:chOff x="-1376350" y="2686358"/>
            <a:chExt cx="10824150" cy="3080896"/>
          </a:xfrm>
        </p:grpSpPr>
        <p:sp>
          <p:nvSpPr>
            <p:cNvPr id="117" name="Rectangle 9"/>
            <p:cNvSpPr/>
            <p:nvPr/>
          </p:nvSpPr>
          <p:spPr>
            <a:xfrm>
              <a:off x="-404050" y="2686358"/>
              <a:ext cx="9169890" cy="3080896"/>
            </a:xfrm>
            <a:prstGeom prst="rect">
              <a:avLst/>
            </a:prstGeom>
          </p:spPr>
          <p:txBody>
            <a:bodyPr wrap="square">
              <a:spAutoFit/>
            </a:bodyPr>
            <a:lstStyle/>
            <a:p>
              <a:pPr algn="ctr">
                <a:lnSpc>
                  <a:spcPct val="150000"/>
                </a:lnSpc>
              </a:pPr>
              <a:r>
                <a:rPr lang="zh-CN" altLang="en-US" sz="5400" b="1" dirty="0">
                  <a:solidFill>
                    <a:schemeClr val="bg1"/>
                  </a:solidFill>
                  <a:latin typeface="Calibri" panose="020F0502020204030204" pitchFamily="34" charset="0"/>
                  <a:ea typeface="微软雅黑" panose="020B0503020204020204" pitchFamily="34" charset="-122"/>
                  <a:cs typeface="+mj-cs"/>
                </a:rPr>
                <a:t>集成大语言模型与知识图谱的</a:t>
              </a:r>
              <a:endParaRPr lang="zh-CN" altLang="en-US" sz="5400" b="1" dirty="0">
                <a:solidFill>
                  <a:schemeClr val="bg1"/>
                </a:solidFill>
                <a:latin typeface="Calibri" panose="020F0502020204030204" pitchFamily="34" charset="0"/>
                <a:ea typeface="微软雅黑" panose="020B0503020204020204" pitchFamily="34" charset="-122"/>
                <a:cs typeface="+mj-cs"/>
              </a:endParaRPr>
            </a:p>
            <a:p>
              <a:pPr algn="ctr">
                <a:lnSpc>
                  <a:spcPct val="150000"/>
                </a:lnSpc>
              </a:pPr>
              <a:r>
                <a:rPr lang="zh-CN" altLang="en-US" sz="5400" b="1" dirty="0">
                  <a:solidFill>
                    <a:schemeClr val="bg1"/>
                  </a:solidFill>
                  <a:latin typeface="Calibri" panose="020F0502020204030204" pitchFamily="34" charset="0"/>
                  <a:ea typeface="微软雅黑" panose="020B0503020204020204" pitchFamily="34" charset="-122"/>
                  <a:cs typeface="+mj-cs"/>
                </a:rPr>
                <a:t>在线地图制图智能体研发</a:t>
              </a:r>
              <a:endParaRPr lang="zh-CN" altLang="en-US" sz="5400" b="1" dirty="0">
                <a:solidFill>
                  <a:schemeClr val="bg1"/>
                </a:solidFill>
                <a:latin typeface="Calibri" panose="020F0502020204030204" pitchFamily="34" charset="0"/>
                <a:ea typeface="微软雅黑" panose="020B0503020204020204" pitchFamily="34" charset="-122"/>
                <a:cs typeface="+mj-cs"/>
              </a:endParaRPr>
            </a:p>
            <a:p>
              <a:pPr algn="ctr"/>
              <a:endParaRPr lang="zh-CN" altLang="en-US" sz="5400" b="1" dirty="0">
                <a:solidFill>
                  <a:schemeClr val="bg1"/>
                </a:solidFill>
                <a:latin typeface="Calibri" panose="020F0502020204030204" pitchFamily="34" charset="0"/>
                <a:ea typeface="微软雅黑" panose="020B0503020204020204" pitchFamily="34" charset="-122"/>
                <a:cs typeface="+mj-cs"/>
              </a:endParaRPr>
            </a:p>
          </p:txBody>
        </p:sp>
        <p:sp>
          <p:nvSpPr>
            <p:cNvPr id="118" name="Rectangle 10"/>
            <p:cNvSpPr/>
            <p:nvPr/>
          </p:nvSpPr>
          <p:spPr>
            <a:xfrm>
              <a:off x="-1376350" y="4690906"/>
              <a:ext cx="10824150" cy="400110"/>
            </a:xfrm>
            <a:prstGeom prst="rect">
              <a:avLst/>
            </a:prstGeom>
          </p:spPr>
          <p:txBody>
            <a:bodyPr wrap="square">
              <a:spAutoFit/>
            </a:bodyPr>
            <a:lstStyle/>
            <a:p>
              <a:pPr algn="ctr"/>
              <a:endParaRPr lang="zh-CN" altLang="en-US" sz="2000" b="1" dirty="0">
                <a:solidFill>
                  <a:prstClr val="white"/>
                </a:solidFill>
                <a:latin typeface="微软雅黑 Light" panose="020B0502040204020203" pitchFamily="34" charset="-122"/>
                <a:ea typeface="微软雅黑 Light" panose="020B0502040204020203" pitchFamily="34" charset="-122"/>
              </a:endParaRPr>
            </a:p>
          </p:txBody>
        </p:sp>
      </p:grpSp>
      <p:cxnSp>
        <p:nvCxnSpPr>
          <p:cNvPr id="119" name="直接连接符 17"/>
          <p:cNvCxnSpPr/>
          <p:nvPr/>
        </p:nvCxnSpPr>
        <p:spPr>
          <a:xfrm>
            <a:off x="-249638" y="4893485"/>
            <a:ext cx="5256126" cy="0"/>
          </a:xfrm>
          <a:prstGeom prst="line">
            <a:avLst/>
          </a:prstGeom>
          <a:noFill/>
          <a:ln w="38100" cap="flat" cmpd="sng" algn="ctr">
            <a:solidFill>
              <a:srgbClr val="014B30"/>
            </a:solidFill>
            <a:prstDash val="solid"/>
            <a:miter lim="800000"/>
          </a:ln>
          <a:effectLst/>
        </p:spPr>
      </p:cxnSp>
      <p:cxnSp>
        <p:nvCxnSpPr>
          <p:cNvPr id="121" name="直接连接符 18"/>
          <p:cNvCxnSpPr>
            <a:stCxn id="120" idx="3"/>
          </p:cNvCxnSpPr>
          <p:nvPr/>
        </p:nvCxnSpPr>
        <p:spPr>
          <a:xfrm flipV="1">
            <a:off x="7238852" y="4889574"/>
            <a:ext cx="5386041" cy="4546"/>
          </a:xfrm>
          <a:prstGeom prst="line">
            <a:avLst/>
          </a:prstGeom>
          <a:noFill/>
          <a:ln w="38100" cap="flat" cmpd="sng" algn="ctr">
            <a:solidFill>
              <a:srgbClr val="014B30"/>
            </a:solidFill>
            <a:prstDash val="solid"/>
            <a:miter lim="800000"/>
          </a:ln>
          <a:effectLst/>
        </p:spPr>
      </p:cxnSp>
      <p:pic>
        <p:nvPicPr>
          <p:cNvPr id="120" name="图片 19"/>
          <p:cNvPicPr>
            <a:picLocks noChangeAspect="1"/>
          </p:cNvPicPr>
          <p:nvPr/>
        </p:nvPicPr>
        <p:blipFill>
          <a:blip r:embed="rId5"/>
          <a:srcRect/>
          <a:stretch>
            <a:fillRect/>
          </a:stretch>
        </p:blipFill>
        <p:spPr>
          <a:xfrm>
            <a:off x="4959498" y="4735775"/>
            <a:ext cx="2279354" cy="315419"/>
          </a:xfrm>
          <a:prstGeom prst="rect">
            <a:avLst/>
          </a:prstGeom>
        </p:spPr>
      </p:pic>
      <p:sp>
        <p:nvSpPr>
          <p:cNvPr id="122" name="文本框 1"/>
          <p:cNvSpPr txBox="1"/>
          <p:nvPr/>
        </p:nvSpPr>
        <p:spPr>
          <a:xfrm>
            <a:off x="2889250" y="1720215"/>
            <a:ext cx="7164705" cy="579755"/>
          </a:xfrm>
          <a:prstGeom prst="rect">
            <a:avLst/>
          </a:prstGeom>
        </p:spPr>
        <p:txBody>
          <a:bodyPr>
            <a:noAutofit/>
          </a:bodyPr>
          <a:p>
            <a:r>
              <a:rPr lang="en-US" sz="2800" b="1">
                <a:solidFill>
                  <a:schemeClr val="bg1">
                    <a:alpha val="100000"/>
                  </a:schemeClr>
                </a:solidFill>
                <a:latin typeface="华文行楷" panose="02010800040101010101" charset="-122"/>
                <a:ea typeface="华文行楷" panose="02010800040101010101" charset="-122"/>
                <a:cs typeface="华文行楷" panose="02010800040101010101" charset="-122"/>
              </a:rPr>
              <a:t>2026</a:t>
            </a:r>
            <a:r>
              <a:rPr lang="zh-CN" sz="2800" b="1">
                <a:solidFill>
                  <a:schemeClr val="bg1">
                    <a:alpha val="100000"/>
                  </a:schemeClr>
                </a:solidFill>
                <a:latin typeface="华文行楷" panose="02010800040101010101" charset="-122"/>
                <a:ea typeface="华文行楷" panose="02010800040101010101" charset="-122"/>
                <a:cs typeface="华文行楷" panose="02010800040101010101" charset="-122"/>
              </a:rPr>
              <a:t>年武汉大学大学生创新训练计划项目</a:t>
            </a:r>
            <a:endParaRPr lang="zh-CN" sz="2800" b="1">
              <a:solidFill>
                <a:schemeClr val="bg1">
                  <a:alpha val="100000"/>
                </a:schemeClr>
              </a:solidFill>
              <a:latin typeface="华文行楷" panose="02010800040101010101" charset="-122"/>
              <a:ea typeface="华文行楷" panose="02010800040101010101" charset="-122"/>
              <a:cs typeface="华文行楷" panose="02010800040101010101" charset="-122"/>
            </a:endParaRPr>
          </a:p>
        </p:txBody>
      </p:sp>
      <p:sp>
        <p:nvSpPr>
          <p:cNvPr id="124" name="TextBox 14"/>
          <p:cNvSpPr txBox="1"/>
          <p:nvPr/>
        </p:nvSpPr>
        <p:spPr>
          <a:xfrm>
            <a:off x="1139540" y="5445050"/>
            <a:ext cx="4652010" cy="829945"/>
          </a:xfrm>
          <a:prstGeom prst="rect">
            <a:avLst/>
          </a:prstGeom>
          <a:noFill/>
        </p:spPr>
        <p:txBody>
          <a:bodyPr wrap="none" rtlCol="0">
            <a:spAutoFit/>
          </a:bodyPr>
          <a:lstStyle/>
          <a:p>
            <a:pPr algn="ctr"/>
            <a:r>
              <a:rPr lang="zh-CN" sz="2400" b="1">
                <a:solidFill>
                  <a:srgbClr val="014B30">
                    <a:alpha val="100000"/>
                  </a:srgbClr>
                </a:solidFill>
                <a:latin typeface="Arial" panose="020B0604020202020204"/>
                <a:ea typeface="微软雅黑" panose="020B0503020204020204" pitchFamily="34" charset="-122"/>
                <a:cs typeface="等线" panose="02010600030101010101" pitchFamily="2" charset="-122"/>
              </a:rPr>
              <a:t>项目成员：匡怡琳</a:t>
            </a:r>
            <a:r>
              <a:rPr lang="en-US" altLang="zh-CN" sz="2400" b="1">
                <a:solidFill>
                  <a:srgbClr val="014B30">
                    <a:alpha val="100000"/>
                  </a:srgbClr>
                </a:solidFill>
                <a:latin typeface="Arial" panose="020B0604020202020204"/>
                <a:ea typeface="微软雅黑" panose="020B0503020204020204" pitchFamily="34" charset="-122"/>
                <a:cs typeface="等线" panose="02010600030101010101" pitchFamily="2" charset="-122"/>
              </a:rPr>
              <a:t>  </a:t>
            </a:r>
            <a:r>
              <a:rPr lang="zh-CN" altLang="en-US" sz="2400" b="1">
                <a:solidFill>
                  <a:srgbClr val="014B30">
                    <a:alpha val="100000"/>
                  </a:srgbClr>
                </a:solidFill>
                <a:latin typeface="Arial" panose="020B0604020202020204"/>
                <a:ea typeface="微软雅黑" panose="020B0503020204020204" pitchFamily="34" charset="-122"/>
                <a:cs typeface="等线" panose="02010600030101010101" pitchFamily="2" charset="-122"/>
              </a:rPr>
              <a:t>秦潞杰</a:t>
            </a:r>
            <a:r>
              <a:rPr lang="en-US" altLang="zh-CN" sz="2400" b="1">
                <a:solidFill>
                  <a:srgbClr val="014B30">
                    <a:alpha val="100000"/>
                  </a:srgbClr>
                </a:solidFill>
                <a:latin typeface="Arial" panose="020B0604020202020204"/>
                <a:ea typeface="微软雅黑" panose="020B0503020204020204" pitchFamily="34" charset="-122"/>
                <a:cs typeface="等线" panose="02010600030101010101" pitchFamily="2" charset="-122"/>
              </a:rPr>
              <a:t>  </a:t>
            </a:r>
            <a:r>
              <a:rPr lang="zh-CN" altLang="en-US" sz="2400" b="1">
                <a:solidFill>
                  <a:srgbClr val="014B30">
                    <a:alpha val="100000"/>
                  </a:srgbClr>
                </a:solidFill>
                <a:latin typeface="Arial" panose="020B0604020202020204"/>
                <a:ea typeface="微软雅黑" panose="020B0503020204020204" pitchFamily="34" charset="-122"/>
                <a:cs typeface="等线" panose="02010600030101010101" pitchFamily="2" charset="-122"/>
              </a:rPr>
              <a:t>徐欣</a:t>
            </a:r>
            <a:endParaRPr lang="zh-CN" altLang="en-US" sz="2400" b="1">
              <a:solidFill>
                <a:srgbClr val="014B30">
                  <a:alpha val="100000"/>
                </a:srgbClr>
              </a:solidFill>
              <a:latin typeface="Arial" panose="020B0604020202020204"/>
              <a:ea typeface="微软雅黑" panose="020B0503020204020204" pitchFamily="34" charset="-122"/>
              <a:cs typeface="等线" panose="02010600030101010101" pitchFamily="2" charset="-122"/>
            </a:endParaRPr>
          </a:p>
          <a:p>
            <a:pPr algn="l"/>
            <a:r>
              <a:rPr lang="en-US" altLang="zh-CN" sz="2400" b="1">
                <a:solidFill>
                  <a:srgbClr val="014B30">
                    <a:alpha val="100000"/>
                  </a:srgbClr>
                </a:solidFill>
                <a:latin typeface="Arial" panose="020B0604020202020204"/>
                <a:ea typeface="微软雅黑" panose="020B0503020204020204" pitchFamily="34" charset="-122"/>
                <a:cs typeface="等线" panose="02010600030101010101" pitchFamily="2" charset="-122"/>
              </a:rPr>
              <a:t> </a:t>
            </a:r>
            <a:r>
              <a:rPr lang="zh-CN" altLang="en-US" sz="2400" b="1">
                <a:solidFill>
                  <a:srgbClr val="014B30">
                    <a:alpha val="100000"/>
                  </a:srgbClr>
                </a:solidFill>
                <a:latin typeface="Arial" panose="020B0604020202020204"/>
                <a:ea typeface="微软雅黑" panose="020B0503020204020204" pitchFamily="34" charset="-122"/>
                <a:cs typeface="等线" panose="02010600030101010101" pitchFamily="2" charset="-122"/>
              </a:rPr>
              <a:t>指导老师：蔡忠亮</a:t>
            </a:r>
            <a:r>
              <a:rPr lang="en-US" altLang="zh-CN" sz="2400" b="1">
                <a:solidFill>
                  <a:srgbClr val="014B30">
                    <a:alpha val="100000"/>
                  </a:srgbClr>
                </a:solidFill>
                <a:latin typeface="Arial" panose="020B0604020202020204"/>
                <a:ea typeface="微软雅黑" panose="020B0503020204020204" pitchFamily="34" charset="-122"/>
                <a:cs typeface="等线" panose="02010600030101010101" pitchFamily="2" charset="-122"/>
              </a:rPr>
              <a:t> </a:t>
            </a:r>
            <a:r>
              <a:rPr lang="zh-CN" altLang="en-US" sz="2400" b="1">
                <a:solidFill>
                  <a:srgbClr val="014B30">
                    <a:alpha val="100000"/>
                  </a:srgbClr>
                </a:solidFill>
                <a:latin typeface="Arial" panose="020B0604020202020204"/>
                <a:ea typeface="微软雅黑" panose="020B0503020204020204" pitchFamily="34" charset="-122"/>
                <a:cs typeface="等线" panose="02010600030101010101" pitchFamily="2" charset="-122"/>
              </a:rPr>
              <a:t>教授</a:t>
            </a:r>
            <a:endParaRPr lang="zh-CN" altLang="en-US" sz="2400" b="1">
              <a:solidFill>
                <a:srgbClr val="014B30">
                  <a:alpha val="100000"/>
                </a:srgbClr>
              </a:solidFill>
              <a:latin typeface="Arial" panose="020B0604020202020204"/>
              <a:ea typeface="微软雅黑" panose="020B0503020204020204" pitchFamily="34" charset="-122"/>
              <a:cs typeface="等线" panose="02010600030101010101" pitchFamily="2"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27" name=""/>
        <p:cNvGrpSpPr/>
        <p:nvPr/>
      </p:nvGrpSpPr>
      <p:grpSpPr>
        <a:xfrm>
          <a:off x="0" y="0"/>
          <a:ext cx="0" cy="0"/>
          <a:chOff x="0" y="0"/>
          <a:chExt cx="0" cy="0"/>
        </a:xfrm>
      </p:grpSpPr>
      <p:pic>
        <p:nvPicPr>
          <p:cNvPr id="128" name="图片 1"/>
          <p:cNvPicPr>
            <a:picLocks noChangeAspect="1"/>
          </p:cNvPicPr>
          <p:nvPr/>
        </p:nvPicPr>
        <p:blipFill rotWithShape="1">
          <a:blip r:embed="rId1"/>
          <a:srcRect l="24514" r="24232"/>
          <a:stretch>
            <a:fillRect/>
          </a:stretch>
        </p:blipFill>
        <p:spPr>
          <a:xfrm>
            <a:off x="1" y="0"/>
            <a:ext cx="5194368" cy="6858000"/>
          </a:xfrm>
          <a:custGeom>
            <a:avLst/>
            <a:gdLst>
              <a:gd name="connsiteX0" fmla="*/ 0 w 5204840"/>
              <a:gd name="connsiteY0" fmla="*/ 0 h 6858000"/>
              <a:gd name="connsiteX1" fmla="*/ 5204840 w 5204840"/>
              <a:gd name="connsiteY1" fmla="*/ 0 h 6858000"/>
              <a:gd name="connsiteX2" fmla="*/ 5204840 w 5204840"/>
              <a:gd name="connsiteY2" fmla="*/ 6858000 h 6858000"/>
              <a:gd name="connsiteX3" fmla="*/ 0 w 520484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204840" h="6858000">
                <a:moveTo>
                  <a:pt x="0" y="0"/>
                </a:moveTo>
                <a:lnTo>
                  <a:pt x="5204840" y="0"/>
                </a:lnTo>
                <a:lnTo>
                  <a:pt x="5204840" y="6858000"/>
                </a:lnTo>
                <a:lnTo>
                  <a:pt x="0" y="6858000"/>
                </a:lnTo>
                <a:close/>
              </a:path>
            </a:pathLst>
          </a:custGeom>
        </p:spPr>
      </p:pic>
      <p:sp>
        <p:nvSpPr>
          <p:cNvPr id="129" name="PA-矩形 8"/>
          <p:cNvSpPr/>
          <p:nvPr/>
        </p:nvSpPr>
        <p:spPr>
          <a:xfrm>
            <a:off x="0" y="0"/>
            <a:ext cx="5194369" cy="6872990"/>
          </a:xfrm>
          <a:prstGeom prst="rect">
            <a:avLst/>
          </a:prstGeom>
          <a:gradFill flip="none" rotWithShape="1">
            <a:gsLst>
              <a:gs pos="0">
                <a:srgbClr val="014B30"/>
              </a:gs>
              <a:gs pos="100000">
                <a:srgbClr val="014B30">
                  <a:alpha val="62000"/>
                </a:srgbClr>
              </a:gs>
            </a:gsLst>
            <a:lin ang="0" scaled="1"/>
            <a:tileRect/>
          </a:gradFill>
          <a:ln w="12700" cap="flat" cmpd="sng" algn="ctr">
            <a:noFill/>
            <a:prstDash val="solid"/>
            <a:miter lim="800000"/>
          </a:ln>
          <a:effectLst/>
        </p:spPr>
        <p:txBody>
          <a:bodyPr rtlCol="0" anchor="ctr"/>
          <a:lstStyle/>
          <a:p>
            <a:pPr algn="ctr">
              <a:defRPr/>
            </a:pPr>
            <a:endParaRPr lang="zh-CN" altLang="en-US" kern="0">
              <a:solidFill>
                <a:srgbClr val="FFFFFF"/>
              </a:solidFill>
              <a:latin typeface="Arial" panose="020B0604020202020204"/>
              <a:ea typeface="微软雅黑" panose="020B0503020204020204" pitchFamily="34" charset="-122"/>
              <a:cs typeface="+mn-ea"/>
              <a:sym typeface="+mn-lt"/>
            </a:endParaRPr>
          </a:p>
        </p:txBody>
      </p:sp>
      <p:grpSp>
        <p:nvGrpSpPr>
          <p:cNvPr id="130" name="PA-组合 20"/>
          <p:cNvGrpSpPr/>
          <p:nvPr>
            <p:custDataLst>
              <p:tags r:id="rId2"/>
            </p:custDataLst>
          </p:nvPr>
        </p:nvGrpSpPr>
        <p:grpSpPr>
          <a:xfrm>
            <a:off x="6503258" y="1506205"/>
            <a:ext cx="672405" cy="923330"/>
            <a:chOff x="7138670" y="1012807"/>
            <a:chExt cx="672405" cy="923330"/>
          </a:xfrm>
        </p:grpSpPr>
        <p:sp>
          <p:nvSpPr>
            <p:cNvPr id="131" name="PA-任意多边形 9"/>
            <p:cNvSpPr/>
            <p:nvPr>
              <p:custDataLst>
                <p:tags r:id="rId3"/>
              </p:custDataLst>
            </p:nvPr>
          </p:nvSpPr>
          <p:spPr>
            <a:xfrm>
              <a:off x="7138670" y="1555752"/>
              <a:ext cx="360050" cy="202528"/>
            </a:xfrm>
            <a:custGeom>
              <a:avLst/>
              <a:gdLst>
                <a:gd name="connsiteX0" fmla="*/ 0 w 12192000"/>
                <a:gd name="connsiteY0" fmla="*/ 0 h 6858000"/>
                <a:gd name="connsiteX1" fmla="*/ 12192000 w 12192000"/>
                <a:gd name="connsiteY1" fmla="*/ 0 h 6858000"/>
                <a:gd name="connsiteX2" fmla="*/ 12192000 w 12192000"/>
                <a:gd name="connsiteY2" fmla="*/ 1 h 6858000"/>
                <a:gd name="connsiteX3" fmla="*/ 8438627 w 12192000"/>
                <a:gd name="connsiteY3" fmla="*/ 1 h 6858000"/>
                <a:gd name="connsiteX4" fmla="*/ 12192000 w 12192000"/>
                <a:gd name="connsiteY4" fmla="*/ 5623285 h 6858000"/>
                <a:gd name="connsiteX5" fmla="*/ 12192000 w 12192000"/>
                <a:gd name="connsiteY5" fmla="*/ 6858000 h 6858000"/>
                <a:gd name="connsiteX6" fmla="*/ 0 w 1219200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58000">
                  <a:moveTo>
                    <a:pt x="0" y="0"/>
                  </a:moveTo>
                  <a:lnTo>
                    <a:pt x="12192000" y="0"/>
                  </a:lnTo>
                  <a:lnTo>
                    <a:pt x="12192000" y="1"/>
                  </a:lnTo>
                  <a:lnTo>
                    <a:pt x="8438627" y="1"/>
                  </a:lnTo>
                  <a:lnTo>
                    <a:pt x="12192000" y="5623285"/>
                  </a:lnTo>
                  <a:lnTo>
                    <a:pt x="12192000" y="6858000"/>
                  </a:lnTo>
                  <a:lnTo>
                    <a:pt x="0" y="6858000"/>
                  </a:lnTo>
                  <a:close/>
                </a:path>
              </a:pathLst>
            </a:custGeom>
            <a:gradFill flip="none" rotWithShape="1">
              <a:gsLst>
                <a:gs pos="2000">
                  <a:srgbClr val="014B30">
                    <a:alpha val="80000"/>
                  </a:srgbClr>
                </a:gs>
                <a:gs pos="72000">
                  <a:srgbClr val="014B30">
                    <a:alpha val="40000"/>
                  </a:srgbClr>
                </a:gs>
                <a:gs pos="100000">
                  <a:srgbClr val="014B30">
                    <a:alpha val="0"/>
                  </a:srgbClr>
                </a:gs>
              </a:gsLst>
              <a:lin ang="8400000" scaled="0"/>
              <a:tileRect/>
            </a:gradFill>
            <a:ln w="12700" cap="flat" cmpd="sng" algn="ctr">
              <a:noFill/>
              <a:prstDash val="solid"/>
              <a:miter lim="800000"/>
            </a:ln>
            <a:effectLst>
              <a:outerShdw blurRad="50800" dist="38100" dir="13500000" algn="br"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mn-ea"/>
                <a:sym typeface="+mn-lt"/>
              </a:endParaRPr>
            </a:p>
          </p:txBody>
        </p:sp>
        <p:sp>
          <p:nvSpPr>
            <p:cNvPr id="132" name="PA-文本框 13"/>
            <p:cNvSpPr txBox="1"/>
            <p:nvPr>
              <p:custDataLst>
                <p:tags r:id="rId4"/>
              </p:custDataLst>
            </p:nvPr>
          </p:nvSpPr>
          <p:spPr>
            <a:xfrm>
              <a:off x="7186365" y="1012807"/>
              <a:ext cx="624710" cy="92333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5400" b="1" i="1" u="none" strike="noStrike" kern="0" cap="none" spc="0" normalizeH="0" baseline="0" noProof="0" dirty="0">
                  <a:ln>
                    <a:noFill/>
                  </a:ln>
                  <a:solidFill>
                    <a:srgbClr val="014B30"/>
                  </a:solidFill>
                  <a:effectLst/>
                  <a:uLnTx/>
                  <a:uFillTx/>
                  <a:latin typeface="Arial" panose="020B0604020202020204"/>
                  <a:ea typeface="微软雅黑" panose="020B0503020204020204" pitchFamily="34" charset="-122"/>
                  <a:cs typeface="+mn-ea"/>
                  <a:sym typeface="+mn-lt"/>
                </a:rPr>
                <a:t>1</a:t>
              </a:r>
              <a:endParaRPr kumimoji="0" lang="zh-CN" altLang="en-US" sz="5400" b="1" i="1" u="none" strike="noStrike" kern="0" cap="none" spc="0" normalizeH="0" baseline="0" noProof="0" dirty="0">
                <a:ln>
                  <a:noFill/>
                </a:ln>
                <a:solidFill>
                  <a:srgbClr val="014B30"/>
                </a:solidFill>
                <a:effectLst/>
                <a:uLnTx/>
                <a:uFillTx/>
                <a:latin typeface="Arial" panose="020B0604020202020204"/>
                <a:ea typeface="微软雅黑" panose="020B0503020204020204" pitchFamily="34" charset="-122"/>
                <a:cs typeface="+mn-ea"/>
                <a:sym typeface="+mn-lt"/>
              </a:endParaRPr>
            </a:p>
          </p:txBody>
        </p:sp>
      </p:grpSp>
      <p:grpSp>
        <p:nvGrpSpPr>
          <p:cNvPr id="133" name="PA-组合 19"/>
          <p:cNvGrpSpPr/>
          <p:nvPr>
            <p:custDataLst>
              <p:tags r:id="rId5"/>
            </p:custDataLst>
          </p:nvPr>
        </p:nvGrpSpPr>
        <p:grpSpPr>
          <a:xfrm>
            <a:off x="6503258" y="2617813"/>
            <a:ext cx="672405" cy="830997"/>
            <a:chOff x="7138670" y="2490624"/>
            <a:chExt cx="672405" cy="830997"/>
          </a:xfrm>
        </p:grpSpPr>
        <p:sp>
          <p:nvSpPr>
            <p:cNvPr id="134" name="PA-任意多边形 10"/>
            <p:cNvSpPr/>
            <p:nvPr>
              <p:custDataLst>
                <p:tags r:id="rId6"/>
              </p:custDataLst>
            </p:nvPr>
          </p:nvSpPr>
          <p:spPr>
            <a:xfrm>
              <a:off x="7138670" y="2967858"/>
              <a:ext cx="360050" cy="202528"/>
            </a:xfrm>
            <a:custGeom>
              <a:avLst/>
              <a:gdLst>
                <a:gd name="connsiteX0" fmla="*/ 0 w 12192000"/>
                <a:gd name="connsiteY0" fmla="*/ 0 h 6858000"/>
                <a:gd name="connsiteX1" fmla="*/ 12192000 w 12192000"/>
                <a:gd name="connsiteY1" fmla="*/ 0 h 6858000"/>
                <a:gd name="connsiteX2" fmla="*/ 12192000 w 12192000"/>
                <a:gd name="connsiteY2" fmla="*/ 1 h 6858000"/>
                <a:gd name="connsiteX3" fmla="*/ 8438627 w 12192000"/>
                <a:gd name="connsiteY3" fmla="*/ 1 h 6858000"/>
                <a:gd name="connsiteX4" fmla="*/ 12192000 w 12192000"/>
                <a:gd name="connsiteY4" fmla="*/ 5623285 h 6858000"/>
                <a:gd name="connsiteX5" fmla="*/ 12192000 w 12192000"/>
                <a:gd name="connsiteY5" fmla="*/ 6858000 h 6858000"/>
                <a:gd name="connsiteX6" fmla="*/ 0 w 1219200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58000">
                  <a:moveTo>
                    <a:pt x="0" y="0"/>
                  </a:moveTo>
                  <a:lnTo>
                    <a:pt x="12192000" y="0"/>
                  </a:lnTo>
                  <a:lnTo>
                    <a:pt x="12192000" y="1"/>
                  </a:lnTo>
                  <a:lnTo>
                    <a:pt x="8438627" y="1"/>
                  </a:lnTo>
                  <a:lnTo>
                    <a:pt x="12192000" y="5623285"/>
                  </a:lnTo>
                  <a:lnTo>
                    <a:pt x="12192000" y="6858000"/>
                  </a:lnTo>
                  <a:lnTo>
                    <a:pt x="0" y="6858000"/>
                  </a:lnTo>
                  <a:close/>
                </a:path>
              </a:pathLst>
            </a:custGeom>
            <a:gradFill flip="none" rotWithShape="1">
              <a:gsLst>
                <a:gs pos="2000">
                  <a:srgbClr val="014B30"/>
                </a:gs>
                <a:gs pos="72000">
                  <a:srgbClr val="014B30">
                    <a:alpha val="40000"/>
                  </a:srgbClr>
                </a:gs>
                <a:gs pos="100000">
                  <a:srgbClr val="014B30">
                    <a:alpha val="0"/>
                  </a:srgbClr>
                </a:gs>
              </a:gsLst>
              <a:lin ang="8400000" scaled="0"/>
              <a:tileRect/>
            </a:gradFill>
            <a:ln w="12700" cap="flat" cmpd="sng" algn="ctr">
              <a:noFill/>
              <a:prstDash val="solid"/>
              <a:miter lim="800000"/>
            </a:ln>
            <a:effectLst>
              <a:outerShdw blurRad="50800" dist="38100" dir="13500000" algn="br"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mn-ea"/>
                <a:sym typeface="+mn-lt"/>
              </a:endParaRPr>
            </a:p>
          </p:txBody>
        </p:sp>
        <p:sp>
          <p:nvSpPr>
            <p:cNvPr id="135" name="PA-文本框 14"/>
            <p:cNvSpPr txBox="1"/>
            <p:nvPr>
              <p:custDataLst>
                <p:tags r:id="rId7"/>
              </p:custDataLst>
            </p:nvPr>
          </p:nvSpPr>
          <p:spPr>
            <a:xfrm>
              <a:off x="7186365" y="2490624"/>
              <a:ext cx="624710" cy="83099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4800" b="1" i="1" u="none" strike="noStrike" kern="0" cap="none" spc="0" normalizeH="0" baseline="0" noProof="0" dirty="0">
                  <a:ln>
                    <a:noFill/>
                  </a:ln>
                  <a:solidFill>
                    <a:srgbClr val="014B30"/>
                  </a:solidFill>
                  <a:effectLst/>
                  <a:uLnTx/>
                  <a:uFillTx/>
                  <a:latin typeface="Arial" panose="020B0604020202020204"/>
                  <a:ea typeface="微软雅黑" panose="020B0503020204020204" pitchFamily="34" charset="-122"/>
                  <a:cs typeface="+mn-ea"/>
                  <a:sym typeface="+mn-lt"/>
                </a:rPr>
                <a:t>2</a:t>
              </a:r>
              <a:endParaRPr kumimoji="0" lang="zh-CN" altLang="en-US" sz="4800" b="1" i="1" u="none" strike="noStrike" kern="0" cap="none" spc="0" normalizeH="0" baseline="0" noProof="0" dirty="0">
                <a:ln>
                  <a:noFill/>
                </a:ln>
                <a:solidFill>
                  <a:srgbClr val="014B30"/>
                </a:solidFill>
                <a:effectLst/>
                <a:uLnTx/>
                <a:uFillTx/>
                <a:latin typeface="Arial" panose="020B0604020202020204"/>
                <a:ea typeface="微软雅黑" panose="020B0503020204020204" pitchFamily="34" charset="-122"/>
                <a:cs typeface="+mn-ea"/>
                <a:sym typeface="+mn-lt"/>
              </a:endParaRPr>
            </a:p>
          </p:txBody>
        </p:sp>
      </p:grpSp>
      <p:sp>
        <p:nvSpPr>
          <p:cNvPr id="136" name="PA-任意多边形 11"/>
          <p:cNvSpPr/>
          <p:nvPr>
            <p:custDataLst>
              <p:tags r:id="rId8"/>
            </p:custDataLst>
          </p:nvPr>
        </p:nvSpPr>
        <p:spPr>
          <a:xfrm>
            <a:off x="6503258" y="4131791"/>
            <a:ext cx="360050" cy="202528"/>
          </a:xfrm>
          <a:custGeom>
            <a:avLst/>
            <a:gdLst>
              <a:gd name="connsiteX0" fmla="*/ 0 w 12192000"/>
              <a:gd name="connsiteY0" fmla="*/ 0 h 6858000"/>
              <a:gd name="connsiteX1" fmla="*/ 12192000 w 12192000"/>
              <a:gd name="connsiteY1" fmla="*/ 0 h 6858000"/>
              <a:gd name="connsiteX2" fmla="*/ 12192000 w 12192000"/>
              <a:gd name="connsiteY2" fmla="*/ 1 h 6858000"/>
              <a:gd name="connsiteX3" fmla="*/ 8438627 w 12192000"/>
              <a:gd name="connsiteY3" fmla="*/ 1 h 6858000"/>
              <a:gd name="connsiteX4" fmla="*/ 12192000 w 12192000"/>
              <a:gd name="connsiteY4" fmla="*/ 5623285 h 6858000"/>
              <a:gd name="connsiteX5" fmla="*/ 12192000 w 12192000"/>
              <a:gd name="connsiteY5" fmla="*/ 6858000 h 6858000"/>
              <a:gd name="connsiteX6" fmla="*/ 0 w 1219200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58000">
                <a:moveTo>
                  <a:pt x="0" y="0"/>
                </a:moveTo>
                <a:lnTo>
                  <a:pt x="12192000" y="0"/>
                </a:lnTo>
                <a:lnTo>
                  <a:pt x="12192000" y="1"/>
                </a:lnTo>
                <a:lnTo>
                  <a:pt x="8438627" y="1"/>
                </a:lnTo>
                <a:lnTo>
                  <a:pt x="12192000" y="5623285"/>
                </a:lnTo>
                <a:lnTo>
                  <a:pt x="12192000" y="6858000"/>
                </a:lnTo>
                <a:lnTo>
                  <a:pt x="0" y="6858000"/>
                </a:lnTo>
                <a:close/>
              </a:path>
            </a:pathLst>
          </a:custGeom>
          <a:gradFill flip="none" rotWithShape="1">
            <a:gsLst>
              <a:gs pos="2000">
                <a:srgbClr val="014B30"/>
              </a:gs>
              <a:gs pos="72000">
                <a:srgbClr val="014B30">
                  <a:alpha val="40000"/>
                </a:srgbClr>
              </a:gs>
              <a:gs pos="100000">
                <a:srgbClr val="014B30">
                  <a:alpha val="0"/>
                </a:srgbClr>
              </a:gs>
            </a:gsLst>
            <a:lin ang="8400000" scaled="0"/>
            <a:tileRect/>
          </a:gradFill>
          <a:ln w="12700" cap="flat" cmpd="sng" algn="ctr">
            <a:noFill/>
            <a:prstDash val="solid"/>
            <a:miter lim="800000"/>
          </a:ln>
          <a:effectLst>
            <a:outerShdw blurRad="50800" dist="38100" dir="13500000" algn="br"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mn-ea"/>
              <a:sym typeface="+mn-lt"/>
            </a:endParaRPr>
          </a:p>
        </p:txBody>
      </p:sp>
      <p:sp>
        <p:nvSpPr>
          <p:cNvPr id="137" name="PA-文本框 15"/>
          <p:cNvSpPr txBox="1"/>
          <p:nvPr>
            <p:custDataLst>
              <p:tags r:id="rId9"/>
            </p:custDataLst>
          </p:nvPr>
        </p:nvSpPr>
        <p:spPr>
          <a:xfrm>
            <a:off x="6550953" y="3637087"/>
            <a:ext cx="624710" cy="830997"/>
          </a:xfrm>
          <a:prstGeom prst="rect">
            <a:avLst/>
          </a:prstGeom>
          <a:noFill/>
        </p:spPr>
        <p:txBody>
          <a:bodyPr wrap="square" rtlCol="0">
            <a:spAutoFit/>
          </a:bodyPr>
          <a:lstStyle/>
          <a:p>
            <a:r>
              <a:rPr lang="en-US" altLang="zh-CN" sz="4800" b="1" i="1" dirty="0">
                <a:solidFill>
                  <a:srgbClr val="014B30"/>
                </a:solidFill>
                <a:latin typeface="Arial" panose="020B0604020202020204"/>
                <a:ea typeface="微软雅黑" panose="020B0503020204020204" pitchFamily="34" charset="-122"/>
                <a:cs typeface="+mn-ea"/>
                <a:sym typeface="+mn-lt"/>
              </a:rPr>
              <a:t>3</a:t>
            </a:r>
            <a:endParaRPr lang="zh-CN" altLang="en-US" sz="4800" b="1" i="1" dirty="0">
              <a:solidFill>
                <a:srgbClr val="014B30"/>
              </a:solidFill>
              <a:latin typeface="Arial" panose="020B0604020202020204"/>
              <a:ea typeface="微软雅黑" panose="020B0503020204020204" pitchFamily="34" charset="-122"/>
              <a:cs typeface="+mn-ea"/>
              <a:sym typeface="+mn-lt"/>
            </a:endParaRPr>
          </a:p>
        </p:txBody>
      </p:sp>
      <p:grpSp>
        <p:nvGrpSpPr>
          <p:cNvPr id="138" name="PA-组合 17"/>
          <p:cNvGrpSpPr/>
          <p:nvPr>
            <p:custDataLst>
              <p:tags r:id="rId10"/>
            </p:custDataLst>
          </p:nvPr>
        </p:nvGrpSpPr>
        <p:grpSpPr>
          <a:xfrm>
            <a:off x="6503258" y="4656362"/>
            <a:ext cx="672405" cy="830997"/>
            <a:chOff x="7138670" y="5303103"/>
            <a:chExt cx="672405" cy="830997"/>
          </a:xfrm>
        </p:grpSpPr>
        <p:sp>
          <p:nvSpPr>
            <p:cNvPr id="139" name="PA-任意多边形 12"/>
            <p:cNvSpPr/>
            <p:nvPr>
              <p:custDataLst>
                <p:tags r:id="rId11"/>
              </p:custDataLst>
            </p:nvPr>
          </p:nvSpPr>
          <p:spPr>
            <a:xfrm>
              <a:off x="7138670" y="5792070"/>
              <a:ext cx="360050" cy="202528"/>
            </a:xfrm>
            <a:custGeom>
              <a:avLst/>
              <a:gdLst>
                <a:gd name="connsiteX0" fmla="*/ 0 w 12192000"/>
                <a:gd name="connsiteY0" fmla="*/ 0 h 6858000"/>
                <a:gd name="connsiteX1" fmla="*/ 12192000 w 12192000"/>
                <a:gd name="connsiteY1" fmla="*/ 0 h 6858000"/>
                <a:gd name="connsiteX2" fmla="*/ 12192000 w 12192000"/>
                <a:gd name="connsiteY2" fmla="*/ 1 h 6858000"/>
                <a:gd name="connsiteX3" fmla="*/ 8438627 w 12192000"/>
                <a:gd name="connsiteY3" fmla="*/ 1 h 6858000"/>
                <a:gd name="connsiteX4" fmla="*/ 12192000 w 12192000"/>
                <a:gd name="connsiteY4" fmla="*/ 5623285 h 6858000"/>
                <a:gd name="connsiteX5" fmla="*/ 12192000 w 12192000"/>
                <a:gd name="connsiteY5" fmla="*/ 6858000 h 6858000"/>
                <a:gd name="connsiteX6" fmla="*/ 0 w 1219200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58000">
                  <a:moveTo>
                    <a:pt x="0" y="0"/>
                  </a:moveTo>
                  <a:lnTo>
                    <a:pt x="12192000" y="0"/>
                  </a:lnTo>
                  <a:lnTo>
                    <a:pt x="12192000" y="1"/>
                  </a:lnTo>
                  <a:lnTo>
                    <a:pt x="8438627" y="1"/>
                  </a:lnTo>
                  <a:lnTo>
                    <a:pt x="12192000" y="5623285"/>
                  </a:lnTo>
                  <a:lnTo>
                    <a:pt x="12192000" y="6858000"/>
                  </a:lnTo>
                  <a:lnTo>
                    <a:pt x="0" y="6858000"/>
                  </a:lnTo>
                  <a:close/>
                </a:path>
              </a:pathLst>
            </a:custGeom>
            <a:gradFill flip="none" rotWithShape="1">
              <a:gsLst>
                <a:gs pos="2000">
                  <a:srgbClr val="014B30"/>
                </a:gs>
                <a:gs pos="72000">
                  <a:srgbClr val="014B30">
                    <a:alpha val="40000"/>
                  </a:srgbClr>
                </a:gs>
                <a:gs pos="100000">
                  <a:srgbClr val="014B30">
                    <a:alpha val="0"/>
                  </a:srgbClr>
                </a:gs>
              </a:gsLst>
              <a:lin ang="8400000" scaled="0"/>
              <a:tileRect/>
            </a:gradFill>
            <a:ln w="12700" cap="flat" cmpd="sng" algn="ctr">
              <a:noFill/>
              <a:prstDash val="solid"/>
              <a:miter lim="800000"/>
            </a:ln>
            <a:effectLst>
              <a:outerShdw blurRad="50800" dist="38100" dir="13500000" algn="br"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mn-ea"/>
                <a:sym typeface="+mn-lt"/>
              </a:endParaRPr>
            </a:p>
          </p:txBody>
        </p:sp>
        <p:sp>
          <p:nvSpPr>
            <p:cNvPr id="140" name="PA-文本框 16"/>
            <p:cNvSpPr txBox="1"/>
            <p:nvPr>
              <p:custDataLst>
                <p:tags r:id="rId12"/>
              </p:custDataLst>
            </p:nvPr>
          </p:nvSpPr>
          <p:spPr>
            <a:xfrm>
              <a:off x="7186365" y="5303103"/>
              <a:ext cx="624710" cy="83099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4800" b="1" i="1" u="none" strike="noStrike" kern="0" cap="none" spc="0" normalizeH="0" baseline="0" noProof="0" dirty="0">
                  <a:ln>
                    <a:noFill/>
                  </a:ln>
                  <a:solidFill>
                    <a:srgbClr val="014B30"/>
                  </a:solidFill>
                  <a:effectLst/>
                  <a:uLnTx/>
                  <a:uFillTx/>
                  <a:latin typeface="Arial" panose="020B0604020202020204"/>
                  <a:ea typeface="微软雅黑" panose="020B0503020204020204" pitchFamily="34" charset="-122"/>
                  <a:cs typeface="+mn-ea"/>
                  <a:sym typeface="+mn-lt"/>
                </a:rPr>
                <a:t>4</a:t>
              </a:r>
              <a:endParaRPr kumimoji="0" lang="zh-CN" altLang="en-US" sz="4800" b="1" i="1" u="none" strike="noStrike" kern="0" cap="none" spc="0" normalizeH="0" baseline="0" noProof="0" dirty="0">
                <a:ln>
                  <a:noFill/>
                </a:ln>
                <a:solidFill>
                  <a:srgbClr val="014B30"/>
                </a:solidFill>
                <a:effectLst/>
                <a:uLnTx/>
                <a:uFillTx/>
                <a:latin typeface="Arial" panose="020B0604020202020204"/>
                <a:ea typeface="微软雅黑" panose="020B0503020204020204" pitchFamily="34" charset="-122"/>
                <a:cs typeface="+mn-ea"/>
                <a:sym typeface="+mn-lt"/>
              </a:endParaRPr>
            </a:p>
          </p:txBody>
        </p:sp>
      </p:grpSp>
      <p:sp>
        <p:nvSpPr>
          <p:cNvPr id="141" name="PA-文本框 21"/>
          <p:cNvSpPr txBox="1"/>
          <p:nvPr>
            <p:custDataLst>
              <p:tags r:id="rId13"/>
            </p:custDataLst>
          </p:nvPr>
        </p:nvSpPr>
        <p:spPr>
          <a:xfrm>
            <a:off x="7173123" y="1817961"/>
            <a:ext cx="3611122" cy="583565"/>
          </a:xfrm>
          <a:prstGeom prst="rect">
            <a:avLst/>
          </a:prstGeom>
          <a:noFill/>
        </p:spPr>
        <p:txBody>
          <a:bodyPr wrap="square" rtlCol="0">
            <a:spAutoFit/>
          </a:bodyPr>
          <a:lstStyle/>
          <a:p>
            <a:r>
              <a:rPr lang="zh-CN" altLang="en-US" sz="3200" dirty="0">
                <a:solidFill>
                  <a:srgbClr val="768394">
                    <a:lumMod val="75000"/>
                  </a:srgbClr>
                </a:solidFill>
                <a:latin typeface="Arial" panose="020B0604020202020204"/>
                <a:ea typeface="微软雅黑" panose="020B0503020204020204" pitchFamily="34" charset="-122"/>
                <a:cs typeface="+mn-ea"/>
                <a:sym typeface="+mn-lt"/>
              </a:rPr>
              <a:t>选题背景</a:t>
            </a:r>
            <a:endParaRPr lang="zh-CN" altLang="en-US" sz="3200" dirty="0">
              <a:solidFill>
                <a:srgbClr val="768394">
                  <a:lumMod val="75000"/>
                </a:srgbClr>
              </a:solidFill>
              <a:latin typeface="Arial" panose="020B0604020202020204"/>
              <a:ea typeface="微软雅黑" panose="020B0503020204020204" pitchFamily="34" charset="-122"/>
              <a:cs typeface="+mn-ea"/>
              <a:sym typeface="+mn-lt"/>
            </a:endParaRPr>
          </a:p>
        </p:txBody>
      </p:sp>
      <p:sp>
        <p:nvSpPr>
          <p:cNvPr id="142" name="PA-文本框 22"/>
          <p:cNvSpPr txBox="1"/>
          <p:nvPr>
            <p:custDataLst>
              <p:tags r:id="rId14"/>
            </p:custDataLst>
          </p:nvPr>
        </p:nvSpPr>
        <p:spPr>
          <a:xfrm>
            <a:off x="7173124" y="2802478"/>
            <a:ext cx="3611122" cy="583565"/>
          </a:xfrm>
          <a:prstGeom prst="rect">
            <a:avLst/>
          </a:prstGeom>
          <a:noFill/>
        </p:spPr>
        <p:txBody>
          <a:bodyPr wrap="square" rtlCol="0">
            <a:spAutoFit/>
          </a:bodyPr>
          <a:lstStyle/>
          <a:p>
            <a:r>
              <a:rPr lang="zh-CN" altLang="en-US" sz="3200" dirty="0">
                <a:solidFill>
                  <a:srgbClr val="768394">
                    <a:lumMod val="75000"/>
                  </a:srgbClr>
                </a:solidFill>
                <a:latin typeface="Arial" panose="020B0604020202020204"/>
                <a:ea typeface="微软雅黑" panose="020B0503020204020204" pitchFamily="34" charset="-122"/>
                <a:cs typeface="+mn-ea"/>
                <a:sym typeface="+mn-lt"/>
              </a:rPr>
              <a:t>项目</a:t>
            </a:r>
            <a:r>
              <a:rPr lang="zh-CN" altLang="en-US" sz="3200" dirty="0">
                <a:solidFill>
                  <a:srgbClr val="768394">
                    <a:lumMod val="75000"/>
                  </a:srgbClr>
                </a:solidFill>
                <a:latin typeface="Arial" panose="020B0604020202020204"/>
                <a:ea typeface="微软雅黑" panose="020B0503020204020204" pitchFamily="34" charset="-122"/>
                <a:cs typeface="+mn-ea"/>
                <a:sym typeface="+mn-lt"/>
              </a:rPr>
              <a:t>方案</a:t>
            </a:r>
            <a:endParaRPr lang="zh-CN" altLang="en-US" sz="3200" dirty="0">
              <a:solidFill>
                <a:srgbClr val="768394">
                  <a:lumMod val="75000"/>
                </a:srgbClr>
              </a:solidFill>
              <a:latin typeface="Arial" panose="020B0604020202020204"/>
              <a:ea typeface="微软雅黑" panose="020B0503020204020204" pitchFamily="34" charset="-122"/>
              <a:cs typeface="+mn-ea"/>
              <a:sym typeface="+mn-lt"/>
            </a:endParaRPr>
          </a:p>
        </p:txBody>
      </p:sp>
      <p:sp>
        <p:nvSpPr>
          <p:cNvPr id="143" name="PA-文本框 23"/>
          <p:cNvSpPr txBox="1"/>
          <p:nvPr>
            <p:custDataLst>
              <p:tags r:id="rId15"/>
            </p:custDataLst>
          </p:nvPr>
        </p:nvSpPr>
        <p:spPr>
          <a:xfrm>
            <a:off x="7173124" y="3825365"/>
            <a:ext cx="3611122" cy="583565"/>
          </a:xfrm>
          <a:prstGeom prst="rect">
            <a:avLst/>
          </a:prstGeom>
          <a:noFill/>
        </p:spPr>
        <p:txBody>
          <a:bodyPr wrap="square" rtlCol="0">
            <a:spAutoFit/>
          </a:bodyPr>
          <a:lstStyle/>
          <a:p>
            <a:r>
              <a:rPr lang="zh-CN" altLang="en-US" sz="3200" dirty="0">
                <a:solidFill>
                  <a:srgbClr val="768394">
                    <a:lumMod val="75000"/>
                  </a:srgbClr>
                </a:solidFill>
                <a:latin typeface="Arial" panose="020B0604020202020204"/>
                <a:ea typeface="微软雅黑" panose="020B0503020204020204" pitchFamily="34" charset="-122"/>
                <a:cs typeface="+mn-ea"/>
                <a:sym typeface="+mn-lt"/>
              </a:rPr>
              <a:t>项目</a:t>
            </a:r>
            <a:r>
              <a:rPr lang="zh-CN" altLang="en-US" sz="3200" dirty="0">
                <a:solidFill>
                  <a:srgbClr val="768394">
                    <a:lumMod val="75000"/>
                  </a:srgbClr>
                </a:solidFill>
                <a:latin typeface="Arial" panose="020B0604020202020204"/>
                <a:ea typeface="微软雅黑" panose="020B0503020204020204" pitchFamily="34" charset="-122"/>
                <a:cs typeface="+mn-ea"/>
                <a:sym typeface="+mn-lt"/>
              </a:rPr>
              <a:t>进展</a:t>
            </a:r>
            <a:endParaRPr lang="zh-CN" altLang="en-US" sz="3200" dirty="0">
              <a:solidFill>
                <a:srgbClr val="768394">
                  <a:lumMod val="75000"/>
                </a:srgbClr>
              </a:solidFill>
              <a:latin typeface="Arial" panose="020B0604020202020204"/>
              <a:ea typeface="微软雅黑" panose="020B0503020204020204" pitchFamily="34" charset="-122"/>
              <a:cs typeface="+mn-ea"/>
              <a:sym typeface="+mn-lt"/>
            </a:endParaRPr>
          </a:p>
        </p:txBody>
      </p:sp>
      <p:cxnSp>
        <p:nvCxnSpPr>
          <p:cNvPr id="144" name="PA-直接连接符 25"/>
          <p:cNvCxnSpPr/>
          <p:nvPr/>
        </p:nvCxnSpPr>
        <p:spPr>
          <a:xfrm flipV="1">
            <a:off x="5565474" y="4867219"/>
            <a:ext cx="628650" cy="358139"/>
          </a:xfrm>
          <a:prstGeom prst="line">
            <a:avLst/>
          </a:prstGeom>
          <a:noFill/>
          <a:ln w="57150" cap="rnd" cmpd="sng" algn="ctr">
            <a:gradFill>
              <a:gsLst>
                <a:gs pos="0">
                  <a:srgbClr val="FFFFFF">
                    <a:alpha val="77000"/>
                  </a:srgbClr>
                </a:gs>
                <a:gs pos="100000">
                  <a:srgbClr val="014B30"/>
                </a:gs>
              </a:gsLst>
              <a:lin ang="5400000" scaled="1"/>
            </a:gradFill>
            <a:prstDash val="solid"/>
            <a:round/>
          </a:ln>
          <a:effectLst/>
        </p:spPr>
      </p:cxnSp>
      <p:cxnSp>
        <p:nvCxnSpPr>
          <p:cNvPr id="145" name="PA-直接连接符 26"/>
          <p:cNvCxnSpPr/>
          <p:nvPr/>
        </p:nvCxnSpPr>
        <p:spPr>
          <a:xfrm flipV="1">
            <a:off x="6108366" y="5945110"/>
            <a:ext cx="1149834" cy="616027"/>
          </a:xfrm>
          <a:prstGeom prst="line">
            <a:avLst/>
          </a:prstGeom>
          <a:noFill/>
          <a:ln w="63500" cap="rnd" cmpd="sng" algn="ctr">
            <a:gradFill>
              <a:gsLst>
                <a:gs pos="0">
                  <a:srgbClr val="FFFFFF">
                    <a:alpha val="0"/>
                  </a:srgbClr>
                </a:gs>
                <a:gs pos="70000">
                  <a:srgbClr val="014B30"/>
                </a:gs>
              </a:gsLst>
              <a:lin ang="5400000" scaled="1"/>
            </a:gradFill>
            <a:prstDash val="solid"/>
            <a:round/>
          </a:ln>
          <a:effectLst/>
        </p:spPr>
      </p:cxnSp>
      <p:cxnSp>
        <p:nvCxnSpPr>
          <p:cNvPr id="146" name="PA-直接连接符 31"/>
          <p:cNvCxnSpPr/>
          <p:nvPr>
            <p:custDataLst>
              <p:tags r:id="rId16"/>
            </p:custDataLst>
          </p:nvPr>
        </p:nvCxnSpPr>
        <p:spPr>
          <a:xfrm flipV="1">
            <a:off x="8276019" y="4514794"/>
            <a:ext cx="315585" cy="179789"/>
          </a:xfrm>
          <a:prstGeom prst="line">
            <a:avLst/>
          </a:prstGeom>
          <a:noFill/>
          <a:ln w="69850" cap="rnd" cmpd="sng" algn="ctr">
            <a:gradFill>
              <a:gsLst>
                <a:gs pos="0">
                  <a:srgbClr val="FFFFFF">
                    <a:alpha val="77000"/>
                  </a:srgbClr>
                </a:gs>
                <a:gs pos="100000">
                  <a:srgbClr val="014B30"/>
                </a:gs>
              </a:gsLst>
              <a:lin ang="5400000" scaled="1"/>
            </a:gradFill>
            <a:prstDash val="solid"/>
            <a:round/>
          </a:ln>
          <a:effectLst/>
        </p:spPr>
      </p:cxnSp>
      <p:cxnSp>
        <p:nvCxnSpPr>
          <p:cNvPr id="147" name="PA-直接连接符 33"/>
          <p:cNvCxnSpPr/>
          <p:nvPr/>
        </p:nvCxnSpPr>
        <p:spPr>
          <a:xfrm flipV="1">
            <a:off x="7175211" y="5470976"/>
            <a:ext cx="574917" cy="277128"/>
          </a:xfrm>
          <a:prstGeom prst="line">
            <a:avLst/>
          </a:prstGeom>
          <a:noFill/>
          <a:ln w="47625" cap="rnd" cmpd="sng" algn="ctr">
            <a:gradFill>
              <a:gsLst>
                <a:gs pos="0">
                  <a:srgbClr val="FFFFFF">
                    <a:alpha val="0"/>
                  </a:srgbClr>
                </a:gs>
                <a:gs pos="100000">
                  <a:srgbClr val="014B30"/>
                </a:gs>
              </a:gsLst>
              <a:lin ang="5400000" scaled="1"/>
            </a:gradFill>
            <a:prstDash val="solid"/>
            <a:round/>
          </a:ln>
          <a:effectLst/>
        </p:spPr>
      </p:cxnSp>
      <p:cxnSp>
        <p:nvCxnSpPr>
          <p:cNvPr id="148" name="PA-直接连接符 36"/>
          <p:cNvCxnSpPr/>
          <p:nvPr/>
        </p:nvCxnSpPr>
        <p:spPr>
          <a:xfrm flipH="1">
            <a:off x="8968238" y="2258115"/>
            <a:ext cx="301333" cy="171668"/>
          </a:xfrm>
          <a:prstGeom prst="line">
            <a:avLst/>
          </a:prstGeom>
          <a:noFill/>
          <a:ln w="47625" cap="rnd" cmpd="sng" algn="ctr">
            <a:gradFill>
              <a:gsLst>
                <a:gs pos="0">
                  <a:srgbClr val="FFFFFF">
                    <a:alpha val="74000"/>
                  </a:srgbClr>
                </a:gs>
                <a:gs pos="100000">
                  <a:srgbClr val="014B30"/>
                </a:gs>
              </a:gsLst>
              <a:lin ang="5400000" scaled="1"/>
            </a:gradFill>
            <a:prstDash val="solid"/>
            <a:round/>
          </a:ln>
          <a:effectLst/>
        </p:spPr>
      </p:cxnSp>
      <p:grpSp>
        <p:nvGrpSpPr>
          <p:cNvPr id="149" name="组合 23"/>
          <p:cNvGrpSpPr/>
          <p:nvPr/>
        </p:nvGrpSpPr>
        <p:grpSpPr>
          <a:xfrm>
            <a:off x="357611" y="1592658"/>
            <a:ext cx="4378398" cy="3207306"/>
            <a:chOff x="1043940" y="2140627"/>
            <a:chExt cx="4000500" cy="2930484"/>
          </a:xfrm>
        </p:grpSpPr>
        <p:sp>
          <p:nvSpPr>
            <p:cNvPr id="150" name="PA-右中括号 1"/>
            <p:cNvSpPr/>
            <p:nvPr/>
          </p:nvSpPr>
          <p:spPr>
            <a:xfrm rot="16200000">
              <a:off x="2712720" y="1310047"/>
              <a:ext cx="662940" cy="2324100"/>
            </a:xfrm>
            <a:prstGeom prst="rightBracket">
              <a:avLst>
                <a:gd name="adj" fmla="val 0"/>
              </a:avLst>
            </a:prstGeom>
            <a:noFill/>
            <a:ln w="38100" cap="flat" cmpd="sng" algn="ctr">
              <a:solidFill>
                <a:srgbClr val="FFFFFF"/>
              </a:solidFill>
              <a:prstDash val="solid"/>
              <a:miter lim="800000"/>
            </a:ln>
            <a:effectLst/>
          </p:spPr>
          <p:txBody>
            <a:bodyPr rtlCol="0" anchor="ctr"/>
            <a:lstStyle/>
            <a:p>
              <a:pPr algn="ctr">
                <a:defRPr/>
              </a:pPr>
              <a:endParaRPr lang="zh-CN" altLang="en-US" kern="0" dirty="0">
                <a:solidFill>
                  <a:srgbClr val="000000"/>
                </a:solidFill>
                <a:latin typeface="Arial" panose="020B0604020202020204"/>
                <a:ea typeface="微软雅黑" panose="020B0503020204020204" pitchFamily="34" charset="-122"/>
                <a:cs typeface="+mn-ea"/>
                <a:sym typeface="+mn-lt"/>
              </a:endParaRPr>
            </a:p>
          </p:txBody>
        </p:sp>
        <p:sp>
          <p:nvSpPr>
            <p:cNvPr id="151" name="PA-右中括号 3"/>
            <p:cNvSpPr/>
            <p:nvPr/>
          </p:nvSpPr>
          <p:spPr>
            <a:xfrm rot="5400000" flipV="1">
              <a:off x="2712720" y="3577591"/>
              <a:ext cx="662940" cy="2324100"/>
            </a:xfrm>
            <a:prstGeom prst="rightBracket">
              <a:avLst>
                <a:gd name="adj" fmla="val 0"/>
              </a:avLst>
            </a:prstGeom>
            <a:noFill/>
            <a:ln w="38100" cap="flat" cmpd="sng" algn="ctr">
              <a:solidFill>
                <a:srgbClr val="FFFFFF"/>
              </a:solidFill>
              <a:prstDash val="solid"/>
              <a:miter lim="800000"/>
            </a:ln>
            <a:effectLst/>
          </p:spPr>
          <p:txBody>
            <a:bodyPr rtlCol="0" anchor="ctr"/>
            <a:lstStyle/>
            <a:p>
              <a:pPr algn="ctr">
                <a:defRPr/>
              </a:pPr>
              <a:endParaRPr lang="zh-CN" altLang="en-US" kern="0">
                <a:solidFill>
                  <a:srgbClr val="000000"/>
                </a:solidFill>
                <a:latin typeface="Arial" panose="020B0604020202020204"/>
                <a:ea typeface="微软雅黑" panose="020B0503020204020204" pitchFamily="34" charset="-122"/>
                <a:cs typeface="+mn-ea"/>
                <a:sym typeface="+mn-lt"/>
              </a:endParaRPr>
            </a:p>
          </p:txBody>
        </p:sp>
        <p:sp>
          <p:nvSpPr>
            <p:cNvPr id="152" name="PA-矩形 4"/>
            <p:cNvSpPr/>
            <p:nvPr/>
          </p:nvSpPr>
          <p:spPr>
            <a:xfrm>
              <a:off x="1043940" y="2951479"/>
              <a:ext cx="4000500" cy="1087120"/>
            </a:xfrm>
            <a:prstGeom prst="rect">
              <a:avLst/>
            </a:prstGeom>
            <a:solidFill>
              <a:srgbClr val="FFFFFF">
                <a:alpha val="35000"/>
              </a:srgbClr>
            </a:solidFill>
            <a:ln w="12700" cap="flat" cmpd="sng" algn="ctr">
              <a:gradFill>
                <a:gsLst>
                  <a:gs pos="0">
                    <a:srgbClr val="00723E">
                      <a:lumMod val="5000"/>
                      <a:lumOff val="95000"/>
                    </a:srgbClr>
                  </a:gs>
                  <a:gs pos="69400">
                    <a:srgbClr val="FAFFFD">
                      <a:alpha val="33000"/>
                    </a:srgbClr>
                  </a:gs>
                  <a:gs pos="32000">
                    <a:srgbClr val="F3FFFA">
                      <a:alpha val="0"/>
                    </a:srgbClr>
                  </a:gs>
                  <a:gs pos="100000">
                    <a:srgbClr val="FFFFFF">
                      <a:alpha val="94000"/>
                    </a:srgbClr>
                  </a:gs>
                </a:gsLst>
                <a:lin ang="5400000" scaled="1"/>
              </a:gradFill>
              <a:prstDash val="solid"/>
              <a:miter lim="800000"/>
            </a:ln>
            <a:effectLst/>
          </p:spPr>
          <p:txBody>
            <a:bodyPr rtlCol="0" anchor="ctr"/>
            <a:lstStyle/>
            <a:p>
              <a:pPr algn="ctr">
                <a:defRPr/>
              </a:pPr>
              <a:endParaRPr lang="zh-CN" altLang="en-US" kern="0">
                <a:solidFill>
                  <a:srgbClr val="FFFFFF"/>
                </a:solidFill>
                <a:latin typeface="Arial" panose="020B0604020202020204"/>
                <a:ea typeface="微软雅黑" panose="020B0503020204020204" pitchFamily="34" charset="-122"/>
                <a:cs typeface="+mn-ea"/>
                <a:sym typeface="+mn-lt"/>
              </a:endParaRPr>
            </a:p>
          </p:txBody>
        </p:sp>
        <p:sp>
          <p:nvSpPr>
            <p:cNvPr id="153" name="PA-文本框 5"/>
            <p:cNvSpPr txBox="1"/>
            <p:nvPr/>
          </p:nvSpPr>
          <p:spPr>
            <a:xfrm>
              <a:off x="1993900" y="2986360"/>
              <a:ext cx="2100580" cy="1168466"/>
            </a:xfrm>
            <a:prstGeom prst="rect">
              <a:avLst/>
            </a:prstGeom>
            <a:noFill/>
          </p:spPr>
          <p:txBody>
            <a:bodyPr wrap="square" rtlCol="0">
              <a:spAutoFit/>
            </a:bodyPr>
            <a:lstStyle/>
            <a:p>
              <a:pPr algn="dist">
                <a:defRPr/>
              </a:pPr>
              <a:r>
                <a:rPr lang="zh-CN" altLang="en-US" sz="6600" b="1" kern="0" dirty="0">
                  <a:solidFill>
                    <a:srgbClr val="FFFFFF"/>
                  </a:solidFill>
                  <a:latin typeface="Arial" panose="020B0604020202020204"/>
                  <a:ea typeface="微软雅黑" panose="020B0503020204020204" pitchFamily="34" charset="-122"/>
                  <a:cs typeface="+mn-ea"/>
                  <a:sym typeface="+mn-lt"/>
                </a:rPr>
                <a:t>目录</a:t>
              </a:r>
              <a:endParaRPr lang="zh-CN" altLang="en-US" sz="6600" b="1" kern="0" dirty="0">
                <a:solidFill>
                  <a:srgbClr val="FFFFFF"/>
                </a:solidFill>
                <a:latin typeface="Arial" panose="020B0604020202020204"/>
                <a:ea typeface="微软雅黑" panose="020B0503020204020204" pitchFamily="34" charset="-122"/>
                <a:cs typeface="+mn-ea"/>
                <a:sym typeface="+mn-lt"/>
              </a:endParaRPr>
            </a:p>
          </p:txBody>
        </p:sp>
        <p:sp>
          <p:nvSpPr>
            <p:cNvPr id="154" name="PA-文本框 6"/>
            <p:cNvSpPr txBox="1"/>
            <p:nvPr/>
          </p:nvSpPr>
          <p:spPr>
            <a:xfrm>
              <a:off x="2094230" y="4223504"/>
              <a:ext cx="1899920" cy="369332"/>
            </a:xfrm>
            <a:prstGeom prst="rect">
              <a:avLst/>
            </a:prstGeom>
            <a:noFill/>
          </p:spPr>
          <p:txBody>
            <a:bodyPr wrap="square" rtlCol="0">
              <a:spAutoFit/>
            </a:bodyPr>
            <a:lstStyle/>
            <a:p>
              <a:pPr algn="dist">
                <a:defRPr/>
              </a:pPr>
              <a:r>
                <a:rPr lang="en-US" altLang="zh-CN" kern="0" dirty="0">
                  <a:solidFill>
                    <a:srgbClr val="FFFFFF"/>
                  </a:solidFill>
                  <a:latin typeface="Arial" panose="020B0604020202020204"/>
                  <a:ea typeface="微软雅黑" panose="020B0503020204020204" pitchFamily="34" charset="-122"/>
                  <a:cs typeface="+mn-ea"/>
                  <a:sym typeface="+mn-lt"/>
                </a:rPr>
                <a:t>CONTEXT</a:t>
              </a:r>
              <a:endParaRPr lang="zh-CN" altLang="en-US" kern="0" dirty="0">
                <a:solidFill>
                  <a:srgbClr val="FFFFFF"/>
                </a:solidFill>
                <a:latin typeface="Arial" panose="020B0604020202020204"/>
                <a:ea typeface="微软雅黑" panose="020B0503020204020204" pitchFamily="34" charset="-122"/>
                <a:cs typeface="+mn-ea"/>
                <a:sym typeface="+mn-lt"/>
              </a:endParaRPr>
            </a:p>
          </p:txBody>
        </p:sp>
        <p:cxnSp>
          <p:nvCxnSpPr>
            <p:cNvPr id="155" name="PA-直接连接符 42"/>
            <p:cNvCxnSpPr/>
            <p:nvPr/>
          </p:nvCxnSpPr>
          <p:spPr>
            <a:xfrm>
              <a:off x="2170176" y="4174352"/>
              <a:ext cx="1737360" cy="0"/>
            </a:xfrm>
            <a:prstGeom prst="line">
              <a:avLst/>
            </a:prstGeom>
            <a:noFill/>
            <a:ln w="9525" cap="flat" cmpd="sng" algn="ctr">
              <a:solidFill>
                <a:srgbClr val="FFFFFF"/>
              </a:solidFill>
              <a:prstDash val="solid"/>
              <a:miter lim="800000"/>
            </a:ln>
            <a:effectLst/>
          </p:spPr>
        </p:cxnSp>
        <p:grpSp>
          <p:nvGrpSpPr>
            <p:cNvPr id="156" name="PA-组合 54"/>
            <p:cNvGrpSpPr/>
            <p:nvPr/>
          </p:nvGrpSpPr>
          <p:grpSpPr>
            <a:xfrm>
              <a:off x="4200650" y="3381742"/>
              <a:ext cx="221996" cy="292636"/>
              <a:chOff x="4206240" y="3385284"/>
              <a:chExt cx="221996" cy="292636"/>
            </a:xfrm>
          </p:grpSpPr>
          <p:cxnSp>
            <p:nvCxnSpPr>
              <p:cNvPr id="157" name="PA-直接连接符 47"/>
              <p:cNvCxnSpPr/>
              <p:nvPr/>
            </p:nvCxnSpPr>
            <p:spPr>
              <a:xfrm>
                <a:off x="4206240" y="3385284"/>
                <a:ext cx="0" cy="292636"/>
              </a:xfrm>
              <a:prstGeom prst="line">
                <a:avLst/>
              </a:prstGeom>
              <a:noFill/>
              <a:ln w="22225" cap="rnd" cmpd="sng" algn="ctr">
                <a:solidFill>
                  <a:srgbClr val="FFFFFF"/>
                </a:solidFill>
                <a:prstDash val="solid"/>
                <a:miter lim="800000"/>
              </a:ln>
              <a:effectLst/>
            </p:spPr>
          </p:cxnSp>
          <p:cxnSp>
            <p:nvCxnSpPr>
              <p:cNvPr id="158" name="PA-直接连接符 48"/>
              <p:cNvCxnSpPr/>
              <p:nvPr/>
            </p:nvCxnSpPr>
            <p:spPr>
              <a:xfrm>
                <a:off x="4322064" y="3429000"/>
                <a:ext cx="0" cy="198120"/>
              </a:xfrm>
              <a:prstGeom prst="line">
                <a:avLst/>
              </a:prstGeom>
              <a:noFill/>
              <a:ln w="22225" cap="rnd" cmpd="sng" algn="ctr">
                <a:solidFill>
                  <a:srgbClr val="FFFFFF"/>
                </a:solidFill>
                <a:prstDash val="solid"/>
                <a:miter lim="800000"/>
              </a:ln>
              <a:effectLst/>
            </p:spPr>
          </p:cxnSp>
          <p:cxnSp>
            <p:nvCxnSpPr>
              <p:cNvPr id="159" name="PA-直接连接符 49"/>
              <p:cNvCxnSpPr/>
              <p:nvPr/>
            </p:nvCxnSpPr>
            <p:spPr>
              <a:xfrm>
                <a:off x="4428236" y="3459480"/>
                <a:ext cx="0" cy="144561"/>
              </a:xfrm>
              <a:prstGeom prst="line">
                <a:avLst/>
              </a:prstGeom>
              <a:noFill/>
              <a:ln w="22225" cap="rnd" cmpd="sng" algn="ctr">
                <a:solidFill>
                  <a:srgbClr val="FFFFFF"/>
                </a:solidFill>
                <a:prstDash val="solid"/>
                <a:miter lim="800000"/>
              </a:ln>
              <a:effectLst/>
            </p:spPr>
          </p:cxnSp>
        </p:grpSp>
        <p:grpSp>
          <p:nvGrpSpPr>
            <p:cNvPr id="160" name="PA-组合 55"/>
            <p:cNvGrpSpPr/>
            <p:nvPr/>
          </p:nvGrpSpPr>
          <p:grpSpPr>
            <a:xfrm flipH="1">
              <a:off x="1665733" y="3381742"/>
              <a:ext cx="221996" cy="292636"/>
              <a:chOff x="4206240" y="3385284"/>
              <a:chExt cx="221996" cy="292636"/>
            </a:xfrm>
          </p:grpSpPr>
          <p:cxnSp>
            <p:nvCxnSpPr>
              <p:cNvPr id="161" name="PA-直接连接符 56"/>
              <p:cNvCxnSpPr/>
              <p:nvPr/>
            </p:nvCxnSpPr>
            <p:spPr>
              <a:xfrm>
                <a:off x="4206240" y="3385284"/>
                <a:ext cx="0" cy="292636"/>
              </a:xfrm>
              <a:prstGeom prst="line">
                <a:avLst/>
              </a:prstGeom>
              <a:noFill/>
              <a:ln w="22225" cap="rnd" cmpd="sng" algn="ctr">
                <a:solidFill>
                  <a:srgbClr val="FFFFFF"/>
                </a:solidFill>
                <a:prstDash val="solid"/>
                <a:miter lim="800000"/>
              </a:ln>
              <a:effectLst/>
            </p:spPr>
          </p:cxnSp>
          <p:cxnSp>
            <p:nvCxnSpPr>
              <p:cNvPr id="162" name="PA-直接连接符 57"/>
              <p:cNvCxnSpPr/>
              <p:nvPr/>
            </p:nvCxnSpPr>
            <p:spPr>
              <a:xfrm>
                <a:off x="4322064" y="3429000"/>
                <a:ext cx="0" cy="198120"/>
              </a:xfrm>
              <a:prstGeom prst="line">
                <a:avLst/>
              </a:prstGeom>
              <a:noFill/>
              <a:ln w="22225" cap="rnd" cmpd="sng" algn="ctr">
                <a:solidFill>
                  <a:srgbClr val="FFFFFF"/>
                </a:solidFill>
                <a:prstDash val="solid"/>
                <a:miter lim="800000"/>
              </a:ln>
              <a:effectLst/>
            </p:spPr>
          </p:cxnSp>
          <p:cxnSp>
            <p:nvCxnSpPr>
              <p:cNvPr id="163" name="PA-直接连接符 58"/>
              <p:cNvCxnSpPr/>
              <p:nvPr/>
            </p:nvCxnSpPr>
            <p:spPr>
              <a:xfrm>
                <a:off x="4428236" y="3459480"/>
                <a:ext cx="0" cy="144561"/>
              </a:xfrm>
              <a:prstGeom prst="line">
                <a:avLst/>
              </a:prstGeom>
              <a:noFill/>
              <a:ln w="22225" cap="rnd" cmpd="sng" algn="ctr">
                <a:solidFill>
                  <a:srgbClr val="FFFFFF"/>
                </a:solidFill>
                <a:prstDash val="solid"/>
                <a:miter lim="800000"/>
              </a:ln>
              <a:effectLst/>
            </p:spPr>
          </p:cxnSp>
        </p:grpSp>
      </p:grpSp>
      <p:pic>
        <p:nvPicPr>
          <p:cNvPr id="164" name="图片 38"/>
          <p:cNvPicPr>
            <a:picLocks noChangeAspect="1"/>
          </p:cNvPicPr>
          <p:nvPr/>
        </p:nvPicPr>
        <p:blipFill>
          <a:blip r:embed="rId17"/>
          <a:srcRect/>
          <a:stretch>
            <a:fillRect/>
          </a:stretch>
        </p:blipFill>
        <p:spPr>
          <a:xfrm>
            <a:off x="9627257" y="6396953"/>
            <a:ext cx="2293308" cy="317350"/>
          </a:xfrm>
          <a:prstGeom prst="rect">
            <a:avLst/>
          </a:prstGeom>
        </p:spPr>
      </p:pic>
      <p:grpSp>
        <p:nvGrpSpPr>
          <p:cNvPr id="165" name="组合 39"/>
          <p:cNvGrpSpPr/>
          <p:nvPr/>
        </p:nvGrpSpPr>
        <p:grpSpPr>
          <a:xfrm>
            <a:off x="9480096" y="160513"/>
            <a:ext cx="2487599" cy="771929"/>
            <a:chOff x="4077923" y="171807"/>
            <a:chExt cx="4420435" cy="1371709"/>
          </a:xfrm>
        </p:grpSpPr>
        <p:grpSp>
          <p:nvGrpSpPr>
            <p:cNvPr id="166" name="组合 40"/>
            <p:cNvGrpSpPr/>
            <p:nvPr/>
          </p:nvGrpSpPr>
          <p:grpSpPr>
            <a:xfrm>
              <a:off x="4077923" y="171807"/>
              <a:ext cx="4260493" cy="1371709"/>
              <a:chOff x="6331308" y="1189619"/>
              <a:chExt cx="5481392" cy="1764794"/>
            </a:xfrm>
          </p:grpSpPr>
          <p:pic>
            <p:nvPicPr>
              <p:cNvPr id="167" name="图片 42"/>
              <p:cNvPicPr>
                <a:picLocks noChangeAspect="1"/>
              </p:cNvPicPr>
              <p:nvPr/>
            </p:nvPicPr>
            <p:blipFill>
              <a:blip r:embed="rId18"/>
              <a:srcRect/>
              <a:stretch>
                <a:fillRect/>
              </a:stretch>
            </p:blipFill>
            <p:spPr>
              <a:xfrm>
                <a:off x="6331308" y="1189619"/>
                <a:ext cx="1791803" cy="1764794"/>
              </a:xfrm>
              <a:prstGeom prst="rect">
                <a:avLst/>
              </a:prstGeom>
            </p:spPr>
          </p:pic>
          <p:pic>
            <p:nvPicPr>
              <p:cNvPr id="168" name="图片 43"/>
              <p:cNvPicPr>
                <a:picLocks noChangeAspect="1"/>
              </p:cNvPicPr>
              <p:nvPr/>
            </p:nvPicPr>
            <p:blipFill>
              <a:blip r:embed="rId19"/>
              <a:srcRect/>
              <a:stretch>
                <a:fillRect/>
              </a:stretch>
            </p:blipFill>
            <p:spPr>
              <a:xfrm>
                <a:off x="8302517" y="1422328"/>
                <a:ext cx="3510183" cy="965303"/>
              </a:xfrm>
              <a:prstGeom prst="rect">
                <a:avLst/>
              </a:prstGeom>
            </p:spPr>
          </p:pic>
        </p:grpSp>
        <p:sp>
          <p:nvSpPr>
            <p:cNvPr id="169" name="矩形 41"/>
            <p:cNvSpPr/>
            <p:nvPr/>
          </p:nvSpPr>
          <p:spPr>
            <a:xfrm>
              <a:off x="5470629" y="1076339"/>
              <a:ext cx="3027729" cy="410186"/>
            </a:xfrm>
            <a:prstGeom prst="rect">
              <a:avLst/>
            </a:prstGeom>
          </p:spPr>
          <p:txBody>
            <a:bodyPr wrap="square">
              <a:spAutoFit/>
            </a:bodyPr>
            <a:lstStyle/>
            <a:p>
              <a:pPr algn="dist">
                <a:defRPr/>
              </a:pPr>
              <a:r>
                <a:rPr lang="en-US" altLang="zh-CN" sz="900" b="1" dirty="0">
                  <a:solidFill>
                    <a:prstClr val="black"/>
                  </a:solidFill>
                  <a:latin typeface="Calibri" panose="020F0502020204030204"/>
                  <a:ea typeface="微软雅黑" panose="020B0503020204020204" pitchFamily="34" charset="-122"/>
                </a:rPr>
                <a:t>WUHAN UNIVERSITY</a:t>
              </a:r>
              <a:endParaRPr lang="en-US" altLang="zh-CN" sz="900" b="1" dirty="0">
                <a:solidFill>
                  <a:prstClr val="black"/>
                </a:solidFill>
                <a:latin typeface="Calibri" panose="020F0502020204030204"/>
                <a:ea typeface="微软雅黑" panose="020B0503020204020204" pitchFamily="34" charset="-122"/>
              </a:endParaRPr>
            </a:p>
          </p:txBody>
        </p:sp>
      </p:grpSp>
      <p:sp>
        <p:nvSpPr>
          <p:cNvPr id="170" name="PA-文本框 23"/>
          <p:cNvSpPr txBox="1"/>
          <p:nvPr>
            <p:custDataLst>
              <p:tags r:id="rId20"/>
            </p:custDataLst>
          </p:nvPr>
        </p:nvSpPr>
        <p:spPr>
          <a:xfrm>
            <a:off x="7173123" y="4800473"/>
            <a:ext cx="3611122" cy="583565"/>
          </a:xfrm>
          <a:prstGeom prst="rect">
            <a:avLst/>
          </a:prstGeom>
          <a:noFill/>
        </p:spPr>
        <p:txBody>
          <a:bodyPr wrap="square" rtlCol="0">
            <a:spAutoFit/>
          </a:bodyPr>
          <a:lstStyle/>
          <a:p>
            <a:r>
              <a:rPr lang="zh-CN" altLang="en-US" sz="3200" dirty="0">
                <a:solidFill>
                  <a:srgbClr val="768394">
                    <a:lumMod val="75000"/>
                  </a:srgbClr>
                </a:solidFill>
                <a:latin typeface="Arial" panose="020B0604020202020204"/>
                <a:ea typeface="微软雅黑" panose="020B0503020204020204" pitchFamily="34" charset="-122"/>
                <a:cs typeface="+mn-ea"/>
                <a:sym typeface="+mn-lt"/>
              </a:rPr>
              <a:t>总结</a:t>
            </a:r>
            <a:r>
              <a:rPr lang="zh-CN" altLang="en-US" sz="3200" dirty="0">
                <a:solidFill>
                  <a:srgbClr val="768394">
                    <a:lumMod val="75000"/>
                  </a:srgbClr>
                </a:solidFill>
                <a:latin typeface="Arial" panose="020B0604020202020204"/>
                <a:ea typeface="微软雅黑" panose="020B0503020204020204" pitchFamily="34" charset="-122"/>
                <a:cs typeface="+mn-ea"/>
                <a:sym typeface="+mn-lt"/>
              </a:rPr>
              <a:t>展望</a:t>
            </a:r>
            <a:endParaRPr lang="zh-CN" altLang="en-US" sz="3200" dirty="0">
              <a:solidFill>
                <a:srgbClr val="768394">
                  <a:lumMod val="75000"/>
                </a:srgbClr>
              </a:solidFill>
              <a:latin typeface="Arial" panose="020B0604020202020204"/>
              <a:ea typeface="微软雅黑" panose="020B0503020204020204" pitchFamily="34" charset="-122"/>
              <a:cs typeface="+mn-ea"/>
              <a:sym typeface="+mn-lt"/>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任意多边形 9"/>
          <p:cNvSpPr/>
          <p:nvPr/>
        </p:nvSpPr>
        <p:spPr>
          <a:xfrm rot="19740000">
            <a:off x="-2280399" y="-122827"/>
            <a:ext cx="4768982" cy="7335937"/>
          </a:xfrm>
          <a:custGeom>
            <a:avLst/>
            <a:gdLst/>
            <a:ahLst/>
            <a:cxnLst>
              <a:cxn ang="3">
                <a:pos x="hc" y="t"/>
              </a:cxn>
              <a:cxn ang="cd2">
                <a:pos x="l" y="vc"/>
              </a:cxn>
              <a:cxn ang="cd4">
                <a:pos x="hc" y="b"/>
              </a:cxn>
              <a:cxn ang="0">
                <a:pos x="r" y="vc"/>
              </a:cxn>
            </a:cxnLst>
            <a:rect l="l" t="t" r="r" b="b"/>
            <a:pathLst>
              <a:path w="7510" h="11553">
                <a:moveTo>
                  <a:pt x="6301" y="0"/>
                </a:moveTo>
                <a:lnTo>
                  <a:pt x="7510" y="0"/>
                </a:lnTo>
                <a:lnTo>
                  <a:pt x="7510" y="7861"/>
                </a:lnTo>
                <a:lnTo>
                  <a:pt x="7510" y="7861"/>
                </a:lnTo>
                <a:lnTo>
                  <a:pt x="7510" y="7861"/>
                </a:lnTo>
                <a:lnTo>
                  <a:pt x="7510" y="7863"/>
                </a:lnTo>
                <a:lnTo>
                  <a:pt x="7507" y="7863"/>
                </a:lnTo>
                <a:lnTo>
                  <a:pt x="568" y="11553"/>
                </a:lnTo>
                <a:lnTo>
                  <a:pt x="0" y="10485"/>
                </a:lnTo>
                <a:lnTo>
                  <a:pt x="6301" y="7135"/>
                </a:lnTo>
                <a:lnTo>
                  <a:pt x="6301" y="0"/>
                </a:lnTo>
                <a:close/>
              </a:path>
            </a:pathLst>
          </a:custGeom>
          <a:solidFill>
            <a:srgbClr val="00481C">
              <a:alpha val="5000"/>
            </a:srgbClr>
          </a:solidFill>
          <a:ln>
            <a:solidFill>
              <a:srgbClr val="00481C">
                <a:alpha val="8000"/>
              </a:srgb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11" name="任意多边形 10"/>
          <p:cNvSpPr/>
          <p:nvPr/>
        </p:nvSpPr>
        <p:spPr>
          <a:xfrm rot="19740000">
            <a:off x="-1351394" y="-122827"/>
            <a:ext cx="4768982" cy="7335937"/>
          </a:xfrm>
          <a:custGeom>
            <a:avLst/>
            <a:gdLst/>
            <a:ahLst/>
            <a:cxnLst>
              <a:cxn ang="3">
                <a:pos x="hc" y="t"/>
              </a:cxn>
              <a:cxn ang="cd2">
                <a:pos x="l" y="vc"/>
              </a:cxn>
              <a:cxn ang="cd4">
                <a:pos x="hc" y="b"/>
              </a:cxn>
              <a:cxn ang="0">
                <a:pos x="r" y="vc"/>
              </a:cxn>
            </a:cxnLst>
            <a:rect l="l" t="t" r="r" b="b"/>
            <a:pathLst>
              <a:path w="7510" h="11553">
                <a:moveTo>
                  <a:pt x="6301" y="0"/>
                </a:moveTo>
                <a:lnTo>
                  <a:pt x="7510" y="0"/>
                </a:lnTo>
                <a:lnTo>
                  <a:pt x="7510" y="7861"/>
                </a:lnTo>
                <a:lnTo>
                  <a:pt x="7510" y="7861"/>
                </a:lnTo>
                <a:lnTo>
                  <a:pt x="7510" y="7861"/>
                </a:lnTo>
                <a:lnTo>
                  <a:pt x="7510" y="7863"/>
                </a:lnTo>
                <a:lnTo>
                  <a:pt x="7507" y="7863"/>
                </a:lnTo>
                <a:lnTo>
                  <a:pt x="568" y="11553"/>
                </a:lnTo>
                <a:lnTo>
                  <a:pt x="0" y="10485"/>
                </a:lnTo>
                <a:lnTo>
                  <a:pt x="6301" y="7135"/>
                </a:lnTo>
                <a:lnTo>
                  <a:pt x="6301" y="0"/>
                </a:lnTo>
                <a:close/>
              </a:path>
            </a:pathLst>
          </a:custGeom>
          <a:gradFill>
            <a:gsLst>
              <a:gs pos="0">
                <a:schemeClr val="bg1"/>
              </a:gs>
              <a:gs pos="100000">
                <a:srgbClr val="00481C"/>
              </a:gs>
            </a:gsLst>
            <a:lin ang="222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2" name="标题 1"/>
          <p:cNvSpPr>
            <a:spLocks noGrp="1"/>
          </p:cNvSpPr>
          <p:nvPr>
            <p:ph type="title"/>
          </p:nvPr>
        </p:nvSpPr>
        <p:spPr>
          <a:xfrm>
            <a:off x="5147945" y="1499235"/>
            <a:ext cx="4362450" cy="1325880"/>
          </a:xfrm>
        </p:spPr>
        <p:txBody>
          <a:bodyPr>
            <a:normAutofit fontScale="90000"/>
          </a:bodyPr>
          <a:p>
            <a:r>
              <a:rPr lang="en-US" altLang="zh-CN" sz="8000" b="1">
                <a:solidFill>
                  <a:srgbClr val="00481C"/>
                </a:solidFill>
                <a:latin typeface="Arial" panose="020B0604020202020204" pitchFamily="34" charset="0"/>
                <a:cs typeface="Arial" panose="020B0604020202020204" pitchFamily="34" charset="0"/>
              </a:rPr>
              <a:t>PART </a:t>
            </a:r>
            <a:r>
              <a:rPr lang="en-US" altLang="zh-CN" sz="13335" b="1" i="1">
                <a:solidFill>
                  <a:srgbClr val="00481C"/>
                </a:solidFill>
                <a:latin typeface="Arial" panose="020B0604020202020204" pitchFamily="34" charset="0"/>
                <a:cs typeface="Arial" panose="020B0604020202020204" pitchFamily="34" charset="0"/>
              </a:rPr>
              <a:t>1</a:t>
            </a:r>
            <a:endParaRPr lang="en-US" altLang="zh-CN" sz="13335" b="1" i="1">
              <a:solidFill>
                <a:srgbClr val="00481C"/>
              </a:solidFill>
              <a:latin typeface="Arial" panose="020B0604020202020204" pitchFamily="34" charset="0"/>
              <a:cs typeface="Arial" panose="020B0604020202020204" pitchFamily="34" charset="0"/>
            </a:endParaRPr>
          </a:p>
        </p:txBody>
      </p:sp>
      <p:sp>
        <p:nvSpPr>
          <p:cNvPr id="6" name="任意多边形 5"/>
          <p:cNvSpPr/>
          <p:nvPr/>
        </p:nvSpPr>
        <p:spPr>
          <a:xfrm rot="19740000">
            <a:off x="-3067685" y="-1120140"/>
            <a:ext cx="6064885" cy="9330055"/>
          </a:xfrm>
          <a:custGeom>
            <a:avLst/>
            <a:gdLst/>
            <a:ahLst/>
            <a:cxnLst>
              <a:cxn ang="3">
                <a:pos x="hc" y="t"/>
              </a:cxn>
              <a:cxn ang="cd2">
                <a:pos x="l" y="vc"/>
              </a:cxn>
              <a:cxn ang="cd4">
                <a:pos x="hc" y="b"/>
              </a:cxn>
              <a:cxn ang="0">
                <a:pos x="r" y="vc"/>
              </a:cxn>
            </a:cxnLst>
            <a:rect l="l" t="t" r="r" b="b"/>
            <a:pathLst>
              <a:path w="7510" h="11553">
                <a:moveTo>
                  <a:pt x="6301" y="0"/>
                </a:moveTo>
                <a:lnTo>
                  <a:pt x="7510" y="0"/>
                </a:lnTo>
                <a:lnTo>
                  <a:pt x="7510" y="7861"/>
                </a:lnTo>
                <a:lnTo>
                  <a:pt x="7510" y="7861"/>
                </a:lnTo>
                <a:lnTo>
                  <a:pt x="7510" y="7861"/>
                </a:lnTo>
                <a:lnTo>
                  <a:pt x="7510" y="7863"/>
                </a:lnTo>
                <a:lnTo>
                  <a:pt x="7507" y="7863"/>
                </a:lnTo>
                <a:lnTo>
                  <a:pt x="568" y="11553"/>
                </a:lnTo>
                <a:lnTo>
                  <a:pt x="0" y="10485"/>
                </a:lnTo>
                <a:lnTo>
                  <a:pt x="6301" y="7135"/>
                </a:lnTo>
                <a:lnTo>
                  <a:pt x="6301" y="0"/>
                </a:lnTo>
                <a:close/>
              </a:path>
            </a:pathLst>
          </a:custGeom>
          <a:solidFill>
            <a:srgbClr val="00481C"/>
          </a:solidFill>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cxnSp>
        <p:nvCxnSpPr>
          <p:cNvPr id="12" name="直接连接符 11"/>
          <p:cNvCxnSpPr/>
          <p:nvPr/>
        </p:nvCxnSpPr>
        <p:spPr>
          <a:xfrm flipV="1">
            <a:off x="4452620" y="2860675"/>
            <a:ext cx="5057775" cy="19050"/>
          </a:xfrm>
          <a:prstGeom prst="line">
            <a:avLst/>
          </a:prstGeom>
          <a:ln>
            <a:solidFill>
              <a:srgbClr val="00481C"/>
            </a:solidFill>
          </a:ln>
        </p:spPr>
        <p:style>
          <a:lnRef idx="2">
            <a:schemeClr val="accent1"/>
          </a:lnRef>
          <a:fillRef idx="0">
            <a:srgbClr val="FFFFFF"/>
          </a:fillRef>
          <a:effectRef idx="0">
            <a:srgbClr val="FFFFFF"/>
          </a:effectRef>
          <a:fontRef idx="minor">
            <a:schemeClr val="tx1"/>
          </a:fontRef>
        </p:style>
      </p:cxnSp>
      <p:sp>
        <p:nvSpPr>
          <p:cNvPr id="13" name="文本框 12"/>
          <p:cNvSpPr txBox="1"/>
          <p:nvPr/>
        </p:nvSpPr>
        <p:spPr>
          <a:xfrm>
            <a:off x="5071745" y="3528695"/>
            <a:ext cx="4324350" cy="1198880"/>
          </a:xfrm>
          <a:prstGeom prst="rect">
            <a:avLst/>
          </a:prstGeom>
          <a:noFill/>
        </p:spPr>
        <p:txBody>
          <a:bodyPr wrap="square" rtlCol="0">
            <a:spAutoFit/>
          </a:bodyPr>
          <a:p>
            <a:r>
              <a:rPr lang="zh-CN" altLang="en-US" sz="7200">
                <a:solidFill>
                  <a:srgbClr val="00481C"/>
                </a:solidFill>
                <a:latin typeface="微软雅黑" panose="020B0503020204020204" pitchFamily="34" charset="-122"/>
                <a:ea typeface="微软雅黑" panose="020B0503020204020204" pitchFamily="34" charset="-122"/>
              </a:rPr>
              <a:t>选题背景</a:t>
            </a:r>
            <a:endParaRPr lang="zh-CN" altLang="en-US" sz="7200">
              <a:solidFill>
                <a:srgbClr val="00481C"/>
              </a:solidFill>
              <a:latin typeface="微软雅黑" panose="020B0503020204020204" pitchFamily="34" charset="-122"/>
              <a:ea typeface="微软雅黑" panose="020B0503020204020204" pitchFamily="34" charset="-122"/>
            </a:endParaRPr>
          </a:p>
        </p:txBody>
      </p:sp>
      <p:grpSp>
        <p:nvGrpSpPr>
          <p:cNvPr id="165" name="组合 39"/>
          <p:cNvGrpSpPr/>
          <p:nvPr/>
        </p:nvGrpSpPr>
        <p:grpSpPr>
          <a:xfrm>
            <a:off x="9480096" y="160513"/>
            <a:ext cx="2487599" cy="771929"/>
            <a:chOff x="4077923" y="171807"/>
            <a:chExt cx="4420435" cy="1371709"/>
          </a:xfrm>
        </p:grpSpPr>
        <p:grpSp>
          <p:nvGrpSpPr>
            <p:cNvPr id="166" name="组合 40"/>
            <p:cNvGrpSpPr/>
            <p:nvPr/>
          </p:nvGrpSpPr>
          <p:grpSpPr>
            <a:xfrm>
              <a:off x="4077923" y="171807"/>
              <a:ext cx="4260493" cy="1371709"/>
              <a:chOff x="6331308" y="1189619"/>
              <a:chExt cx="5481392" cy="1764794"/>
            </a:xfrm>
          </p:grpSpPr>
          <p:pic>
            <p:nvPicPr>
              <p:cNvPr id="167" name="图片 42"/>
              <p:cNvPicPr>
                <a:picLocks noChangeAspect="1"/>
              </p:cNvPicPr>
              <p:nvPr/>
            </p:nvPicPr>
            <p:blipFill>
              <a:blip r:embed="rId1"/>
              <a:srcRect/>
              <a:stretch>
                <a:fillRect/>
              </a:stretch>
            </p:blipFill>
            <p:spPr>
              <a:xfrm>
                <a:off x="6331308" y="1189619"/>
                <a:ext cx="1791803" cy="1764794"/>
              </a:xfrm>
              <a:prstGeom prst="rect">
                <a:avLst/>
              </a:prstGeom>
            </p:spPr>
          </p:pic>
          <p:pic>
            <p:nvPicPr>
              <p:cNvPr id="168" name="图片 43"/>
              <p:cNvPicPr>
                <a:picLocks noChangeAspect="1"/>
              </p:cNvPicPr>
              <p:nvPr/>
            </p:nvPicPr>
            <p:blipFill>
              <a:blip r:embed="rId2"/>
              <a:srcRect/>
              <a:stretch>
                <a:fillRect/>
              </a:stretch>
            </p:blipFill>
            <p:spPr>
              <a:xfrm>
                <a:off x="8302517" y="1422328"/>
                <a:ext cx="3510183" cy="965303"/>
              </a:xfrm>
              <a:prstGeom prst="rect">
                <a:avLst/>
              </a:prstGeom>
            </p:spPr>
          </p:pic>
        </p:grpSp>
        <p:sp>
          <p:nvSpPr>
            <p:cNvPr id="169" name="矩形 41"/>
            <p:cNvSpPr/>
            <p:nvPr/>
          </p:nvSpPr>
          <p:spPr>
            <a:xfrm>
              <a:off x="5470629" y="1076339"/>
              <a:ext cx="3027729" cy="410186"/>
            </a:xfrm>
            <a:prstGeom prst="rect">
              <a:avLst/>
            </a:prstGeom>
          </p:spPr>
          <p:txBody>
            <a:bodyPr wrap="square">
              <a:spAutoFit/>
            </a:bodyPr>
            <a:lstStyle/>
            <a:p>
              <a:pPr algn="dist">
                <a:defRPr/>
              </a:pPr>
              <a:r>
                <a:rPr lang="en-US" altLang="zh-CN" sz="900" b="1" dirty="0">
                  <a:solidFill>
                    <a:prstClr val="black"/>
                  </a:solidFill>
                  <a:latin typeface="Calibri" panose="020F0502020204030204"/>
                  <a:ea typeface="微软雅黑" panose="020B0503020204020204" pitchFamily="34" charset="-122"/>
                </a:rPr>
                <a:t>WUHAN UNIVERSITY</a:t>
              </a:r>
              <a:endParaRPr lang="en-US" altLang="zh-CN" sz="900" b="1" dirty="0">
                <a:solidFill>
                  <a:prstClr val="black"/>
                </a:solidFill>
                <a:latin typeface="Calibri" panose="020F0502020204030204"/>
                <a:ea typeface="微软雅黑" panose="020B0503020204020204" pitchFamily="34" charset="-122"/>
              </a:endParaRPr>
            </a:p>
          </p:txBody>
        </p:sp>
      </p:grpSp>
      <p:grpSp>
        <p:nvGrpSpPr>
          <p:cNvPr id="20" name="组合 19"/>
          <p:cNvGrpSpPr/>
          <p:nvPr/>
        </p:nvGrpSpPr>
        <p:grpSpPr>
          <a:xfrm>
            <a:off x="10212705" y="5683885"/>
            <a:ext cx="1419225" cy="768350"/>
            <a:chOff x="15240" y="8543"/>
            <a:chExt cx="2235" cy="1210"/>
          </a:xfrm>
        </p:grpSpPr>
        <p:sp>
          <p:nvSpPr>
            <p:cNvPr id="14" name="矩形 13"/>
            <p:cNvSpPr/>
            <p:nvPr/>
          </p:nvSpPr>
          <p:spPr>
            <a:xfrm>
              <a:off x="16458" y="8543"/>
              <a:ext cx="409" cy="408"/>
            </a:xfrm>
            <a:prstGeom prst="rect">
              <a:avLst/>
            </a:prstGeom>
            <a:solidFill>
              <a:srgbClr val="00481C">
                <a:alpha val="55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15" name="矩形 14"/>
            <p:cNvSpPr/>
            <p:nvPr/>
          </p:nvSpPr>
          <p:spPr>
            <a:xfrm>
              <a:off x="17067" y="8543"/>
              <a:ext cx="409" cy="408"/>
            </a:xfrm>
            <a:prstGeom prst="rect">
              <a:avLst/>
            </a:prstGeom>
            <a:solidFill>
              <a:srgbClr val="00481C">
                <a:alpha val="36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16" name="矩形 15"/>
            <p:cNvSpPr/>
            <p:nvPr/>
          </p:nvSpPr>
          <p:spPr>
            <a:xfrm>
              <a:off x="17067" y="9345"/>
              <a:ext cx="409" cy="408"/>
            </a:xfrm>
            <a:prstGeom prst="rect">
              <a:avLst/>
            </a:prstGeom>
            <a:solidFill>
              <a:srgbClr val="00481C">
                <a:alpha val="89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17" name="矩形 16"/>
            <p:cNvSpPr/>
            <p:nvPr/>
          </p:nvSpPr>
          <p:spPr>
            <a:xfrm>
              <a:off x="16458" y="9345"/>
              <a:ext cx="409" cy="408"/>
            </a:xfrm>
            <a:prstGeom prst="rect">
              <a:avLst/>
            </a:prstGeom>
            <a:solidFill>
              <a:srgbClr val="00481C">
                <a:alpha val="64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18" name="矩形 17"/>
            <p:cNvSpPr/>
            <p:nvPr/>
          </p:nvSpPr>
          <p:spPr>
            <a:xfrm>
              <a:off x="15849" y="9345"/>
              <a:ext cx="409" cy="408"/>
            </a:xfrm>
            <a:prstGeom prst="rect">
              <a:avLst/>
            </a:prstGeom>
            <a:solidFill>
              <a:srgbClr val="00481C">
                <a:alpha val="75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19" name="矩形 18"/>
            <p:cNvSpPr/>
            <p:nvPr/>
          </p:nvSpPr>
          <p:spPr>
            <a:xfrm>
              <a:off x="15240" y="9345"/>
              <a:ext cx="409" cy="408"/>
            </a:xfrm>
            <a:prstGeom prst="rect">
              <a:avLst/>
            </a:prstGeom>
            <a:solidFill>
              <a:srgbClr val="00481C">
                <a:alpha val="25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grpSp>
      <p:sp>
        <p:nvSpPr>
          <p:cNvPr id="21" name="页脚占位符 20"/>
          <p:cNvSpPr>
            <a:spLocks noGrp="1"/>
          </p:cNvSpPr>
          <p:nvPr>
            <p:ph type="ftr" sz="quarter" idx="11"/>
          </p:nvPr>
        </p:nvSpPr>
        <p:spPr/>
        <p:txBody>
          <a:bodyPr/>
          <a:p>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581" name=""/>
        <p:cNvGrpSpPr/>
        <p:nvPr/>
      </p:nvGrpSpPr>
      <p:grpSpPr>
        <a:xfrm>
          <a:off x="0" y="0"/>
          <a:ext cx="0" cy="0"/>
          <a:chOff x="0" y="0"/>
          <a:chExt cx="0" cy="0"/>
        </a:xfrm>
      </p:grpSpPr>
      <p:sp>
        <p:nvSpPr>
          <p:cNvPr id="582" name="文本框 60"/>
          <p:cNvSpPr txBox="1"/>
          <p:nvPr/>
        </p:nvSpPr>
        <p:spPr>
          <a:xfrm>
            <a:off x="10320239" y="216952"/>
            <a:ext cx="3123637" cy="369332"/>
          </a:xfrm>
          <a:prstGeom prst="rect">
            <a:avLst/>
          </a:prstGeom>
          <a:noFill/>
        </p:spPr>
        <p:txBody>
          <a:bodyPr wrap="square" rtlCol="0">
            <a:spAutoFit/>
          </a:bodyPr>
          <a:lstStyle/>
          <a:p>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未来展望</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585" name="组合 68"/>
          <p:cNvGrpSpPr/>
          <p:nvPr/>
        </p:nvGrpSpPr>
        <p:grpSpPr>
          <a:xfrm>
            <a:off x="0" y="3859"/>
            <a:ext cx="12219295" cy="1013221"/>
            <a:chOff x="-128871" y="-71960"/>
            <a:chExt cx="12219295" cy="1013221"/>
          </a:xfrm>
        </p:grpSpPr>
        <p:grpSp>
          <p:nvGrpSpPr>
            <p:cNvPr id="586" name="组合 67"/>
            <p:cNvGrpSpPr/>
            <p:nvPr/>
          </p:nvGrpSpPr>
          <p:grpSpPr>
            <a:xfrm>
              <a:off x="-128871" y="-71960"/>
              <a:ext cx="12219295" cy="1013221"/>
              <a:chOff x="-128871" y="-71960"/>
              <a:chExt cx="12219295" cy="1013221"/>
            </a:xfrm>
          </p:grpSpPr>
          <p:pic>
            <p:nvPicPr>
              <p:cNvPr id="587" name="图片 53"/>
              <p:cNvPicPr>
                <a:picLocks noChangeAspect="1"/>
              </p:cNvPicPr>
              <p:nvPr/>
            </p:nvPicPr>
            <p:blipFill>
              <a:blip r:embed="rId1" cstate="print"/>
              <a:stretch>
                <a:fillRect/>
              </a:stretch>
            </p:blipFill>
            <p:spPr>
              <a:xfrm>
                <a:off x="-128871" y="-59933"/>
                <a:ext cx="12219295" cy="1001194"/>
              </a:xfrm>
              <a:prstGeom prst="rect">
                <a:avLst/>
              </a:prstGeom>
              <a:effectLst>
                <a:outerShdw blurRad="50800" dist="38100" dir="8100000" algn="tr" rotWithShape="0">
                  <a:prstClr val="black">
                    <a:alpha val="40000"/>
                  </a:prstClr>
                </a:outerShdw>
              </a:effectLst>
            </p:spPr>
          </p:pic>
          <p:sp>
            <p:nvSpPr>
              <p:cNvPr id="588" name="矩形 55"/>
              <p:cNvSpPr/>
              <p:nvPr/>
            </p:nvSpPr>
            <p:spPr>
              <a:xfrm>
                <a:off x="2326353" y="-71960"/>
                <a:ext cx="2203382" cy="773252"/>
              </a:xfrm>
              <a:prstGeom prst="rect">
                <a:avLst/>
              </a:prstGeom>
              <a:solidFill>
                <a:srgbClr val="005825"/>
              </a:solidFill>
              <a:ln>
                <a:solidFill>
                  <a:srgbClr val="0058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89" name="文本框 57"/>
              <p:cNvSpPr txBox="1"/>
              <p:nvPr/>
            </p:nvSpPr>
            <p:spPr>
              <a:xfrm>
                <a:off x="2629484" y="48215"/>
                <a:ext cx="3123637" cy="52197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选题背景</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0" name="文本框 58"/>
              <p:cNvSpPr txBox="1"/>
              <p:nvPr/>
            </p:nvSpPr>
            <p:spPr>
              <a:xfrm>
                <a:off x="4852069" y="48055"/>
                <a:ext cx="1771650"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项目方案</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1" name="文本框 59"/>
              <p:cNvSpPr txBox="1"/>
              <p:nvPr/>
            </p:nvSpPr>
            <p:spPr>
              <a:xfrm>
                <a:off x="7339364" y="50595"/>
                <a:ext cx="174180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项目</a:t>
                </a:r>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进展</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592" name="直接连接符 61"/>
              <p:cNvCxnSpPr/>
              <p:nvPr/>
            </p:nvCxnSpPr>
            <p:spPr>
              <a:xfrm>
                <a:off x="4529735" y="113988"/>
                <a:ext cx="0" cy="4024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3" name="直接连接符 62"/>
              <p:cNvCxnSpPr/>
              <p:nvPr/>
            </p:nvCxnSpPr>
            <p:spPr>
              <a:xfrm flipH="1">
                <a:off x="6955732" y="194315"/>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94" name="文本框 65"/>
            <p:cNvSpPr txBox="1"/>
            <p:nvPr/>
          </p:nvSpPr>
          <p:spPr>
            <a:xfrm>
              <a:off x="9954929" y="50595"/>
              <a:ext cx="196659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总结展望</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cxnSp>
        <p:nvCxnSpPr>
          <p:cNvPr id="595" name="直接连接符 62"/>
          <p:cNvCxnSpPr/>
          <p:nvPr/>
        </p:nvCxnSpPr>
        <p:spPr>
          <a:xfrm flipH="1">
            <a:off x="9592354" y="270134"/>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596" name="组合 13"/>
          <p:cNvGrpSpPr/>
          <p:nvPr/>
        </p:nvGrpSpPr>
        <p:grpSpPr>
          <a:xfrm>
            <a:off x="204998" y="81727"/>
            <a:ext cx="1999471" cy="590901"/>
            <a:chOff x="4077923" y="171807"/>
            <a:chExt cx="4420435" cy="1371709"/>
          </a:xfrm>
        </p:grpSpPr>
        <p:grpSp>
          <p:nvGrpSpPr>
            <p:cNvPr id="597" name="组合 14"/>
            <p:cNvGrpSpPr/>
            <p:nvPr/>
          </p:nvGrpSpPr>
          <p:grpSpPr>
            <a:xfrm>
              <a:off x="4077923" y="171807"/>
              <a:ext cx="4260493" cy="1371709"/>
              <a:chOff x="6331308" y="1189619"/>
              <a:chExt cx="5481392" cy="1764794"/>
            </a:xfrm>
          </p:grpSpPr>
          <p:pic>
            <p:nvPicPr>
              <p:cNvPr id="598" name="图片 33"/>
              <p:cNvPicPr>
                <a:picLocks noChangeAspect="1"/>
              </p:cNvPicPr>
              <p:nvPr/>
            </p:nvPicPr>
            <p:blipFill>
              <a:blip r:embed="rId2"/>
              <a:srcRect/>
              <a:stretch>
                <a:fillRect/>
              </a:stretch>
            </p:blipFill>
            <p:spPr>
              <a:xfrm>
                <a:off x="6331308" y="1189619"/>
                <a:ext cx="1791803" cy="1764794"/>
              </a:xfrm>
              <a:prstGeom prst="rect">
                <a:avLst/>
              </a:prstGeom>
            </p:spPr>
          </p:pic>
          <p:pic>
            <p:nvPicPr>
              <p:cNvPr id="599" name="图片 35"/>
              <p:cNvPicPr>
                <a:picLocks noChangeAspect="1"/>
              </p:cNvPicPr>
              <p:nvPr/>
            </p:nvPicPr>
            <p:blipFill>
              <a:blip r:embed="rId3"/>
              <a:srcRect/>
              <a:stretch>
                <a:fillRect/>
              </a:stretch>
            </p:blipFill>
            <p:spPr>
              <a:xfrm>
                <a:off x="8302517" y="1422328"/>
                <a:ext cx="3510183" cy="965303"/>
              </a:xfrm>
              <a:prstGeom prst="rect">
                <a:avLst/>
              </a:prstGeom>
            </p:spPr>
          </p:pic>
        </p:grpSp>
        <p:sp>
          <p:nvSpPr>
            <p:cNvPr id="600" name="矩形 15"/>
            <p:cNvSpPr/>
            <p:nvPr/>
          </p:nvSpPr>
          <p:spPr>
            <a:xfrm>
              <a:off x="5470629" y="1076339"/>
              <a:ext cx="3027729" cy="410186"/>
            </a:xfrm>
            <a:prstGeom prst="rect">
              <a:avLst/>
            </a:prstGeom>
          </p:spPr>
          <p:txBody>
            <a:bodyPr wrap="square">
              <a:spAutoFit/>
            </a:bodyPr>
            <a:lstStyle/>
            <a:p>
              <a:pPr algn="dist">
                <a:defRPr/>
              </a:pPr>
              <a:r>
                <a:rPr lang="en-US" altLang="zh-CN" sz="900" b="1" dirty="0">
                  <a:solidFill>
                    <a:prstClr val="black"/>
                  </a:solidFill>
                  <a:latin typeface="Calibri" panose="020F0502020204030204"/>
                  <a:ea typeface="微软雅黑" panose="020B0503020204020204" pitchFamily="34" charset="-122"/>
                </a:rPr>
                <a:t>WUHAN UNIVERSITY</a:t>
              </a:r>
              <a:endParaRPr lang="en-US" altLang="zh-CN" sz="900" b="1" dirty="0">
                <a:solidFill>
                  <a:prstClr val="black"/>
                </a:solidFill>
                <a:latin typeface="Calibri" panose="020F0502020204030204"/>
                <a:ea typeface="微软雅黑" panose="020B0503020204020204" pitchFamily="34" charset="-122"/>
              </a:endParaRPr>
            </a:p>
          </p:txBody>
        </p:sp>
      </p:grpSp>
      <p:sp>
        <p:nvSpPr>
          <p:cNvPr id="2" name="ïṣ1ïḑê"/>
          <p:cNvSpPr>
            <a:spLocks noGrp="1"/>
          </p:cNvSpPr>
          <p:nvPr/>
        </p:nvSpPr>
        <p:spPr>
          <a:xfrm>
            <a:off x="308610" y="862330"/>
            <a:ext cx="6560185" cy="587375"/>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2800" b="1" kern="1200">
                <a:solidFill>
                  <a:srgbClr val="000000"/>
                </a:solidFill>
                <a:latin typeface="Arial" panose="020B0604020202020204" pitchFamily="34" charset="0"/>
                <a:ea typeface="微软雅黑" panose="020B0503020204020204" pitchFamily="34" charset="-122"/>
                <a:cs typeface="+mn-ea"/>
              </a:defRPr>
            </a:lvl1pPr>
          </a:lstStyle>
          <a:p>
            <a:r>
              <a:rPr lang="en-US" altLang="zh-CN" sz="2700" dirty="0">
                <a:solidFill>
                  <a:srgbClr val="005825"/>
                </a:solidFill>
              </a:rPr>
              <a:t>1.1</a:t>
            </a:r>
            <a:r>
              <a:rPr lang="zh-CN" altLang="en-US" sz="2700" dirty="0">
                <a:solidFill>
                  <a:srgbClr val="005825"/>
                </a:solidFill>
              </a:rPr>
              <a:t>研究背景与现状</a:t>
            </a:r>
            <a:r>
              <a:rPr lang="en-US" altLang="zh-CN" sz="2700" dirty="0">
                <a:solidFill>
                  <a:srgbClr val="005825"/>
                </a:solidFill>
              </a:rPr>
              <a:t>|</a:t>
            </a:r>
            <a:r>
              <a:rPr lang="en-US" sz="2400">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传统地图制图的</a:t>
            </a:r>
            <a:r>
              <a:rPr lang="zh-CN" altLang="en-US" sz="2400">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困境</a:t>
            </a:r>
            <a:endParaRPr lang="zh-CN" altLang="en-US" sz="2400">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grpSp>
        <p:nvGrpSpPr>
          <p:cNvPr id="14" name="组合 13"/>
          <p:cNvGrpSpPr/>
          <p:nvPr/>
        </p:nvGrpSpPr>
        <p:grpSpPr>
          <a:xfrm>
            <a:off x="355600" y="1254760"/>
            <a:ext cx="11022330" cy="1080770"/>
            <a:chOff x="710" y="1975"/>
            <a:chExt cx="17358" cy="1702"/>
          </a:xfrm>
        </p:grpSpPr>
        <p:pic>
          <p:nvPicPr>
            <p:cNvPr id="7" name="图形 6" descr="前引号"/>
            <p:cNvPicPr>
              <a:picLocks noChangeAspect="1"/>
            </p:cNvPicPr>
            <p:nvPr/>
          </p:nvPicPr>
          <p:blipFill>
            <a:blip r:embed="rId4" cstate="print">
              <a:extLst>
                <a:ext uri="{96DAC541-7B7A-43D3-8B79-37D633B846F1}">
                  <asvg:svgBlip xmlns:asvg="http://schemas.microsoft.com/office/drawing/2016/SVG/main" r:embed="rId5"/>
                </a:ext>
              </a:extLst>
            </a:blip>
            <a:stretch>
              <a:fillRect/>
            </a:stretch>
          </p:blipFill>
          <p:spPr>
            <a:xfrm>
              <a:off x="710" y="1975"/>
              <a:ext cx="1440" cy="1440"/>
            </a:xfrm>
            <a:prstGeom prst="rect">
              <a:avLst/>
            </a:prstGeom>
          </p:spPr>
        </p:pic>
        <p:sp>
          <p:nvSpPr>
            <p:cNvPr id="3" name="Title"/>
            <p:cNvSpPr/>
            <p:nvPr/>
          </p:nvSpPr>
          <p:spPr>
            <a:xfrm>
              <a:off x="2236" y="2283"/>
              <a:ext cx="15832" cy="1395"/>
            </a:xfrm>
            <a:prstGeom prst="rect">
              <a:avLst/>
            </a:prstGeom>
            <a:noFill/>
            <a:ln>
              <a:noFill/>
            </a:ln>
          </p:spPr>
          <p:style>
            <a:lnRef idx="2">
              <a:srgbClr val="111A51">
                <a:shade val="50000"/>
              </a:srgbClr>
            </a:lnRef>
            <a:fillRef idx="1">
              <a:srgbClr val="111A51"/>
            </a:fillRef>
            <a:effectRef idx="0">
              <a:srgbClr val="111A51"/>
            </a:effectRef>
            <a:fontRef idx="minor">
              <a:srgbClr val="FFFFFF"/>
            </a:fontRef>
          </p:style>
          <p:txBody>
            <a:bodyPr wrap="square" lIns="91440" tIns="45720" rIns="91440" bIns="45720" rtlCol="0" anchor="b" anchorCtr="0">
              <a:normAutofit fontScale="70000"/>
            </a:bodyPr>
            <a:lstStyle/>
            <a:p>
              <a:pPr indent="431800" fontAlgn="auto">
                <a:lnSpc>
                  <a:spcPct val="150000"/>
                </a:lnSpc>
                <a:extLst>
                  <a:ext uri="{35155182-B16C-46BC-9424-99874614C6A1}">
                    <wpsdc:indentchars xmlns:wpsdc="http://www.wps.cn/officeDocument/2017/drawingmlCustomData" val="200" checksum="3588746719"/>
                  </a:ext>
                </a:extLst>
              </a:pPr>
              <a:r>
                <a:rPr kumimoji="1" lang="zh-CN" altLang="en-US" sz="2400" b="1" dirty="0">
                  <a:solidFill>
                    <a:srgbClr val="000000"/>
                  </a:solidFill>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t>随着信息技术的飞速发展，地图已转变为社会公众日常生活的必备品；然而，传统的地图制图过程依然高度专业化。</a:t>
              </a:r>
              <a:endParaRPr kumimoji="1" lang="zh-CN" altLang="en-US" sz="2400" b="1" dirty="0">
                <a:solidFill>
                  <a:srgbClr val="000000"/>
                </a:solidFill>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endParaRPr>
            </a:p>
          </p:txBody>
        </p:sp>
      </p:grpSp>
      <p:grpSp>
        <p:nvGrpSpPr>
          <p:cNvPr id="13" name="组合 12"/>
          <p:cNvGrpSpPr/>
          <p:nvPr/>
        </p:nvGrpSpPr>
        <p:grpSpPr>
          <a:xfrm>
            <a:off x="835025" y="2413635"/>
            <a:ext cx="10638155" cy="1074420"/>
            <a:chOff x="1315" y="3619"/>
            <a:chExt cx="16753" cy="1692"/>
          </a:xfrm>
        </p:grpSpPr>
        <p:sp>
          <p:nvSpPr>
            <p:cNvPr id="1" name="Title"/>
            <p:cNvSpPr/>
            <p:nvPr/>
          </p:nvSpPr>
          <p:spPr>
            <a:xfrm>
              <a:off x="1315" y="3619"/>
              <a:ext cx="15214" cy="1692"/>
            </a:xfrm>
            <a:prstGeom prst="rect">
              <a:avLst/>
            </a:prstGeom>
            <a:noFill/>
            <a:ln>
              <a:noFill/>
            </a:ln>
          </p:spPr>
          <p:style>
            <a:lnRef idx="2">
              <a:srgbClr val="111A51">
                <a:shade val="50000"/>
              </a:srgbClr>
            </a:lnRef>
            <a:fillRef idx="1">
              <a:srgbClr val="111A51"/>
            </a:fillRef>
            <a:effectRef idx="0">
              <a:srgbClr val="111A51"/>
            </a:effectRef>
            <a:fontRef idx="minor">
              <a:srgbClr val="FFFFFF"/>
            </a:fontRef>
          </p:style>
          <p:txBody>
            <a:bodyPr wrap="square" lIns="91440" tIns="45720" rIns="91440" bIns="45720" rtlCol="0" anchor="b" anchorCtr="0">
              <a:normAutofit fontScale="80000"/>
            </a:bodyPr>
            <a:p>
              <a:pPr indent="482600" fontAlgn="auto">
                <a:lnSpc>
                  <a:spcPct val="150000"/>
                </a:lnSpc>
                <a:extLst>
                  <a:ext uri="{35155182-B16C-46BC-9424-99874614C6A1}">
                    <wpsdc:indentchars xmlns:wpsdc="http://www.wps.cn/officeDocument/2017/drawingmlCustomData" val="200" checksum="2980959856"/>
                  </a:ext>
                </a:extLst>
              </a:pPr>
              <a:r>
                <a:rPr kumimoji="1" lang="zh-CN" altLang="en-US" sz="2400" b="1" dirty="0">
                  <a:solidFill>
                    <a:srgbClr val="000000"/>
                  </a:solidFill>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t>与此同时，人工智能技术取得了突破性进展。</a:t>
              </a:r>
              <a:r>
                <a:rPr kumimoji="1" lang="zh-CN" altLang="en-US" sz="2400" b="1" dirty="0">
                  <a:solidFill>
                    <a:srgbClr val="000000"/>
                  </a:solidFill>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t>大语言模型LLM展现的强大性能为革新传统人机交互模式提供了可能，而知识图谱在管理和应用专业知识方面也</a:t>
              </a:r>
              <a:r>
                <a:rPr kumimoji="1" lang="zh-CN" altLang="en-US" sz="2400" b="1" dirty="0">
                  <a:solidFill>
                    <a:srgbClr val="000000"/>
                  </a:solidFill>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t>展现出巨大价值。</a:t>
              </a:r>
              <a:endParaRPr kumimoji="1" lang="zh-CN" altLang="en-US" sz="2400" b="1" dirty="0">
                <a:solidFill>
                  <a:srgbClr val="000000"/>
                </a:solidFill>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endParaRPr>
            </a:p>
          </p:txBody>
        </p:sp>
        <p:pic>
          <p:nvPicPr>
            <p:cNvPr id="4" name="图形 6" descr="前引号"/>
            <p:cNvPicPr>
              <a:picLocks noChangeAspect="1"/>
            </p:cNvPicPr>
            <p:nvPr/>
          </p:nvPicPr>
          <p:blipFill>
            <a:blip r:embed="rId4" cstate="print">
              <a:extLst>
                <a:ext uri="{96DAC541-7B7A-43D3-8B79-37D633B846F1}">
                  <asvg:svgBlip xmlns:asvg="http://schemas.microsoft.com/office/drawing/2016/SVG/main" r:embed="rId5"/>
                </a:ext>
              </a:extLst>
            </a:blip>
            <a:stretch>
              <a:fillRect/>
            </a:stretch>
          </p:blipFill>
          <p:spPr>
            <a:xfrm rot="10800000">
              <a:off x="16628" y="3678"/>
              <a:ext cx="1440" cy="1440"/>
            </a:xfrm>
            <a:prstGeom prst="rect">
              <a:avLst/>
            </a:prstGeom>
          </p:spPr>
        </p:pic>
      </p:grpSp>
      <p:grpSp>
        <p:nvGrpSpPr>
          <p:cNvPr id="12" name="组合 11"/>
          <p:cNvGrpSpPr/>
          <p:nvPr/>
        </p:nvGrpSpPr>
        <p:grpSpPr>
          <a:xfrm>
            <a:off x="1179195" y="4451985"/>
            <a:ext cx="9774555" cy="1800860"/>
            <a:chOff x="1662" y="6398"/>
            <a:chExt cx="12620" cy="2325"/>
          </a:xfrm>
        </p:grpSpPr>
        <p:sp>
          <p:nvSpPr>
            <p:cNvPr id="5" name="文本框 4"/>
            <p:cNvSpPr txBox="1"/>
            <p:nvPr/>
          </p:nvSpPr>
          <p:spPr>
            <a:xfrm>
              <a:off x="1662" y="6402"/>
              <a:ext cx="3648" cy="2309"/>
            </a:xfrm>
            <a:prstGeom prst="rect">
              <a:avLst/>
            </a:prstGeom>
            <a:noFill/>
            <a:ln w="57150">
              <a:gradFill>
                <a:gsLst>
                  <a:gs pos="50000">
                    <a:schemeClr val="accent6"/>
                  </a:gs>
                  <a:gs pos="0">
                    <a:schemeClr val="accent6">
                      <a:lumMod val="25000"/>
                      <a:lumOff val="75000"/>
                    </a:schemeClr>
                  </a:gs>
                  <a:gs pos="100000">
                    <a:schemeClr val="accent6">
                      <a:lumMod val="85000"/>
                    </a:schemeClr>
                  </a:gs>
                </a:gsLst>
                <a:lin ang="5400000" scaled="0"/>
              </a:gradFill>
            </a:ln>
          </p:spPr>
          <p:txBody>
            <a:bodyPr wrap="square" rtlCol="0">
              <a:noAutofit/>
            </a:bodyPr>
            <a:p>
              <a:pPr indent="0" algn="ctr">
                <a:lnSpc>
                  <a:spcPct val="150000"/>
                </a:lnSpc>
                <a:buFont typeface="Wingdings" panose="05000000000000000000" charset="0"/>
                <a:buNone/>
              </a:pPr>
              <a:r>
                <a:rPr lang="zh-CN" altLang="en-US">
                  <a:latin typeface="微软雅黑" panose="020B0503020204020204" pitchFamily="34" charset="-122"/>
                  <a:ea typeface="微软雅黑" panose="020B0503020204020204" pitchFamily="34" charset="-122"/>
                </a:rPr>
                <a:t>目前研究聚焦于空间语义理解，直接面向制图生成的研究尚在起步中，不</a:t>
              </a:r>
              <a:r>
                <a:rPr lang="zh-CN" altLang="en-US">
                  <a:latin typeface="微软雅黑" panose="020B0503020204020204" pitchFamily="34" charset="-122"/>
                  <a:ea typeface="微软雅黑" panose="020B0503020204020204" pitchFamily="34" charset="-122"/>
                </a:rPr>
                <a:t>够成熟。</a:t>
              </a:r>
              <a:endParaRPr lang="zh-CN" altLang="en-US">
                <a:latin typeface="微软雅黑" panose="020B0503020204020204" pitchFamily="34" charset="-122"/>
                <a:ea typeface="微软雅黑" panose="020B0503020204020204" pitchFamily="34" charset="-122"/>
              </a:endParaRPr>
            </a:p>
          </p:txBody>
        </p:sp>
        <p:sp>
          <p:nvSpPr>
            <p:cNvPr id="6" name="文本框 5"/>
            <p:cNvSpPr txBox="1"/>
            <p:nvPr/>
          </p:nvSpPr>
          <p:spPr>
            <a:xfrm>
              <a:off x="6042" y="6402"/>
              <a:ext cx="3648" cy="2321"/>
            </a:xfrm>
            <a:prstGeom prst="rect">
              <a:avLst/>
            </a:prstGeom>
            <a:noFill/>
            <a:ln w="57150">
              <a:gradFill>
                <a:gsLst>
                  <a:gs pos="50000">
                    <a:schemeClr val="accent6"/>
                  </a:gs>
                  <a:gs pos="0">
                    <a:schemeClr val="accent6">
                      <a:lumMod val="25000"/>
                      <a:lumOff val="75000"/>
                    </a:schemeClr>
                  </a:gs>
                  <a:gs pos="100000">
                    <a:schemeClr val="accent6">
                      <a:lumMod val="85000"/>
                    </a:schemeClr>
                  </a:gs>
                </a:gsLst>
                <a:lin ang="5400000" scaled="0"/>
              </a:gradFill>
            </a:ln>
          </p:spPr>
          <p:txBody>
            <a:bodyPr wrap="square" rtlCol="0">
              <a:noAutofit/>
            </a:bodyPr>
            <a:p>
              <a:pPr lvl="0" indent="0" algn="ctr">
                <a:lnSpc>
                  <a:spcPct val="150000"/>
                </a:lnSpc>
                <a:buClrTx/>
                <a:buSzTx/>
                <a:buFont typeface="Wingdings" panose="05000000000000000000" charset="0"/>
                <a:buNone/>
              </a:pPr>
              <a:endParaRPr lang="zh-CN" altLang="en-US">
                <a:latin typeface="微软雅黑" panose="020B0503020204020204" pitchFamily="34" charset="-122"/>
                <a:ea typeface="微软雅黑" panose="020B0503020204020204" pitchFamily="34" charset="-122"/>
                <a:sym typeface="+mn-ea"/>
              </a:endParaRPr>
            </a:p>
            <a:p>
              <a:pPr lvl="0" indent="0" algn="ctr">
                <a:lnSpc>
                  <a:spcPct val="150000"/>
                </a:lnSpc>
                <a:buClrTx/>
                <a:buSzTx/>
                <a:buFont typeface="Wingdings" panose="05000000000000000000" charset="0"/>
                <a:buNone/>
              </a:pPr>
              <a:r>
                <a:rPr lang="zh-CN" altLang="en-US">
                  <a:latin typeface="微软雅黑" panose="020B0503020204020204" pitchFamily="34" charset="-122"/>
                  <a:ea typeface="微软雅黑" panose="020B0503020204020204" pitchFamily="34" charset="-122"/>
                  <a:sym typeface="+mn-ea"/>
                </a:rPr>
                <a:t>通用LLM专业度不够，</a:t>
              </a:r>
              <a:endParaRPr lang="zh-CN" altLang="en-US">
                <a:latin typeface="微软雅黑" panose="020B0503020204020204" pitchFamily="34" charset="-122"/>
                <a:ea typeface="微软雅黑" panose="020B0503020204020204" pitchFamily="34" charset="-122"/>
                <a:sym typeface="+mn-ea"/>
              </a:endParaRPr>
            </a:p>
            <a:p>
              <a:pPr lvl="0" indent="0" algn="ctr">
                <a:lnSpc>
                  <a:spcPct val="150000"/>
                </a:lnSpc>
                <a:buClrTx/>
                <a:buSzTx/>
                <a:buFont typeface="Wingdings" panose="05000000000000000000" charset="0"/>
                <a:buNone/>
              </a:pPr>
              <a:r>
                <a:rPr lang="zh-CN" altLang="en-US">
                  <a:latin typeface="微软雅黑" panose="020B0503020204020204" pitchFamily="34" charset="-122"/>
                  <a:ea typeface="微软雅黑" panose="020B0503020204020204" pitchFamily="34" charset="-122"/>
                  <a:sym typeface="+mn-ea"/>
                </a:rPr>
                <a:t>存在“</a:t>
              </a:r>
              <a:r>
                <a:rPr lang="zh-CN" altLang="en-US">
                  <a:latin typeface="微软雅黑" panose="020B0503020204020204" pitchFamily="34" charset="-122"/>
                  <a:ea typeface="微软雅黑" panose="020B0503020204020204" pitchFamily="34" charset="-122"/>
                  <a:sym typeface="+mn-ea"/>
                </a:rPr>
                <a:t>幻觉</a:t>
              </a:r>
              <a:r>
                <a:rPr lang="zh-CN" altLang="en-US">
                  <a:latin typeface="微软雅黑" panose="020B0503020204020204" pitchFamily="34" charset="-122"/>
                  <a:ea typeface="微软雅黑" panose="020B0503020204020204" pitchFamily="34" charset="-122"/>
                  <a:sym typeface="+mn-ea"/>
                </a:rPr>
                <a:t>”</a:t>
              </a:r>
              <a:r>
                <a:rPr lang="zh-CN" altLang="en-US">
                  <a:latin typeface="微软雅黑" panose="020B0503020204020204" pitchFamily="34" charset="-122"/>
                  <a:ea typeface="微软雅黑" panose="020B0503020204020204" pitchFamily="34" charset="-122"/>
                  <a:sym typeface="+mn-ea"/>
                </a:rPr>
                <a:t>问题。</a:t>
              </a:r>
              <a:endParaRPr lang="zh-CN" altLang="en-US">
                <a:latin typeface="微软雅黑" panose="020B0503020204020204" pitchFamily="34" charset="-122"/>
                <a:ea typeface="微软雅黑" panose="020B0503020204020204" pitchFamily="34" charset="-122"/>
                <a:sym typeface="+mn-ea"/>
              </a:endParaRPr>
            </a:p>
          </p:txBody>
        </p:sp>
        <p:sp>
          <p:nvSpPr>
            <p:cNvPr id="9" name="文本框 8"/>
            <p:cNvSpPr txBox="1"/>
            <p:nvPr/>
          </p:nvSpPr>
          <p:spPr>
            <a:xfrm>
              <a:off x="10634" y="6398"/>
              <a:ext cx="3648" cy="2313"/>
            </a:xfrm>
            <a:prstGeom prst="rect">
              <a:avLst/>
            </a:prstGeom>
            <a:noFill/>
            <a:ln w="57150">
              <a:gradFill>
                <a:gsLst>
                  <a:gs pos="50000">
                    <a:schemeClr val="accent6"/>
                  </a:gs>
                  <a:gs pos="0">
                    <a:schemeClr val="accent6">
                      <a:lumMod val="25000"/>
                      <a:lumOff val="75000"/>
                    </a:schemeClr>
                  </a:gs>
                  <a:gs pos="100000">
                    <a:schemeClr val="accent6">
                      <a:lumMod val="85000"/>
                    </a:schemeClr>
                  </a:gs>
                </a:gsLst>
                <a:lin ang="5400000" scaled="0"/>
              </a:gradFill>
            </a:ln>
          </p:spPr>
          <p:txBody>
            <a:bodyPr wrap="square" rtlCol="0">
              <a:noAutofit/>
            </a:bodyPr>
            <a:p>
              <a:pPr lvl="0" indent="0" algn="ctr">
                <a:lnSpc>
                  <a:spcPct val="150000"/>
                </a:lnSpc>
                <a:buClrTx/>
                <a:buSzTx/>
                <a:buFont typeface="Wingdings" panose="05000000000000000000" charset="0"/>
                <a:buNone/>
              </a:pPr>
              <a:r>
                <a:rPr lang="zh-CN" altLang="en-US">
                  <a:latin typeface="微软雅黑" panose="020B0503020204020204" pitchFamily="34" charset="-122"/>
                  <a:ea typeface="微软雅黑" panose="020B0503020204020204" pitchFamily="34" charset="-122"/>
                  <a:sym typeface="+mn-ea"/>
                </a:rPr>
                <a:t>各技术孤立发展，未形成</a:t>
              </a:r>
              <a:r>
                <a:rPr lang="zh-CN" altLang="en-US">
                  <a:latin typeface="微软雅黑" panose="020B0503020204020204" pitchFamily="34" charset="-122"/>
                  <a:ea typeface="微软雅黑" panose="020B0503020204020204" pitchFamily="34" charset="-122"/>
                  <a:sym typeface="+mn-ea"/>
                </a:rPr>
                <a:t>“</a:t>
              </a:r>
              <a:r>
                <a:rPr lang="zh-CN" altLang="en-US">
                  <a:latin typeface="微软雅黑" panose="020B0503020204020204" pitchFamily="34" charset="-122"/>
                  <a:ea typeface="微软雅黑" panose="020B0503020204020204" pitchFamily="34" charset="-122"/>
                  <a:sym typeface="+mn-ea"/>
                </a:rPr>
                <a:t>需求理解</a:t>
              </a:r>
              <a:r>
                <a:rPr lang="zh-CN" altLang="en-US">
                  <a:latin typeface="微软雅黑" panose="020B0503020204020204" pitchFamily="34" charset="-122"/>
                  <a:ea typeface="微软雅黑" panose="020B0503020204020204" pitchFamily="34" charset="-122"/>
                  <a:sym typeface="+mn-ea"/>
                </a:rPr>
                <a:t>-</a:t>
              </a:r>
              <a:r>
                <a:rPr lang="zh-CN" altLang="en-US">
                  <a:latin typeface="微软雅黑" panose="020B0503020204020204" pitchFamily="34" charset="-122"/>
                  <a:ea typeface="微软雅黑" panose="020B0503020204020204" pitchFamily="34" charset="-122"/>
                  <a:sym typeface="+mn-ea"/>
                </a:rPr>
                <a:t>专业知识供给</a:t>
              </a:r>
              <a:r>
                <a:rPr lang="zh-CN" altLang="en-US">
                  <a:latin typeface="微软雅黑" panose="020B0503020204020204" pitchFamily="34" charset="-122"/>
                  <a:ea typeface="微软雅黑" panose="020B0503020204020204" pitchFamily="34" charset="-122"/>
                  <a:sym typeface="+mn-ea"/>
                </a:rPr>
                <a:t>-</a:t>
              </a:r>
              <a:r>
                <a:rPr lang="zh-CN" altLang="en-US">
                  <a:latin typeface="微软雅黑" panose="020B0503020204020204" pitchFamily="34" charset="-122"/>
                  <a:ea typeface="微软雅黑" panose="020B0503020204020204" pitchFamily="34" charset="-122"/>
                  <a:sym typeface="+mn-ea"/>
                </a:rPr>
                <a:t>任务执行</a:t>
              </a:r>
              <a:r>
                <a:rPr lang="zh-CN" altLang="en-US">
                  <a:latin typeface="微软雅黑" panose="020B0503020204020204" pitchFamily="34" charset="-122"/>
                  <a:ea typeface="微软雅黑" panose="020B0503020204020204" pitchFamily="34" charset="-122"/>
                  <a:sym typeface="+mn-ea"/>
                </a:rPr>
                <a:t>-</a:t>
              </a:r>
              <a:r>
                <a:rPr lang="zh-CN" altLang="en-US">
                  <a:latin typeface="微软雅黑" panose="020B0503020204020204" pitchFamily="34" charset="-122"/>
                  <a:ea typeface="微软雅黑" panose="020B0503020204020204" pitchFamily="34" charset="-122"/>
                  <a:sym typeface="+mn-ea"/>
                </a:rPr>
                <a:t>成果输出</a:t>
              </a:r>
              <a:r>
                <a:rPr lang="zh-CN" altLang="en-US">
                  <a:latin typeface="微软雅黑" panose="020B0503020204020204" pitchFamily="34" charset="-122"/>
                  <a:ea typeface="微软雅黑" panose="020B0503020204020204" pitchFamily="34" charset="-122"/>
                  <a:sym typeface="+mn-ea"/>
                </a:rPr>
                <a:t>”</a:t>
              </a:r>
              <a:r>
                <a:rPr lang="zh-CN" altLang="en-US">
                  <a:latin typeface="微软雅黑" panose="020B0503020204020204" pitchFamily="34" charset="-122"/>
                  <a:ea typeface="微软雅黑" panose="020B0503020204020204" pitchFamily="34" charset="-122"/>
                  <a:sym typeface="+mn-ea"/>
                </a:rPr>
                <a:t>全链路协同体系。</a:t>
              </a:r>
              <a:endParaRPr lang="zh-CN" altLang="en-US">
                <a:latin typeface="微软雅黑" panose="020B0503020204020204" pitchFamily="34" charset="-122"/>
                <a:ea typeface="微软雅黑" panose="020B0503020204020204" pitchFamily="34" charset="-122"/>
                <a:sym typeface="+mn-ea"/>
              </a:endParaRPr>
            </a:p>
          </p:txBody>
        </p:sp>
      </p:grpSp>
      <p:sp>
        <p:nvSpPr>
          <p:cNvPr id="15" name="文本框 14"/>
          <p:cNvSpPr txBox="1"/>
          <p:nvPr/>
        </p:nvSpPr>
        <p:spPr>
          <a:xfrm>
            <a:off x="952500" y="3875405"/>
            <a:ext cx="1502410" cy="460375"/>
          </a:xfrm>
          <a:prstGeom prst="rect">
            <a:avLst/>
          </a:prstGeom>
          <a:noFill/>
        </p:spPr>
        <p:txBody>
          <a:bodyPr wrap="square" rtlCol="0">
            <a:spAutoFit/>
          </a:bodyPr>
          <a:p>
            <a:r>
              <a:rPr lang="zh-CN" altLang="en-US" sz="2400" b="1">
                <a:solidFill>
                  <a:schemeClr val="accent6">
                    <a:lumMod val="75000"/>
                  </a:schemeClr>
                </a:solidFill>
                <a:latin typeface="微软雅黑" panose="020B0503020204020204" pitchFamily="34" charset="-122"/>
                <a:ea typeface="微软雅黑" panose="020B0503020204020204" pitchFamily="34" charset="-122"/>
              </a:rPr>
              <a:t>研究现状</a:t>
            </a:r>
            <a:endParaRPr lang="zh-CN" altLang="en-US" sz="2400" b="1">
              <a:solidFill>
                <a:schemeClr val="accent6">
                  <a:lumMod val="75000"/>
                </a:schemeClr>
              </a:solidFill>
              <a:latin typeface="微软雅黑" panose="020B0503020204020204" pitchFamily="34" charset="-122"/>
              <a:ea typeface="微软雅黑" panose="020B0503020204020204" pitchFamily="34" charset="-122"/>
            </a:endParaRPr>
          </a:p>
        </p:txBody>
      </p:sp>
      <p:sp>
        <p:nvSpPr>
          <p:cNvPr id="8" name="页脚占位符 7"/>
          <p:cNvSpPr>
            <a:spLocks noGrp="1"/>
          </p:cNvSpPr>
          <p:nvPr>
            <p:ph type="ftr" sz="quarter" idx="11"/>
          </p:nvPr>
        </p:nvSpPr>
        <p:spPr/>
        <p:txBody>
          <a:bodyPr/>
          <a:p>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581" name=""/>
        <p:cNvGrpSpPr/>
        <p:nvPr/>
      </p:nvGrpSpPr>
      <p:grpSpPr>
        <a:xfrm>
          <a:off x="0" y="0"/>
          <a:ext cx="0" cy="0"/>
          <a:chOff x="0" y="0"/>
          <a:chExt cx="0" cy="0"/>
        </a:xfrm>
      </p:grpSpPr>
      <p:sp>
        <p:nvSpPr>
          <p:cNvPr id="582" name="文本框 60"/>
          <p:cNvSpPr txBox="1"/>
          <p:nvPr/>
        </p:nvSpPr>
        <p:spPr>
          <a:xfrm>
            <a:off x="10320239" y="216952"/>
            <a:ext cx="3123637" cy="369332"/>
          </a:xfrm>
          <a:prstGeom prst="rect">
            <a:avLst/>
          </a:prstGeom>
          <a:noFill/>
        </p:spPr>
        <p:txBody>
          <a:bodyPr wrap="square" rtlCol="0">
            <a:spAutoFit/>
          </a:bodyPr>
          <a:lstStyle/>
          <a:p>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未来展望</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585" name="组合 68"/>
          <p:cNvGrpSpPr/>
          <p:nvPr/>
        </p:nvGrpSpPr>
        <p:grpSpPr>
          <a:xfrm>
            <a:off x="0" y="3859"/>
            <a:ext cx="12219295" cy="1013221"/>
            <a:chOff x="-128871" y="-71960"/>
            <a:chExt cx="12219295" cy="1013221"/>
          </a:xfrm>
        </p:grpSpPr>
        <p:grpSp>
          <p:nvGrpSpPr>
            <p:cNvPr id="586" name="组合 67"/>
            <p:cNvGrpSpPr/>
            <p:nvPr/>
          </p:nvGrpSpPr>
          <p:grpSpPr>
            <a:xfrm>
              <a:off x="-128871" y="-71960"/>
              <a:ext cx="12219295" cy="1013221"/>
              <a:chOff x="-128871" y="-71960"/>
              <a:chExt cx="12219295" cy="1013221"/>
            </a:xfrm>
          </p:grpSpPr>
          <p:pic>
            <p:nvPicPr>
              <p:cNvPr id="587" name="图片 53"/>
              <p:cNvPicPr>
                <a:picLocks noChangeAspect="1"/>
              </p:cNvPicPr>
              <p:nvPr/>
            </p:nvPicPr>
            <p:blipFill>
              <a:blip r:embed="rId1" cstate="print"/>
              <a:stretch>
                <a:fillRect/>
              </a:stretch>
            </p:blipFill>
            <p:spPr>
              <a:xfrm>
                <a:off x="-128871" y="-59933"/>
                <a:ext cx="12219295" cy="1001194"/>
              </a:xfrm>
              <a:prstGeom prst="rect">
                <a:avLst/>
              </a:prstGeom>
              <a:effectLst>
                <a:outerShdw blurRad="50800" dist="38100" dir="8100000" algn="tr" rotWithShape="0">
                  <a:prstClr val="black">
                    <a:alpha val="40000"/>
                  </a:prstClr>
                </a:outerShdw>
              </a:effectLst>
            </p:spPr>
          </p:pic>
          <p:sp>
            <p:nvSpPr>
              <p:cNvPr id="588" name="矩形 55"/>
              <p:cNvSpPr/>
              <p:nvPr/>
            </p:nvSpPr>
            <p:spPr>
              <a:xfrm>
                <a:off x="2326353" y="-71960"/>
                <a:ext cx="2203382" cy="773252"/>
              </a:xfrm>
              <a:prstGeom prst="rect">
                <a:avLst/>
              </a:prstGeom>
              <a:solidFill>
                <a:srgbClr val="005825"/>
              </a:solidFill>
              <a:ln>
                <a:solidFill>
                  <a:srgbClr val="0058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89" name="文本框 57"/>
              <p:cNvSpPr txBox="1"/>
              <p:nvPr/>
            </p:nvSpPr>
            <p:spPr>
              <a:xfrm>
                <a:off x="2629484" y="48215"/>
                <a:ext cx="3123637" cy="52197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选题背景</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0" name="文本框 58"/>
              <p:cNvSpPr txBox="1"/>
              <p:nvPr/>
            </p:nvSpPr>
            <p:spPr>
              <a:xfrm>
                <a:off x="4852069" y="48055"/>
                <a:ext cx="1771650"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项目方案</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1" name="文本框 59"/>
              <p:cNvSpPr txBox="1"/>
              <p:nvPr/>
            </p:nvSpPr>
            <p:spPr>
              <a:xfrm>
                <a:off x="7339364" y="50595"/>
                <a:ext cx="174180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项目</a:t>
                </a:r>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进展</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592" name="直接连接符 61"/>
              <p:cNvCxnSpPr/>
              <p:nvPr/>
            </p:nvCxnSpPr>
            <p:spPr>
              <a:xfrm>
                <a:off x="4529735" y="113988"/>
                <a:ext cx="0" cy="4024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3" name="直接连接符 62"/>
              <p:cNvCxnSpPr/>
              <p:nvPr/>
            </p:nvCxnSpPr>
            <p:spPr>
              <a:xfrm flipH="1">
                <a:off x="6955732" y="194315"/>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94" name="文本框 65"/>
            <p:cNvSpPr txBox="1"/>
            <p:nvPr/>
          </p:nvSpPr>
          <p:spPr>
            <a:xfrm>
              <a:off x="9954929" y="50595"/>
              <a:ext cx="196659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总结展望</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cxnSp>
        <p:nvCxnSpPr>
          <p:cNvPr id="595" name="直接连接符 62"/>
          <p:cNvCxnSpPr/>
          <p:nvPr/>
        </p:nvCxnSpPr>
        <p:spPr>
          <a:xfrm flipH="1">
            <a:off x="9592354" y="270134"/>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596" name="组合 13"/>
          <p:cNvGrpSpPr/>
          <p:nvPr/>
        </p:nvGrpSpPr>
        <p:grpSpPr>
          <a:xfrm>
            <a:off x="204998" y="81727"/>
            <a:ext cx="1999471" cy="590901"/>
            <a:chOff x="4077923" y="171807"/>
            <a:chExt cx="4420435" cy="1371709"/>
          </a:xfrm>
        </p:grpSpPr>
        <p:grpSp>
          <p:nvGrpSpPr>
            <p:cNvPr id="597" name="组合 14"/>
            <p:cNvGrpSpPr/>
            <p:nvPr/>
          </p:nvGrpSpPr>
          <p:grpSpPr>
            <a:xfrm>
              <a:off x="4077923" y="171807"/>
              <a:ext cx="4260493" cy="1371709"/>
              <a:chOff x="6331308" y="1189619"/>
              <a:chExt cx="5481392" cy="1764794"/>
            </a:xfrm>
          </p:grpSpPr>
          <p:pic>
            <p:nvPicPr>
              <p:cNvPr id="598" name="图片 33"/>
              <p:cNvPicPr>
                <a:picLocks noChangeAspect="1"/>
              </p:cNvPicPr>
              <p:nvPr/>
            </p:nvPicPr>
            <p:blipFill>
              <a:blip r:embed="rId2"/>
              <a:srcRect/>
              <a:stretch>
                <a:fillRect/>
              </a:stretch>
            </p:blipFill>
            <p:spPr>
              <a:xfrm>
                <a:off x="6331308" y="1189619"/>
                <a:ext cx="1791803" cy="1764794"/>
              </a:xfrm>
              <a:prstGeom prst="rect">
                <a:avLst/>
              </a:prstGeom>
            </p:spPr>
          </p:pic>
          <p:pic>
            <p:nvPicPr>
              <p:cNvPr id="599" name="图片 35"/>
              <p:cNvPicPr>
                <a:picLocks noChangeAspect="1"/>
              </p:cNvPicPr>
              <p:nvPr/>
            </p:nvPicPr>
            <p:blipFill>
              <a:blip r:embed="rId3"/>
              <a:srcRect/>
              <a:stretch>
                <a:fillRect/>
              </a:stretch>
            </p:blipFill>
            <p:spPr>
              <a:xfrm>
                <a:off x="8302517" y="1422328"/>
                <a:ext cx="3510183" cy="965303"/>
              </a:xfrm>
              <a:prstGeom prst="rect">
                <a:avLst/>
              </a:prstGeom>
            </p:spPr>
          </p:pic>
        </p:grpSp>
        <p:sp>
          <p:nvSpPr>
            <p:cNvPr id="600" name="矩形 15"/>
            <p:cNvSpPr/>
            <p:nvPr/>
          </p:nvSpPr>
          <p:spPr>
            <a:xfrm>
              <a:off x="5470629" y="1076339"/>
              <a:ext cx="3027729" cy="410186"/>
            </a:xfrm>
            <a:prstGeom prst="rect">
              <a:avLst/>
            </a:prstGeom>
          </p:spPr>
          <p:txBody>
            <a:bodyPr wrap="square">
              <a:spAutoFit/>
            </a:bodyPr>
            <a:lstStyle/>
            <a:p>
              <a:pPr algn="dist">
                <a:defRPr/>
              </a:pPr>
              <a:r>
                <a:rPr lang="en-US" altLang="zh-CN" sz="900" b="1" dirty="0">
                  <a:solidFill>
                    <a:prstClr val="black"/>
                  </a:solidFill>
                  <a:latin typeface="Calibri" panose="020F0502020204030204"/>
                  <a:ea typeface="微软雅黑" panose="020B0503020204020204" pitchFamily="34" charset="-122"/>
                </a:rPr>
                <a:t>WUHAN UNIVERSITY</a:t>
              </a:r>
              <a:endParaRPr lang="en-US" altLang="zh-CN" sz="900" b="1" dirty="0">
                <a:solidFill>
                  <a:prstClr val="black"/>
                </a:solidFill>
                <a:latin typeface="Calibri" panose="020F0502020204030204"/>
                <a:ea typeface="微软雅黑" panose="020B0503020204020204" pitchFamily="34" charset="-122"/>
              </a:endParaRPr>
            </a:p>
          </p:txBody>
        </p:sp>
      </p:grpSp>
      <p:sp>
        <p:nvSpPr>
          <p:cNvPr id="4" name="ïṣ1ïḑê"/>
          <p:cNvSpPr>
            <a:spLocks noGrp="1"/>
          </p:cNvSpPr>
          <p:nvPr/>
        </p:nvSpPr>
        <p:spPr>
          <a:xfrm>
            <a:off x="308610" y="862330"/>
            <a:ext cx="6560185" cy="587375"/>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2800" b="1" kern="1200">
                <a:solidFill>
                  <a:srgbClr val="000000"/>
                </a:solidFill>
                <a:latin typeface="Arial" panose="020B0604020202020204" pitchFamily="34" charset="0"/>
                <a:ea typeface="微软雅黑" panose="020B0503020204020204" pitchFamily="34" charset="-122"/>
                <a:cs typeface="+mn-ea"/>
              </a:defRPr>
            </a:lvl1pPr>
          </a:lstStyle>
          <a:p>
            <a:r>
              <a:rPr lang="en-US" altLang="zh-CN" sz="2700" dirty="0">
                <a:solidFill>
                  <a:srgbClr val="005825"/>
                </a:solidFill>
              </a:rPr>
              <a:t>1.1</a:t>
            </a:r>
            <a:r>
              <a:rPr lang="zh-CN" altLang="en-US" sz="2700" dirty="0">
                <a:solidFill>
                  <a:srgbClr val="005825"/>
                </a:solidFill>
              </a:rPr>
              <a:t>研究背景与现状</a:t>
            </a:r>
            <a:r>
              <a:rPr lang="en-US" altLang="zh-CN" sz="2700" dirty="0">
                <a:solidFill>
                  <a:srgbClr val="005825"/>
                </a:solidFill>
              </a:rPr>
              <a:t>|</a:t>
            </a:r>
            <a:r>
              <a:rPr lang="en-US" sz="2400">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AI</a:t>
            </a:r>
            <a:r>
              <a:rPr lang="zh-CN" altLang="en-US" sz="2400">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技术带来的新</a:t>
            </a:r>
            <a:r>
              <a:rPr lang="zh-CN" altLang="en-US" sz="2400">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机遇</a:t>
            </a:r>
            <a:endParaRPr lang="zh-CN" altLang="en-US" sz="2400">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grpSp>
        <p:nvGrpSpPr>
          <p:cNvPr id="3" name="组合 2"/>
          <p:cNvGrpSpPr/>
          <p:nvPr/>
        </p:nvGrpSpPr>
        <p:grpSpPr>
          <a:xfrm>
            <a:off x="762000" y="1778000"/>
            <a:ext cx="3302000" cy="3302000"/>
            <a:chOff x="7000" y="2800"/>
            <a:chExt cx="5200" cy="5200"/>
          </a:xfrm>
        </p:grpSpPr>
        <p:sp>
          <p:nvSpPr>
            <p:cNvPr id="10" name="AutoShape 9"/>
            <p:cNvSpPr/>
            <p:nvPr>
              <p:custDataLst>
                <p:tags r:id="rId4"/>
              </p:custDataLst>
            </p:nvPr>
          </p:nvSpPr>
          <p:spPr>
            <a:xfrm>
              <a:off x="7000" y="2800"/>
              <a:ext cx="5200" cy="5200"/>
            </a:xfrm>
            <a:prstGeom prst="roundRect">
              <a:avLst>
                <a:gd name="adj" fmla="val 3846"/>
              </a:avLst>
            </a:prstGeom>
            <a:solidFill>
              <a:srgbClr val="FFFFFF">
                <a:alpha val="8000"/>
              </a:srgbClr>
            </a:solidFill>
            <a:ln w="28575" cap="flat" cmpd="sng">
              <a:solidFill>
                <a:srgbClr val="00481C">
                  <a:alpha val="30000"/>
                </a:srgbClr>
              </a:solidFill>
              <a:prstDash val="solid"/>
              <a:round/>
            </a:ln>
          </p:spPr>
          <p:txBody>
            <a:bodyPr vert="horz" wrap="square" lIns="63500" tIns="63500" rIns="63500" bIns="63500" rtlCol="0" anchor="ctr">
              <a:noAutofit/>
            </a:bodyPr>
            <a:p>
              <a:pPr lvl="0" algn="ctr">
                <a:buClrTx/>
                <a:buSzTx/>
                <a:buFontTx/>
                <a:defRPr/>
              </a:pPr>
              <a:endParaRPr>
                <a:sym typeface="+mn-ea"/>
              </a:endParaRPr>
            </a:p>
          </p:txBody>
        </p:sp>
        <p:grpSp>
          <p:nvGrpSpPr>
            <p:cNvPr id="1" name="组合 0"/>
            <p:cNvGrpSpPr/>
            <p:nvPr/>
          </p:nvGrpSpPr>
          <p:grpSpPr>
            <a:xfrm>
              <a:off x="7480" y="3280"/>
              <a:ext cx="4240" cy="3820"/>
              <a:chOff x="7480" y="3280"/>
              <a:chExt cx="4240" cy="3820"/>
            </a:xfrm>
          </p:grpSpPr>
          <p:pic>
            <p:nvPicPr>
              <p:cNvPr id="11" name="Picture 10"/>
              <p:cNvPicPr>
                <a:picLocks noChangeAspect="1"/>
              </p:cNvPicPr>
              <p:nvPr>
                <p:custDataLst>
                  <p:tags r:id="rId5"/>
                </p:custDataLst>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480" y="3280"/>
                <a:ext cx="960" cy="960"/>
              </a:xfrm>
              <a:prstGeom prst="rect">
                <a:avLst/>
              </a:prstGeom>
            </p:spPr>
          </p:pic>
          <p:sp>
            <p:nvSpPr>
              <p:cNvPr id="12" name="AutoShape 11"/>
              <p:cNvSpPr/>
              <p:nvPr>
                <p:custDataLst>
                  <p:tags r:id="rId8"/>
                </p:custDataLst>
              </p:nvPr>
            </p:nvSpPr>
            <p:spPr>
              <a:xfrm>
                <a:off x="7480" y="4400"/>
                <a:ext cx="4240" cy="600"/>
              </a:xfrm>
              <a:prstGeom prst="rect">
                <a:avLst/>
              </a:prstGeom>
              <a:noFill/>
              <a:ln w="12700" cap="flat" cmpd="sng">
                <a:noFill/>
                <a:prstDash val="solid"/>
                <a:round/>
              </a:ln>
            </p:spPr>
            <p:txBody>
              <a:bodyPr vert="horz" wrap="square" lIns="0" tIns="0" rIns="0" bIns="0" rtlCol="0" anchor="ctr" anchorCtr="0"/>
              <a:p>
                <a:pPr indent="0" algn="l">
                  <a:lnSpc>
                    <a:spcPct val="125000"/>
                  </a:lnSpc>
                  <a:defRPr/>
                </a:pPr>
                <a:r>
                  <a:rPr lang="en-US" sz="2400" b="1"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知识图谱 (KG)</a:t>
                </a:r>
                <a:endParaRPr lang="en-US" sz="2400" b="1"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endParaRPr>
              </a:p>
            </p:txBody>
          </p:sp>
          <p:sp>
            <p:nvSpPr>
              <p:cNvPr id="13" name="AutoShape 12"/>
              <p:cNvSpPr/>
              <p:nvPr>
                <p:custDataLst>
                  <p:tags r:id="rId9"/>
                </p:custDataLst>
              </p:nvPr>
            </p:nvSpPr>
            <p:spPr>
              <a:xfrm>
                <a:off x="7480" y="5100"/>
                <a:ext cx="4240" cy="2000"/>
              </a:xfrm>
              <a:prstGeom prst="rect">
                <a:avLst/>
              </a:prstGeom>
              <a:noFill/>
              <a:ln w="12700" cap="flat" cmpd="sng">
                <a:noFill/>
                <a:prstDash val="solid"/>
                <a:round/>
              </a:ln>
            </p:spPr>
            <p:txBody>
              <a:bodyPr vert="horz" wrap="square" lIns="0" tIns="0" rIns="0" bIns="0" rtlCol="0" anchor="ctr" anchorCtr="0">
                <a:noAutofit/>
              </a:bodyPr>
              <a:p>
                <a:pPr lvl="0" indent="0" algn="l" fontAlgn="auto">
                  <a:lnSpc>
                    <a:spcPct val="150000"/>
                  </a:lnSpc>
                  <a:buClrTx/>
                  <a:buSzTx/>
                  <a:buFontTx/>
                  <a:defRPr/>
                </a:pPr>
                <a:r>
                  <a:rPr lang="en-US" sz="1600">
                    <a:latin typeface="微软雅黑" panose="020B0503020204020204" pitchFamily="34" charset="-122"/>
                    <a:ea typeface="微软雅黑" panose="020B0503020204020204" pitchFamily="34" charset="-122"/>
                    <a:cs typeface="Noto Sans SC" panose="020B0200000000000000" charset="-122"/>
                    <a:sym typeface="+mn-ea"/>
                  </a:rPr>
                  <a:t>作为</a:t>
                </a:r>
                <a:r>
                  <a:rPr lang="en-US" sz="1600">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结构化知识的表示方式，能够提供可推理、可计算的专业知识底座。</a:t>
                </a:r>
                <a:endParaRPr lang="en-US" sz="1600">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p:txBody>
          </p:sp>
        </p:grpSp>
      </p:grpSp>
      <p:sp>
        <p:nvSpPr>
          <p:cNvPr id="14" name="AutoShape 13"/>
          <p:cNvSpPr/>
          <p:nvPr>
            <p:custDataLst>
              <p:tags r:id="rId10"/>
            </p:custDataLst>
          </p:nvPr>
        </p:nvSpPr>
        <p:spPr>
          <a:xfrm>
            <a:off x="8128000" y="1778000"/>
            <a:ext cx="3302000" cy="3302000"/>
          </a:xfrm>
          <a:prstGeom prst="roundRect">
            <a:avLst>
              <a:gd name="adj" fmla="val 3846"/>
            </a:avLst>
          </a:prstGeom>
          <a:solidFill>
            <a:srgbClr val="FFFFFF">
              <a:alpha val="8000"/>
            </a:srgbClr>
          </a:solidFill>
          <a:ln w="28575" cap="flat" cmpd="sng">
            <a:solidFill>
              <a:srgbClr val="00481C">
                <a:alpha val="30000"/>
              </a:srgbClr>
            </a:solidFill>
            <a:prstDash val="solid"/>
            <a:round/>
          </a:ln>
        </p:spPr>
        <p:txBody>
          <a:bodyPr vert="horz" wrap="square" lIns="63500" tIns="63500" rIns="63500" bIns="63500" rtlCol="0" anchor="ctr">
            <a:noAutofit/>
          </a:bodyPr>
          <a:p>
            <a:pPr lvl="0" algn="ctr">
              <a:buClrTx/>
              <a:buSzTx/>
              <a:buFontTx/>
              <a:defRPr/>
            </a:pPr>
            <a:endParaRPr>
              <a:sym typeface="+mn-ea"/>
            </a:endParaRPr>
          </a:p>
        </p:txBody>
      </p:sp>
      <p:pic>
        <p:nvPicPr>
          <p:cNvPr id="15" name="Picture 14"/>
          <p:cNvPicPr>
            <a:picLocks noChangeAspect="1"/>
          </p:cNvPicPr>
          <p:nvPr>
            <p:custDataLst>
              <p:tags r:id="rId11"/>
            </p:custDataLst>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432800" y="2082800"/>
            <a:ext cx="609600" cy="609600"/>
          </a:xfrm>
          <a:prstGeom prst="rect">
            <a:avLst/>
          </a:prstGeom>
        </p:spPr>
      </p:pic>
      <p:sp>
        <p:nvSpPr>
          <p:cNvPr id="16" name="AutoShape 15"/>
          <p:cNvSpPr/>
          <p:nvPr>
            <p:custDataLst>
              <p:tags r:id="rId14"/>
            </p:custDataLst>
          </p:nvPr>
        </p:nvSpPr>
        <p:spPr>
          <a:xfrm>
            <a:off x="8432800" y="2794000"/>
            <a:ext cx="2692400" cy="381000"/>
          </a:xfrm>
          <a:prstGeom prst="rect">
            <a:avLst/>
          </a:prstGeom>
          <a:noFill/>
          <a:ln w="12700" cap="flat" cmpd="sng">
            <a:noFill/>
            <a:prstDash val="solid"/>
            <a:round/>
          </a:ln>
        </p:spPr>
        <p:txBody>
          <a:bodyPr vert="horz" wrap="square" lIns="0" tIns="0" rIns="0" bIns="0" rtlCol="0" anchor="ctr" anchorCtr="0"/>
          <a:p>
            <a:pPr algn="l">
              <a:lnSpc>
                <a:spcPct val="125000"/>
              </a:lnSpc>
              <a:buClrTx/>
              <a:buSzTx/>
              <a:buFontTx/>
              <a:defRPr/>
            </a:pPr>
            <a:r>
              <a:rPr lang="en-US" sz="2400" b="1"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智能体 (Agent)</a:t>
            </a:r>
            <a:endParaRPr lang="en-US" sz="2400" b="1"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endParaRPr>
          </a:p>
        </p:txBody>
      </p:sp>
      <p:sp>
        <p:nvSpPr>
          <p:cNvPr id="17" name="AutoShape 16"/>
          <p:cNvSpPr/>
          <p:nvPr>
            <p:custDataLst>
              <p:tags r:id="rId15"/>
            </p:custDataLst>
          </p:nvPr>
        </p:nvSpPr>
        <p:spPr>
          <a:xfrm>
            <a:off x="8432800" y="3238500"/>
            <a:ext cx="2692400" cy="1270000"/>
          </a:xfrm>
          <a:prstGeom prst="rect">
            <a:avLst/>
          </a:prstGeom>
          <a:noFill/>
          <a:ln w="12700" cap="flat" cmpd="sng">
            <a:noFill/>
            <a:prstDash val="solid"/>
            <a:round/>
          </a:ln>
        </p:spPr>
        <p:txBody>
          <a:bodyPr vert="horz" wrap="square" lIns="0" tIns="0" rIns="0" bIns="0" rtlCol="0" anchor="ctr" anchorCtr="0">
            <a:noAutofit/>
          </a:bodyPr>
          <a:p>
            <a:pPr lvl="0" algn="l">
              <a:lnSpc>
                <a:spcPct val="150000"/>
              </a:lnSpc>
              <a:buClrTx/>
              <a:buSzTx/>
              <a:buFontTx/>
              <a:defRPr/>
            </a:pPr>
            <a:r>
              <a:rPr lang="en-US" sz="1600">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能够自主理解任务、规划步骤并调用工具执行，实现复杂流程的自动化。</a:t>
            </a:r>
            <a:endParaRPr lang="en-US" sz="1600">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p:txBody>
      </p:sp>
      <p:sp>
        <p:nvSpPr>
          <p:cNvPr id="19" name="AutoShape 17"/>
          <p:cNvSpPr/>
          <p:nvPr/>
        </p:nvSpPr>
        <p:spPr>
          <a:xfrm>
            <a:off x="762000" y="5334000"/>
            <a:ext cx="10668000" cy="762000"/>
          </a:xfrm>
          <a:prstGeom prst="roundRect">
            <a:avLst>
              <a:gd name="adj" fmla="val 16666"/>
            </a:avLst>
          </a:prstGeom>
          <a:solidFill>
            <a:schemeClr val="accent6">
              <a:lumMod val="50000"/>
            </a:schemeClr>
          </a:solidFill>
          <a:ln w="28575" cap="flat" cmpd="sng">
            <a:solidFill>
              <a:srgbClr val="00481C">
                <a:alpha val="50000"/>
              </a:srgbClr>
            </a:solidFill>
            <a:prstDash val="solid"/>
            <a:round/>
          </a:ln>
        </p:spPr>
        <p:txBody>
          <a:bodyPr vert="horz" wrap="square" lIns="63500" tIns="63500" rIns="63500" bIns="63500" rtlCol="0" anchor="ctr"/>
          <a:p>
            <a:pPr algn="ctr">
              <a:defRPr/>
            </a:pPr>
          </a:p>
        </p:txBody>
      </p:sp>
      <p:sp>
        <p:nvSpPr>
          <p:cNvPr id="21" name="AutoShape 19"/>
          <p:cNvSpPr/>
          <p:nvPr/>
        </p:nvSpPr>
        <p:spPr>
          <a:xfrm>
            <a:off x="1447800" y="5524500"/>
            <a:ext cx="9652000" cy="381000"/>
          </a:xfrm>
          <a:prstGeom prst="rect">
            <a:avLst/>
          </a:prstGeom>
          <a:noFill/>
          <a:ln w="12700" cap="flat" cmpd="sng">
            <a:noFill/>
            <a:prstDash val="solid"/>
            <a:round/>
          </a:ln>
        </p:spPr>
        <p:txBody>
          <a:bodyPr vert="horz" wrap="square" lIns="0" tIns="0" rIns="0" bIns="0" rtlCol="0" anchor="ctr" anchorCtr="0"/>
          <a:p>
            <a:pPr indent="0" algn="l">
              <a:lnSpc>
                <a:spcPct val="125000"/>
              </a:lnSpc>
              <a:defRPr/>
            </a:pPr>
            <a:r>
              <a:rPr lang="en-US" sz="2000" i="0" u="none" strike="noStrike">
                <a:solidFill>
                  <a:schemeClr val="bg1">
                    <a:alpha val="78000"/>
                  </a:schemeClr>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我们的愿景：</a:t>
            </a:r>
            <a:r>
              <a:rPr lang="en-US" sz="2000" i="0" u="none" strike="noStrike">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将这三项技术深度融合，构建一个</a:t>
            </a:r>
            <a:r>
              <a:rPr lang="en-US" sz="2000" b="1" i="0" u="none" strike="noStrike">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“人人皆可制图”</a:t>
            </a:r>
            <a:r>
              <a:rPr lang="en-US" sz="2000" i="0" u="none" strike="noStrike">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的智能</a:t>
            </a:r>
            <a:r>
              <a:rPr lang="zh-CN" altLang="en-US" sz="2000" i="0" u="none" strike="noStrike">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制图</a:t>
            </a:r>
            <a:r>
              <a:rPr lang="en-US" sz="2000" i="0" u="none" strike="noStrike">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系统</a:t>
            </a:r>
            <a:r>
              <a:rPr lang="en-US" sz="1600" i="0" u="none" strike="noStrike">
                <a:solidFill>
                  <a:schemeClr val="bg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600" i="0" u="none" strike="noStrike">
              <a:solidFill>
                <a:schemeClr val="bg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2" name="椭圆 21"/>
          <p:cNvSpPr/>
          <p:nvPr/>
        </p:nvSpPr>
        <p:spPr>
          <a:xfrm>
            <a:off x="968375" y="5546725"/>
            <a:ext cx="370205" cy="358775"/>
          </a:xfrm>
          <a:prstGeom prst="ellipse">
            <a:avLst/>
          </a:prstGeom>
          <a:solidFill>
            <a:schemeClr val="bg2"/>
          </a:solidFill>
          <a:ln>
            <a:solidFill>
              <a:srgbClr val="00481C"/>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18" name="组合 17"/>
          <p:cNvGrpSpPr/>
          <p:nvPr/>
        </p:nvGrpSpPr>
        <p:grpSpPr>
          <a:xfrm>
            <a:off x="4445000" y="1769745"/>
            <a:ext cx="3302000" cy="3302000"/>
            <a:chOff x="1200" y="2800"/>
            <a:chExt cx="5200" cy="5200"/>
          </a:xfrm>
        </p:grpSpPr>
        <p:sp>
          <p:nvSpPr>
            <p:cNvPr id="20" name="AutoShape 5"/>
            <p:cNvSpPr/>
            <p:nvPr>
              <p:custDataLst>
                <p:tags r:id="rId16"/>
              </p:custDataLst>
            </p:nvPr>
          </p:nvSpPr>
          <p:spPr>
            <a:xfrm>
              <a:off x="1200" y="2800"/>
              <a:ext cx="5200" cy="5200"/>
            </a:xfrm>
            <a:prstGeom prst="roundRect">
              <a:avLst>
                <a:gd name="adj" fmla="val 3846"/>
              </a:avLst>
            </a:prstGeom>
            <a:solidFill>
              <a:srgbClr val="FFFFFF">
                <a:alpha val="8000"/>
              </a:srgbClr>
            </a:solidFill>
            <a:ln w="28575" cap="flat" cmpd="sng">
              <a:solidFill>
                <a:srgbClr val="00481C">
                  <a:alpha val="30000"/>
                </a:srgbClr>
              </a:solidFill>
              <a:prstDash val="solid"/>
              <a:round/>
            </a:ln>
          </p:spPr>
          <p:txBody>
            <a:bodyPr vert="horz" wrap="square" lIns="63500" tIns="63500" rIns="63500" bIns="63500" rtlCol="0" anchor="ctr"/>
            <a:p>
              <a:pPr algn="ctr">
                <a:defRPr/>
              </a:pPr>
            </a:p>
          </p:txBody>
        </p:sp>
        <p:grpSp>
          <p:nvGrpSpPr>
            <p:cNvPr id="23" name="组合 22"/>
            <p:cNvGrpSpPr/>
            <p:nvPr/>
          </p:nvGrpSpPr>
          <p:grpSpPr>
            <a:xfrm>
              <a:off x="1680" y="3280"/>
              <a:ext cx="4240" cy="3820"/>
              <a:chOff x="1680" y="3280"/>
              <a:chExt cx="4240" cy="3820"/>
            </a:xfrm>
          </p:grpSpPr>
          <p:pic>
            <p:nvPicPr>
              <p:cNvPr id="24" name="Picture 6"/>
              <p:cNvPicPr>
                <a:picLocks noChangeAspect="1"/>
              </p:cNvPicPr>
              <p:nvPr>
                <p:custDataLst>
                  <p:tags r:id="rId17"/>
                </p:custDataLst>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680" y="3280"/>
                <a:ext cx="960" cy="960"/>
              </a:xfrm>
              <a:prstGeom prst="rect">
                <a:avLst/>
              </a:prstGeom>
            </p:spPr>
          </p:pic>
          <p:sp>
            <p:nvSpPr>
              <p:cNvPr id="25" name="AutoShape 7"/>
              <p:cNvSpPr/>
              <p:nvPr>
                <p:custDataLst>
                  <p:tags r:id="rId20"/>
                </p:custDataLst>
              </p:nvPr>
            </p:nvSpPr>
            <p:spPr>
              <a:xfrm>
                <a:off x="1680" y="4400"/>
                <a:ext cx="4240" cy="600"/>
              </a:xfrm>
              <a:prstGeom prst="rect">
                <a:avLst/>
              </a:prstGeom>
              <a:noFill/>
              <a:ln w="12700" cap="flat" cmpd="sng">
                <a:noFill/>
                <a:prstDash val="solid"/>
                <a:round/>
              </a:ln>
            </p:spPr>
            <p:txBody>
              <a:bodyPr vert="horz" wrap="square" lIns="0" tIns="0" rIns="0" bIns="0" rtlCol="0" anchor="ctr" anchorCtr="0"/>
              <a:p>
                <a:pPr indent="0" algn="l">
                  <a:lnSpc>
                    <a:spcPct val="125000"/>
                  </a:lnSpc>
                  <a:defRPr/>
                </a:pPr>
                <a:r>
                  <a:rPr lang="zh-CN" altLang="en-US" sz="2400" b="1"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大</a:t>
                </a:r>
                <a:r>
                  <a:rPr lang="en-US" sz="2400" b="1"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语言模型 (LLM)</a:t>
                </a:r>
                <a:endParaRPr lang="en-US" sz="2400" b="1"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endParaRPr>
              </a:p>
            </p:txBody>
          </p:sp>
          <p:sp>
            <p:nvSpPr>
              <p:cNvPr id="26" name="AutoShape 8"/>
              <p:cNvSpPr/>
              <p:nvPr>
                <p:custDataLst>
                  <p:tags r:id="rId21"/>
                </p:custDataLst>
              </p:nvPr>
            </p:nvSpPr>
            <p:spPr>
              <a:xfrm>
                <a:off x="1680" y="5100"/>
                <a:ext cx="4240" cy="2000"/>
              </a:xfrm>
              <a:prstGeom prst="rect">
                <a:avLst/>
              </a:prstGeom>
              <a:noFill/>
              <a:ln w="12700" cap="flat" cmpd="sng">
                <a:noFill/>
                <a:prstDash val="solid"/>
                <a:round/>
              </a:ln>
            </p:spPr>
            <p:txBody>
              <a:bodyPr vert="horz" wrap="square" lIns="0" tIns="0" rIns="0" bIns="0" rtlCol="0" anchor="ctr" anchorCtr="0"/>
              <a:p>
                <a:pPr indent="0" algn="l">
                  <a:lnSpc>
                    <a:spcPct val="150000"/>
                  </a:lnSpc>
                  <a:defRPr/>
                </a:pPr>
                <a:r>
                  <a:rPr lang="en-US" sz="1600" b="0" i="0" u="none" strike="noStrike">
                    <a:solidFill>
                      <a:schemeClr val="tx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具备强大的自然语言理解与生成能力，为革新人机交互模式带来了可能。</a:t>
                </a:r>
                <a:endParaRPr lang="en-US" sz="1600" b="0" i="0" u="none" strike="noStrike">
                  <a:solidFill>
                    <a:schemeClr val="tx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p:txBody>
          </p:sp>
        </p:grpSp>
      </p:grpSp>
      <p:sp>
        <p:nvSpPr>
          <p:cNvPr id="27" name="页脚占位符 26"/>
          <p:cNvSpPr>
            <a:spLocks noGrp="1"/>
          </p:cNvSpPr>
          <p:nvPr>
            <p:ph type="ftr" sz="quarter" idx="11"/>
          </p:nvPr>
        </p:nvSpPr>
        <p:spPr/>
        <p:txBody>
          <a:bodyPr/>
          <a:p>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581" name=""/>
        <p:cNvGrpSpPr/>
        <p:nvPr/>
      </p:nvGrpSpPr>
      <p:grpSpPr>
        <a:xfrm>
          <a:off x="0" y="0"/>
          <a:ext cx="0" cy="0"/>
          <a:chOff x="0" y="0"/>
          <a:chExt cx="0" cy="0"/>
        </a:xfrm>
      </p:grpSpPr>
      <p:sp>
        <p:nvSpPr>
          <p:cNvPr id="582" name="文本框 60"/>
          <p:cNvSpPr txBox="1"/>
          <p:nvPr/>
        </p:nvSpPr>
        <p:spPr>
          <a:xfrm>
            <a:off x="10320239" y="216952"/>
            <a:ext cx="3123637" cy="369332"/>
          </a:xfrm>
          <a:prstGeom prst="rect">
            <a:avLst/>
          </a:prstGeom>
          <a:noFill/>
        </p:spPr>
        <p:txBody>
          <a:bodyPr wrap="square" rtlCol="0">
            <a:spAutoFit/>
          </a:bodyPr>
          <a:lstStyle/>
          <a:p>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未来展望</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585" name="组合 68"/>
          <p:cNvGrpSpPr/>
          <p:nvPr/>
        </p:nvGrpSpPr>
        <p:grpSpPr>
          <a:xfrm>
            <a:off x="0" y="3859"/>
            <a:ext cx="12219295" cy="1013221"/>
            <a:chOff x="-128871" y="-71960"/>
            <a:chExt cx="12219295" cy="1013221"/>
          </a:xfrm>
        </p:grpSpPr>
        <p:grpSp>
          <p:nvGrpSpPr>
            <p:cNvPr id="586" name="组合 67"/>
            <p:cNvGrpSpPr/>
            <p:nvPr/>
          </p:nvGrpSpPr>
          <p:grpSpPr>
            <a:xfrm>
              <a:off x="-128871" y="-71960"/>
              <a:ext cx="12219295" cy="1013221"/>
              <a:chOff x="-128871" y="-71960"/>
              <a:chExt cx="12219295" cy="1013221"/>
            </a:xfrm>
          </p:grpSpPr>
          <p:pic>
            <p:nvPicPr>
              <p:cNvPr id="587" name="图片 53"/>
              <p:cNvPicPr>
                <a:picLocks noChangeAspect="1"/>
              </p:cNvPicPr>
              <p:nvPr/>
            </p:nvPicPr>
            <p:blipFill>
              <a:blip r:embed="rId1" cstate="print"/>
              <a:stretch>
                <a:fillRect/>
              </a:stretch>
            </p:blipFill>
            <p:spPr>
              <a:xfrm>
                <a:off x="-128871" y="-59933"/>
                <a:ext cx="12219295" cy="1001194"/>
              </a:xfrm>
              <a:prstGeom prst="rect">
                <a:avLst/>
              </a:prstGeom>
              <a:effectLst>
                <a:outerShdw blurRad="50800" dist="38100" dir="8100000" algn="tr" rotWithShape="0">
                  <a:prstClr val="black">
                    <a:alpha val="40000"/>
                  </a:prstClr>
                </a:outerShdw>
              </a:effectLst>
            </p:spPr>
          </p:pic>
          <p:sp>
            <p:nvSpPr>
              <p:cNvPr id="588" name="矩形 55"/>
              <p:cNvSpPr/>
              <p:nvPr/>
            </p:nvSpPr>
            <p:spPr>
              <a:xfrm>
                <a:off x="2326353" y="-71960"/>
                <a:ext cx="2203382" cy="773252"/>
              </a:xfrm>
              <a:prstGeom prst="rect">
                <a:avLst/>
              </a:prstGeom>
              <a:solidFill>
                <a:srgbClr val="005825"/>
              </a:solidFill>
              <a:ln>
                <a:solidFill>
                  <a:srgbClr val="0058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89" name="文本框 57"/>
              <p:cNvSpPr txBox="1"/>
              <p:nvPr/>
            </p:nvSpPr>
            <p:spPr>
              <a:xfrm>
                <a:off x="2629484" y="48215"/>
                <a:ext cx="3123637" cy="52197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选题背景</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0" name="文本框 58"/>
              <p:cNvSpPr txBox="1"/>
              <p:nvPr/>
            </p:nvSpPr>
            <p:spPr>
              <a:xfrm>
                <a:off x="4852069" y="48055"/>
                <a:ext cx="1771650"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项目方案</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1" name="文本框 59"/>
              <p:cNvSpPr txBox="1"/>
              <p:nvPr/>
            </p:nvSpPr>
            <p:spPr>
              <a:xfrm>
                <a:off x="7339364" y="50595"/>
                <a:ext cx="174180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项目</a:t>
                </a:r>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进展</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592" name="直接连接符 61"/>
              <p:cNvCxnSpPr/>
              <p:nvPr/>
            </p:nvCxnSpPr>
            <p:spPr>
              <a:xfrm>
                <a:off x="4529735" y="113988"/>
                <a:ext cx="0" cy="4024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3" name="直接连接符 62"/>
              <p:cNvCxnSpPr/>
              <p:nvPr/>
            </p:nvCxnSpPr>
            <p:spPr>
              <a:xfrm flipH="1">
                <a:off x="6955732" y="194315"/>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94" name="文本框 65"/>
            <p:cNvSpPr txBox="1"/>
            <p:nvPr/>
          </p:nvSpPr>
          <p:spPr>
            <a:xfrm>
              <a:off x="9954929" y="50595"/>
              <a:ext cx="196659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总结展望</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cxnSp>
        <p:nvCxnSpPr>
          <p:cNvPr id="595" name="直接连接符 62"/>
          <p:cNvCxnSpPr/>
          <p:nvPr/>
        </p:nvCxnSpPr>
        <p:spPr>
          <a:xfrm flipH="1">
            <a:off x="9592354" y="270134"/>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596" name="组合 13"/>
          <p:cNvGrpSpPr/>
          <p:nvPr/>
        </p:nvGrpSpPr>
        <p:grpSpPr>
          <a:xfrm>
            <a:off x="204998" y="81727"/>
            <a:ext cx="1999471" cy="590901"/>
            <a:chOff x="4077923" y="171807"/>
            <a:chExt cx="4420435" cy="1371709"/>
          </a:xfrm>
        </p:grpSpPr>
        <p:grpSp>
          <p:nvGrpSpPr>
            <p:cNvPr id="597" name="组合 14"/>
            <p:cNvGrpSpPr/>
            <p:nvPr/>
          </p:nvGrpSpPr>
          <p:grpSpPr>
            <a:xfrm>
              <a:off x="4077923" y="171807"/>
              <a:ext cx="4260493" cy="1371709"/>
              <a:chOff x="6331308" y="1189619"/>
              <a:chExt cx="5481392" cy="1764794"/>
            </a:xfrm>
          </p:grpSpPr>
          <p:pic>
            <p:nvPicPr>
              <p:cNvPr id="598" name="图片 33"/>
              <p:cNvPicPr>
                <a:picLocks noChangeAspect="1"/>
              </p:cNvPicPr>
              <p:nvPr/>
            </p:nvPicPr>
            <p:blipFill>
              <a:blip r:embed="rId2"/>
              <a:srcRect/>
              <a:stretch>
                <a:fillRect/>
              </a:stretch>
            </p:blipFill>
            <p:spPr>
              <a:xfrm>
                <a:off x="6331308" y="1189619"/>
                <a:ext cx="1791803" cy="1764794"/>
              </a:xfrm>
              <a:prstGeom prst="rect">
                <a:avLst/>
              </a:prstGeom>
            </p:spPr>
          </p:pic>
          <p:pic>
            <p:nvPicPr>
              <p:cNvPr id="599" name="图片 35"/>
              <p:cNvPicPr>
                <a:picLocks noChangeAspect="1"/>
              </p:cNvPicPr>
              <p:nvPr/>
            </p:nvPicPr>
            <p:blipFill>
              <a:blip r:embed="rId3"/>
              <a:srcRect/>
              <a:stretch>
                <a:fillRect/>
              </a:stretch>
            </p:blipFill>
            <p:spPr>
              <a:xfrm>
                <a:off x="8302517" y="1422328"/>
                <a:ext cx="3510183" cy="965303"/>
              </a:xfrm>
              <a:prstGeom prst="rect">
                <a:avLst/>
              </a:prstGeom>
            </p:spPr>
          </p:pic>
        </p:grpSp>
        <p:sp>
          <p:nvSpPr>
            <p:cNvPr id="600" name="矩形 15"/>
            <p:cNvSpPr/>
            <p:nvPr/>
          </p:nvSpPr>
          <p:spPr>
            <a:xfrm>
              <a:off x="5470629" y="1076339"/>
              <a:ext cx="3027729" cy="410186"/>
            </a:xfrm>
            <a:prstGeom prst="rect">
              <a:avLst/>
            </a:prstGeom>
          </p:spPr>
          <p:txBody>
            <a:bodyPr wrap="square">
              <a:spAutoFit/>
            </a:bodyPr>
            <a:lstStyle/>
            <a:p>
              <a:pPr algn="dist">
                <a:defRPr/>
              </a:pPr>
              <a:r>
                <a:rPr lang="en-US" altLang="zh-CN" sz="900" b="1" dirty="0">
                  <a:solidFill>
                    <a:prstClr val="black"/>
                  </a:solidFill>
                  <a:latin typeface="Calibri" panose="020F0502020204030204"/>
                  <a:ea typeface="微软雅黑" panose="020B0503020204020204" pitchFamily="34" charset="-122"/>
                </a:rPr>
                <a:t>WUHAN UNIVERSITY</a:t>
              </a:r>
              <a:endParaRPr lang="en-US" altLang="zh-CN" sz="900" b="1" dirty="0">
                <a:solidFill>
                  <a:prstClr val="black"/>
                </a:solidFill>
                <a:latin typeface="Calibri" panose="020F0502020204030204"/>
                <a:ea typeface="微软雅黑" panose="020B0503020204020204" pitchFamily="34" charset="-122"/>
              </a:endParaRPr>
            </a:p>
          </p:txBody>
        </p:sp>
      </p:grpSp>
      <p:sp>
        <p:nvSpPr>
          <p:cNvPr id="4" name="ïṣ1ïḑê"/>
          <p:cNvSpPr>
            <a:spLocks noGrp="1"/>
          </p:cNvSpPr>
          <p:nvPr/>
        </p:nvSpPr>
        <p:spPr>
          <a:xfrm>
            <a:off x="308610" y="862330"/>
            <a:ext cx="6560185" cy="587375"/>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2800" b="1" kern="1200">
                <a:solidFill>
                  <a:srgbClr val="000000"/>
                </a:solidFill>
                <a:latin typeface="Arial" panose="020B0604020202020204" pitchFamily="34" charset="0"/>
                <a:ea typeface="微软雅黑" panose="020B0503020204020204" pitchFamily="34" charset="-122"/>
                <a:cs typeface="+mn-ea"/>
              </a:defRPr>
            </a:lvl1pPr>
          </a:lstStyle>
          <a:p>
            <a:r>
              <a:rPr lang="en-US" altLang="zh-CN" sz="2700" dirty="0">
                <a:solidFill>
                  <a:srgbClr val="005825"/>
                </a:solidFill>
              </a:rPr>
              <a:t>1.2</a:t>
            </a:r>
            <a:r>
              <a:rPr lang="zh-CN" altLang="en-US" sz="2700" dirty="0">
                <a:solidFill>
                  <a:srgbClr val="005825"/>
                </a:solidFill>
              </a:rPr>
              <a:t>研究意义</a:t>
            </a:r>
            <a:endParaRPr lang="zh-CN" altLang="en-US" sz="2400">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 name="AutoShape 3"/>
          <p:cNvSpPr txBox="1"/>
          <p:nvPr/>
        </p:nvSpPr>
        <p:spPr>
          <a:xfrm>
            <a:off x="762000" y="1651000"/>
            <a:ext cx="5143500" cy="4318000"/>
          </a:xfrm>
          <a:prstGeom prst="roundRect">
            <a:avLst>
              <a:gd name="adj" fmla="val 2941"/>
            </a:avLst>
          </a:prstGeom>
          <a:noFill/>
          <a:ln w="57150">
            <a:gradFill>
              <a:gsLst>
                <a:gs pos="50000">
                  <a:schemeClr val="accent6"/>
                </a:gs>
                <a:gs pos="0">
                  <a:schemeClr val="accent6">
                    <a:lumMod val="25000"/>
                    <a:lumOff val="75000"/>
                  </a:schemeClr>
                </a:gs>
                <a:gs pos="100000">
                  <a:schemeClr val="accent6">
                    <a:lumMod val="85000"/>
                  </a:schemeClr>
                </a:gs>
              </a:gsLst>
              <a:lin ang="5400000" scaled="0"/>
            </a:gradFill>
          </a:ln>
        </p:spPr>
        <p:txBody>
          <a:bodyPr vert="horz" wrap="square" lIns="91440" tIns="45720" rIns="91440" bIns="45720" rtlCol="0" anchor="t">
            <a:noAutofit/>
          </a:bodyPr>
          <a:p>
            <a:pPr marL="285750" lvl="0" indent="-285750" algn="l">
              <a:buClrTx/>
              <a:buSzTx/>
              <a:buFont typeface="Wingdings" panose="05000000000000000000" charset="0"/>
              <a:buChar char="Ø"/>
            </a:pPr>
            <a:endParaRPr lang="zh-CN" altLang="en-US">
              <a:latin typeface="微软雅黑" panose="020B0503020204020204" pitchFamily="34" charset="-122"/>
              <a:ea typeface="微软雅黑" panose="020B0503020204020204" pitchFamily="34" charset="-122"/>
              <a:sym typeface="+mn-ea"/>
            </a:endParaRPr>
          </a:p>
        </p:txBody>
      </p:sp>
      <p:pic>
        <p:nvPicPr>
          <p:cNvPr id="5" name="Picture 4"/>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66800" y="1955800"/>
            <a:ext cx="406400" cy="406400"/>
          </a:xfrm>
          <a:prstGeom prst="rect">
            <a:avLst/>
          </a:prstGeom>
        </p:spPr>
      </p:pic>
      <p:sp>
        <p:nvSpPr>
          <p:cNvPr id="2" name="AutoShape 5"/>
          <p:cNvSpPr/>
          <p:nvPr/>
        </p:nvSpPr>
        <p:spPr>
          <a:xfrm>
            <a:off x="1574800" y="1930400"/>
            <a:ext cx="3810000" cy="457200"/>
          </a:xfrm>
          <a:prstGeom prst="rect">
            <a:avLst/>
          </a:prstGeom>
          <a:noFill/>
          <a:ln w="12700" cap="flat" cmpd="sng">
            <a:noFill/>
            <a:prstDash val="solid"/>
            <a:round/>
          </a:ln>
        </p:spPr>
        <p:txBody>
          <a:bodyPr vert="horz" wrap="square" lIns="0" tIns="0" rIns="0" bIns="0" rtlCol="0" anchor="ctr" anchorCtr="0"/>
          <a:p>
            <a:pPr indent="0" algn="l">
              <a:lnSpc>
                <a:spcPct val="125000"/>
              </a:lnSpc>
              <a:defRPr/>
            </a:pPr>
            <a:r>
              <a:rPr lang="en-US" sz="2400" b="1" i="0" u="none" strike="noStrike">
                <a:solidFill>
                  <a:schemeClr val="tx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理论意义</a:t>
            </a:r>
            <a:endParaRPr lang="en-US" sz="2400" b="1" i="0" u="none" strike="noStrike">
              <a:solidFill>
                <a:schemeClr val="tx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p:txBody>
      </p:sp>
      <p:sp>
        <p:nvSpPr>
          <p:cNvPr id="9" name="AutoShape 8"/>
          <p:cNvSpPr/>
          <p:nvPr/>
        </p:nvSpPr>
        <p:spPr>
          <a:xfrm>
            <a:off x="1397000" y="2692400"/>
            <a:ext cx="4191000" cy="635000"/>
          </a:xfrm>
          <a:prstGeom prst="rect">
            <a:avLst/>
          </a:prstGeom>
          <a:noFill/>
          <a:ln w="12700" cap="flat" cmpd="sng">
            <a:noFill/>
            <a:prstDash val="solid"/>
            <a:round/>
          </a:ln>
        </p:spPr>
        <p:txBody>
          <a:bodyPr vert="horz" wrap="square" lIns="0" tIns="0" rIns="0" bIns="0" rtlCol="0" anchor="ctr" anchorCtr="0"/>
          <a:p>
            <a:pPr marL="285750" indent="-285750" algn="l">
              <a:lnSpc>
                <a:spcPct val="150000"/>
              </a:lnSpc>
              <a:buFont typeface="Wingdings" panose="05000000000000000000" charset="0"/>
              <a:buChar char="Ø"/>
              <a:defRPr/>
            </a:pPr>
            <a:r>
              <a:rPr lang="en-US" b="0" i="0" u="none" strike="noStrike">
                <a:solidFill>
                  <a:schemeClr val="tx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推动地图学与人工智能的交叉融合研究，拓展学科边界。</a:t>
            </a:r>
            <a:endParaRPr lang="en-US" b="0" i="0" u="none" strike="noStrike">
              <a:solidFill>
                <a:schemeClr val="tx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p:txBody>
      </p:sp>
      <p:sp>
        <p:nvSpPr>
          <p:cNvPr id="18" name="AutoShape 10"/>
          <p:cNvSpPr/>
          <p:nvPr/>
        </p:nvSpPr>
        <p:spPr>
          <a:xfrm>
            <a:off x="1397000" y="3759200"/>
            <a:ext cx="4191000" cy="635000"/>
          </a:xfrm>
          <a:prstGeom prst="rect">
            <a:avLst/>
          </a:prstGeom>
          <a:noFill/>
          <a:ln w="12700" cap="flat" cmpd="sng">
            <a:noFill/>
            <a:prstDash val="solid"/>
            <a:round/>
          </a:ln>
        </p:spPr>
        <p:txBody>
          <a:bodyPr vert="horz" wrap="square" lIns="0" tIns="0" rIns="0" bIns="0" rtlCol="0" anchor="ctr" anchorCtr="0">
            <a:noAutofit/>
          </a:bodyPr>
          <a:p>
            <a:pPr marL="285750" lvl="0" indent="-285750" algn="l">
              <a:lnSpc>
                <a:spcPct val="150000"/>
              </a:lnSpc>
              <a:buClrTx/>
              <a:buSzTx/>
              <a:buFont typeface="Wingdings" panose="05000000000000000000" charset="0"/>
              <a:buChar char="Ø"/>
              <a:defRPr/>
            </a:pPr>
            <a:r>
              <a:rPr lang="en-US">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探索大语言模型在地图学领域的垂直应用与优化方案。</a:t>
            </a:r>
            <a:endParaRPr lang="en-US">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p:txBody>
      </p:sp>
      <p:sp>
        <p:nvSpPr>
          <p:cNvPr id="22" name="AutoShape 12"/>
          <p:cNvSpPr/>
          <p:nvPr/>
        </p:nvSpPr>
        <p:spPr>
          <a:xfrm>
            <a:off x="1397000" y="4826000"/>
            <a:ext cx="4191000" cy="635000"/>
          </a:xfrm>
          <a:prstGeom prst="rect">
            <a:avLst/>
          </a:prstGeom>
          <a:noFill/>
          <a:ln w="12700" cap="flat" cmpd="sng">
            <a:noFill/>
            <a:prstDash val="solid"/>
            <a:round/>
          </a:ln>
        </p:spPr>
        <p:txBody>
          <a:bodyPr vert="horz" wrap="square" lIns="0" tIns="0" rIns="0" bIns="0" rtlCol="0" anchor="ctr" anchorCtr="0">
            <a:noAutofit/>
          </a:bodyPr>
          <a:p>
            <a:pPr marL="285750" lvl="0" indent="-285750" algn="l">
              <a:lnSpc>
                <a:spcPct val="150000"/>
              </a:lnSpc>
              <a:buClrTx/>
              <a:buSzTx/>
              <a:buFont typeface="Wingdings" panose="05000000000000000000" charset="0"/>
              <a:buChar char="Ø"/>
              <a:defRPr/>
            </a:pPr>
            <a:r>
              <a:rPr lang="en-US">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构建面向智能制图的领域知识图谱理论框架。</a:t>
            </a:r>
            <a:endParaRPr lang="en-US">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p:txBody>
      </p:sp>
      <p:sp>
        <p:nvSpPr>
          <p:cNvPr id="23" name="AutoShape 13"/>
          <p:cNvSpPr txBox="1"/>
          <p:nvPr/>
        </p:nvSpPr>
        <p:spPr>
          <a:xfrm>
            <a:off x="6286500" y="1651000"/>
            <a:ext cx="5143500" cy="4318000"/>
          </a:xfrm>
          <a:prstGeom prst="roundRect">
            <a:avLst>
              <a:gd name="adj" fmla="val 2941"/>
            </a:avLst>
          </a:prstGeom>
          <a:noFill/>
          <a:ln w="57150">
            <a:gradFill>
              <a:gsLst>
                <a:gs pos="50000">
                  <a:schemeClr val="accent6"/>
                </a:gs>
                <a:gs pos="0">
                  <a:schemeClr val="accent6">
                    <a:lumMod val="25000"/>
                    <a:lumOff val="75000"/>
                  </a:schemeClr>
                </a:gs>
                <a:gs pos="100000">
                  <a:schemeClr val="accent6">
                    <a:lumMod val="85000"/>
                  </a:schemeClr>
                </a:gs>
              </a:gsLst>
              <a:lin ang="5400000" scaled="0"/>
            </a:gradFill>
          </a:ln>
        </p:spPr>
        <p:txBody>
          <a:bodyPr vert="horz" wrap="square" lIns="91440" tIns="45720" rIns="91440" bIns="45720" rtlCol="0" anchor="t">
            <a:noAutofit/>
          </a:bodyPr>
          <a:p>
            <a:pPr marL="285750" lvl="0" indent="-285750" algn="l">
              <a:buClrTx/>
              <a:buSzTx/>
              <a:buFont typeface="Wingdings" panose="05000000000000000000" charset="0"/>
              <a:buChar char="Ø"/>
            </a:pPr>
            <a:endParaRPr lang="zh-CN" altLang="en-US">
              <a:latin typeface="微软雅黑" panose="020B0503020204020204" pitchFamily="34" charset="-122"/>
              <a:ea typeface="微软雅黑" panose="020B0503020204020204" pitchFamily="34" charset="-122"/>
              <a:sym typeface="+mn-ea"/>
            </a:endParaRPr>
          </a:p>
        </p:txBody>
      </p:sp>
      <p:pic>
        <p:nvPicPr>
          <p:cNvPr id="24" name="Picture 14"/>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591300" y="1955800"/>
            <a:ext cx="406400" cy="406400"/>
          </a:xfrm>
          <a:prstGeom prst="rect">
            <a:avLst/>
          </a:prstGeom>
        </p:spPr>
      </p:pic>
      <p:sp>
        <p:nvSpPr>
          <p:cNvPr id="25" name="AutoShape 15"/>
          <p:cNvSpPr/>
          <p:nvPr/>
        </p:nvSpPr>
        <p:spPr>
          <a:xfrm>
            <a:off x="7099300" y="1930400"/>
            <a:ext cx="3810000" cy="457200"/>
          </a:xfrm>
          <a:prstGeom prst="rect">
            <a:avLst/>
          </a:prstGeom>
          <a:noFill/>
          <a:ln w="12700" cap="flat" cmpd="sng">
            <a:noFill/>
            <a:prstDash val="solid"/>
            <a:round/>
          </a:ln>
        </p:spPr>
        <p:txBody>
          <a:bodyPr vert="horz" wrap="square" lIns="0" tIns="0" rIns="0" bIns="0" rtlCol="0" anchor="ctr" anchorCtr="0"/>
          <a:p>
            <a:pPr indent="0" algn="l">
              <a:lnSpc>
                <a:spcPct val="125000"/>
              </a:lnSpc>
              <a:defRPr/>
            </a:pPr>
            <a:r>
              <a:rPr lang="en-US" sz="2400" b="1" i="0" u="none" strike="noStrike">
                <a:solidFill>
                  <a:schemeClr val="tx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实践意义</a:t>
            </a:r>
            <a:endParaRPr lang="en-US" sz="2400" b="1" i="0" u="none" strike="noStrike">
              <a:solidFill>
                <a:schemeClr val="tx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p:txBody>
      </p:sp>
      <p:sp>
        <p:nvSpPr>
          <p:cNvPr id="26" name="AutoShape 18"/>
          <p:cNvSpPr/>
          <p:nvPr/>
        </p:nvSpPr>
        <p:spPr>
          <a:xfrm>
            <a:off x="6921500" y="2692400"/>
            <a:ext cx="4191000" cy="635000"/>
          </a:xfrm>
          <a:prstGeom prst="rect">
            <a:avLst/>
          </a:prstGeom>
          <a:noFill/>
          <a:ln w="12700" cap="flat" cmpd="sng">
            <a:noFill/>
            <a:prstDash val="solid"/>
            <a:round/>
          </a:ln>
        </p:spPr>
        <p:txBody>
          <a:bodyPr vert="horz" wrap="square" lIns="0" tIns="0" rIns="0" bIns="0" rtlCol="0" anchor="ctr" anchorCtr="0">
            <a:noAutofit/>
          </a:bodyPr>
          <a:p>
            <a:pPr marL="285750" lvl="0" indent="-285750" algn="l">
              <a:lnSpc>
                <a:spcPct val="150000"/>
              </a:lnSpc>
              <a:buClrTx/>
              <a:buSzTx/>
              <a:buFont typeface="Wingdings" panose="05000000000000000000" charset="0"/>
              <a:buChar char="Ø"/>
              <a:defRPr/>
            </a:pPr>
            <a:r>
              <a:rPr lang="en-US">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显著降低地图制作门槛，满足教育、旅游等多场景的个性化需求</a:t>
            </a:r>
            <a:r>
              <a:rPr lang="en-US">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a:t>
            </a:r>
            <a:endParaRPr lang="en-US">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p:txBody>
      </p:sp>
      <p:sp>
        <p:nvSpPr>
          <p:cNvPr id="27" name="AutoShape 20"/>
          <p:cNvSpPr/>
          <p:nvPr/>
        </p:nvSpPr>
        <p:spPr>
          <a:xfrm>
            <a:off x="6921500" y="3759200"/>
            <a:ext cx="4191000" cy="635000"/>
          </a:xfrm>
          <a:prstGeom prst="rect">
            <a:avLst/>
          </a:prstGeom>
          <a:noFill/>
          <a:ln w="12700" cap="flat" cmpd="sng">
            <a:noFill/>
            <a:prstDash val="solid"/>
            <a:round/>
          </a:ln>
        </p:spPr>
        <p:txBody>
          <a:bodyPr vert="horz" wrap="square" lIns="0" tIns="0" rIns="0" bIns="0" rtlCol="0" anchor="ctr" anchorCtr="0">
            <a:noAutofit/>
          </a:bodyPr>
          <a:p>
            <a:pPr marL="285750" lvl="0" indent="-285750" algn="l">
              <a:lnSpc>
                <a:spcPct val="150000"/>
              </a:lnSpc>
              <a:buClrTx/>
              <a:buSzTx/>
              <a:buFont typeface="Wingdings" panose="05000000000000000000" charset="0"/>
              <a:buChar char="Ø"/>
              <a:defRPr/>
            </a:pPr>
            <a:r>
              <a:rPr lang="en-US">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成为专业制图人员的智能助手，自动化处理重复任务，提升效率</a:t>
            </a:r>
            <a:r>
              <a:rPr lang="en-US">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a:t>
            </a:r>
            <a:endParaRPr lang="en-US">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p:txBody>
      </p:sp>
      <p:sp>
        <p:nvSpPr>
          <p:cNvPr id="28" name="AutoShape 22"/>
          <p:cNvSpPr/>
          <p:nvPr/>
        </p:nvSpPr>
        <p:spPr>
          <a:xfrm>
            <a:off x="6921500" y="4826000"/>
            <a:ext cx="4191000" cy="635000"/>
          </a:xfrm>
          <a:prstGeom prst="rect">
            <a:avLst/>
          </a:prstGeom>
          <a:noFill/>
          <a:ln w="12700" cap="flat" cmpd="sng">
            <a:noFill/>
            <a:prstDash val="solid"/>
            <a:round/>
          </a:ln>
        </p:spPr>
        <p:txBody>
          <a:bodyPr vert="horz" wrap="square" lIns="0" tIns="0" rIns="0" bIns="0" rtlCol="0" anchor="ctr" anchorCtr="0">
            <a:noAutofit/>
          </a:bodyPr>
          <a:p>
            <a:pPr marL="285750" lvl="0" indent="-285750" algn="l">
              <a:lnSpc>
                <a:spcPct val="150000"/>
              </a:lnSpc>
              <a:buClrTx/>
              <a:buSzTx/>
              <a:buFont typeface="Wingdings" panose="05000000000000000000" charset="0"/>
              <a:buChar char="Ø"/>
              <a:defRPr/>
            </a:pPr>
            <a:r>
              <a:rPr lang="en-US">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释放公众的地图想象力，促进空间信息的民主化与普及。</a:t>
            </a:r>
            <a:endParaRPr lang="en-US">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p:txBody>
      </p:sp>
      <p:sp>
        <p:nvSpPr>
          <p:cNvPr id="6" name="页脚占位符 5"/>
          <p:cNvSpPr>
            <a:spLocks noGrp="1"/>
          </p:cNvSpPr>
          <p:nvPr>
            <p:ph type="ftr" sz="quarter" idx="11"/>
          </p:nvPr>
        </p:nvSpPr>
        <p:spPr/>
        <p:txBody>
          <a:bodyPr/>
          <a:p>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任意多边形 9"/>
          <p:cNvSpPr/>
          <p:nvPr/>
        </p:nvSpPr>
        <p:spPr>
          <a:xfrm rot="19740000">
            <a:off x="-2280399" y="-122827"/>
            <a:ext cx="4768982" cy="7335937"/>
          </a:xfrm>
          <a:custGeom>
            <a:avLst/>
            <a:gdLst/>
            <a:ahLst/>
            <a:cxnLst>
              <a:cxn ang="3">
                <a:pos x="hc" y="t"/>
              </a:cxn>
              <a:cxn ang="cd2">
                <a:pos x="l" y="vc"/>
              </a:cxn>
              <a:cxn ang="cd4">
                <a:pos x="hc" y="b"/>
              </a:cxn>
              <a:cxn ang="0">
                <a:pos x="r" y="vc"/>
              </a:cxn>
            </a:cxnLst>
            <a:rect l="l" t="t" r="r" b="b"/>
            <a:pathLst>
              <a:path w="7510" h="11553">
                <a:moveTo>
                  <a:pt x="6301" y="0"/>
                </a:moveTo>
                <a:lnTo>
                  <a:pt x="7510" y="0"/>
                </a:lnTo>
                <a:lnTo>
                  <a:pt x="7510" y="7861"/>
                </a:lnTo>
                <a:lnTo>
                  <a:pt x="7510" y="7861"/>
                </a:lnTo>
                <a:lnTo>
                  <a:pt x="7510" y="7861"/>
                </a:lnTo>
                <a:lnTo>
                  <a:pt x="7510" y="7863"/>
                </a:lnTo>
                <a:lnTo>
                  <a:pt x="7507" y="7863"/>
                </a:lnTo>
                <a:lnTo>
                  <a:pt x="568" y="11553"/>
                </a:lnTo>
                <a:lnTo>
                  <a:pt x="0" y="10485"/>
                </a:lnTo>
                <a:lnTo>
                  <a:pt x="6301" y="7135"/>
                </a:lnTo>
                <a:lnTo>
                  <a:pt x="6301" y="0"/>
                </a:lnTo>
                <a:close/>
              </a:path>
            </a:pathLst>
          </a:custGeom>
          <a:solidFill>
            <a:srgbClr val="00481C">
              <a:alpha val="5000"/>
            </a:srgbClr>
          </a:solidFill>
          <a:ln>
            <a:solidFill>
              <a:srgbClr val="00481C">
                <a:alpha val="8000"/>
              </a:srgb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11" name="任意多边形 10"/>
          <p:cNvSpPr/>
          <p:nvPr/>
        </p:nvSpPr>
        <p:spPr>
          <a:xfrm rot="19740000">
            <a:off x="-1351394" y="-122827"/>
            <a:ext cx="4768982" cy="7335937"/>
          </a:xfrm>
          <a:custGeom>
            <a:avLst/>
            <a:gdLst/>
            <a:ahLst/>
            <a:cxnLst>
              <a:cxn ang="3">
                <a:pos x="hc" y="t"/>
              </a:cxn>
              <a:cxn ang="cd2">
                <a:pos x="l" y="vc"/>
              </a:cxn>
              <a:cxn ang="cd4">
                <a:pos x="hc" y="b"/>
              </a:cxn>
              <a:cxn ang="0">
                <a:pos x="r" y="vc"/>
              </a:cxn>
            </a:cxnLst>
            <a:rect l="l" t="t" r="r" b="b"/>
            <a:pathLst>
              <a:path w="7510" h="11553">
                <a:moveTo>
                  <a:pt x="6301" y="0"/>
                </a:moveTo>
                <a:lnTo>
                  <a:pt x="7510" y="0"/>
                </a:lnTo>
                <a:lnTo>
                  <a:pt x="7510" y="7861"/>
                </a:lnTo>
                <a:lnTo>
                  <a:pt x="7510" y="7861"/>
                </a:lnTo>
                <a:lnTo>
                  <a:pt x="7510" y="7861"/>
                </a:lnTo>
                <a:lnTo>
                  <a:pt x="7510" y="7863"/>
                </a:lnTo>
                <a:lnTo>
                  <a:pt x="7507" y="7863"/>
                </a:lnTo>
                <a:lnTo>
                  <a:pt x="568" y="11553"/>
                </a:lnTo>
                <a:lnTo>
                  <a:pt x="0" y="10485"/>
                </a:lnTo>
                <a:lnTo>
                  <a:pt x="6301" y="7135"/>
                </a:lnTo>
                <a:lnTo>
                  <a:pt x="6301" y="0"/>
                </a:lnTo>
                <a:close/>
              </a:path>
            </a:pathLst>
          </a:custGeom>
          <a:gradFill>
            <a:gsLst>
              <a:gs pos="0">
                <a:schemeClr val="bg1"/>
              </a:gs>
              <a:gs pos="100000">
                <a:srgbClr val="00481C"/>
              </a:gs>
            </a:gsLst>
            <a:lin ang="222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2" name="标题 1"/>
          <p:cNvSpPr>
            <a:spLocks noGrp="1"/>
          </p:cNvSpPr>
          <p:nvPr>
            <p:ph type="title"/>
          </p:nvPr>
        </p:nvSpPr>
        <p:spPr>
          <a:xfrm>
            <a:off x="5147945" y="1499235"/>
            <a:ext cx="4362450" cy="1325880"/>
          </a:xfrm>
        </p:spPr>
        <p:txBody>
          <a:bodyPr>
            <a:normAutofit fontScale="90000"/>
          </a:bodyPr>
          <a:p>
            <a:r>
              <a:rPr lang="en-US" altLang="zh-CN" sz="8000" b="1">
                <a:solidFill>
                  <a:srgbClr val="00481C"/>
                </a:solidFill>
                <a:latin typeface="Arial" panose="020B0604020202020204" pitchFamily="34" charset="0"/>
                <a:cs typeface="Arial" panose="020B0604020202020204" pitchFamily="34" charset="0"/>
              </a:rPr>
              <a:t>PART </a:t>
            </a:r>
            <a:r>
              <a:rPr lang="en-US" altLang="zh-CN" sz="13335" b="1" i="1">
                <a:solidFill>
                  <a:srgbClr val="00481C"/>
                </a:solidFill>
                <a:latin typeface="Arial" panose="020B0604020202020204" pitchFamily="34" charset="0"/>
                <a:cs typeface="Arial" panose="020B0604020202020204" pitchFamily="34" charset="0"/>
              </a:rPr>
              <a:t>2</a:t>
            </a:r>
            <a:endParaRPr lang="en-US" altLang="zh-CN" sz="13335" b="1" i="1">
              <a:solidFill>
                <a:srgbClr val="00481C"/>
              </a:solidFill>
              <a:latin typeface="Arial" panose="020B0604020202020204" pitchFamily="34" charset="0"/>
              <a:cs typeface="Arial" panose="020B0604020202020204" pitchFamily="34" charset="0"/>
            </a:endParaRPr>
          </a:p>
        </p:txBody>
      </p:sp>
      <p:sp>
        <p:nvSpPr>
          <p:cNvPr id="6" name="任意多边形 5"/>
          <p:cNvSpPr/>
          <p:nvPr/>
        </p:nvSpPr>
        <p:spPr>
          <a:xfrm rot="19740000">
            <a:off x="-3067685" y="-1120140"/>
            <a:ext cx="6064885" cy="9330055"/>
          </a:xfrm>
          <a:custGeom>
            <a:avLst/>
            <a:gdLst/>
            <a:ahLst/>
            <a:cxnLst>
              <a:cxn ang="3">
                <a:pos x="hc" y="t"/>
              </a:cxn>
              <a:cxn ang="cd2">
                <a:pos x="l" y="vc"/>
              </a:cxn>
              <a:cxn ang="cd4">
                <a:pos x="hc" y="b"/>
              </a:cxn>
              <a:cxn ang="0">
                <a:pos x="r" y="vc"/>
              </a:cxn>
            </a:cxnLst>
            <a:rect l="l" t="t" r="r" b="b"/>
            <a:pathLst>
              <a:path w="7510" h="11553">
                <a:moveTo>
                  <a:pt x="6301" y="0"/>
                </a:moveTo>
                <a:lnTo>
                  <a:pt x="7510" y="0"/>
                </a:lnTo>
                <a:lnTo>
                  <a:pt x="7510" y="7861"/>
                </a:lnTo>
                <a:lnTo>
                  <a:pt x="7510" y="7861"/>
                </a:lnTo>
                <a:lnTo>
                  <a:pt x="7510" y="7861"/>
                </a:lnTo>
                <a:lnTo>
                  <a:pt x="7510" y="7863"/>
                </a:lnTo>
                <a:lnTo>
                  <a:pt x="7507" y="7863"/>
                </a:lnTo>
                <a:lnTo>
                  <a:pt x="568" y="11553"/>
                </a:lnTo>
                <a:lnTo>
                  <a:pt x="0" y="10485"/>
                </a:lnTo>
                <a:lnTo>
                  <a:pt x="6301" y="7135"/>
                </a:lnTo>
                <a:lnTo>
                  <a:pt x="6301" y="0"/>
                </a:lnTo>
                <a:close/>
              </a:path>
            </a:pathLst>
          </a:custGeom>
          <a:solidFill>
            <a:srgbClr val="00481C"/>
          </a:solidFill>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cxnSp>
        <p:nvCxnSpPr>
          <p:cNvPr id="12" name="直接连接符 11"/>
          <p:cNvCxnSpPr/>
          <p:nvPr/>
        </p:nvCxnSpPr>
        <p:spPr>
          <a:xfrm flipV="1">
            <a:off x="4452620" y="2860675"/>
            <a:ext cx="5057775" cy="19050"/>
          </a:xfrm>
          <a:prstGeom prst="line">
            <a:avLst/>
          </a:prstGeom>
          <a:ln>
            <a:solidFill>
              <a:srgbClr val="00481C"/>
            </a:solidFill>
          </a:ln>
        </p:spPr>
        <p:style>
          <a:lnRef idx="2">
            <a:schemeClr val="accent1"/>
          </a:lnRef>
          <a:fillRef idx="0">
            <a:srgbClr val="FFFFFF"/>
          </a:fillRef>
          <a:effectRef idx="0">
            <a:srgbClr val="FFFFFF"/>
          </a:effectRef>
          <a:fontRef idx="minor">
            <a:schemeClr val="tx1"/>
          </a:fontRef>
        </p:style>
      </p:cxnSp>
      <p:sp>
        <p:nvSpPr>
          <p:cNvPr id="13" name="文本框 12"/>
          <p:cNvSpPr txBox="1"/>
          <p:nvPr/>
        </p:nvSpPr>
        <p:spPr>
          <a:xfrm>
            <a:off x="5071745" y="3528695"/>
            <a:ext cx="4324350" cy="1198880"/>
          </a:xfrm>
          <a:prstGeom prst="rect">
            <a:avLst/>
          </a:prstGeom>
          <a:noFill/>
        </p:spPr>
        <p:txBody>
          <a:bodyPr wrap="square" rtlCol="0">
            <a:spAutoFit/>
          </a:bodyPr>
          <a:p>
            <a:r>
              <a:rPr lang="zh-CN" altLang="en-US" sz="7200">
                <a:solidFill>
                  <a:srgbClr val="00481C"/>
                </a:solidFill>
                <a:latin typeface="微软雅黑" panose="020B0503020204020204" pitchFamily="34" charset="-122"/>
                <a:ea typeface="微软雅黑" panose="020B0503020204020204" pitchFamily="34" charset="-122"/>
              </a:rPr>
              <a:t>项目</a:t>
            </a:r>
            <a:r>
              <a:rPr lang="zh-CN" altLang="en-US" sz="7200">
                <a:solidFill>
                  <a:srgbClr val="00481C"/>
                </a:solidFill>
                <a:latin typeface="微软雅黑" panose="020B0503020204020204" pitchFamily="34" charset="-122"/>
                <a:ea typeface="微软雅黑" panose="020B0503020204020204" pitchFamily="34" charset="-122"/>
              </a:rPr>
              <a:t>方案</a:t>
            </a:r>
            <a:endParaRPr lang="zh-CN" altLang="en-US" sz="7200">
              <a:solidFill>
                <a:srgbClr val="00481C"/>
              </a:solidFill>
              <a:latin typeface="微软雅黑" panose="020B0503020204020204" pitchFamily="34" charset="-122"/>
              <a:ea typeface="微软雅黑" panose="020B0503020204020204" pitchFamily="34" charset="-122"/>
            </a:endParaRPr>
          </a:p>
        </p:txBody>
      </p:sp>
      <p:grpSp>
        <p:nvGrpSpPr>
          <p:cNvPr id="165" name="组合 39"/>
          <p:cNvGrpSpPr/>
          <p:nvPr/>
        </p:nvGrpSpPr>
        <p:grpSpPr>
          <a:xfrm>
            <a:off x="9480096" y="160513"/>
            <a:ext cx="2487599" cy="771929"/>
            <a:chOff x="4077923" y="171807"/>
            <a:chExt cx="4420435" cy="1371709"/>
          </a:xfrm>
        </p:grpSpPr>
        <p:grpSp>
          <p:nvGrpSpPr>
            <p:cNvPr id="166" name="组合 40"/>
            <p:cNvGrpSpPr/>
            <p:nvPr/>
          </p:nvGrpSpPr>
          <p:grpSpPr>
            <a:xfrm>
              <a:off x="4077923" y="171807"/>
              <a:ext cx="4260493" cy="1371709"/>
              <a:chOff x="6331308" y="1189619"/>
              <a:chExt cx="5481392" cy="1764794"/>
            </a:xfrm>
          </p:grpSpPr>
          <p:pic>
            <p:nvPicPr>
              <p:cNvPr id="167" name="图片 42"/>
              <p:cNvPicPr>
                <a:picLocks noChangeAspect="1"/>
              </p:cNvPicPr>
              <p:nvPr/>
            </p:nvPicPr>
            <p:blipFill>
              <a:blip r:embed="rId1"/>
              <a:srcRect/>
              <a:stretch>
                <a:fillRect/>
              </a:stretch>
            </p:blipFill>
            <p:spPr>
              <a:xfrm>
                <a:off x="6331308" y="1189619"/>
                <a:ext cx="1791803" cy="1764794"/>
              </a:xfrm>
              <a:prstGeom prst="rect">
                <a:avLst/>
              </a:prstGeom>
            </p:spPr>
          </p:pic>
          <p:pic>
            <p:nvPicPr>
              <p:cNvPr id="168" name="图片 43"/>
              <p:cNvPicPr>
                <a:picLocks noChangeAspect="1"/>
              </p:cNvPicPr>
              <p:nvPr/>
            </p:nvPicPr>
            <p:blipFill>
              <a:blip r:embed="rId2"/>
              <a:srcRect/>
              <a:stretch>
                <a:fillRect/>
              </a:stretch>
            </p:blipFill>
            <p:spPr>
              <a:xfrm>
                <a:off x="8302517" y="1422328"/>
                <a:ext cx="3510183" cy="965303"/>
              </a:xfrm>
              <a:prstGeom prst="rect">
                <a:avLst/>
              </a:prstGeom>
            </p:spPr>
          </p:pic>
        </p:grpSp>
        <p:sp>
          <p:nvSpPr>
            <p:cNvPr id="169" name="矩形 41"/>
            <p:cNvSpPr/>
            <p:nvPr/>
          </p:nvSpPr>
          <p:spPr>
            <a:xfrm>
              <a:off x="5470629" y="1076339"/>
              <a:ext cx="3027729" cy="410186"/>
            </a:xfrm>
            <a:prstGeom prst="rect">
              <a:avLst/>
            </a:prstGeom>
          </p:spPr>
          <p:txBody>
            <a:bodyPr wrap="square">
              <a:spAutoFit/>
            </a:bodyPr>
            <a:lstStyle/>
            <a:p>
              <a:pPr algn="dist">
                <a:defRPr/>
              </a:pPr>
              <a:r>
                <a:rPr lang="en-US" altLang="zh-CN" sz="900" b="1" dirty="0">
                  <a:solidFill>
                    <a:prstClr val="black"/>
                  </a:solidFill>
                  <a:latin typeface="Calibri" panose="020F0502020204030204"/>
                  <a:ea typeface="微软雅黑" panose="020B0503020204020204" pitchFamily="34" charset="-122"/>
                </a:rPr>
                <a:t>WUHAN UNIVERSITY</a:t>
              </a:r>
              <a:endParaRPr lang="en-US" altLang="zh-CN" sz="900" b="1" dirty="0">
                <a:solidFill>
                  <a:prstClr val="black"/>
                </a:solidFill>
                <a:latin typeface="Calibri" panose="020F0502020204030204"/>
                <a:ea typeface="微软雅黑" panose="020B0503020204020204" pitchFamily="34" charset="-122"/>
              </a:endParaRPr>
            </a:p>
          </p:txBody>
        </p:sp>
      </p:grpSp>
      <p:grpSp>
        <p:nvGrpSpPr>
          <p:cNvPr id="20" name="组合 19"/>
          <p:cNvGrpSpPr/>
          <p:nvPr/>
        </p:nvGrpSpPr>
        <p:grpSpPr>
          <a:xfrm>
            <a:off x="10212705" y="5683885"/>
            <a:ext cx="1419225" cy="768350"/>
            <a:chOff x="15240" y="8543"/>
            <a:chExt cx="2235" cy="1210"/>
          </a:xfrm>
        </p:grpSpPr>
        <p:sp>
          <p:nvSpPr>
            <p:cNvPr id="14" name="矩形 13"/>
            <p:cNvSpPr/>
            <p:nvPr/>
          </p:nvSpPr>
          <p:spPr>
            <a:xfrm>
              <a:off x="16458" y="8543"/>
              <a:ext cx="409" cy="408"/>
            </a:xfrm>
            <a:prstGeom prst="rect">
              <a:avLst/>
            </a:prstGeom>
            <a:solidFill>
              <a:srgbClr val="00481C">
                <a:alpha val="55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15" name="矩形 14"/>
            <p:cNvSpPr/>
            <p:nvPr/>
          </p:nvSpPr>
          <p:spPr>
            <a:xfrm>
              <a:off x="17067" y="8543"/>
              <a:ext cx="409" cy="408"/>
            </a:xfrm>
            <a:prstGeom prst="rect">
              <a:avLst/>
            </a:prstGeom>
            <a:solidFill>
              <a:srgbClr val="00481C">
                <a:alpha val="36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16" name="矩形 15"/>
            <p:cNvSpPr/>
            <p:nvPr/>
          </p:nvSpPr>
          <p:spPr>
            <a:xfrm>
              <a:off x="17067" y="9345"/>
              <a:ext cx="409" cy="408"/>
            </a:xfrm>
            <a:prstGeom prst="rect">
              <a:avLst/>
            </a:prstGeom>
            <a:solidFill>
              <a:srgbClr val="00481C">
                <a:alpha val="89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17" name="矩形 16"/>
            <p:cNvSpPr/>
            <p:nvPr/>
          </p:nvSpPr>
          <p:spPr>
            <a:xfrm>
              <a:off x="16458" y="9345"/>
              <a:ext cx="409" cy="408"/>
            </a:xfrm>
            <a:prstGeom prst="rect">
              <a:avLst/>
            </a:prstGeom>
            <a:solidFill>
              <a:srgbClr val="00481C">
                <a:alpha val="64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18" name="矩形 17"/>
            <p:cNvSpPr/>
            <p:nvPr/>
          </p:nvSpPr>
          <p:spPr>
            <a:xfrm>
              <a:off x="15849" y="9345"/>
              <a:ext cx="409" cy="408"/>
            </a:xfrm>
            <a:prstGeom prst="rect">
              <a:avLst/>
            </a:prstGeom>
            <a:solidFill>
              <a:srgbClr val="00481C">
                <a:alpha val="75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19" name="矩形 18"/>
            <p:cNvSpPr/>
            <p:nvPr/>
          </p:nvSpPr>
          <p:spPr>
            <a:xfrm>
              <a:off x="15240" y="9345"/>
              <a:ext cx="409" cy="408"/>
            </a:xfrm>
            <a:prstGeom prst="rect">
              <a:avLst/>
            </a:prstGeom>
            <a:solidFill>
              <a:srgbClr val="00481C">
                <a:alpha val="25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grpSp>
      <p:sp>
        <p:nvSpPr>
          <p:cNvPr id="3" name="页脚占位符 2"/>
          <p:cNvSpPr>
            <a:spLocks noGrp="1"/>
          </p:cNvSpPr>
          <p:nvPr>
            <p:ph type="ftr" sz="quarter" idx="11"/>
          </p:nvPr>
        </p:nvSpPr>
        <p:spPr/>
        <p:txBody>
          <a:bodyPr/>
          <a:p>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581" name=""/>
        <p:cNvGrpSpPr/>
        <p:nvPr/>
      </p:nvGrpSpPr>
      <p:grpSpPr>
        <a:xfrm>
          <a:off x="0" y="0"/>
          <a:ext cx="0" cy="0"/>
          <a:chOff x="0" y="0"/>
          <a:chExt cx="0" cy="0"/>
        </a:xfrm>
      </p:grpSpPr>
      <p:pic>
        <p:nvPicPr>
          <p:cNvPr id="2" name="图片 13"/>
          <p:cNvPicPr>
            <a:picLocks noChangeAspect="1"/>
          </p:cNvPicPr>
          <p:nvPr/>
        </p:nvPicPr>
        <p:blipFill>
          <a:blip r:embed="rId1"/>
          <a:stretch>
            <a:fillRect/>
          </a:stretch>
        </p:blipFill>
        <p:spPr>
          <a:xfrm>
            <a:off x="1598295" y="918845"/>
            <a:ext cx="9168765" cy="5681980"/>
          </a:xfrm>
          <a:prstGeom prst="rect">
            <a:avLst/>
          </a:prstGeom>
          <a:noFill/>
          <a:ln w="9525">
            <a:noFill/>
          </a:ln>
        </p:spPr>
      </p:pic>
      <p:sp>
        <p:nvSpPr>
          <p:cNvPr id="582" name="文本框 60"/>
          <p:cNvSpPr txBox="1"/>
          <p:nvPr/>
        </p:nvSpPr>
        <p:spPr>
          <a:xfrm>
            <a:off x="10320239" y="216952"/>
            <a:ext cx="3123637" cy="369332"/>
          </a:xfrm>
          <a:prstGeom prst="rect">
            <a:avLst/>
          </a:prstGeom>
          <a:noFill/>
        </p:spPr>
        <p:txBody>
          <a:bodyPr wrap="square" rtlCol="0">
            <a:spAutoFit/>
          </a:bodyPr>
          <a:lstStyle/>
          <a:p>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未来展望</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585" name="组合 68"/>
          <p:cNvGrpSpPr/>
          <p:nvPr/>
        </p:nvGrpSpPr>
        <p:grpSpPr>
          <a:xfrm>
            <a:off x="0" y="15886"/>
            <a:ext cx="12219295" cy="1001194"/>
            <a:chOff x="-128871" y="-59933"/>
            <a:chExt cx="12219295" cy="1001194"/>
          </a:xfrm>
        </p:grpSpPr>
        <p:grpSp>
          <p:nvGrpSpPr>
            <p:cNvPr id="586" name="组合 67"/>
            <p:cNvGrpSpPr/>
            <p:nvPr/>
          </p:nvGrpSpPr>
          <p:grpSpPr>
            <a:xfrm>
              <a:off x="-128871" y="-59933"/>
              <a:ext cx="12219295" cy="1001194"/>
              <a:chOff x="-128871" y="-59933"/>
              <a:chExt cx="12219295" cy="1001194"/>
            </a:xfrm>
          </p:grpSpPr>
          <p:pic>
            <p:nvPicPr>
              <p:cNvPr id="587" name="图片 53"/>
              <p:cNvPicPr>
                <a:picLocks noChangeAspect="1"/>
              </p:cNvPicPr>
              <p:nvPr/>
            </p:nvPicPr>
            <p:blipFill>
              <a:blip r:embed="rId2" cstate="print"/>
              <a:stretch>
                <a:fillRect/>
              </a:stretch>
            </p:blipFill>
            <p:spPr>
              <a:xfrm>
                <a:off x="-128871" y="-59933"/>
                <a:ext cx="12219295" cy="1001194"/>
              </a:xfrm>
              <a:prstGeom prst="rect">
                <a:avLst/>
              </a:prstGeom>
              <a:effectLst>
                <a:outerShdw blurRad="50800" dist="38100" dir="8100000" algn="tr" rotWithShape="0">
                  <a:prstClr val="black">
                    <a:alpha val="40000"/>
                  </a:prstClr>
                </a:outerShdw>
              </a:effectLst>
            </p:spPr>
          </p:pic>
          <p:sp>
            <p:nvSpPr>
              <p:cNvPr id="588" name="矩形 55"/>
              <p:cNvSpPr/>
              <p:nvPr/>
            </p:nvSpPr>
            <p:spPr>
              <a:xfrm>
                <a:off x="4529489" y="-59933"/>
                <a:ext cx="2427605" cy="773430"/>
              </a:xfrm>
              <a:prstGeom prst="rect">
                <a:avLst/>
              </a:prstGeom>
              <a:solidFill>
                <a:srgbClr val="005825"/>
              </a:solidFill>
              <a:ln>
                <a:solidFill>
                  <a:srgbClr val="0058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89" name="文本框 57"/>
              <p:cNvSpPr txBox="1"/>
              <p:nvPr/>
            </p:nvSpPr>
            <p:spPr>
              <a:xfrm>
                <a:off x="2629484" y="48215"/>
                <a:ext cx="3123637"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选题背景</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0" name="文本框 58"/>
              <p:cNvSpPr txBox="1"/>
              <p:nvPr/>
            </p:nvSpPr>
            <p:spPr>
              <a:xfrm>
                <a:off x="4984149" y="50595"/>
                <a:ext cx="1771650" cy="52197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项目方案</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1" name="文本框 59"/>
              <p:cNvSpPr txBox="1"/>
              <p:nvPr/>
            </p:nvSpPr>
            <p:spPr>
              <a:xfrm>
                <a:off x="7339364" y="50595"/>
                <a:ext cx="174180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项目</a:t>
                </a:r>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进展</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592" name="直接连接符 61"/>
              <p:cNvCxnSpPr/>
              <p:nvPr/>
            </p:nvCxnSpPr>
            <p:spPr>
              <a:xfrm>
                <a:off x="4529735" y="113988"/>
                <a:ext cx="0" cy="4024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3" name="直接连接符 62"/>
              <p:cNvCxnSpPr/>
              <p:nvPr/>
            </p:nvCxnSpPr>
            <p:spPr>
              <a:xfrm flipH="1">
                <a:off x="6955732" y="194315"/>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94" name="文本框 65"/>
            <p:cNvSpPr txBox="1"/>
            <p:nvPr/>
          </p:nvSpPr>
          <p:spPr>
            <a:xfrm>
              <a:off x="9954929" y="50595"/>
              <a:ext cx="196659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总结展望</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cxnSp>
        <p:nvCxnSpPr>
          <p:cNvPr id="595" name="直接连接符 62"/>
          <p:cNvCxnSpPr/>
          <p:nvPr/>
        </p:nvCxnSpPr>
        <p:spPr>
          <a:xfrm flipH="1">
            <a:off x="9592354" y="270134"/>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596" name="组合 13"/>
          <p:cNvGrpSpPr/>
          <p:nvPr/>
        </p:nvGrpSpPr>
        <p:grpSpPr>
          <a:xfrm>
            <a:off x="204998" y="81727"/>
            <a:ext cx="1999471" cy="590901"/>
            <a:chOff x="4077923" y="171807"/>
            <a:chExt cx="4420435" cy="1371709"/>
          </a:xfrm>
        </p:grpSpPr>
        <p:grpSp>
          <p:nvGrpSpPr>
            <p:cNvPr id="597" name="组合 14"/>
            <p:cNvGrpSpPr/>
            <p:nvPr/>
          </p:nvGrpSpPr>
          <p:grpSpPr>
            <a:xfrm>
              <a:off x="4077923" y="171807"/>
              <a:ext cx="4260493" cy="1371709"/>
              <a:chOff x="6331308" y="1189619"/>
              <a:chExt cx="5481392" cy="1764794"/>
            </a:xfrm>
          </p:grpSpPr>
          <p:pic>
            <p:nvPicPr>
              <p:cNvPr id="598" name="图片 33"/>
              <p:cNvPicPr>
                <a:picLocks noChangeAspect="1"/>
              </p:cNvPicPr>
              <p:nvPr/>
            </p:nvPicPr>
            <p:blipFill>
              <a:blip r:embed="rId3"/>
              <a:srcRect/>
              <a:stretch>
                <a:fillRect/>
              </a:stretch>
            </p:blipFill>
            <p:spPr>
              <a:xfrm>
                <a:off x="6331308" y="1189619"/>
                <a:ext cx="1791803" cy="1764794"/>
              </a:xfrm>
              <a:prstGeom prst="rect">
                <a:avLst/>
              </a:prstGeom>
            </p:spPr>
          </p:pic>
          <p:pic>
            <p:nvPicPr>
              <p:cNvPr id="599" name="图片 35"/>
              <p:cNvPicPr>
                <a:picLocks noChangeAspect="1"/>
              </p:cNvPicPr>
              <p:nvPr/>
            </p:nvPicPr>
            <p:blipFill>
              <a:blip r:embed="rId4"/>
              <a:srcRect/>
              <a:stretch>
                <a:fillRect/>
              </a:stretch>
            </p:blipFill>
            <p:spPr>
              <a:xfrm>
                <a:off x="8302517" y="1422328"/>
                <a:ext cx="3510183" cy="965303"/>
              </a:xfrm>
              <a:prstGeom prst="rect">
                <a:avLst/>
              </a:prstGeom>
            </p:spPr>
          </p:pic>
        </p:grpSp>
        <p:sp>
          <p:nvSpPr>
            <p:cNvPr id="600" name="矩形 15"/>
            <p:cNvSpPr/>
            <p:nvPr/>
          </p:nvSpPr>
          <p:spPr>
            <a:xfrm>
              <a:off x="5470629" y="1076339"/>
              <a:ext cx="3027729" cy="410186"/>
            </a:xfrm>
            <a:prstGeom prst="rect">
              <a:avLst/>
            </a:prstGeom>
          </p:spPr>
          <p:txBody>
            <a:bodyPr wrap="square">
              <a:spAutoFit/>
            </a:bodyPr>
            <a:lstStyle/>
            <a:p>
              <a:pPr algn="dist">
                <a:defRPr/>
              </a:pPr>
              <a:r>
                <a:rPr lang="en-US" altLang="zh-CN" sz="900" b="1" dirty="0">
                  <a:solidFill>
                    <a:prstClr val="black"/>
                  </a:solidFill>
                  <a:latin typeface="Calibri" panose="020F0502020204030204"/>
                  <a:ea typeface="微软雅黑" panose="020B0503020204020204" pitchFamily="34" charset="-122"/>
                </a:rPr>
                <a:t>WUHAN UNIVERSITY</a:t>
              </a:r>
              <a:endParaRPr lang="en-US" altLang="zh-CN" sz="900" b="1" dirty="0">
                <a:solidFill>
                  <a:prstClr val="black"/>
                </a:solidFill>
                <a:latin typeface="Calibri" panose="020F0502020204030204"/>
                <a:ea typeface="微软雅黑" panose="020B0503020204020204" pitchFamily="34" charset="-122"/>
              </a:endParaRPr>
            </a:p>
          </p:txBody>
        </p:sp>
      </p:grpSp>
      <p:sp>
        <p:nvSpPr>
          <p:cNvPr id="107" name="文本框 106"/>
          <p:cNvSpPr txBox="1"/>
          <p:nvPr/>
        </p:nvSpPr>
        <p:spPr>
          <a:xfrm>
            <a:off x="205105" y="843280"/>
            <a:ext cx="3215640" cy="521970"/>
          </a:xfrm>
          <a:prstGeom prst="rect">
            <a:avLst/>
          </a:prstGeom>
          <a:noFill/>
        </p:spPr>
        <p:txBody>
          <a:bodyPr wrap="square" rtlCol="0" anchor="t">
            <a:spAutoFit/>
          </a:bodyPr>
          <a:p>
            <a:r>
              <a:rPr lang="en-US" altLang="zh-CN" sz="2800" b="1" dirty="0">
                <a:solidFill>
                  <a:srgbClr val="005825"/>
                </a:solidFill>
                <a:latin typeface="微软雅黑" panose="020B0503020204020204" pitchFamily="34" charset="-122"/>
                <a:ea typeface="微软雅黑" panose="020B0503020204020204" pitchFamily="34" charset="-122"/>
                <a:cs typeface="微软雅黑" panose="020B0503020204020204" pitchFamily="34" charset="-122"/>
                <a:sym typeface="+mn-ea"/>
              </a:rPr>
              <a:t>2.2</a:t>
            </a:r>
            <a:r>
              <a:rPr lang="zh-CN" altLang="en-US" sz="2800" b="1" dirty="0">
                <a:solidFill>
                  <a:srgbClr val="005825"/>
                </a:solidFill>
                <a:latin typeface="微软雅黑" panose="020B0503020204020204" pitchFamily="34" charset="-122"/>
                <a:ea typeface="微软雅黑" panose="020B0503020204020204" pitchFamily="34" charset="-122"/>
                <a:cs typeface="微软雅黑" panose="020B0503020204020204" pitchFamily="34" charset="-122"/>
                <a:sym typeface="+mn-ea"/>
              </a:rPr>
              <a:t>总体</a:t>
            </a:r>
            <a:r>
              <a:rPr lang="zh-CN" altLang="en-US" sz="2800" b="1" dirty="0">
                <a:solidFill>
                  <a:srgbClr val="005825"/>
                </a:solidFill>
                <a:latin typeface="微软雅黑" panose="020B0503020204020204" pitchFamily="34" charset="-122"/>
                <a:ea typeface="微软雅黑" panose="020B0503020204020204" pitchFamily="34" charset="-122"/>
                <a:cs typeface="微软雅黑" panose="020B0503020204020204" pitchFamily="34" charset="-122"/>
                <a:sym typeface="+mn-ea"/>
              </a:rPr>
              <a:t>框架</a:t>
            </a:r>
            <a:endParaRPr lang="zh-CN" altLang="en-US" sz="2800" b="1" dirty="0">
              <a:solidFill>
                <a:srgbClr val="005825"/>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 name="页脚占位符 2"/>
          <p:cNvSpPr>
            <a:spLocks noGrp="1"/>
          </p:cNvSpPr>
          <p:nvPr>
            <p:ph type="ftr" sz="quarter" idx="11"/>
          </p:nvPr>
        </p:nvSpPr>
        <p:spPr/>
        <p:txBody>
          <a:bodyPr/>
          <a:p>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581" name=""/>
        <p:cNvGrpSpPr/>
        <p:nvPr/>
      </p:nvGrpSpPr>
      <p:grpSpPr>
        <a:xfrm>
          <a:off x="0" y="0"/>
          <a:ext cx="0" cy="0"/>
          <a:chOff x="0" y="0"/>
          <a:chExt cx="0" cy="0"/>
        </a:xfrm>
      </p:grpSpPr>
      <p:sp>
        <p:nvSpPr>
          <p:cNvPr id="582" name="文本框 60"/>
          <p:cNvSpPr txBox="1"/>
          <p:nvPr/>
        </p:nvSpPr>
        <p:spPr>
          <a:xfrm>
            <a:off x="10320239" y="216952"/>
            <a:ext cx="3123637" cy="369332"/>
          </a:xfrm>
          <a:prstGeom prst="rect">
            <a:avLst/>
          </a:prstGeom>
          <a:noFill/>
        </p:spPr>
        <p:txBody>
          <a:bodyPr wrap="square" rtlCol="0">
            <a:spAutoFit/>
          </a:bodyPr>
          <a:lstStyle/>
          <a:p>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未来展望</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585" name="组合 68"/>
          <p:cNvGrpSpPr/>
          <p:nvPr/>
        </p:nvGrpSpPr>
        <p:grpSpPr>
          <a:xfrm>
            <a:off x="0" y="15886"/>
            <a:ext cx="12219295" cy="1001194"/>
            <a:chOff x="-128871" y="-59933"/>
            <a:chExt cx="12219295" cy="1001194"/>
          </a:xfrm>
        </p:grpSpPr>
        <p:grpSp>
          <p:nvGrpSpPr>
            <p:cNvPr id="586" name="组合 67"/>
            <p:cNvGrpSpPr/>
            <p:nvPr/>
          </p:nvGrpSpPr>
          <p:grpSpPr>
            <a:xfrm>
              <a:off x="-128871" y="-59933"/>
              <a:ext cx="12219295" cy="1001194"/>
              <a:chOff x="-128871" y="-59933"/>
              <a:chExt cx="12219295" cy="1001194"/>
            </a:xfrm>
          </p:grpSpPr>
          <p:pic>
            <p:nvPicPr>
              <p:cNvPr id="587" name="图片 53"/>
              <p:cNvPicPr>
                <a:picLocks noChangeAspect="1"/>
              </p:cNvPicPr>
              <p:nvPr/>
            </p:nvPicPr>
            <p:blipFill>
              <a:blip r:embed="rId1" cstate="print"/>
              <a:stretch>
                <a:fillRect/>
              </a:stretch>
            </p:blipFill>
            <p:spPr>
              <a:xfrm>
                <a:off x="-128871" y="-59933"/>
                <a:ext cx="12219295" cy="1001194"/>
              </a:xfrm>
              <a:prstGeom prst="rect">
                <a:avLst/>
              </a:prstGeom>
              <a:effectLst>
                <a:outerShdw blurRad="50800" dist="38100" dir="8100000" algn="tr" rotWithShape="0">
                  <a:prstClr val="black">
                    <a:alpha val="40000"/>
                  </a:prstClr>
                </a:outerShdw>
              </a:effectLst>
            </p:spPr>
          </p:pic>
          <p:sp>
            <p:nvSpPr>
              <p:cNvPr id="588" name="矩形 55"/>
              <p:cNvSpPr/>
              <p:nvPr/>
            </p:nvSpPr>
            <p:spPr>
              <a:xfrm>
                <a:off x="4529489" y="-59933"/>
                <a:ext cx="2427605" cy="773430"/>
              </a:xfrm>
              <a:prstGeom prst="rect">
                <a:avLst/>
              </a:prstGeom>
              <a:solidFill>
                <a:srgbClr val="005825"/>
              </a:solidFill>
              <a:ln>
                <a:solidFill>
                  <a:srgbClr val="0058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89" name="文本框 57"/>
              <p:cNvSpPr txBox="1"/>
              <p:nvPr/>
            </p:nvSpPr>
            <p:spPr>
              <a:xfrm>
                <a:off x="2629484" y="48215"/>
                <a:ext cx="3123637"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选题背景</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0" name="文本框 58"/>
              <p:cNvSpPr txBox="1"/>
              <p:nvPr/>
            </p:nvSpPr>
            <p:spPr>
              <a:xfrm>
                <a:off x="4984149" y="50595"/>
                <a:ext cx="1771650" cy="52197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项目方案</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1" name="文本框 59"/>
              <p:cNvSpPr txBox="1"/>
              <p:nvPr/>
            </p:nvSpPr>
            <p:spPr>
              <a:xfrm>
                <a:off x="7339364" y="50595"/>
                <a:ext cx="174180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项目</a:t>
                </a:r>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进展</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592" name="直接连接符 61"/>
              <p:cNvCxnSpPr/>
              <p:nvPr/>
            </p:nvCxnSpPr>
            <p:spPr>
              <a:xfrm>
                <a:off x="4529735" y="113988"/>
                <a:ext cx="0" cy="4024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3" name="直接连接符 62"/>
              <p:cNvCxnSpPr/>
              <p:nvPr/>
            </p:nvCxnSpPr>
            <p:spPr>
              <a:xfrm flipH="1">
                <a:off x="6955732" y="194315"/>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94" name="文本框 65"/>
            <p:cNvSpPr txBox="1"/>
            <p:nvPr/>
          </p:nvSpPr>
          <p:spPr>
            <a:xfrm>
              <a:off x="9954929" y="50595"/>
              <a:ext cx="196659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总结展望</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cxnSp>
        <p:nvCxnSpPr>
          <p:cNvPr id="595" name="直接连接符 62"/>
          <p:cNvCxnSpPr/>
          <p:nvPr/>
        </p:nvCxnSpPr>
        <p:spPr>
          <a:xfrm flipH="1">
            <a:off x="9592354" y="270134"/>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596" name="组合 13"/>
          <p:cNvGrpSpPr/>
          <p:nvPr/>
        </p:nvGrpSpPr>
        <p:grpSpPr>
          <a:xfrm>
            <a:off x="204998" y="81727"/>
            <a:ext cx="1999471" cy="590901"/>
            <a:chOff x="4077923" y="171807"/>
            <a:chExt cx="4420435" cy="1371709"/>
          </a:xfrm>
        </p:grpSpPr>
        <p:grpSp>
          <p:nvGrpSpPr>
            <p:cNvPr id="597" name="组合 14"/>
            <p:cNvGrpSpPr/>
            <p:nvPr/>
          </p:nvGrpSpPr>
          <p:grpSpPr>
            <a:xfrm>
              <a:off x="4077923" y="171807"/>
              <a:ext cx="4260493" cy="1371709"/>
              <a:chOff x="6331308" y="1189619"/>
              <a:chExt cx="5481392" cy="1764794"/>
            </a:xfrm>
          </p:grpSpPr>
          <p:pic>
            <p:nvPicPr>
              <p:cNvPr id="598" name="图片 33"/>
              <p:cNvPicPr>
                <a:picLocks noChangeAspect="1"/>
              </p:cNvPicPr>
              <p:nvPr/>
            </p:nvPicPr>
            <p:blipFill>
              <a:blip r:embed="rId2"/>
              <a:srcRect/>
              <a:stretch>
                <a:fillRect/>
              </a:stretch>
            </p:blipFill>
            <p:spPr>
              <a:xfrm>
                <a:off x="6331308" y="1189619"/>
                <a:ext cx="1791803" cy="1764794"/>
              </a:xfrm>
              <a:prstGeom prst="rect">
                <a:avLst/>
              </a:prstGeom>
            </p:spPr>
          </p:pic>
          <p:pic>
            <p:nvPicPr>
              <p:cNvPr id="599" name="图片 35"/>
              <p:cNvPicPr>
                <a:picLocks noChangeAspect="1"/>
              </p:cNvPicPr>
              <p:nvPr/>
            </p:nvPicPr>
            <p:blipFill>
              <a:blip r:embed="rId3"/>
              <a:srcRect/>
              <a:stretch>
                <a:fillRect/>
              </a:stretch>
            </p:blipFill>
            <p:spPr>
              <a:xfrm>
                <a:off x="8302517" y="1422328"/>
                <a:ext cx="3510183" cy="965303"/>
              </a:xfrm>
              <a:prstGeom prst="rect">
                <a:avLst/>
              </a:prstGeom>
            </p:spPr>
          </p:pic>
        </p:grpSp>
        <p:sp>
          <p:nvSpPr>
            <p:cNvPr id="600" name="矩形 15"/>
            <p:cNvSpPr/>
            <p:nvPr/>
          </p:nvSpPr>
          <p:spPr>
            <a:xfrm>
              <a:off x="5470629" y="1076339"/>
              <a:ext cx="3027729" cy="410186"/>
            </a:xfrm>
            <a:prstGeom prst="rect">
              <a:avLst/>
            </a:prstGeom>
          </p:spPr>
          <p:txBody>
            <a:bodyPr wrap="square">
              <a:spAutoFit/>
            </a:bodyPr>
            <a:lstStyle/>
            <a:p>
              <a:pPr algn="dist">
                <a:defRPr/>
              </a:pPr>
              <a:r>
                <a:rPr lang="en-US" altLang="zh-CN" sz="900" b="1" dirty="0">
                  <a:solidFill>
                    <a:prstClr val="black"/>
                  </a:solidFill>
                  <a:latin typeface="Calibri" panose="020F0502020204030204"/>
                  <a:ea typeface="微软雅黑" panose="020B0503020204020204" pitchFamily="34" charset="-122"/>
                </a:rPr>
                <a:t>WUHAN UNIVERSITY</a:t>
              </a:r>
              <a:endParaRPr lang="en-US" altLang="zh-CN" sz="900" b="1" dirty="0">
                <a:solidFill>
                  <a:prstClr val="black"/>
                </a:solidFill>
                <a:latin typeface="Calibri" panose="020F0502020204030204"/>
                <a:ea typeface="微软雅黑" panose="020B0503020204020204" pitchFamily="34" charset="-122"/>
              </a:endParaRPr>
            </a:p>
          </p:txBody>
        </p:sp>
      </p:grpSp>
      <p:sp>
        <p:nvSpPr>
          <p:cNvPr id="107" name="文本框 106"/>
          <p:cNvSpPr txBox="1"/>
          <p:nvPr/>
        </p:nvSpPr>
        <p:spPr>
          <a:xfrm>
            <a:off x="205105" y="843280"/>
            <a:ext cx="5324475" cy="521970"/>
          </a:xfrm>
          <a:prstGeom prst="rect">
            <a:avLst/>
          </a:prstGeom>
          <a:noFill/>
        </p:spPr>
        <p:txBody>
          <a:bodyPr wrap="square" rtlCol="0" anchor="t">
            <a:spAutoFit/>
          </a:bodyPr>
          <a:p>
            <a:r>
              <a:rPr lang="en-US" altLang="zh-CN" sz="2800" b="1" dirty="0">
                <a:solidFill>
                  <a:srgbClr val="005825"/>
                </a:solidFill>
                <a:latin typeface="微软雅黑" panose="020B0503020204020204" pitchFamily="34" charset="-122"/>
                <a:ea typeface="微软雅黑" panose="020B0503020204020204" pitchFamily="34" charset="-122"/>
                <a:cs typeface="微软雅黑" panose="020B0503020204020204" pitchFamily="34" charset="-122"/>
                <a:sym typeface="+mn-ea"/>
              </a:rPr>
              <a:t>2.2.1 </a:t>
            </a:r>
            <a:r>
              <a:rPr lang="zh-CN" altLang="en-US" sz="2800" b="1" dirty="0">
                <a:solidFill>
                  <a:srgbClr val="005825"/>
                </a:solidFill>
                <a:latin typeface="微软雅黑" panose="020B0503020204020204" pitchFamily="34" charset="-122"/>
                <a:ea typeface="微软雅黑" panose="020B0503020204020204" pitchFamily="34" charset="-122"/>
                <a:cs typeface="微软雅黑" panose="020B0503020204020204" pitchFamily="34" charset="-122"/>
                <a:sym typeface="+mn-ea"/>
              </a:rPr>
              <a:t>知识驱动</a:t>
            </a:r>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800" b="1">
                <a:solidFill>
                  <a:srgbClr val="000000"/>
                </a:solidFill>
                <a:latin typeface="微软雅黑" panose="020B0503020204020204" pitchFamily="34" charset="-122"/>
                <a:ea typeface="微软雅黑" panose="020B0503020204020204" pitchFamily="34" charset="-122"/>
                <a:sym typeface="+mn-ea"/>
              </a:rPr>
              <a:t>构建知识图谱</a:t>
            </a:r>
            <a:endParaRPr lang="zh-CN" altLang="en-US" sz="28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2" name="图片 -2147482615"/>
          <p:cNvPicPr>
            <a:picLocks noChangeAspect="1"/>
          </p:cNvPicPr>
          <p:nvPr/>
        </p:nvPicPr>
        <p:blipFill>
          <a:blip r:embed="rId4"/>
          <a:stretch>
            <a:fillRect/>
          </a:stretch>
        </p:blipFill>
        <p:spPr>
          <a:xfrm>
            <a:off x="4780280" y="1307465"/>
            <a:ext cx="7270115" cy="4848225"/>
          </a:xfrm>
          <a:prstGeom prst="rect">
            <a:avLst/>
          </a:prstGeom>
          <a:noFill/>
          <a:ln w="9525">
            <a:noFill/>
          </a:ln>
        </p:spPr>
      </p:pic>
      <p:grpSp>
        <p:nvGrpSpPr>
          <p:cNvPr id="4" name="组合 3"/>
          <p:cNvGrpSpPr/>
          <p:nvPr/>
        </p:nvGrpSpPr>
        <p:grpSpPr>
          <a:xfrm>
            <a:off x="509270" y="1391920"/>
            <a:ext cx="4585335" cy="460375"/>
            <a:chOff x="846" y="2840"/>
            <a:chExt cx="7221" cy="725"/>
          </a:xfrm>
        </p:grpSpPr>
        <p:pic>
          <p:nvPicPr>
            <p:cNvPr id="11" name="图片 10" descr="1"/>
            <p:cNvPicPr>
              <a:picLocks noChangeAspect="1"/>
            </p:cNvPicPr>
            <p:nvPr>
              <p:custDataLst>
                <p:tags r:id="rId5"/>
              </p:custDataLst>
            </p:nvPr>
          </p:nvPicPr>
          <p:blipFill>
            <a:blip r:embed="rId6">
              <a:extLst>
                <a:ext uri="{96DAC541-7B7A-43D3-8B79-37D633B846F1}">
                  <asvg:svgBlip xmlns:asvg="http://schemas.microsoft.com/office/drawing/2016/SVG/main" r:embed="rId7"/>
                </a:ext>
              </a:extLst>
            </a:blip>
            <a:stretch>
              <a:fillRect/>
            </a:stretch>
          </p:blipFill>
          <p:spPr>
            <a:xfrm>
              <a:off x="846" y="2849"/>
              <a:ext cx="703" cy="703"/>
            </a:xfrm>
            <a:prstGeom prst="rect">
              <a:avLst/>
            </a:prstGeom>
          </p:spPr>
        </p:pic>
        <p:sp>
          <p:nvSpPr>
            <p:cNvPr id="9" name="文本框 8"/>
            <p:cNvSpPr txBox="1"/>
            <p:nvPr>
              <p:custDataLst>
                <p:tags r:id="rId8"/>
              </p:custDataLst>
            </p:nvPr>
          </p:nvSpPr>
          <p:spPr>
            <a:xfrm>
              <a:off x="1667" y="2840"/>
              <a:ext cx="6400" cy="725"/>
            </a:xfrm>
            <a:prstGeom prst="rect">
              <a:avLst/>
            </a:prstGeom>
            <a:noFill/>
          </p:spPr>
          <p:txBody>
            <a:bodyPr wrap="square" rtlCol="0">
              <a:spAutoFit/>
            </a:bodyPr>
            <a:p>
              <a:r>
                <a:rPr lang="zh-CN" altLang="en-US" sz="2400" b="1">
                  <a:latin typeface="微软雅黑" panose="020B0503020204020204" pitchFamily="34" charset="-122"/>
                  <a:ea typeface="微软雅黑" panose="020B0503020204020204" pitchFamily="34" charset="-122"/>
                </a:rPr>
                <a:t>研究目的</a:t>
              </a:r>
              <a:endParaRPr lang="zh-CN" altLang="en-US" sz="2400" b="1">
                <a:latin typeface="微软雅黑" panose="020B0503020204020204" pitchFamily="34" charset="-122"/>
                <a:ea typeface="微软雅黑" panose="020B0503020204020204" pitchFamily="34" charset="-122"/>
              </a:endParaRPr>
            </a:p>
          </p:txBody>
        </p:sp>
      </p:grpSp>
      <p:sp>
        <p:nvSpPr>
          <p:cNvPr id="17" name="AutoShape 9"/>
          <p:cNvSpPr/>
          <p:nvPr>
            <p:custDataLst>
              <p:tags r:id="rId9"/>
            </p:custDataLst>
          </p:nvPr>
        </p:nvSpPr>
        <p:spPr>
          <a:xfrm>
            <a:off x="983615" y="1837690"/>
            <a:ext cx="4003040" cy="901700"/>
          </a:xfrm>
          <a:prstGeom prst="rect">
            <a:avLst/>
          </a:prstGeom>
          <a:noFill/>
          <a:ln w="12700" cap="flat" cmpd="sng">
            <a:noFill/>
            <a:prstDash val="solid"/>
            <a:round/>
          </a:ln>
        </p:spPr>
        <p:txBody>
          <a:bodyPr vert="horz" wrap="square" lIns="0" tIns="0" rIns="0" bIns="0" rtlCol="0" anchor="ctr" anchorCtr="0"/>
          <a:p>
            <a:pPr indent="0" algn="l">
              <a:lnSpc>
                <a:spcPct val="150000"/>
              </a:lnSpc>
              <a:defRPr/>
            </a:pPr>
            <a:r>
              <a:rPr lang="en-US" sz="14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构建专业知识底座</a:t>
            </a:r>
            <a:endParaRPr lang="en-US" sz="1100">
              <a:solidFill>
                <a:schemeClr val="tx1"/>
              </a:solidFill>
            </a:endParaRPr>
          </a:p>
          <a:p>
            <a:pPr indent="0" algn="l">
              <a:lnSpc>
                <a:spcPct val="150000"/>
              </a:lnSpc>
            </a:pPr>
            <a:r>
              <a:rPr lang="en-US" sz="13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构建结构化、可查询、可推理的地图学知识图谱，支</a:t>
            </a:r>
            <a:endParaRPr lang="en-US" sz="13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50000"/>
              </a:lnSpc>
            </a:pPr>
            <a:r>
              <a:rPr lang="en-US" sz="13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撑智能制图系统。</a:t>
            </a:r>
            <a:endParaRPr lang="en-US" sz="13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9" name="AutoShape 10"/>
          <p:cNvSpPr/>
          <p:nvPr>
            <p:custDataLst>
              <p:tags r:id="rId10"/>
            </p:custDataLst>
          </p:nvPr>
        </p:nvSpPr>
        <p:spPr>
          <a:xfrm>
            <a:off x="983615" y="2761615"/>
            <a:ext cx="4003040" cy="1111250"/>
          </a:xfrm>
          <a:prstGeom prst="rect">
            <a:avLst/>
          </a:prstGeom>
          <a:noFill/>
          <a:ln w="12700" cap="flat" cmpd="sng">
            <a:noFill/>
            <a:prstDash val="solid"/>
            <a:round/>
          </a:ln>
        </p:spPr>
        <p:txBody>
          <a:bodyPr vert="horz" wrap="square" lIns="0" tIns="0" rIns="0" bIns="0" rtlCol="0" anchor="ctr" anchorCtr="0">
            <a:noAutofit/>
          </a:bodyPr>
          <a:p>
            <a:pPr lvl="0" algn="l">
              <a:lnSpc>
                <a:spcPct val="150000"/>
              </a:lnSpc>
              <a:buClrTx/>
              <a:buSzTx/>
              <a:buFontTx/>
              <a:defRPr/>
            </a:pPr>
            <a:r>
              <a:rPr lang="en-US" sz="1400" b="1">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抑制大模型幻觉</a:t>
            </a:r>
            <a:endParaRPr lang="en-US" sz="1400" b="1">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l">
              <a:lnSpc>
                <a:spcPct val="150000"/>
              </a:lnSpc>
              <a:buClrTx/>
              <a:buSzTx/>
              <a:buFontTx/>
              <a:defRPr/>
            </a:pPr>
            <a:r>
              <a:rPr lang="en-US" sz="1300">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提供精确的制图规则约束，确保AI生成结果的规范性和专业性。</a:t>
            </a:r>
            <a:endParaRPr lang="en-US" sz="1300">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endParaRPr>
          </a:p>
        </p:txBody>
      </p:sp>
      <p:grpSp>
        <p:nvGrpSpPr>
          <p:cNvPr id="3" name="组合 2"/>
          <p:cNvGrpSpPr/>
          <p:nvPr/>
        </p:nvGrpSpPr>
        <p:grpSpPr>
          <a:xfrm>
            <a:off x="509270" y="3942715"/>
            <a:ext cx="4585335" cy="521335"/>
            <a:chOff x="802" y="6465"/>
            <a:chExt cx="7221" cy="821"/>
          </a:xfrm>
        </p:grpSpPr>
        <p:pic>
          <p:nvPicPr>
            <p:cNvPr id="16" name="图片 15" descr="2"/>
            <p:cNvPicPr>
              <a:picLocks noChangeAspect="1"/>
            </p:cNvPicPr>
            <p:nvPr>
              <p:custDataLst>
                <p:tags r:id="rId11"/>
              </p:custDataLst>
            </p:nvPr>
          </p:nvPicPr>
          <p:blipFill>
            <a:blip r:embed="rId12">
              <a:extLst>
                <a:ext uri="{96DAC541-7B7A-43D3-8B79-37D633B846F1}">
                  <asvg:svgBlip xmlns:asvg="http://schemas.microsoft.com/office/drawing/2016/SVG/main" r:embed="rId13"/>
                </a:ext>
              </a:extLst>
            </a:blip>
            <a:stretch>
              <a:fillRect/>
            </a:stretch>
          </p:blipFill>
          <p:spPr>
            <a:xfrm>
              <a:off x="802" y="6465"/>
              <a:ext cx="821" cy="821"/>
            </a:xfrm>
            <a:prstGeom prst="rect">
              <a:avLst/>
            </a:prstGeom>
          </p:spPr>
        </p:pic>
        <p:sp>
          <p:nvSpPr>
            <p:cNvPr id="21" name="文本框 20"/>
            <p:cNvSpPr txBox="1"/>
            <p:nvPr>
              <p:custDataLst>
                <p:tags r:id="rId14"/>
              </p:custDataLst>
            </p:nvPr>
          </p:nvSpPr>
          <p:spPr>
            <a:xfrm>
              <a:off x="1623" y="6490"/>
              <a:ext cx="6400" cy="725"/>
            </a:xfrm>
            <a:prstGeom prst="rect">
              <a:avLst/>
            </a:prstGeom>
            <a:noFill/>
          </p:spPr>
          <p:txBody>
            <a:bodyPr wrap="square" rtlCol="0">
              <a:spAutoFit/>
            </a:bodyPr>
            <a:p>
              <a:r>
                <a:rPr lang="zh-CN" altLang="en-US" sz="2400" b="1">
                  <a:latin typeface="微软雅黑" panose="020B0503020204020204" pitchFamily="34" charset="-122"/>
                  <a:ea typeface="微软雅黑" panose="020B0503020204020204" pitchFamily="34" charset="-122"/>
                </a:rPr>
                <a:t>研究</a:t>
              </a:r>
              <a:r>
                <a:rPr lang="zh-CN" altLang="en-US" sz="2400" b="1">
                  <a:latin typeface="微软雅黑" panose="020B0503020204020204" pitchFamily="34" charset="-122"/>
                  <a:ea typeface="微软雅黑" panose="020B0503020204020204" pitchFamily="34" charset="-122"/>
                </a:rPr>
                <a:t>方法</a:t>
              </a:r>
              <a:endParaRPr lang="zh-CN" altLang="en-US" sz="2400" b="1">
                <a:latin typeface="微软雅黑" panose="020B0503020204020204" pitchFamily="34" charset="-122"/>
                <a:ea typeface="微软雅黑" panose="020B0503020204020204" pitchFamily="34" charset="-122"/>
              </a:endParaRPr>
            </a:p>
          </p:txBody>
        </p:sp>
      </p:grpSp>
      <p:sp>
        <p:nvSpPr>
          <p:cNvPr id="24" name="文本框 23"/>
          <p:cNvSpPr txBox="1"/>
          <p:nvPr/>
        </p:nvSpPr>
        <p:spPr>
          <a:xfrm>
            <a:off x="983615" y="4441825"/>
            <a:ext cx="4064000" cy="691515"/>
          </a:xfrm>
          <a:prstGeom prst="rect">
            <a:avLst/>
          </a:prstGeom>
          <a:noFill/>
        </p:spPr>
        <p:txBody>
          <a:bodyPr wrap="square" rtlCol="0">
            <a:spAutoFit/>
          </a:bodyPr>
          <a:p>
            <a:pPr marL="285750" indent="-285750">
              <a:lnSpc>
                <a:spcPct val="150000"/>
              </a:lnSpc>
              <a:buFont typeface="Wingdings" panose="05000000000000000000" charset="0"/>
              <a:buChar char="Ø"/>
            </a:pPr>
            <a:r>
              <a:rPr lang="en-US" sz="1300">
                <a:latin typeface="微软雅黑" panose="020B0503020204020204" pitchFamily="34" charset="-122"/>
                <a:ea typeface="微软雅黑" panose="020B0503020204020204" pitchFamily="34" charset="-122"/>
                <a:cs typeface="微软雅黑" panose="020B0503020204020204" pitchFamily="34" charset="-122"/>
              </a:rPr>
              <a:t>知识体系梳理                   本体程序设计</a:t>
            </a:r>
            <a:endParaRPr lang="en-US" sz="130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buFont typeface="Wingdings" panose="05000000000000000000" charset="0"/>
              <a:buChar char="Ø"/>
            </a:pPr>
            <a:r>
              <a:rPr lang="en-US" sz="1300">
                <a:latin typeface="微软雅黑" panose="020B0503020204020204" pitchFamily="34" charset="-122"/>
                <a:ea typeface="微软雅黑" panose="020B0503020204020204" pitchFamily="34" charset="-122"/>
                <a:cs typeface="微软雅黑" panose="020B0503020204020204" pitchFamily="34" charset="-122"/>
              </a:rPr>
              <a:t>多源知识抽取                   知识存储与应用</a:t>
            </a:r>
            <a:endParaRPr lang="en-US" sz="130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5" name="图片 24" descr="3"/>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509905" y="5269230"/>
            <a:ext cx="539115" cy="539115"/>
          </a:xfrm>
          <a:prstGeom prst="rect">
            <a:avLst/>
          </a:prstGeom>
        </p:spPr>
      </p:pic>
      <p:sp>
        <p:nvSpPr>
          <p:cNvPr id="26" name="文本框 25"/>
          <p:cNvSpPr txBox="1"/>
          <p:nvPr/>
        </p:nvSpPr>
        <p:spPr>
          <a:xfrm>
            <a:off x="1030605" y="5350510"/>
            <a:ext cx="4064000" cy="460375"/>
          </a:xfrm>
          <a:prstGeom prst="rect">
            <a:avLst/>
          </a:prstGeom>
          <a:noFill/>
        </p:spPr>
        <p:txBody>
          <a:bodyPr wrap="square" rtlCol="0">
            <a:spAutoFit/>
          </a:bodyPr>
          <a:p>
            <a:pPr algn="l">
              <a:buClrTx/>
              <a:buSzTx/>
              <a:buFontTx/>
            </a:pPr>
            <a:r>
              <a:rPr lang="zh-CN" altLang="en-US" sz="2400" b="1">
                <a:latin typeface="微软雅黑" panose="020B0503020204020204" pitchFamily="34" charset="-122"/>
                <a:ea typeface="微软雅黑" panose="020B0503020204020204" pitchFamily="34" charset="-122"/>
              </a:rPr>
              <a:t>预期成果</a:t>
            </a:r>
            <a:endParaRPr lang="zh-CN" altLang="en-US" sz="2400" b="1">
              <a:latin typeface="微软雅黑" panose="020B0503020204020204" pitchFamily="34" charset="-122"/>
              <a:ea typeface="微软雅黑" panose="020B0503020204020204" pitchFamily="34" charset="-122"/>
            </a:endParaRPr>
          </a:p>
        </p:txBody>
      </p:sp>
      <p:sp>
        <p:nvSpPr>
          <p:cNvPr id="28" name="AutoShape 28"/>
          <p:cNvSpPr/>
          <p:nvPr/>
        </p:nvSpPr>
        <p:spPr>
          <a:xfrm>
            <a:off x="1049020" y="5944235"/>
            <a:ext cx="4355465" cy="709930"/>
          </a:xfrm>
          <a:prstGeom prst="rect">
            <a:avLst/>
          </a:prstGeom>
          <a:noFill/>
          <a:ln w="12700" cap="flat" cmpd="sng">
            <a:noFill/>
            <a:prstDash val="solid"/>
            <a:round/>
          </a:ln>
        </p:spPr>
        <p:txBody>
          <a:bodyPr vert="horz" wrap="square" lIns="0" tIns="0" rIns="0" bIns="0" rtlCol="0" anchor="ctr" anchorCtr="0"/>
          <a:p>
            <a:pPr indent="0" algn="l">
              <a:lnSpc>
                <a:spcPct val="150000"/>
              </a:lnSpc>
              <a:defRPr/>
            </a:pPr>
            <a:r>
              <a:rPr lang="zh-CN" altLang="en-US" sz="1300" b="0" i="0" u="none" strike="noStrike">
                <a:solidFill>
                  <a:schemeClr val="tx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获取</a:t>
            </a:r>
            <a:r>
              <a:rPr lang="en-US" sz="1300" b="1" i="0" u="none" strike="noStrike">
                <a:solidFill>
                  <a:schemeClr val="tx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一套完整的地图学知识图谱本体模型</a:t>
            </a:r>
            <a:r>
              <a:rPr lang="en-US" sz="1300" b="0" i="0" u="none" strike="noStrike">
                <a:solidFill>
                  <a:schemeClr val="tx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a:t>
            </a:r>
            <a:r>
              <a:rPr lang="en-US" sz="1300">
                <a:solidFill>
                  <a:schemeClr val="tx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包含核心地图学知识的结构化数据库。支持知识查询与推理的编程接口。</a:t>
            </a:r>
            <a:endParaRPr lang="en-US" sz="1300" b="0" i="0" u="none" strike="noStrike">
              <a:solidFill>
                <a:schemeClr val="tx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a:p>
            <a:pPr indent="0" algn="l">
              <a:lnSpc>
                <a:spcPct val="125000"/>
              </a:lnSpc>
              <a:defRPr/>
            </a:pPr>
            <a:endParaRPr lang="en-US" sz="1300" b="0" i="0" u="none" strike="noStrike">
              <a:solidFill>
                <a:schemeClr val="tx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p:txBody>
      </p:sp>
      <p:sp>
        <p:nvSpPr>
          <p:cNvPr id="5" name="页脚占位符 4"/>
          <p:cNvSpPr>
            <a:spLocks noGrp="1"/>
          </p:cNvSpPr>
          <p:nvPr>
            <p:ph type="ftr" sz="quarter" idx="11"/>
          </p:nvPr>
        </p:nvSpPr>
        <p:spPr/>
        <p:txBody>
          <a:bodyPr/>
          <a:p>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581" name=""/>
        <p:cNvGrpSpPr/>
        <p:nvPr/>
      </p:nvGrpSpPr>
      <p:grpSpPr>
        <a:xfrm>
          <a:off x="0" y="0"/>
          <a:ext cx="0" cy="0"/>
          <a:chOff x="0" y="0"/>
          <a:chExt cx="0" cy="0"/>
        </a:xfrm>
      </p:grpSpPr>
      <p:sp>
        <p:nvSpPr>
          <p:cNvPr id="582" name="文本框 60"/>
          <p:cNvSpPr txBox="1"/>
          <p:nvPr/>
        </p:nvSpPr>
        <p:spPr>
          <a:xfrm>
            <a:off x="10320239" y="216952"/>
            <a:ext cx="3123637" cy="369332"/>
          </a:xfrm>
          <a:prstGeom prst="rect">
            <a:avLst/>
          </a:prstGeom>
          <a:noFill/>
        </p:spPr>
        <p:txBody>
          <a:bodyPr wrap="square" rtlCol="0">
            <a:spAutoFit/>
          </a:bodyPr>
          <a:lstStyle/>
          <a:p>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未来展望</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585" name="组合 68"/>
          <p:cNvGrpSpPr/>
          <p:nvPr/>
        </p:nvGrpSpPr>
        <p:grpSpPr>
          <a:xfrm>
            <a:off x="0" y="15886"/>
            <a:ext cx="12219295" cy="1001194"/>
            <a:chOff x="-128871" y="-59933"/>
            <a:chExt cx="12219295" cy="1001194"/>
          </a:xfrm>
        </p:grpSpPr>
        <p:grpSp>
          <p:nvGrpSpPr>
            <p:cNvPr id="586" name="组合 67"/>
            <p:cNvGrpSpPr/>
            <p:nvPr/>
          </p:nvGrpSpPr>
          <p:grpSpPr>
            <a:xfrm>
              <a:off x="-128871" y="-59933"/>
              <a:ext cx="12219295" cy="1001194"/>
              <a:chOff x="-128871" y="-59933"/>
              <a:chExt cx="12219295" cy="1001194"/>
            </a:xfrm>
          </p:grpSpPr>
          <p:pic>
            <p:nvPicPr>
              <p:cNvPr id="587" name="图片 53"/>
              <p:cNvPicPr>
                <a:picLocks noChangeAspect="1"/>
              </p:cNvPicPr>
              <p:nvPr/>
            </p:nvPicPr>
            <p:blipFill>
              <a:blip r:embed="rId1" cstate="print"/>
              <a:stretch>
                <a:fillRect/>
              </a:stretch>
            </p:blipFill>
            <p:spPr>
              <a:xfrm>
                <a:off x="-128871" y="-59933"/>
                <a:ext cx="12219295" cy="1001194"/>
              </a:xfrm>
              <a:prstGeom prst="rect">
                <a:avLst/>
              </a:prstGeom>
              <a:effectLst>
                <a:outerShdw blurRad="50800" dist="38100" dir="8100000" algn="tr" rotWithShape="0">
                  <a:prstClr val="black">
                    <a:alpha val="40000"/>
                  </a:prstClr>
                </a:outerShdw>
              </a:effectLst>
            </p:spPr>
          </p:pic>
          <p:sp>
            <p:nvSpPr>
              <p:cNvPr id="588" name="矩形 55"/>
              <p:cNvSpPr/>
              <p:nvPr/>
            </p:nvSpPr>
            <p:spPr>
              <a:xfrm>
                <a:off x="4529489" y="-59933"/>
                <a:ext cx="2427605" cy="773430"/>
              </a:xfrm>
              <a:prstGeom prst="rect">
                <a:avLst/>
              </a:prstGeom>
              <a:solidFill>
                <a:srgbClr val="005825"/>
              </a:solidFill>
              <a:ln>
                <a:solidFill>
                  <a:srgbClr val="0058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89" name="文本框 57"/>
              <p:cNvSpPr txBox="1"/>
              <p:nvPr/>
            </p:nvSpPr>
            <p:spPr>
              <a:xfrm>
                <a:off x="2629484" y="48215"/>
                <a:ext cx="3123637"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选题背景</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0" name="文本框 58"/>
              <p:cNvSpPr txBox="1"/>
              <p:nvPr/>
            </p:nvSpPr>
            <p:spPr>
              <a:xfrm>
                <a:off x="4984149" y="50595"/>
                <a:ext cx="1771650" cy="52197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项目方案</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1" name="文本框 59"/>
              <p:cNvSpPr txBox="1"/>
              <p:nvPr/>
            </p:nvSpPr>
            <p:spPr>
              <a:xfrm>
                <a:off x="7339364" y="50595"/>
                <a:ext cx="174180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项目</a:t>
                </a:r>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进展</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592" name="直接连接符 61"/>
              <p:cNvCxnSpPr/>
              <p:nvPr/>
            </p:nvCxnSpPr>
            <p:spPr>
              <a:xfrm>
                <a:off x="4529735" y="113988"/>
                <a:ext cx="0" cy="4024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3" name="直接连接符 62"/>
              <p:cNvCxnSpPr/>
              <p:nvPr/>
            </p:nvCxnSpPr>
            <p:spPr>
              <a:xfrm flipH="1">
                <a:off x="6955732" y="194315"/>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94" name="文本框 65"/>
            <p:cNvSpPr txBox="1"/>
            <p:nvPr/>
          </p:nvSpPr>
          <p:spPr>
            <a:xfrm>
              <a:off x="9954929" y="50595"/>
              <a:ext cx="196659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总结展望</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cxnSp>
        <p:nvCxnSpPr>
          <p:cNvPr id="595" name="直接连接符 62"/>
          <p:cNvCxnSpPr/>
          <p:nvPr/>
        </p:nvCxnSpPr>
        <p:spPr>
          <a:xfrm flipH="1">
            <a:off x="9592354" y="270134"/>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596" name="组合 13"/>
          <p:cNvGrpSpPr/>
          <p:nvPr/>
        </p:nvGrpSpPr>
        <p:grpSpPr>
          <a:xfrm>
            <a:off x="204998" y="81727"/>
            <a:ext cx="1999471" cy="590901"/>
            <a:chOff x="4077923" y="171807"/>
            <a:chExt cx="4420435" cy="1371709"/>
          </a:xfrm>
        </p:grpSpPr>
        <p:grpSp>
          <p:nvGrpSpPr>
            <p:cNvPr id="597" name="组合 14"/>
            <p:cNvGrpSpPr/>
            <p:nvPr/>
          </p:nvGrpSpPr>
          <p:grpSpPr>
            <a:xfrm>
              <a:off x="4077923" y="171807"/>
              <a:ext cx="4260493" cy="1371709"/>
              <a:chOff x="6331308" y="1189619"/>
              <a:chExt cx="5481392" cy="1764794"/>
            </a:xfrm>
          </p:grpSpPr>
          <p:pic>
            <p:nvPicPr>
              <p:cNvPr id="598" name="图片 33"/>
              <p:cNvPicPr>
                <a:picLocks noChangeAspect="1"/>
              </p:cNvPicPr>
              <p:nvPr/>
            </p:nvPicPr>
            <p:blipFill>
              <a:blip r:embed="rId2"/>
              <a:srcRect/>
              <a:stretch>
                <a:fillRect/>
              </a:stretch>
            </p:blipFill>
            <p:spPr>
              <a:xfrm>
                <a:off x="6331308" y="1189619"/>
                <a:ext cx="1791803" cy="1764794"/>
              </a:xfrm>
              <a:prstGeom prst="rect">
                <a:avLst/>
              </a:prstGeom>
            </p:spPr>
          </p:pic>
          <p:pic>
            <p:nvPicPr>
              <p:cNvPr id="599" name="图片 35"/>
              <p:cNvPicPr>
                <a:picLocks noChangeAspect="1"/>
              </p:cNvPicPr>
              <p:nvPr/>
            </p:nvPicPr>
            <p:blipFill>
              <a:blip r:embed="rId3"/>
              <a:srcRect/>
              <a:stretch>
                <a:fillRect/>
              </a:stretch>
            </p:blipFill>
            <p:spPr>
              <a:xfrm>
                <a:off x="8302517" y="1422328"/>
                <a:ext cx="3510183" cy="965303"/>
              </a:xfrm>
              <a:prstGeom prst="rect">
                <a:avLst/>
              </a:prstGeom>
            </p:spPr>
          </p:pic>
        </p:grpSp>
        <p:sp>
          <p:nvSpPr>
            <p:cNvPr id="600" name="矩形 15"/>
            <p:cNvSpPr/>
            <p:nvPr/>
          </p:nvSpPr>
          <p:spPr>
            <a:xfrm>
              <a:off x="5470629" y="1076339"/>
              <a:ext cx="3027729" cy="410186"/>
            </a:xfrm>
            <a:prstGeom prst="rect">
              <a:avLst/>
            </a:prstGeom>
          </p:spPr>
          <p:txBody>
            <a:bodyPr wrap="square">
              <a:spAutoFit/>
            </a:bodyPr>
            <a:lstStyle/>
            <a:p>
              <a:pPr algn="dist">
                <a:defRPr/>
              </a:pPr>
              <a:r>
                <a:rPr lang="en-US" altLang="zh-CN" sz="900" b="1" dirty="0">
                  <a:solidFill>
                    <a:prstClr val="black"/>
                  </a:solidFill>
                  <a:latin typeface="Calibri" panose="020F0502020204030204"/>
                  <a:ea typeface="微软雅黑" panose="020B0503020204020204" pitchFamily="34" charset="-122"/>
                </a:rPr>
                <a:t>WUHAN UNIVERSITY</a:t>
              </a:r>
              <a:endParaRPr lang="en-US" altLang="zh-CN" sz="900" b="1" dirty="0">
                <a:solidFill>
                  <a:prstClr val="black"/>
                </a:solidFill>
                <a:latin typeface="Calibri" panose="020F0502020204030204"/>
                <a:ea typeface="微软雅黑" panose="020B0503020204020204" pitchFamily="34" charset="-122"/>
              </a:endParaRPr>
            </a:p>
          </p:txBody>
        </p:sp>
      </p:grpSp>
      <p:sp>
        <p:nvSpPr>
          <p:cNvPr id="107" name="文本框 106"/>
          <p:cNvSpPr txBox="1"/>
          <p:nvPr/>
        </p:nvSpPr>
        <p:spPr>
          <a:xfrm>
            <a:off x="205105" y="843280"/>
            <a:ext cx="7379335" cy="521970"/>
          </a:xfrm>
          <a:prstGeom prst="rect">
            <a:avLst/>
          </a:prstGeom>
          <a:noFill/>
        </p:spPr>
        <p:txBody>
          <a:bodyPr wrap="square" rtlCol="0" anchor="t">
            <a:spAutoFit/>
          </a:bodyPr>
          <a:p>
            <a:r>
              <a:rPr lang="en-US" altLang="zh-CN" sz="2800" b="1" dirty="0">
                <a:solidFill>
                  <a:srgbClr val="005825"/>
                </a:solidFill>
                <a:latin typeface="微软雅黑" panose="020B0503020204020204" pitchFamily="34" charset="-122"/>
                <a:ea typeface="微软雅黑" panose="020B0503020204020204" pitchFamily="34" charset="-122"/>
                <a:cs typeface="微软雅黑" panose="020B0503020204020204" pitchFamily="34" charset="-122"/>
                <a:sym typeface="+mn-ea"/>
              </a:rPr>
              <a:t>2.2.2 </a:t>
            </a:r>
            <a:r>
              <a:rPr lang="zh-CN" altLang="en-US" sz="2800" b="1" dirty="0">
                <a:solidFill>
                  <a:srgbClr val="005825"/>
                </a:solidFill>
                <a:latin typeface="微软雅黑" panose="020B0503020204020204" pitchFamily="34" charset="-122"/>
                <a:ea typeface="微软雅黑" panose="020B0503020204020204" pitchFamily="34" charset="-122"/>
                <a:cs typeface="微软雅黑" panose="020B0503020204020204" pitchFamily="34" charset="-122"/>
                <a:sym typeface="+mn-ea"/>
              </a:rPr>
              <a:t>执行驱动</a:t>
            </a:r>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sym typeface="+mn-ea"/>
              </a:rPr>
              <a:t>基于</a:t>
            </a:r>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sym typeface="+mn-ea"/>
              </a:rPr>
              <a:t>ReAct</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sym typeface="+mn-ea"/>
              </a:rPr>
              <a:t>范式的智能体研发</a:t>
            </a:r>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 name="文本框 1"/>
          <p:cNvSpPr txBox="1"/>
          <p:nvPr/>
        </p:nvSpPr>
        <p:spPr>
          <a:xfrm>
            <a:off x="6096000" y="1903095"/>
            <a:ext cx="5848350" cy="1612265"/>
          </a:xfrm>
          <a:prstGeom prst="rect">
            <a:avLst/>
          </a:prstGeom>
          <a:noFill/>
        </p:spPr>
        <p:txBody>
          <a:bodyPr wrap="square" rtlCol="0" anchor="t">
            <a:noAutofit/>
          </a:bodyPr>
          <a:p>
            <a:pPr lvl="0" algn="l">
              <a:lnSpc>
                <a:spcPct val="150000"/>
              </a:lnSpc>
              <a:buClrTx/>
              <a:buSzTx/>
              <a:buFontTx/>
            </a:pPr>
            <a:r>
              <a:rPr lang="en-US" altLang="zh-CN" sz="1600">
                <a:solidFill>
                  <a:srgbClr val="000000"/>
                </a:solidFill>
                <a:latin typeface="微软雅黑" panose="020B0503020204020204" pitchFamily="34" charset="-122"/>
                <a:ea typeface="微软雅黑" panose="020B0503020204020204" pitchFamily="34" charset="-122"/>
                <a:sym typeface="+mn-ea"/>
              </a:rPr>
              <a:t>       </a:t>
            </a:r>
            <a:r>
              <a:rPr lang="zh-CN" altLang="en-US" sz="1600">
                <a:solidFill>
                  <a:srgbClr val="000000"/>
                </a:solidFill>
                <a:latin typeface="微软雅黑" panose="020B0503020204020204" pitchFamily="34" charset="-122"/>
                <a:ea typeface="微软雅黑" panose="020B0503020204020204" pitchFamily="34" charset="-122"/>
                <a:sym typeface="+mn-ea"/>
              </a:rPr>
              <a:t>封装标准化地图</a:t>
            </a:r>
            <a:r>
              <a:rPr lang="zh-CN" altLang="en-US" sz="1600">
                <a:solidFill>
                  <a:srgbClr val="000000"/>
                </a:solidFill>
                <a:latin typeface="微软雅黑" panose="020B0503020204020204" pitchFamily="34" charset="-122"/>
                <a:ea typeface="微软雅黑" panose="020B0503020204020204" pitchFamily="34" charset="-122"/>
                <a:sym typeface="+mn-ea"/>
              </a:rPr>
              <a:t>API</a:t>
            </a:r>
            <a:r>
              <a:rPr lang="zh-CN" altLang="en-US" sz="1600">
                <a:solidFill>
                  <a:srgbClr val="000000"/>
                </a:solidFill>
                <a:latin typeface="微软雅黑" panose="020B0503020204020204" pitchFamily="34" charset="-122"/>
                <a:ea typeface="微软雅黑" panose="020B0503020204020204" pitchFamily="34" charset="-122"/>
                <a:sym typeface="+mn-ea"/>
              </a:rPr>
              <a:t>工具集，实现数据检索、样式配置等功能的模块化调用；构建多维度状态管控与智能容错体系，通过实时追踪任务执行链路、动态响应异常场景，强化系统对复杂制图流程的适应性与稳定性。</a:t>
            </a:r>
            <a:endParaRPr lang="zh-CN" altLang="en-US" sz="1600">
              <a:solidFill>
                <a:srgbClr val="000000"/>
              </a:solidFill>
              <a:latin typeface="微软雅黑" panose="020B0503020204020204" pitchFamily="34" charset="-122"/>
              <a:ea typeface="微软雅黑" panose="020B0503020204020204" pitchFamily="34" charset="-122"/>
              <a:sym typeface="+mn-ea"/>
            </a:endParaRPr>
          </a:p>
        </p:txBody>
      </p:sp>
      <p:sp>
        <p:nvSpPr>
          <p:cNvPr id="4" name="文本框 3"/>
          <p:cNvSpPr txBox="1"/>
          <p:nvPr/>
        </p:nvSpPr>
        <p:spPr>
          <a:xfrm>
            <a:off x="299085" y="1936115"/>
            <a:ext cx="2147570" cy="1578610"/>
          </a:xfrm>
          <a:prstGeom prst="rect">
            <a:avLst/>
          </a:prstGeom>
          <a:noFill/>
        </p:spPr>
        <p:txBody>
          <a:bodyPr wrap="square" rtlCol="0" anchor="t">
            <a:noAutofit/>
          </a:bodyPr>
          <a:p>
            <a:pPr indent="0">
              <a:lnSpc>
                <a:spcPct val="150000"/>
              </a:lnSpc>
              <a:buFont typeface="Wingdings" panose="05000000000000000000" charset="0"/>
              <a:buNone/>
            </a:pPr>
            <a:r>
              <a:rPr lang="en-US" altLang="zh-CN" sz="1600">
                <a:solidFill>
                  <a:srgbClr val="000000"/>
                </a:solidFill>
                <a:latin typeface="微软雅黑" panose="020B0503020204020204" pitchFamily="34" charset="-122"/>
                <a:ea typeface="微软雅黑" panose="020B0503020204020204" pitchFamily="34" charset="-122"/>
                <a:sym typeface="+mn-ea"/>
              </a:rPr>
              <a:t>       </a:t>
            </a:r>
            <a:r>
              <a:rPr lang="zh-CN" altLang="en-US" sz="1600">
                <a:solidFill>
                  <a:srgbClr val="000000"/>
                </a:solidFill>
                <a:latin typeface="微软雅黑" panose="020B0503020204020204" pitchFamily="34" charset="-122"/>
                <a:ea typeface="微软雅黑" panose="020B0503020204020204" pitchFamily="34" charset="-122"/>
                <a:sym typeface="+mn-ea"/>
              </a:rPr>
              <a:t>以</a:t>
            </a:r>
            <a:r>
              <a:rPr lang="en-US" altLang="zh-CN" sz="1600">
                <a:solidFill>
                  <a:srgbClr val="000000"/>
                </a:solidFill>
                <a:latin typeface="微软雅黑" panose="020B0503020204020204" pitchFamily="34" charset="-122"/>
                <a:ea typeface="微软雅黑" panose="020B0503020204020204" pitchFamily="34" charset="-122"/>
                <a:sym typeface="+mn-ea"/>
              </a:rPr>
              <a:t>LangChain</a:t>
            </a:r>
            <a:r>
              <a:rPr lang="zh-CN" altLang="en-US" sz="1600">
                <a:solidFill>
                  <a:srgbClr val="000000"/>
                </a:solidFill>
                <a:latin typeface="微软雅黑" panose="020B0503020204020204" pitchFamily="34" charset="-122"/>
                <a:ea typeface="微软雅黑" panose="020B0503020204020204" pitchFamily="34" charset="-122"/>
                <a:sym typeface="+mn-ea"/>
              </a:rPr>
              <a:t>框架为基础，设计“思考</a:t>
            </a:r>
            <a:r>
              <a:rPr lang="en-US" altLang="zh-CN" sz="1600">
                <a:solidFill>
                  <a:srgbClr val="000000"/>
                </a:solidFill>
                <a:latin typeface="微软雅黑" panose="020B0503020204020204" pitchFamily="34" charset="-122"/>
                <a:ea typeface="微软雅黑" panose="020B0503020204020204" pitchFamily="34" charset="-122"/>
                <a:sym typeface="+mn-ea"/>
              </a:rPr>
              <a:t>-</a:t>
            </a:r>
            <a:r>
              <a:rPr lang="zh-CN" altLang="en-US" sz="1600">
                <a:solidFill>
                  <a:srgbClr val="000000"/>
                </a:solidFill>
                <a:latin typeface="微软雅黑" panose="020B0503020204020204" pitchFamily="34" charset="-122"/>
                <a:ea typeface="微软雅黑" panose="020B0503020204020204" pitchFamily="34" charset="-122"/>
                <a:sym typeface="+mn-ea"/>
              </a:rPr>
              <a:t>行动</a:t>
            </a:r>
            <a:r>
              <a:rPr lang="en-US" altLang="zh-CN" sz="1600">
                <a:solidFill>
                  <a:srgbClr val="000000"/>
                </a:solidFill>
                <a:latin typeface="微软雅黑" panose="020B0503020204020204" pitchFamily="34" charset="-122"/>
                <a:ea typeface="微软雅黑" panose="020B0503020204020204" pitchFamily="34" charset="-122"/>
                <a:sym typeface="+mn-ea"/>
              </a:rPr>
              <a:t>-</a:t>
            </a:r>
            <a:r>
              <a:rPr lang="zh-CN" altLang="en-US" sz="1600">
                <a:solidFill>
                  <a:srgbClr val="000000"/>
                </a:solidFill>
                <a:latin typeface="微软雅黑" panose="020B0503020204020204" pitchFamily="34" charset="-122"/>
                <a:ea typeface="微软雅黑" panose="020B0503020204020204" pitchFamily="34" charset="-122"/>
                <a:sym typeface="+mn-ea"/>
              </a:rPr>
              <a:t>观察”的决策循环机制</a:t>
            </a:r>
            <a:endParaRPr lang="zh-CN" altLang="en-US" sz="1600">
              <a:solidFill>
                <a:srgbClr val="000000"/>
              </a:solidFill>
              <a:latin typeface="微软雅黑" panose="020B0503020204020204" pitchFamily="34" charset="-122"/>
              <a:ea typeface="微软雅黑" panose="020B0503020204020204" pitchFamily="34" charset="-122"/>
              <a:sym typeface="+mn-ea"/>
            </a:endParaRPr>
          </a:p>
        </p:txBody>
      </p:sp>
      <p:sp>
        <p:nvSpPr>
          <p:cNvPr id="5" name="文本框 4"/>
          <p:cNvSpPr txBox="1"/>
          <p:nvPr/>
        </p:nvSpPr>
        <p:spPr>
          <a:xfrm>
            <a:off x="2461895" y="1907540"/>
            <a:ext cx="3160395" cy="1719580"/>
          </a:xfrm>
          <a:prstGeom prst="rect">
            <a:avLst/>
          </a:prstGeom>
          <a:noFill/>
        </p:spPr>
        <p:txBody>
          <a:bodyPr wrap="square" rtlCol="0" anchor="t">
            <a:noAutofit/>
          </a:bodyPr>
          <a:p>
            <a:pPr lvl="0" algn="l">
              <a:lnSpc>
                <a:spcPct val="150000"/>
              </a:lnSpc>
              <a:buClrTx/>
              <a:buSzTx/>
              <a:buFontTx/>
            </a:pPr>
            <a:r>
              <a:rPr lang="en-US" altLang="zh-CN" sz="1600">
                <a:solidFill>
                  <a:srgbClr val="000000"/>
                </a:solidFill>
                <a:latin typeface="微软雅黑" panose="020B0503020204020204" pitchFamily="34" charset="-122"/>
                <a:ea typeface="微软雅黑" panose="020B0503020204020204" pitchFamily="34" charset="-122"/>
                <a:sym typeface="+mn-ea"/>
              </a:rPr>
              <a:t>       </a:t>
            </a:r>
            <a:r>
              <a:rPr lang="zh-CN" altLang="en-US" sz="1600">
                <a:solidFill>
                  <a:srgbClr val="000000"/>
                </a:solidFill>
                <a:latin typeface="微软雅黑" panose="020B0503020204020204" pitchFamily="34" charset="-122"/>
                <a:ea typeface="微软雅黑" panose="020B0503020204020204" pitchFamily="34" charset="-122"/>
                <a:sym typeface="+mn-ea"/>
              </a:rPr>
              <a:t>通过</a:t>
            </a:r>
            <a:r>
              <a:rPr lang="zh-CN" altLang="en-US" sz="1600">
                <a:solidFill>
                  <a:srgbClr val="000000"/>
                </a:solidFill>
                <a:latin typeface="微软雅黑" panose="020B0503020204020204" pitchFamily="34" charset="-122"/>
                <a:ea typeface="微软雅黑" panose="020B0503020204020204" pitchFamily="34" charset="-122"/>
                <a:sym typeface="+mn-ea"/>
              </a:rPr>
              <a:t>Prompt</a:t>
            </a:r>
            <a:r>
              <a:rPr lang="zh-CN" altLang="en-US" sz="1600">
                <a:solidFill>
                  <a:srgbClr val="000000"/>
                </a:solidFill>
                <a:latin typeface="微软雅黑" panose="020B0503020204020204" pitchFamily="34" charset="-122"/>
                <a:ea typeface="微软雅黑" panose="020B0503020204020204" pitchFamily="34" charset="-122"/>
                <a:sym typeface="+mn-ea"/>
              </a:rPr>
              <a:t>工程引导</a:t>
            </a:r>
            <a:r>
              <a:rPr lang="zh-CN" altLang="en-US" sz="1600">
                <a:solidFill>
                  <a:srgbClr val="000000"/>
                </a:solidFill>
                <a:latin typeface="微软雅黑" panose="020B0503020204020204" pitchFamily="34" charset="-122"/>
                <a:ea typeface="微软雅黑" panose="020B0503020204020204" pitchFamily="34" charset="-122"/>
                <a:sym typeface="+mn-ea"/>
              </a:rPr>
              <a:t>LLM</a:t>
            </a:r>
            <a:r>
              <a:rPr lang="zh-CN" altLang="en-US" sz="1600">
                <a:solidFill>
                  <a:srgbClr val="000000"/>
                </a:solidFill>
                <a:latin typeface="微软雅黑" panose="020B0503020204020204" pitchFamily="34" charset="-122"/>
                <a:ea typeface="微软雅黑" panose="020B0503020204020204" pitchFamily="34" charset="-122"/>
                <a:sym typeface="+mn-ea"/>
              </a:rPr>
              <a:t>生成结构化任务规划，将模糊需求分解为“数据获取</a:t>
            </a:r>
            <a:r>
              <a:rPr lang="zh-CN" altLang="en-US" sz="1600">
                <a:solidFill>
                  <a:srgbClr val="000000"/>
                </a:solidFill>
                <a:latin typeface="微软雅黑" panose="020B0503020204020204" pitchFamily="34" charset="-122"/>
                <a:ea typeface="微软雅黑" panose="020B0503020204020204" pitchFamily="34" charset="-122"/>
                <a:sym typeface="+mn-ea"/>
              </a:rPr>
              <a:t>-</a:t>
            </a:r>
            <a:r>
              <a:rPr lang="zh-CN" altLang="en-US" sz="1600">
                <a:solidFill>
                  <a:srgbClr val="000000"/>
                </a:solidFill>
                <a:latin typeface="微软雅黑" panose="020B0503020204020204" pitchFamily="34" charset="-122"/>
                <a:ea typeface="微软雅黑" panose="020B0503020204020204" pitchFamily="34" charset="-122"/>
                <a:sym typeface="+mn-ea"/>
              </a:rPr>
              <a:t>符号渲染</a:t>
            </a:r>
            <a:r>
              <a:rPr lang="zh-CN" altLang="en-US" sz="1600">
                <a:solidFill>
                  <a:srgbClr val="000000"/>
                </a:solidFill>
                <a:latin typeface="微软雅黑" panose="020B0503020204020204" pitchFamily="34" charset="-122"/>
                <a:ea typeface="微软雅黑" panose="020B0503020204020204" pitchFamily="34" charset="-122"/>
                <a:sym typeface="+mn-ea"/>
              </a:rPr>
              <a:t>-</a:t>
            </a:r>
            <a:r>
              <a:rPr lang="zh-CN" altLang="en-US" sz="1600">
                <a:solidFill>
                  <a:srgbClr val="000000"/>
                </a:solidFill>
                <a:latin typeface="微软雅黑" panose="020B0503020204020204" pitchFamily="34" charset="-122"/>
                <a:ea typeface="微软雅黑" panose="020B0503020204020204" pitchFamily="34" charset="-122"/>
                <a:sym typeface="+mn-ea"/>
              </a:rPr>
              <a:t>注记标注</a:t>
            </a:r>
            <a:r>
              <a:rPr lang="zh-CN" altLang="en-US" sz="1600">
                <a:solidFill>
                  <a:srgbClr val="000000"/>
                </a:solidFill>
                <a:latin typeface="微软雅黑" panose="020B0503020204020204" pitchFamily="34" charset="-122"/>
                <a:ea typeface="微软雅黑" panose="020B0503020204020204" pitchFamily="34" charset="-122"/>
                <a:sym typeface="+mn-ea"/>
              </a:rPr>
              <a:t>-</a:t>
            </a:r>
            <a:r>
              <a:rPr lang="zh-CN" altLang="en-US" sz="1600">
                <a:solidFill>
                  <a:srgbClr val="000000"/>
                </a:solidFill>
                <a:latin typeface="微软雅黑" panose="020B0503020204020204" pitchFamily="34" charset="-122"/>
                <a:ea typeface="微软雅黑" panose="020B0503020204020204" pitchFamily="34" charset="-122"/>
                <a:sym typeface="+mn-ea"/>
              </a:rPr>
              <a:t>地图导出”等原子任务</a:t>
            </a:r>
            <a:endParaRPr lang="zh-CN" altLang="en-US" sz="1600">
              <a:solidFill>
                <a:srgbClr val="000000"/>
              </a:solidFill>
              <a:latin typeface="微软雅黑" panose="020B0503020204020204" pitchFamily="34" charset="-122"/>
              <a:ea typeface="微软雅黑" panose="020B0503020204020204" pitchFamily="34" charset="-122"/>
              <a:sym typeface="+mn-ea"/>
            </a:endParaRPr>
          </a:p>
        </p:txBody>
      </p:sp>
      <p:pic>
        <p:nvPicPr>
          <p:cNvPr id="14" name="图片 -2147482613"/>
          <p:cNvPicPr>
            <a:picLocks noChangeAspect="1"/>
          </p:cNvPicPr>
          <p:nvPr/>
        </p:nvPicPr>
        <p:blipFill>
          <a:blip r:embed="rId4"/>
          <a:stretch>
            <a:fillRect/>
          </a:stretch>
        </p:blipFill>
        <p:spPr>
          <a:xfrm>
            <a:off x="1131570" y="3658870"/>
            <a:ext cx="9392285" cy="3039110"/>
          </a:xfrm>
          <a:prstGeom prst="rect">
            <a:avLst/>
          </a:prstGeom>
          <a:noFill/>
          <a:ln w="9525">
            <a:noFill/>
          </a:ln>
        </p:spPr>
      </p:pic>
      <p:grpSp>
        <p:nvGrpSpPr>
          <p:cNvPr id="10" name="组合 9"/>
          <p:cNvGrpSpPr/>
          <p:nvPr/>
        </p:nvGrpSpPr>
        <p:grpSpPr>
          <a:xfrm>
            <a:off x="357505" y="1452880"/>
            <a:ext cx="5340985" cy="539750"/>
            <a:chOff x="1021" y="2902"/>
            <a:chExt cx="8411" cy="850"/>
          </a:xfrm>
        </p:grpSpPr>
        <p:sp>
          <p:nvSpPr>
            <p:cNvPr id="9" name="圆角矩形 8"/>
            <p:cNvSpPr/>
            <p:nvPr/>
          </p:nvSpPr>
          <p:spPr>
            <a:xfrm>
              <a:off x="1021" y="2937"/>
              <a:ext cx="8103" cy="630"/>
            </a:xfrm>
            <a:prstGeom prst="roundRect">
              <a:avLst/>
            </a:prstGeom>
            <a:solidFill>
              <a:schemeClr val="accent6">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7" name="组合 6"/>
            <p:cNvGrpSpPr/>
            <p:nvPr/>
          </p:nvGrpSpPr>
          <p:grpSpPr>
            <a:xfrm>
              <a:off x="1142" y="2902"/>
              <a:ext cx="8290" cy="850"/>
              <a:chOff x="1600" y="3117"/>
              <a:chExt cx="8290" cy="850"/>
            </a:xfrm>
          </p:grpSpPr>
          <p:sp>
            <p:nvSpPr>
              <p:cNvPr id="3" name="文本框 2"/>
              <p:cNvSpPr txBox="1"/>
              <p:nvPr/>
            </p:nvSpPr>
            <p:spPr>
              <a:xfrm>
                <a:off x="2698" y="3117"/>
                <a:ext cx="7192" cy="850"/>
              </a:xfrm>
              <a:prstGeom prst="rect">
                <a:avLst/>
              </a:prstGeom>
              <a:noFill/>
            </p:spPr>
            <p:txBody>
              <a:bodyPr wrap="square" rtlCol="0" anchor="t">
                <a:noAutofit/>
              </a:bodyPr>
              <a:p>
                <a:r>
                  <a:rPr lang="zh-CN" altLang="en-US" sz="2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采用ReAct智能体范式</a:t>
                </a:r>
                <a:r>
                  <a:rPr lang="en-US" altLang="zh-CN" sz="2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en-US" altLang="zh-CN" sz="2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Picture 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600" y="3148"/>
                <a:ext cx="640" cy="640"/>
              </a:xfrm>
              <a:prstGeom prst="rect">
                <a:avLst/>
              </a:prstGeom>
            </p:spPr>
          </p:pic>
        </p:grpSp>
      </p:grpSp>
      <p:grpSp>
        <p:nvGrpSpPr>
          <p:cNvPr id="13" name="组合 12"/>
          <p:cNvGrpSpPr/>
          <p:nvPr/>
        </p:nvGrpSpPr>
        <p:grpSpPr>
          <a:xfrm>
            <a:off x="5989320" y="1424940"/>
            <a:ext cx="6507480" cy="460375"/>
            <a:chOff x="9638" y="3063"/>
            <a:chExt cx="10248" cy="725"/>
          </a:xfrm>
        </p:grpSpPr>
        <p:sp>
          <p:nvSpPr>
            <p:cNvPr id="12" name="圆角矩形 11"/>
            <p:cNvSpPr/>
            <p:nvPr/>
          </p:nvSpPr>
          <p:spPr>
            <a:xfrm>
              <a:off x="9638" y="3118"/>
              <a:ext cx="9447" cy="659"/>
            </a:xfrm>
            <a:prstGeom prst="roundRect">
              <a:avLst/>
            </a:prstGeom>
            <a:solidFill>
              <a:schemeClr val="accent6">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8" name="组合 7"/>
            <p:cNvGrpSpPr/>
            <p:nvPr/>
          </p:nvGrpSpPr>
          <p:grpSpPr>
            <a:xfrm>
              <a:off x="9806" y="3063"/>
              <a:ext cx="10080" cy="725"/>
              <a:chOff x="9806" y="3063"/>
              <a:chExt cx="10080" cy="725"/>
            </a:xfrm>
          </p:grpSpPr>
          <p:sp>
            <p:nvSpPr>
              <p:cNvPr id="11" name="文本框 10"/>
              <p:cNvSpPr txBox="1"/>
              <p:nvPr/>
            </p:nvSpPr>
            <p:spPr>
              <a:xfrm>
                <a:off x="10286" y="3063"/>
                <a:ext cx="9600" cy="725"/>
              </a:xfrm>
              <a:prstGeom prst="rect">
                <a:avLst/>
              </a:prstGeom>
              <a:noFill/>
            </p:spPr>
            <p:txBody>
              <a:bodyPr wrap="square" rtlCol="0" anchor="t">
                <a:spAutoFit/>
              </a:bodyPr>
              <a:p>
                <a:pPr>
                  <a:buClrTx/>
                  <a:buSzTx/>
                  <a:buFontTx/>
                </a:pPr>
                <a:r>
                  <a:rPr lang="zh-CN" altLang="en-US" sz="2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将地图绘制功能封装为标准的API工具集</a:t>
                </a:r>
                <a:endParaRPr lang="zh-CN" altLang="en-US" sz="2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24" name="Picture 24"/>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806" y="3204"/>
                <a:ext cx="480" cy="480"/>
              </a:xfrm>
              <a:prstGeom prst="rect">
                <a:avLst/>
              </a:prstGeom>
            </p:spPr>
          </p:pic>
        </p:grpSp>
      </p:grpSp>
      <p:pic>
        <p:nvPicPr>
          <p:cNvPr id="19" name="图片 18" descr="10787455417"/>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605405" y="2039620"/>
            <a:ext cx="311150" cy="311150"/>
          </a:xfrm>
          <a:prstGeom prst="rect">
            <a:avLst/>
          </a:prstGeom>
        </p:spPr>
      </p:pic>
      <p:pic>
        <p:nvPicPr>
          <p:cNvPr id="15" name="图片 14" descr="10787455417"/>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34340" y="2039620"/>
            <a:ext cx="311150" cy="311150"/>
          </a:xfrm>
          <a:prstGeom prst="rect">
            <a:avLst/>
          </a:prstGeom>
        </p:spPr>
      </p:pic>
      <p:sp>
        <p:nvSpPr>
          <p:cNvPr id="16" name="圆角矩形 15"/>
          <p:cNvSpPr/>
          <p:nvPr/>
        </p:nvSpPr>
        <p:spPr>
          <a:xfrm>
            <a:off x="325120" y="1430655"/>
            <a:ext cx="5233035" cy="2096770"/>
          </a:xfrm>
          <a:prstGeom prst="roundRect">
            <a:avLst>
              <a:gd name="adj" fmla="val 3917"/>
            </a:avLst>
          </a:prstGeom>
          <a:noFill/>
          <a:ln>
            <a:solidFill>
              <a:srgbClr val="C5E0B4"/>
            </a:solid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17" name="圆角矩形 16"/>
          <p:cNvSpPr/>
          <p:nvPr/>
        </p:nvSpPr>
        <p:spPr>
          <a:xfrm>
            <a:off x="5941060" y="1419225"/>
            <a:ext cx="6102985" cy="2104390"/>
          </a:xfrm>
          <a:prstGeom prst="roundRect">
            <a:avLst>
              <a:gd name="adj" fmla="val 3917"/>
            </a:avLst>
          </a:prstGeom>
          <a:noFill/>
          <a:ln>
            <a:solidFill>
              <a:srgbClr val="C5E0B4"/>
            </a:solid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18" name="页脚占位符 17"/>
          <p:cNvSpPr>
            <a:spLocks noGrp="1"/>
          </p:cNvSpPr>
          <p:nvPr>
            <p:ph type="ftr" sz="quarter" idx="11"/>
          </p:nvPr>
        </p:nvSpPr>
        <p:spPr/>
        <p:txBody>
          <a:bodyPr/>
          <a:p>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581" name=""/>
        <p:cNvGrpSpPr/>
        <p:nvPr/>
      </p:nvGrpSpPr>
      <p:grpSpPr>
        <a:xfrm>
          <a:off x="0" y="0"/>
          <a:ext cx="0" cy="0"/>
          <a:chOff x="0" y="0"/>
          <a:chExt cx="0" cy="0"/>
        </a:xfrm>
      </p:grpSpPr>
      <p:sp>
        <p:nvSpPr>
          <p:cNvPr id="10" name="AutoShape 5"/>
          <p:cNvSpPr/>
          <p:nvPr/>
        </p:nvSpPr>
        <p:spPr>
          <a:xfrm>
            <a:off x="262890" y="1616075"/>
            <a:ext cx="4110355" cy="2512695"/>
          </a:xfrm>
          <a:prstGeom prst="roundRect">
            <a:avLst>
              <a:gd name="adj" fmla="val 5555"/>
            </a:avLst>
          </a:prstGeom>
          <a:solidFill>
            <a:srgbClr val="FFFFFF">
              <a:alpha val="8000"/>
            </a:srgbClr>
          </a:solidFill>
          <a:ln w="28575" cap="flat" cmpd="sng">
            <a:solidFill>
              <a:srgbClr val="00481C">
                <a:alpha val="30000"/>
              </a:srgbClr>
            </a:solidFill>
            <a:prstDash val="solid"/>
            <a:round/>
          </a:ln>
        </p:spPr>
        <p:txBody>
          <a:bodyPr vert="horz" wrap="square" lIns="63500" tIns="63500" rIns="63500" bIns="63500" rtlCol="0" anchor="ctr"/>
          <a:p>
            <a:pPr algn="ctr">
              <a:defRPr/>
            </a:pPr>
          </a:p>
        </p:txBody>
      </p:sp>
      <p:sp>
        <p:nvSpPr>
          <p:cNvPr id="582" name="文本框 60"/>
          <p:cNvSpPr txBox="1"/>
          <p:nvPr/>
        </p:nvSpPr>
        <p:spPr>
          <a:xfrm>
            <a:off x="10320239" y="216952"/>
            <a:ext cx="3123637" cy="369332"/>
          </a:xfrm>
          <a:prstGeom prst="rect">
            <a:avLst/>
          </a:prstGeom>
          <a:noFill/>
        </p:spPr>
        <p:txBody>
          <a:bodyPr wrap="square" rtlCol="0">
            <a:spAutoFit/>
          </a:bodyPr>
          <a:lstStyle/>
          <a:p>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未来展望</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585" name="组合 68"/>
          <p:cNvGrpSpPr/>
          <p:nvPr/>
        </p:nvGrpSpPr>
        <p:grpSpPr>
          <a:xfrm>
            <a:off x="0" y="15886"/>
            <a:ext cx="12219295" cy="1001194"/>
            <a:chOff x="-128871" y="-59933"/>
            <a:chExt cx="12219295" cy="1001194"/>
          </a:xfrm>
        </p:grpSpPr>
        <p:grpSp>
          <p:nvGrpSpPr>
            <p:cNvPr id="586" name="组合 67"/>
            <p:cNvGrpSpPr/>
            <p:nvPr/>
          </p:nvGrpSpPr>
          <p:grpSpPr>
            <a:xfrm>
              <a:off x="-128871" y="-59933"/>
              <a:ext cx="12219295" cy="1001194"/>
              <a:chOff x="-128871" y="-59933"/>
              <a:chExt cx="12219295" cy="1001194"/>
            </a:xfrm>
          </p:grpSpPr>
          <p:pic>
            <p:nvPicPr>
              <p:cNvPr id="587" name="图片 53"/>
              <p:cNvPicPr>
                <a:picLocks noChangeAspect="1"/>
              </p:cNvPicPr>
              <p:nvPr/>
            </p:nvPicPr>
            <p:blipFill>
              <a:blip r:embed="rId1" cstate="print"/>
              <a:stretch>
                <a:fillRect/>
              </a:stretch>
            </p:blipFill>
            <p:spPr>
              <a:xfrm>
                <a:off x="-128871" y="-59933"/>
                <a:ext cx="12219295" cy="1001194"/>
              </a:xfrm>
              <a:prstGeom prst="rect">
                <a:avLst/>
              </a:prstGeom>
              <a:effectLst>
                <a:outerShdw blurRad="50800" dist="38100" dir="8100000" algn="tr" rotWithShape="0">
                  <a:prstClr val="black">
                    <a:alpha val="40000"/>
                  </a:prstClr>
                </a:outerShdw>
              </a:effectLst>
            </p:spPr>
          </p:pic>
          <p:sp>
            <p:nvSpPr>
              <p:cNvPr id="588" name="矩形 55"/>
              <p:cNvSpPr/>
              <p:nvPr/>
            </p:nvSpPr>
            <p:spPr>
              <a:xfrm>
                <a:off x="4529489" y="-59933"/>
                <a:ext cx="2427605" cy="773430"/>
              </a:xfrm>
              <a:prstGeom prst="rect">
                <a:avLst/>
              </a:prstGeom>
              <a:solidFill>
                <a:srgbClr val="005825"/>
              </a:solidFill>
              <a:ln>
                <a:solidFill>
                  <a:srgbClr val="0058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89" name="文本框 57"/>
              <p:cNvSpPr txBox="1"/>
              <p:nvPr/>
            </p:nvSpPr>
            <p:spPr>
              <a:xfrm>
                <a:off x="2629484" y="48215"/>
                <a:ext cx="3123637"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选题背景</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0" name="文本框 58"/>
              <p:cNvSpPr txBox="1"/>
              <p:nvPr/>
            </p:nvSpPr>
            <p:spPr>
              <a:xfrm>
                <a:off x="4984149" y="50595"/>
                <a:ext cx="1771650" cy="52197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项目方案</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1" name="文本框 59"/>
              <p:cNvSpPr txBox="1"/>
              <p:nvPr/>
            </p:nvSpPr>
            <p:spPr>
              <a:xfrm>
                <a:off x="7339364" y="50595"/>
                <a:ext cx="174180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项目</a:t>
                </a:r>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进展</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592" name="直接连接符 61"/>
              <p:cNvCxnSpPr/>
              <p:nvPr/>
            </p:nvCxnSpPr>
            <p:spPr>
              <a:xfrm>
                <a:off x="4529735" y="113988"/>
                <a:ext cx="0" cy="4024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3" name="直接连接符 62"/>
              <p:cNvCxnSpPr/>
              <p:nvPr/>
            </p:nvCxnSpPr>
            <p:spPr>
              <a:xfrm flipH="1">
                <a:off x="6955732" y="194315"/>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94" name="文本框 65"/>
            <p:cNvSpPr txBox="1"/>
            <p:nvPr/>
          </p:nvSpPr>
          <p:spPr>
            <a:xfrm>
              <a:off x="9954929" y="50595"/>
              <a:ext cx="196659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总结展望</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cxnSp>
        <p:nvCxnSpPr>
          <p:cNvPr id="595" name="直接连接符 62"/>
          <p:cNvCxnSpPr/>
          <p:nvPr/>
        </p:nvCxnSpPr>
        <p:spPr>
          <a:xfrm flipH="1">
            <a:off x="9592354" y="270134"/>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596" name="组合 13"/>
          <p:cNvGrpSpPr/>
          <p:nvPr/>
        </p:nvGrpSpPr>
        <p:grpSpPr>
          <a:xfrm>
            <a:off x="204998" y="81727"/>
            <a:ext cx="1999471" cy="590901"/>
            <a:chOff x="4077923" y="171807"/>
            <a:chExt cx="4420435" cy="1371709"/>
          </a:xfrm>
        </p:grpSpPr>
        <p:grpSp>
          <p:nvGrpSpPr>
            <p:cNvPr id="597" name="组合 14"/>
            <p:cNvGrpSpPr/>
            <p:nvPr/>
          </p:nvGrpSpPr>
          <p:grpSpPr>
            <a:xfrm>
              <a:off x="4077923" y="171807"/>
              <a:ext cx="4260493" cy="1371709"/>
              <a:chOff x="6331308" y="1189619"/>
              <a:chExt cx="5481392" cy="1764794"/>
            </a:xfrm>
          </p:grpSpPr>
          <p:pic>
            <p:nvPicPr>
              <p:cNvPr id="598" name="图片 33"/>
              <p:cNvPicPr>
                <a:picLocks noChangeAspect="1"/>
              </p:cNvPicPr>
              <p:nvPr/>
            </p:nvPicPr>
            <p:blipFill>
              <a:blip r:embed="rId2"/>
              <a:srcRect/>
              <a:stretch>
                <a:fillRect/>
              </a:stretch>
            </p:blipFill>
            <p:spPr>
              <a:xfrm>
                <a:off x="6331308" y="1189619"/>
                <a:ext cx="1791803" cy="1764794"/>
              </a:xfrm>
              <a:prstGeom prst="rect">
                <a:avLst/>
              </a:prstGeom>
            </p:spPr>
          </p:pic>
          <p:pic>
            <p:nvPicPr>
              <p:cNvPr id="599" name="图片 35"/>
              <p:cNvPicPr>
                <a:picLocks noChangeAspect="1"/>
              </p:cNvPicPr>
              <p:nvPr/>
            </p:nvPicPr>
            <p:blipFill>
              <a:blip r:embed="rId3"/>
              <a:srcRect/>
              <a:stretch>
                <a:fillRect/>
              </a:stretch>
            </p:blipFill>
            <p:spPr>
              <a:xfrm>
                <a:off x="8302517" y="1422328"/>
                <a:ext cx="3510183" cy="965303"/>
              </a:xfrm>
              <a:prstGeom prst="rect">
                <a:avLst/>
              </a:prstGeom>
            </p:spPr>
          </p:pic>
        </p:grpSp>
        <p:sp>
          <p:nvSpPr>
            <p:cNvPr id="600" name="矩形 15"/>
            <p:cNvSpPr/>
            <p:nvPr/>
          </p:nvSpPr>
          <p:spPr>
            <a:xfrm>
              <a:off x="5470629" y="1076339"/>
              <a:ext cx="3027729" cy="410186"/>
            </a:xfrm>
            <a:prstGeom prst="rect">
              <a:avLst/>
            </a:prstGeom>
          </p:spPr>
          <p:txBody>
            <a:bodyPr wrap="square">
              <a:spAutoFit/>
            </a:bodyPr>
            <a:lstStyle/>
            <a:p>
              <a:pPr algn="dist">
                <a:defRPr/>
              </a:pPr>
              <a:r>
                <a:rPr lang="en-US" altLang="zh-CN" sz="900" b="1" dirty="0">
                  <a:solidFill>
                    <a:prstClr val="black"/>
                  </a:solidFill>
                  <a:latin typeface="Calibri" panose="020F0502020204030204"/>
                  <a:ea typeface="微软雅黑" panose="020B0503020204020204" pitchFamily="34" charset="-122"/>
                </a:rPr>
                <a:t>WUHAN UNIVERSITY</a:t>
              </a:r>
              <a:endParaRPr lang="en-US" altLang="zh-CN" sz="900" b="1" dirty="0">
                <a:solidFill>
                  <a:prstClr val="black"/>
                </a:solidFill>
                <a:latin typeface="Calibri" panose="020F0502020204030204"/>
                <a:ea typeface="微软雅黑" panose="020B0503020204020204" pitchFamily="34" charset="-122"/>
              </a:endParaRPr>
            </a:p>
          </p:txBody>
        </p:sp>
      </p:grpSp>
      <p:sp>
        <p:nvSpPr>
          <p:cNvPr id="107" name="文本框 106"/>
          <p:cNvSpPr txBox="1"/>
          <p:nvPr/>
        </p:nvSpPr>
        <p:spPr>
          <a:xfrm>
            <a:off x="205105" y="843280"/>
            <a:ext cx="5942330" cy="521970"/>
          </a:xfrm>
          <a:prstGeom prst="rect">
            <a:avLst/>
          </a:prstGeom>
          <a:noFill/>
        </p:spPr>
        <p:txBody>
          <a:bodyPr wrap="square" rtlCol="0" anchor="t">
            <a:spAutoFit/>
          </a:bodyPr>
          <a:p>
            <a:r>
              <a:rPr lang="en-US" altLang="zh-CN" sz="2800" b="1" dirty="0">
                <a:solidFill>
                  <a:srgbClr val="005825"/>
                </a:solidFill>
                <a:latin typeface="微软雅黑" panose="020B0503020204020204" pitchFamily="34" charset="-122"/>
                <a:ea typeface="微软雅黑" panose="020B0503020204020204" pitchFamily="34" charset="-122"/>
                <a:cs typeface="微软雅黑" panose="020B0503020204020204" pitchFamily="34" charset="-122"/>
                <a:sym typeface="+mn-ea"/>
              </a:rPr>
              <a:t>2.2.3 </a:t>
            </a:r>
            <a:r>
              <a:rPr lang="zh-CN" altLang="en-US" sz="2800" b="1" dirty="0">
                <a:solidFill>
                  <a:srgbClr val="005825"/>
                </a:solidFill>
                <a:latin typeface="微软雅黑" panose="020B0503020204020204" pitchFamily="34" charset="-122"/>
                <a:ea typeface="微软雅黑" panose="020B0503020204020204" pitchFamily="34" charset="-122"/>
                <a:cs typeface="微软雅黑" panose="020B0503020204020204" pitchFamily="34" charset="-122"/>
                <a:sym typeface="+mn-ea"/>
              </a:rPr>
              <a:t>智能融合</a:t>
            </a:r>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800"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LLM</a:t>
            </a:r>
            <a:r>
              <a:rPr lang="zh-CN" altLang="en-US" sz="2800"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与知识图谱融合</a:t>
            </a:r>
            <a:endParaRPr lang="en-US" altLang="zh-CN" sz="2800" b="1"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 name="文本框 2"/>
          <p:cNvSpPr txBox="1"/>
          <p:nvPr/>
        </p:nvSpPr>
        <p:spPr>
          <a:xfrm>
            <a:off x="566420" y="1682750"/>
            <a:ext cx="6096000" cy="460375"/>
          </a:xfrm>
          <a:prstGeom prst="rect">
            <a:avLst/>
          </a:prstGeom>
          <a:noFill/>
        </p:spPr>
        <p:txBody>
          <a:bodyPr wrap="square" rtlCol="0" anchor="t">
            <a:spAutoFit/>
          </a:bodyPr>
          <a:p>
            <a:r>
              <a:rPr lang="zh-CN" altLang="en-US" sz="2400" b="1">
                <a:solidFill>
                  <a:srgbClr val="C00000"/>
                </a:solidFill>
                <a:latin typeface="微软雅黑" panose="020B0503020204020204" pitchFamily="34" charset="-122"/>
                <a:ea typeface="微软雅黑" panose="020B0503020204020204" pitchFamily="34" charset="-122"/>
                <a:sym typeface="+mn-ea"/>
              </a:rPr>
              <a:t>核心：</a:t>
            </a:r>
            <a:r>
              <a:rPr lang="en-US" sz="24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RAG与结构化</a:t>
            </a:r>
            <a:endParaRPr lang="en-US" altLang="en-US" sz="24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5" name="图片 -2147482614"/>
          <p:cNvPicPr>
            <a:picLocks noChangeAspect="1"/>
          </p:cNvPicPr>
          <p:nvPr/>
        </p:nvPicPr>
        <p:blipFill>
          <a:blip r:embed="rId4"/>
          <a:stretch>
            <a:fillRect/>
          </a:stretch>
        </p:blipFill>
        <p:spPr>
          <a:xfrm>
            <a:off x="4495165" y="1874520"/>
            <a:ext cx="7327265" cy="4054475"/>
          </a:xfrm>
          <a:prstGeom prst="rect">
            <a:avLst/>
          </a:prstGeom>
          <a:noFill/>
          <a:ln w="9525">
            <a:noFill/>
          </a:ln>
        </p:spPr>
      </p:pic>
      <p:sp>
        <p:nvSpPr>
          <p:cNvPr id="2" name="AutoShape 5"/>
          <p:cNvSpPr/>
          <p:nvPr/>
        </p:nvSpPr>
        <p:spPr>
          <a:xfrm>
            <a:off x="262890" y="4378960"/>
            <a:ext cx="4110355" cy="2134870"/>
          </a:xfrm>
          <a:prstGeom prst="roundRect">
            <a:avLst>
              <a:gd name="adj" fmla="val 5555"/>
            </a:avLst>
          </a:prstGeom>
          <a:solidFill>
            <a:srgbClr val="FFFFFF">
              <a:alpha val="8000"/>
            </a:srgbClr>
          </a:solidFill>
          <a:ln w="28575" cap="flat" cmpd="sng">
            <a:solidFill>
              <a:srgbClr val="00481C">
                <a:alpha val="30000"/>
              </a:srgbClr>
            </a:solidFill>
            <a:prstDash val="solid"/>
            <a:round/>
          </a:ln>
        </p:spPr>
        <p:txBody>
          <a:bodyPr vert="horz" wrap="square" lIns="63500" tIns="63500" rIns="63500" bIns="63500" rtlCol="0" anchor="ctr"/>
          <a:p>
            <a:pPr algn="ctr">
              <a:defRPr/>
            </a:pPr>
          </a:p>
        </p:txBody>
      </p:sp>
      <p:pic>
        <p:nvPicPr>
          <p:cNvPr id="4" name="Picture 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19100" y="4549140"/>
            <a:ext cx="304800" cy="304800"/>
          </a:xfrm>
          <a:prstGeom prst="rect">
            <a:avLst/>
          </a:prstGeom>
        </p:spPr>
      </p:pic>
      <p:sp>
        <p:nvSpPr>
          <p:cNvPr id="7" name="AutoShape 7"/>
          <p:cNvSpPr/>
          <p:nvPr/>
        </p:nvSpPr>
        <p:spPr>
          <a:xfrm>
            <a:off x="821690" y="4472940"/>
            <a:ext cx="4318000" cy="381000"/>
          </a:xfrm>
          <a:prstGeom prst="rect">
            <a:avLst/>
          </a:prstGeom>
          <a:noFill/>
          <a:ln w="12700" cap="flat" cmpd="sng">
            <a:noFill/>
            <a:prstDash val="solid"/>
            <a:round/>
          </a:ln>
        </p:spPr>
        <p:txBody>
          <a:bodyPr vert="horz" wrap="square" lIns="0" tIns="0" rIns="0" bIns="0" rtlCol="0" anchor="ctr" anchorCtr="0"/>
          <a:p>
            <a:pPr indent="0" algn="l">
              <a:lnSpc>
                <a:spcPct val="125000"/>
              </a:lnSpc>
              <a:defRPr/>
            </a:pPr>
            <a:r>
              <a:rPr lang="en-US" sz="1800" b="1" i="0" u="none" strike="noStrike">
                <a:solidFill>
                  <a:schemeClr val="tx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研究目标：构建全链路智能化体系</a:t>
            </a:r>
            <a:endParaRPr lang="en-US" sz="1800" b="1" i="0" u="none" strike="noStrike">
              <a:solidFill>
                <a:schemeClr val="tx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p:txBody>
      </p:sp>
      <p:sp>
        <p:nvSpPr>
          <p:cNvPr id="9" name="AutoShape 9" descr="7b0a202020202262756c6c6574223a20227b5c2263617465676f727949645c223a5c225c222c5c2274656d706c61746549645c223a32303233313731337d220a7d0a"/>
          <p:cNvSpPr/>
          <p:nvPr/>
        </p:nvSpPr>
        <p:spPr>
          <a:xfrm>
            <a:off x="361950" y="4679315"/>
            <a:ext cx="3864610" cy="1903730"/>
          </a:xfrm>
          <a:prstGeom prst="rect">
            <a:avLst/>
          </a:prstGeom>
          <a:noFill/>
          <a:ln w="12700" cap="flat" cmpd="sng">
            <a:noFill/>
            <a:prstDash val="solid"/>
            <a:round/>
          </a:ln>
        </p:spPr>
        <p:txBody>
          <a:bodyPr vert="horz" wrap="square" lIns="0" tIns="0" rIns="0" bIns="0" rtlCol="0" anchor="ctr" anchorCtr="0"/>
          <a:p>
            <a:pPr marL="285750" indent="-285750" algn="l">
              <a:lnSpc>
                <a:spcPct val="150000"/>
              </a:lnSpc>
              <a:buClr>
                <a:srgbClr val="D1D1D6"/>
              </a:buClr>
              <a:buFont typeface="Wingdings" panose="05000000000000000000" charset="0"/>
              <a:buBlip>
                <a:blip r:embed="rId7">
                  <a:extLst>
                    <a:ext uri="{96DAC541-7B7A-43D3-8B79-37D633B846F1}">
                      <asvg:svgBlip xmlns:asvg="http://schemas.microsoft.com/office/drawing/2016/SVG/main" r:embed="rId8"/>
                    </a:ext>
                  </a:extLst>
                </a:blip>
              </a:buBlip>
              <a:defRPr/>
            </a:pPr>
            <a:r>
              <a:rPr lang="en-US" b="0"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探索LLM与知识图谱深度融合路径，形成完整的智能化制图方法体系。</a:t>
            </a:r>
            <a:endParaRPr lang="en-US">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l">
              <a:lnSpc>
                <a:spcPct val="150000"/>
              </a:lnSpc>
              <a:buClr>
                <a:srgbClr val="D1D1D6"/>
              </a:buClr>
              <a:buFont typeface="Wingdings" panose="05000000000000000000" charset="0"/>
              <a:buBlip>
                <a:blip r:embed="rId7">
                  <a:extLst>
                    <a:ext uri="{96DAC541-7B7A-43D3-8B79-37D633B846F1}">
                      <asvg:svgBlip xmlns:asvg="http://schemas.microsoft.com/office/drawing/2016/SVG/main" r:embed="rId8"/>
                    </a:ext>
                  </a:extLst>
                </a:blip>
              </a:buBlip>
            </a:pPr>
            <a:r>
              <a:rPr lang="en-US" b="0"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实现“需求输入→智能规划→工具调度→地图生成”的全链路闭环。</a:t>
            </a:r>
            <a:endParaRPr lang="en-US" b="0"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endParaRPr>
          </a:p>
        </p:txBody>
      </p:sp>
      <p:sp>
        <p:nvSpPr>
          <p:cNvPr id="14" name="AutoShape 14" descr="7b0a202020202262756c6c6574223a20227b5c2263617465676f727949645c223a5c225c222c5c2274656d706c61746549645c223a32303233313731337d220a7d0a"/>
          <p:cNvSpPr/>
          <p:nvPr/>
        </p:nvSpPr>
        <p:spPr>
          <a:xfrm>
            <a:off x="361950" y="2202180"/>
            <a:ext cx="3863975" cy="1591945"/>
          </a:xfrm>
          <a:prstGeom prst="rect">
            <a:avLst/>
          </a:prstGeom>
          <a:noFill/>
          <a:ln w="12700" cap="flat" cmpd="sng">
            <a:noFill/>
            <a:prstDash val="solid"/>
            <a:round/>
          </a:ln>
        </p:spPr>
        <p:txBody>
          <a:bodyPr vert="horz" wrap="square" lIns="0" tIns="0" rIns="0" bIns="0" rtlCol="0" anchor="ctr" anchorCtr="0"/>
          <a:p>
            <a:pPr marL="177800" indent="-177800" algn="l">
              <a:lnSpc>
                <a:spcPct val="150000"/>
              </a:lnSpc>
              <a:buClr>
                <a:srgbClr val="0A84FF"/>
              </a:buClr>
              <a:buBlip>
                <a:blip r:embed="rId7">
                  <a:extLst>
                    <a:ext uri="{96DAC541-7B7A-43D3-8B79-37D633B846F1}">
                      <asvg:svgBlip xmlns:asvg="http://schemas.microsoft.com/office/drawing/2016/SVG/main" r:embed="rId8"/>
                    </a:ext>
                  </a:extLst>
                </a:blip>
              </a:buBlip>
              <a:defRPr/>
            </a:pPr>
            <a:r>
              <a:rPr lang="en-US" b="1"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检索增强生成 (RAG)：</a:t>
            </a:r>
            <a:r>
              <a:rPr lang="en-US" b="0"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向知识图谱查询专业规则，规范LLM输出。</a:t>
            </a:r>
            <a:endParaRPr lang="en-US">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177800" indent="-177800" algn="l">
              <a:lnSpc>
                <a:spcPct val="150000"/>
              </a:lnSpc>
              <a:buClr>
                <a:srgbClr val="0A84FF"/>
              </a:buClr>
              <a:buBlip>
                <a:blip r:embed="rId7">
                  <a:extLst>
                    <a:ext uri="{96DAC541-7B7A-43D3-8B79-37D633B846F1}">
                      <asvg:svgBlip xmlns:asvg="http://schemas.microsoft.com/office/drawing/2016/SVG/main" r:embed="rId8"/>
                    </a:ext>
                  </a:extLst>
                </a:blip>
              </a:buBlip>
            </a:pPr>
            <a:r>
              <a:rPr lang="en-US" b="1"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方案结构化：</a:t>
            </a:r>
            <a:r>
              <a:rPr lang="en-US" b="0"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将自然语言需求转换为机器可执行的结构化方案(JSON)。</a:t>
            </a:r>
            <a:endParaRPr lang="en-US" b="0"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endParaRPr>
          </a:p>
        </p:txBody>
      </p:sp>
      <p:sp>
        <p:nvSpPr>
          <p:cNvPr id="6" name="页脚占位符 5"/>
          <p:cNvSpPr>
            <a:spLocks noGrp="1"/>
          </p:cNvSpPr>
          <p:nvPr>
            <p:ph type="ftr" sz="quarter" idx="11"/>
          </p:nvPr>
        </p:nvSpPr>
        <p:spPr/>
        <p:txBody>
          <a:bodyPr/>
          <a:p>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581" name=""/>
        <p:cNvGrpSpPr/>
        <p:nvPr/>
      </p:nvGrpSpPr>
      <p:grpSpPr>
        <a:xfrm>
          <a:off x="0" y="0"/>
          <a:ext cx="0" cy="0"/>
          <a:chOff x="0" y="0"/>
          <a:chExt cx="0" cy="0"/>
        </a:xfrm>
      </p:grpSpPr>
      <p:pic>
        <p:nvPicPr>
          <p:cNvPr id="3" name="图片 28" descr="/data/weboffice/tmp/webword_1181315664/post_object_image_2186663563"/>
          <p:cNvPicPr>
            <a:picLocks noChangeAspect="1"/>
          </p:cNvPicPr>
          <p:nvPr/>
        </p:nvPicPr>
        <p:blipFill>
          <a:blip r:embed="rId1"/>
          <a:stretch>
            <a:fillRect/>
          </a:stretch>
        </p:blipFill>
        <p:spPr>
          <a:xfrm>
            <a:off x="5342890" y="1256665"/>
            <a:ext cx="6759575" cy="5481955"/>
          </a:xfrm>
          <a:prstGeom prst="rect">
            <a:avLst/>
          </a:prstGeom>
          <a:noFill/>
          <a:ln w="9525">
            <a:noFill/>
          </a:ln>
        </p:spPr>
      </p:pic>
      <p:sp>
        <p:nvSpPr>
          <p:cNvPr id="8" name="矩形 7"/>
          <p:cNvSpPr/>
          <p:nvPr/>
        </p:nvSpPr>
        <p:spPr>
          <a:xfrm>
            <a:off x="483235" y="1430655"/>
            <a:ext cx="4728845" cy="3230880"/>
          </a:xfrm>
          <a:prstGeom prst="rect">
            <a:avLst/>
          </a:prstGeom>
          <a:solidFill>
            <a:schemeClr val="bg1"/>
          </a:solidFill>
          <a:ln w="28575">
            <a:gradFill>
              <a:gsLst>
                <a:gs pos="50000">
                  <a:schemeClr val="accent6"/>
                </a:gs>
                <a:gs pos="0">
                  <a:schemeClr val="accent6">
                    <a:lumMod val="25000"/>
                    <a:lumOff val="75000"/>
                  </a:schemeClr>
                </a:gs>
                <a:gs pos="100000">
                  <a:schemeClr val="accent6">
                    <a:lumMod val="85000"/>
                  </a:schemeClr>
                </a:gs>
              </a:gsLst>
              <a:lin ang="5400000" scaled="0"/>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矩形 13"/>
          <p:cNvSpPr/>
          <p:nvPr/>
        </p:nvSpPr>
        <p:spPr>
          <a:xfrm>
            <a:off x="483235" y="4765040"/>
            <a:ext cx="4728845" cy="1798320"/>
          </a:xfrm>
          <a:prstGeom prst="rect">
            <a:avLst/>
          </a:prstGeom>
          <a:solidFill>
            <a:schemeClr val="bg1"/>
          </a:solidFill>
          <a:ln w="28575">
            <a:gradFill>
              <a:gsLst>
                <a:gs pos="50000">
                  <a:schemeClr val="accent6"/>
                </a:gs>
                <a:gs pos="0">
                  <a:schemeClr val="accent6">
                    <a:lumMod val="25000"/>
                    <a:lumOff val="75000"/>
                  </a:schemeClr>
                </a:gs>
                <a:gs pos="100000">
                  <a:schemeClr val="accent6">
                    <a:lumMod val="85000"/>
                  </a:schemeClr>
                </a:gs>
              </a:gsLst>
              <a:lin ang="5400000" scaled="0"/>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82" name="文本框 60"/>
          <p:cNvSpPr txBox="1"/>
          <p:nvPr/>
        </p:nvSpPr>
        <p:spPr>
          <a:xfrm>
            <a:off x="10320239" y="216952"/>
            <a:ext cx="3123637" cy="369332"/>
          </a:xfrm>
          <a:prstGeom prst="rect">
            <a:avLst/>
          </a:prstGeom>
          <a:noFill/>
        </p:spPr>
        <p:txBody>
          <a:bodyPr wrap="square" rtlCol="0">
            <a:spAutoFit/>
          </a:bodyPr>
          <a:lstStyle/>
          <a:p>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未来展望</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585" name="组合 68"/>
          <p:cNvGrpSpPr/>
          <p:nvPr/>
        </p:nvGrpSpPr>
        <p:grpSpPr>
          <a:xfrm>
            <a:off x="0" y="15886"/>
            <a:ext cx="12219295" cy="1001194"/>
            <a:chOff x="-128871" y="-59933"/>
            <a:chExt cx="12219295" cy="1001194"/>
          </a:xfrm>
        </p:grpSpPr>
        <p:grpSp>
          <p:nvGrpSpPr>
            <p:cNvPr id="586" name="组合 67"/>
            <p:cNvGrpSpPr/>
            <p:nvPr/>
          </p:nvGrpSpPr>
          <p:grpSpPr>
            <a:xfrm>
              <a:off x="-128871" y="-59933"/>
              <a:ext cx="12219295" cy="1001194"/>
              <a:chOff x="-128871" y="-59933"/>
              <a:chExt cx="12219295" cy="1001194"/>
            </a:xfrm>
          </p:grpSpPr>
          <p:pic>
            <p:nvPicPr>
              <p:cNvPr id="587" name="图片 53"/>
              <p:cNvPicPr>
                <a:picLocks noChangeAspect="1"/>
              </p:cNvPicPr>
              <p:nvPr/>
            </p:nvPicPr>
            <p:blipFill>
              <a:blip r:embed="rId2" cstate="print"/>
              <a:stretch>
                <a:fillRect/>
              </a:stretch>
            </p:blipFill>
            <p:spPr>
              <a:xfrm>
                <a:off x="-128871" y="-59933"/>
                <a:ext cx="12219295" cy="1001194"/>
              </a:xfrm>
              <a:prstGeom prst="rect">
                <a:avLst/>
              </a:prstGeom>
              <a:effectLst>
                <a:outerShdw blurRad="50800" dist="38100" dir="8100000" algn="tr" rotWithShape="0">
                  <a:prstClr val="black">
                    <a:alpha val="40000"/>
                  </a:prstClr>
                </a:outerShdw>
              </a:effectLst>
            </p:spPr>
          </p:pic>
          <p:sp>
            <p:nvSpPr>
              <p:cNvPr id="588" name="矩形 55"/>
              <p:cNvSpPr/>
              <p:nvPr/>
            </p:nvSpPr>
            <p:spPr>
              <a:xfrm>
                <a:off x="4529489" y="-59933"/>
                <a:ext cx="2427605" cy="773430"/>
              </a:xfrm>
              <a:prstGeom prst="rect">
                <a:avLst/>
              </a:prstGeom>
              <a:solidFill>
                <a:srgbClr val="005825"/>
              </a:solidFill>
              <a:ln>
                <a:solidFill>
                  <a:srgbClr val="0058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89" name="文本框 57"/>
              <p:cNvSpPr txBox="1"/>
              <p:nvPr/>
            </p:nvSpPr>
            <p:spPr>
              <a:xfrm>
                <a:off x="2629484" y="48215"/>
                <a:ext cx="3123637"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选题背景</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0" name="文本框 58"/>
              <p:cNvSpPr txBox="1"/>
              <p:nvPr/>
            </p:nvSpPr>
            <p:spPr>
              <a:xfrm>
                <a:off x="4984149" y="50595"/>
                <a:ext cx="1771650" cy="52197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项目方案</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1" name="文本框 59"/>
              <p:cNvSpPr txBox="1"/>
              <p:nvPr/>
            </p:nvSpPr>
            <p:spPr>
              <a:xfrm>
                <a:off x="7339364" y="50595"/>
                <a:ext cx="174180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项目</a:t>
                </a:r>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进展</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592" name="直接连接符 61"/>
              <p:cNvCxnSpPr/>
              <p:nvPr/>
            </p:nvCxnSpPr>
            <p:spPr>
              <a:xfrm>
                <a:off x="4529735" y="113988"/>
                <a:ext cx="0" cy="4024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3" name="直接连接符 62"/>
              <p:cNvCxnSpPr/>
              <p:nvPr/>
            </p:nvCxnSpPr>
            <p:spPr>
              <a:xfrm flipH="1">
                <a:off x="6955732" y="194315"/>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94" name="文本框 65"/>
            <p:cNvSpPr txBox="1"/>
            <p:nvPr/>
          </p:nvSpPr>
          <p:spPr>
            <a:xfrm>
              <a:off x="9954929" y="50595"/>
              <a:ext cx="196659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总结展望</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cxnSp>
        <p:nvCxnSpPr>
          <p:cNvPr id="595" name="直接连接符 62"/>
          <p:cNvCxnSpPr/>
          <p:nvPr/>
        </p:nvCxnSpPr>
        <p:spPr>
          <a:xfrm flipH="1">
            <a:off x="9592354" y="270134"/>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596" name="组合 13"/>
          <p:cNvGrpSpPr/>
          <p:nvPr/>
        </p:nvGrpSpPr>
        <p:grpSpPr>
          <a:xfrm>
            <a:off x="204998" y="81727"/>
            <a:ext cx="1999471" cy="590901"/>
            <a:chOff x="4077923" y="171807"/>
            <a:chExt cx="4420435" cy="1371709"/>
          </a:xfrm>
        </p:grpSpPr>
        <p:grpSp>
          <p:nvGrpSpPr>
            <p:cNvPr id="597" name="组合 14"/>
            <p:cNvGrpSpPr/>
            <p:nvPr/>
          </p:nvGrpSpPr>
          <p:grpSpPr>
            <a:xfrm>
              <a:off x="4077923" y="171807"/>
              <a:ext cx="4260493" cy="1371709"/>
              <a:chOff x="6331308" y="1189619"/>
              <a:chExt cx="5481392" cy="1764794"/>
            </a:xfrm>
          </p:grpSpPr>
          <p:pic>
            <p:nvPicPr>
              <p:cNvPr id="598" name="图片 33"/>
              <p:cNvPicPr>
                <a:picLocks noChangeAspect="1"/>
              </p:cNvPicPr>
              <p:nvPr/>
            </p:nvPicPr>
            <p:blipFill>
              <a:blip r:embed="rId3"/>
              <a:srcRect/>
              <a:stretch>
                <a:fillRect/>
              </a:stretch>
            </p:blipFill>
            <p:spPr>
              <a:xfrm>
                <a:off x="6331308" y="1189619"/>
                <a:ext cx="1791803" cy="1764794"/>
              </a:xfrm>
              <a:prstGeom prst="rect">
                <a:avLst/>
              </a:prstGeom>
            </p:spPr>
          </p:pic>
          <p:pic>
            <p:nvPicPr>
              <p:cNvPr id="599" name="图片 35"/>
              <p:cNvPicPr>
                <a:picLocks noChangeAspect="1"/>
              </p:cNvPicPr>
              <p:nvPr/>
            </p:nvPicPr>
            <p:blipFill>
              <a:blip r:embed="rId4"/>
              <a:srcRect/>
              <a:stretch>
                <a:fillRect/>
              </a:stretch>
            </p:blipFill>
            <p:spPr>
              <a:xfrm>
                <a:off x="8302517" y="1422328"/>
                <a:ext cx="3510183" cy="965303"/>
              </a:xfrm>
              <a:prstGeom prst="rect">
                <a:avLst/>
              </a:prstGeom>
            </p:spPr>
          </p:pic>
        </p:grpSp>
        <p:sp>
          <p:nvSpPr>
            <p:cNvPr id="600" name="矩形 15"/>
            <p:cNvSpPr/>
            <p:nvPr/>
          </p:nvSpPr>
          <p:spPr>
            <a:xfrm>
              <a:off x="5470629" y="1076339"/>
              <a:ext cx="3027729" cy="410186"/>
            </a:xfrm>
            <a:prstGeom prst="rect">
              <a:avLst/>
            </a:prstGeom>
          </p:spPr>
          <p:txBody>
            <a:bodyPr wrap="square">
              <a:spAutoFit/>
            </a:bodyPr>
            <a:lstStyle/>
            <a:p>
              <a:pPr algn="dist">
                <a:defRPr/>
              </a:pPr>
              <a:r>
                <a:rPr lang="en-US" altLang="zh-CN" sz="900" b="1" dirty="0">
                  <a:solidFill>
                    <a:prstClr val="black"/>
                  </a:solidFill>
                  <a:latin typeface="Calibri" panose="020F0502020204030204"/>
                  <a:ea typeface="微软雅黑" panose="020B0503020204020204" pitchFamily="34" charset="-122"/>
                </a:rPr>
                <a:t>WUHAN UNIVERSITY</a:t>
              </a:r>
              <a:endParaRPr lang="en-US" altLang="zh-CN" sz="900" b="1" dirty="0">
                <a:solidFill>
                  <a:prstClr val="black"/>
                </a:solidFill>
                <a:latin typeface="Calibri" panose="020F0502020204030204"/>
                <a:ea typeface="微软雅黑" panose="020B0503020204020204" pitchFamily="34" charset="-122"/>
              </a:endParaRPr>
            </a:p>
          </p:txBody>
        </p:sp>
      </p:grpSp>
      <p:sp>
        <p:nvSpPr>
          <p:cNvPr id="107" name="文本框 106"/>
          <p:cNvSpPr txBox="1"/>
          <p:nvPr/>
        </p:nvSpPr>
        <p:spPr>
          <a:xfrm>
            <a:off x="205105" y="843280"/>
            <a:ext cx="6679565" cy="521970"/>
          </a:xfrm>
          <a:prstGeom prst="rect">
            <a:avLst/>
          </a:prstGeom>
          <a:noFill/>
        </p:spPr>
        <p:txBody>
          <a:bodyPr wrap="square" rtlCol="0" anchor="t">
            <a:spAutoFit/>
          </a:bodyPr>
          <a:p>
            <a:r>
              <a:rPr lang="en-US" altLang="zh-CN" sz="2800" b="1" dirty="0">
                <a:solidFill>
                  <a:srgbClr val="005825"/>
                </a:solidFill>
                <a:latin typeface="微软雅黑" panose="020B0503020204020204" pitchFamily="34" charset="-122"/>
                <a:ea typeface="微软雅黑" panose="020B0503020204020204" pitchFamily="34" charset="-122"/>
                <a:cs typeface="微软雅黑" panose="020B0503020204020204" pitchFamily="34" charset="-122"/>
                <a:sym typeface="+mn-ea"/>
              </a:rPr>
              <a:t>2.2.4 </a:t>
            </a:r>
            <a:r>
              <a:rPr lang="zh-CN" altLang="en-US" sz="2800" b="1" dirty="0">
                <a:solidFill>
                  <a:srgbClr val="005825"/>
                </a:solidFill>
                <a:latin typeface="微软雅黑" panose="020B0503020204020204" pitchFamily="34" charset="-122"/>
                <a:ea typeface="微软雅黑" panose="020B0503020204020204" pitchFamily="34" charset="-122"/>
                <a:cs typeface="微软雅黑" panose="020B0503020204020204" pitchFamily="34" charset="-122"/>
                <a:sym typeface="+mn-ea"/>
              </a:rPr>
              <a:t>知识驱动</a:t>
            </a:r>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800" b="1">
                <a:solidFill>
                  <a:srgbClr val="000000"/>
                </a:solidFill>
                <a:latin typeface="微软雅黑" panose="020B0503020204020204" pitchFamily="34" charset="-122"/>
                <a:ea typeface="微软雅黑" panose="020B0503020204020204" pitchFamily="34" charset="-122"/>
                <a:sym typeface="+mn-ea"/>
              </a:rPr>
              <a:t>原型系统开发与验证方法</a:t>
            </a:r>
            <a:endParaRPr lang="en-US" altLang="zh-CN" sz="2800" b="1"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 name="文本框 1"/>
          <p:cNvSpPr txBox="1"/>
          <p:nvPr/>
        </p:nvSpPr>
        <p:spPr>
          <a:xfrm>
            <a:off x="897890" y="4749165"/>
            <a:ext cx="3005455" cy="431800"/>
          </a:xfrm>
          <a:prstGeom prst="rect">
            <a:avLst/>
          </a:prstGeom>
          <a:noFill/>
          <a:ln w="76200">
            <a:gradFill>
              <a:gsLst>
                <a:gs pos="50000">
                  <a:schemeClr val="accent6"/>
                </a:gs>
                <a:gs pos="0">
                  <a:schemeClr val="accent6">
                    <a:lumMod val="25000"/>
                    <a:lumOff val="75000"/>
                  </a:schemeClr>
                </a:gs>
                <a:gs pos="100000">
                  <a:schemeClr val="accent6">
                    <a:lumMod val="85000"/>
                  </a:schemeClr>
                </a:gs>
              </a:gsLst>
              <a:lin ang="5400000" scaled="0"/>
            </a:gradFill>
          </a:ln>
        </p:spPr>
        <p:txBody>
          <a:bodyPr wrap="square" rtlCol="0">
            <a:noAutofit/>
          </a:bodyPr>
          <a:p>
            <a:pPr>
              <a:buClrTx/>
              <a:buSzTx/>
              <a:buFontTx/>
            </a:pPr>
            <a:r>
              <a:rPr lang="zh-CN" altLang="en-US" sz="2400" b="1">
                <a:solidFill>
                  <a:srgbClr val="00481C"/>
                </a:solidFill>
                <a:latin typeface="微软雅黑" panose="020B0503020204020204" pitchFamily="34" charset="-122"/>
                <a:ea typeface="微软雅黑" panose="020B0503020204020204" pitchFamily="34" charset="-122"/>
                <a:sym typeface="+mn-ea"/>
              </a:rPr>
              <a:t>实验验证与预期成果</a:t>
            </a:r>
            <a:endParaRPr lang="zh-CN" altLang="en-US" sz="2400" b="1">
              <a:solidFill>
                <a:srgbClr val="00481C"/>
              </a:solidFill>
              <a:latin typeface="微软雅黑" panose="020B0503020204020204" pitchFamily="34" charset="-122"/>
              <a:ea typeface="微软雅黑" panose="020B0503020204020204" pitchFamily="34" charset="-122"/>
              <a:sym typeface="+mn-ea"/>
            </a:endParaRPr>
          </a:p>
        </p:txBody>
      </p:sp>
      <p:pic>
        <p:nvPicPr>
          <p:cNvPr id="5" name="Picture 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16890" y="1472565"/>
            <a:ext cx="304800" cy="304800"/>
          </a:xfrm>
          <a:prstGeom prst="rect">
            <a:avLst/>
          </a:prstGeom>
        </p:spPr>
      </p:pic>
      <p:sp>
        <p:nvSpPr>
          <p:cNvPr id="9" name="AutoShape 9"/>
          <p:cNvSpPr/>
          <p:nvPr/>
        </p:nvSpPr>
        <p:spPr>
          <a:xfrm>
            <a:off x="897890" y="1946910"/>
            <a:ext cx="4445000" cy="304800"/>
          </a:xfrm>
          <a:prstGeom prst="rect">
            <a:avLst/>
          </a:prstGeom>
          <a:noFill/>
          <a:ln w="12700" cap="flat" cmpd="sng">
            <a:noFill/>
            <a:prstDash val="solid"/>
            <a:round/>
          </a:ln>
        </p:spPr>
        <p:txBody>
          <a:bodyPr vert="horz" wrap="square" lIns="0" tIns="0" rIns="0" bIns="0" rtlCol="0" anchor="ctr" anchorCtr="0"/>
          <a:p>
            <a:pPr indent="0" algn="l">
              <a:lnSpc>
                <a:spcPct val="125000"/>
              </a:lnSpc>
              <a:defRPr/>
            </a:pPr>
            <a:r>
              <a:rPr lang="en-US" sz="2000" b="1" i="0" u="none" strike="noStrike">
                <a:solidFill>
                  <a:schemeClr val="tx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前后端分离架构设计</a:t>
            </a:r>
            <a:endParaRPr lang="en-US" sz="2000" b="1" i="0" u="none" strike="noStrike">
              <a:solidFill>
                <a:schemeClr val="tx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p:txBody>
      </p:sp>
      <p:sp>
        <p:nvSpPr>
          <p:cNvPr id="10" name="AutoShape 10" descr="7b0a202020202262756c6c6574223a20227b5c2263617465676f727949645c223a5c225c222c5c2274656d706c61746549645c223a32303233313731337d220a7d0a"/>
          <p:cNvSpPr/>
          <p:nvPr/>
        </p:nvSpPr>
        <p:spPr>
          <a:xfrm>
            <a:off x="835025" y="2284095"/>
            <a:ext cx="4445000" cy="1016000"/>
          </a:xfrm>
          <a:prstGeom prst="rect">
            <a:avLst/>
          </a:prstGeom>
          <a:noFill/>
          <a:ln w="12700" cap="flat" cmpd="sng">
            <a:noFill/>
            <a:prstDash val="solid"/>
            <a:round/>
          </a:ln>
        </p:spPr>
        <p:txBody>
          <a:bodyPr vert="horz" wrap="square" lIns="0" tIns="0" rIns="0" bIns="0" rtlCol="0" anchor="ctr" anchorCtr="0"/>
          <a:p>
            <a:pPr indent="0" algn="l">
              <a:lnSpc>
                <a:spcPct val="150000"/>
              </a:lnSpc>
              <a:buClr>
                <a:srgbClr val="D1D1D6"/>
              </a:buClr>
              <a:buBlip>
                <a:blip r:embed="rId7">
                  <a:extLst>
                    <a:ext uri="{96DAC541-7B7A-43D3-8B79-37D633B846F1}">
                      <asvg:svgBlip xmlns:asvg="http://schemas.microsoft.com/office/drawing/2016/SVG/main" r:embed="rId8"/>
                    </a:ext>
                  </a:extLst>
                </a:blip>
              </a:buBlip>
              <a:defRPr/>
            </a:pPr>
            <a:r>
              <a:rPr lang="en-US" sz="1400" b="0"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前端：Vue.js框架，提供自然语言输入与地图预览</a:t>
            </a:r>
            <a:endParaRPr lang="en-US" sz="140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indent="0" algn="l">
              <a:lnSpc>
                <a:spcPct val="150000"/>
              </a:lnSpc>
              <a:buClr>
                <a:srgbClr val="D1D1D6"/>
              </a:buClr>
              <a:buBlip>
                <a:blip r:embed="rId7">
                  <a:extLst>
                    <a:ext uri="{96DAC541-7B7A-43D3-8B79-37D633B846F1}">
                      <asvg:svgBlip xmlns:asvg="http://schemas.microsoft.com/office/drawing/2016/SVG/main" r:embed="rId8"/>
                    </a:ext>
                  </a:extLst>
                </a:blip>
              </a:buBlip>
            </a:pPr>
            <a:r>
              <a:rPr lang="en-US" sz="1400" b="0"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后端：Flask框架，负责请求分发与智能体调度</a:t>
            </a:r>
            <a:endParaRPr lang="en-US" sz="1400" b="0"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endParaRPr>
          </a:p>
          <a:p>
            <a:pPr indent="0" algn="l">
              <a:lnSpc>
                <a:spcPct val="150000"/>
              </a:lnSpc>
              <a:buClr>
                <a:srgbClr val="D1D1D6"/>
              </a:buClr>
              <a:buBlip>
                <a:blip r:embed="rId7">
                  <a:extLst>
                    <a:ext uri="{96DAC541-7B7A-43D3-8B79-37D633B846F1}">
                      <asvg:svgBlip xmlns:asvg="http://schemas.microsoft.com/office/drawing/2016/SVG/main" r:embed="rId8"/>
                    </a:ext>
                  </a:extLst>
                </a:blip>
              </a:buBlip>
            </a:pPr>
            <a:r>
              <a:rPr lang="en-US" sz="1400" b="0"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渲染：集成OpenLayers，实现地图可视化交互</a:t>
            </a:r>
            <a:endParaRPr lang="en-US" sz="1400" b="0"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endParaRPr>
          </a:p>
        </p:txBody>
      </p:sp>
      <p:sp>
        <p:nvSpPr>
          <p:cNvPr id="12" name="AutoShape 12"/>
          <p:cNvSpPr/>
          <p:nvPr/>
        </p:nvSpPr>
        <p:spPr>
          <a:xfrm>
            <a:off x="897890" y="3312160"/>
            <a:ext cx="4445000" cy="304800"/>
          </a:xfrm>
          <a:prstGeom prst="rect">
            <a:avLst/>
          </a:prstGeom>
          <a:noFill/>
          <a:ln w="12700" cap="flat" cmpd="sng">
            <a:noFill/>
            <a:prstDash val="solid"/>
            <a:round/>
          </a:ln>
        </p:spPr>
        <p:txBody>
          <a:bodyPr vert="horz" wrap="square" lIns="0" tIns="0" rIns="0" bIns="0" rtlCol="0" anchor="ctr" anchorCtr="0"/>
          <a:p>
            <a:pPr indent="0" algn="l">
              <a:lnSpc>
                <a:spcPct val="125000"/>
              </a:lnSpc>
              <a:defRPr/>
            </a:pPr>
            <a:r>
              <a:rPr lang="en-US" sz="2000" b="1" i="0" u="none" strike="noStrike">
                <a:solidFill>
                  <a:schemeClr val="tx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核心功能模块集成</a:t>
            </a:r>
            <a:endParaRPr lang="en-US" sz="2000" b="1" i="0" u="none" strike="noStrike">
              <a:solidFill>
                <a:schemeClr val="tx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p:txBody>
      </p:sp>
      <p:sp>
        <p:nvSpPr>
          <p:cNvPr id="13" name="AutoShape 13" descr="7b0a202020202262756c6c6574223a20227b5c2263617465676f727949645c223a5c225c222c5c2274656d706c61746549645c223a32303233313731337d220a7d0a"/>
          <p:cNvSpPr/>
          <p:nvPr/>
        </p:nvSpPr>
        <p:spPr>
          <a:xfrm>
            <a:off x="835025" y="3550285"/>
            <a:ext cx="4445000" cy="1016000"/>
          </a:xfrm>
          <a:prstGeom prst="rect">
            <a:avLst/>
          </a:prstGeom>
          <a:noFill/>
          <a:ln w="12700" cap="flat" cmpd="sng">
            <a:noFill/>
            <a:prstDash val="solid"/>
            <a:round/>
          </a:ln>
        </p:spPr>
        <p:txBody>
          <a:bodyPr vert="horz" wrap="square" lIns="0" tIns="0" rIns="0" bIns="0" rtlCol="0" anchor="ctr" anchorCtr="0"/>
          <a:p>
            <a:pPr marL="165100" indent="-165100" algn="l">
              <a:lnSpc>
                <a:spcPct val="150000"/>
              </a:lnSpc>
              <a:buClr>
                <a:srgbClr val="D1D1D6"/>
              </a:buClr>
              <a:buBlip>
                <a:blip r:embed="rId7">
                  <a:extLst>
                    <a:ext uri="{96DAC541-7B7A-43D3-8B79-37D633B846F1}">
                      <asvg:svgBlip xmlns:asvg="http://schemas.microsoft.com/office/drawing/2016/SVG/main" r:embed="rId8"/>
                    </a:ext>
                  </a:extLst>
                </a:blip>
              </a:buBlip>
              <a:defRPr/>
            </a:pPr>
            <a:r>
              <a:rPr lang="en-US" sz="1400" b="0"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交互模块：LLM驱动的自然语言需求解析</a:t>
            </a:r>
            <a:endParaRPr lang="en-US" sz="140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165100" indent="-165100" algn="l">
              <a:lnSpc>
                <a:spcPct val="150000"/>
              </a:lnSpc>
              <a:buClr>
                <a:srgbClr val="D1D1D6"/>
              </a:buClr>
              <a:buBlip>
                <a:blip r:embed="rId7">
                  <a:extLst>
                    <a:ext uri="{96DAC541-7B7A-43D3-8B79-37D633B846F1}">
                      <asvg:svgBlip xmlns:asvg="http://schemas.microsoft.com/office/drawing/2016/SVG/main" r:embed="rId8"/>
                    </a:ext>
                  </a:extLst>
                </a:blip>
              </a:buBlip>
            </a:pPr>
            <a:r>
              <a:rPr lang="en-US" sz="1400" b="0"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服务模块：智能体任务规划与知识图谱推理</a:t>
            </a:r>
            <a:endParaRPr lang="en-US" sz="1400" b="0"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endParaRPr>
          </a:p>
          <a:p>
            <a:pPr marL="165100" indent="-165100" algn="l">
              <a:lnSpc>
                <a:spcPct val="150000"/>
              </a:lnSpc>
              <a:buClr>
                <a:srgbClr val="D1D1D6"/>
              </a:buClr>
              <a:buBlip>
                <a:blip r:embed="rId7">
                  <a:extLst>
                    <a:ext uri="{96DAC541-7B7A-43D3-8B79-37D633B846F1}">
                      <asvg:svgBlip xmlns:asvg="http://schemas.microsoft.com/office/drawing/2016/SVG/main" r:embed="rId8"/>
                    </a:ext>
                  </a:extLst>
                </a:blip>
              </a:buBlip>
            </a:pPr>
            <a:r>
              <a:rPr lang="en-US" sz="1400" b="0"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工具模块：地图符号绘制与数据获取API封装</a:t>
            </a:r>
            <a:endParaRPr lang="en-US" sz="1400" b="0"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endParaRPr>
          </a:p>
        </p:txBody>
      </p:sp>
      <p:pic>
        <p:nvPicPr>
          <p:cNvPr id="15" name="Picture 15"/>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16890" y="4876165"/>
            <a:ext cx="304800" cy="304800"/>
          </a:xfrm>
          <a:prstGeom prst="rect">
            <a:avLst/>
          </a:prstGeom>
        </p:spPr>
      </p:pic>
      <p:sp>
        <p:nvSpPr>
          <p:cNvPr id="11" name="文本框 10" descr="7b0a202020202262756c6c6574223a20227b5c2263617465676f727949645c223a5c225c222c5c2274656d706c61746549645c223a32303233313731337d220a7d0a"/>
          <p:cNvSpPr txBox="1"/>
          <p:nvPr/>
        </p:nvSpPr>
        <p:spPr>
          <a:xfrm>
            <a:off x="835025" y="5180965"/>
            <a:ext cx="6096000" cy="1198880"/>
          </a:xfrm>
          <a:prstGeom prst="rect">
            <a:avLst/>
          </a:prstGeom>
          <a:noFill/>
        </p:spPr>
        <p:txBody>
          <a:bodyPr wrap="square" rtlCol="0" anchor="t">
            <a:spAutoFit/>
          </a:bodyPr>
          <a:p>
            <a:pPr indent="0" algn="l">
              <a:lnSpc>
                <a:spcPct val="150000"/>
              </a:lnSpc>
              <a:buBlip>
                <a:blip r:embed="rId7">
                  <a:extLst>
                    <a:ext uri="{96DAC541-7B7A-43D3-8B79-37D633B846F1}">
                      <asvg:svgBlip xmlns:asvg="http://schemas.microsoft.com/office/drawing/2016/SVG/main" r:embed="rId8"/>
                    </a:ext>
                  </a:extLst>
                </a:blip>
              </a:buBlip>
              <a:defRPr/>
            </a:pPr>
            <a:r>
              <a:rPr lang="en-US"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典型场景测试</a:t>
            </a:r>
            <a:endParaRPr lang="en-US"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endParaRPr>
          </a:p>
          <a:p>
            <a:pPr indent="0" algn="l">
              <a:lnSpc>
                <a:spcPct val="150000"/>
              </a:lnSpc>
              <a:buBlip>
                <a:blip r:embed="rId7">
                  <a:extLst>
                    <a:ext uri="{96DAC541-7B7A-43D3-8B79-37D633B846F1}">
                      <asvg:svgBlip xmlns:asvg="http://schemas.microsoft.com/office/drawing/2016/SVG/main" r:embed="rId8"/>
                    </a:ext>
                  </a:extLst>
                </a:blip>
              </a:buBlip>
              <a:defRPr/>
            </a:pPr>
            <a:r>
              <a:rPr lang="en-US"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多维评估指标</a:t>
            </a:r>
            <a:endParaRPr lang="en-US"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indent="0" algn="l">
              <a:lnSpc>
                <a:spcPct val="150000"/>
              </a:lnSpc>
              <a:buBlip>
                <a:blip r:embed="rId7">
                  <a:extLst>
                    <a:ext uri="{96DAC541-7B7A-43D3-8B79-37D633B846F1}">
                      <asvg:svgBlip xmlns:asvg="http://schemas.microsoft.com/office/drawing/2016/SVG/main" r:embed="rId8"/>
                    </a:ext>
                  </a:extLst>
                </a:blip>
              </a:buBlip>
              <a:defRPr/>
            </a:pPr>
            <a:r>
              <a:rPr lang="zh-CN" altLang="en-US"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预期成果产出</a:t>
            </a:r>
            <a:r>
              <a:rPr lang="en-US" altLang="zh-CN"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a:t>
            </a:r>
            <a:r>
              <a:rPr lang="en-US"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可交互的Web端原型系统</a:t>
            </a:r>
            <a:endParaRPr lang="en-US" altLang="en-US"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endParaRPr>
          </a:p>
        </p:txBody>
      </p:sp>
      <p:sp>
        <p:nvSpPr>
          <p:cNvPr id="6" name="AutoShape 6"/>
          <p:cNvSpPr/>
          <p:nvPr/>
        </p:nvSpPr>
        <p:spPr>
          <a:xfrm>
            <a:off x="897890" y="1419225"/>
            <a:ext cx="3004820" cy="455295"/>
          </a:xfrm>
          <a:prstGeom prst="rect">
            <a:avLst/>
          </a:prstGeom>
          <a:noFill/>
          <a:ln w="57150" cap="flat" cmpd="sng">
            <a:gradFill>
              <a:gsLst>
                <a:gs pos="50000">
                  <a:schemeClr val="accent6"/>
                </a:gs>
                <a:gs pos="0">
                  <a:schemeClr val="accent6">
                    <a:lumMod val="25000"/>
                    <a:lumOff val="75000"/>
                  </a:schemeClr>
                </a:gs>
                <a:gs pos="100000">
                  <a:schemeClr val="accent6">
                    <a:lumMod val="85000"/>
                  </a:schemeClr>
                </a:gs>
              </a:gsLst>
              <a:lin ang="5400000" scaled="0"/>
            </a:gradFill>
            <a:prstDash val="solid"/>
            <a:round/>
          </a:ln>
        </p:spPr>
        <p:txBody>
          <a:bodyPr vert="horz" wrap="square" lIns="0" tIns="0" rIns="0" bIns="0" rtlCol="0" anchor="ctr" anchorCtr="0"/>
          <a:p>
            <a:pPr indent="0" algn="l">
              <a:lnSpc>
                <a:spcPct val="125000"/>
              </a:lnSpc>
              <a:defRPr/>
            </a:pPr>
            <a:r>
              <a:rPr lang="en-US" sz="2400" b="1" i="0" u="none" strike="noStrike">
                <a:solidFill>
                  <a:srgbClr val="00481C"/>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 系统架构与核心功能</a:t>
            </a:r>
            <a:endParaRPr lang="en-US" sz="2400" b="1" i="0" u="none" strike="noStrike">
              <a:solidFill>
                <a:srgbClr val="00481C"/>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p:txBody>
      </p:sp>
      <p:sp>
        <p:nvSpPr>
          <p:cNvPr id="4" name="页脚占位符 3"/>
          <p:cNvSpPr>
            <a:spLocks noGrp="1"/>
          </p:cNvSpPr>
          <p:nvPr>
            <p:ph type="ftr" sz="quarter" idx="11"/>
          </p:nvPr>
        </p:nvSpPr>
        <p:spPr/>
        <p:txBody>
          <a:bodyPr/>
          <a:p>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581" name=""/>
        <p:cNvGrpSpPr/>
        <p:nvPr/>
      </p:nvGrpSpPr>
      <p:grpSpPr>
        <a:xfrm>
          <a:off x="0" y="0"/>
          <a:ext cx="0" cy="0"/>
          <a:chOff x="0" y="0"/>
          <a:chExt cx="0" cy="0"/>
        </a:xfrm>
      </p:grpSpPr>
      <p:pic>
        <p:nvPicPr>
          <p:cNvPr id="2" name="图片 -2147482616"/>
          <p:cNvPicPr>
            <a:picLocks noChangeAspect="1"/>
          </p:cNvPicPr>
          <p:nvPr/>
        </p:nvPicPr>
        <p:blipFill>
          <a:blip r:embed="rId1"/>
          <a:stretch>
            <a:fillRect/>
          </a:stretch>
        </p:blipFill>
        <p:spPr>
          <a:xfrm>
            <a:off x="709295" y="1452245"/>
            <a:ext cx="10800715" cy="4968240"/>
          </a:xfrm>
          <a:prstGeom prst="rect">
            <a:avLst/>
          </a:prstGeom>
          <a:noFill/>
          <a:ln w="9525">
            <a:noFill/>
          </a:ln>
        </p:spPr>
      </p:pic>
      <p:sp>
        <p:nvSpPr>
          <p:cNvPr id="582" name="文本框 60"/>
          <p:cNvSpPr txBox="1"/>
          <p:nvPr/>
        </p:nvSpPr>
        <p:spPr>
          <a:xfrm>
            <a:off x="10320239" y="216952"/>
            <a:ext cx="3123637" cy="369332"/>
          </a:xfrm>
          <a:prstGeom prst="rect">
            <a:avLst/>
          </a:prstGeom>
          <a:noFill/>
        </p:spPr>
        <p:txBody>
          <a:bodyPr wrap="square" rtlCol="0">
            <a:spAutoFit/>
          </a:bodyPr>
          <a:lstStyle/>
          <a:p>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未来展望</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585" name="组合 68"/>
          <p:cNvGrpSpPr/>
          <p:nvPr/>
        </p:nvGrpSpPr>
        <p:grpSpPr>
          <a:xfrm>
            <a:off x="0" y="15886"/>
            <a:ext cx="12219295" cy="1001194"/>
            <a:chOff x="-128871" y="-59933"/>
            <a:chExt cx="12219295" cy="1001194"/>
          </a:xfrm>
        </p:grpSpPr>
        <p:grpSp>
          <p:nvGrpSpPr>
            <p:cNvPr id="586" name="组合 67"/>
            <p:cNvGrpSpPr/>
            <p:nvPr/>
          </p:nvGrpSpPr>
          <p:grpSpPr>
            <a:xfrm>
              <a:off x="-128871" y="-59933"/>
              <a:ext cx="12219295" cy="1001194"/>
              <a:chOff x="-128871" y="-59933"/>
              <a:chExt cx="12219295" cy="1001194"/>
            </a:xfrm>
          </p:grpSpPr>
          <p:pic>
            <p:nvPicPr>
              <p:cNvPr id="587" name="图片 53"/>
              <p:cNvPicPr>
                <a:picLocks noChangeAspect="1"/>
              </p:cNvPicPr>
              <p:nvPr/>
            </p:nvPicPr>
            <p:blipFill>
              <a:blip r:embed="rId2" cstate="print"/>
              <a:stretch>
                <a:fillRect/>
              </a:stretch>
            </p:blipFill>
            <p:spPr>
              <a:xfrm>
                <a:off x="-128871" y="-59933"/>
                <a:ext cx="12219295" cy="1001194"/>
              </a:xfrm>
              <a:prstGeom prst="rect">
                <a:avLst/>
              </a:prstGeom>
              <a:effectLst>
                <a:outerShdw blurRad="50800" dist="38100" dir="8100000" algn="tr" rotWithShape="0">
                  <a:prstClr val="black">
                    <a:alpha val="40000"/>
                  </a:prstClr>
                </a:outerShdw>
              </a:effectLst>
            </p:spPr>
          </p:pic>
          <p:sp>
            <p:nvSpPr>
              <p:cNvPr id="588" name="矩形 55"/>
              <p:cNvSpPr/>
              <p:nvPr/>
            </p:nvSpPr>
            <p:spPr>
              <a:xfrm>
                <a:off x="4529489" y="-59933"/>
                <a:ext cx="2427605" cy="773430"/>
              </a:xfrm>
              <a:prstGeom prst="rect">
                <a:avLst/>
              </a:prstGeom>
              <a:solidFill>
                <a:srgbClr val="005825"/>
              </a:solidFill>
              <a:ln>
                <a:solidFill>
                  <a:srgbClr val="0058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89" name="文本框 57"/>
              <p:cNvSpPr txBox="1"/>
              <p:nvPr/>
            </p:nvSpPr>
            <p:spPr>
              <a:xfrm>
                <a:off x="2629484" y="48215"/>
                <a:ext cx="3123637"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选题背景</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0" name="文本框 58"/>
              <p:cNvSpPr txBox="1"/>
              <p:nvPr/>
            </p:nvSpPr>
            <p:spPr>
              <a:xfrm>
                <a:off x="4984149" y="50595"/>
                <a:ext cx="1771650" cy="52197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项目方案</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1" name="文本框 59"/>
              <p:cNvSpPr txBox="1"/>
              <p:nvPr/>
            </p:nvSpPr>
            <p:spPr>
              <a:xfrm>
                <a:off x="7339364" y="50595"/>
                <a:ext cx="174180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项目</a:t>
                </a:r>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进展</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592" name="直接连接符 61"/>
              <p:cNvCxnSpPr/>
              <p:nvPr/>
            </p:nvCxnSpPr>
            <p:spPr>
              <a:xfrm>
                <a:off x="4529735" y="113988"/>
                <a:ext cx="0" cy="4024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3" name="直接连接符 62"/>
              <p:cNvCxnSpPr/>
              <p:nvPr/>
            </p:nvCxnSpPr>
            <p:spPr>
              <a:xfrm flipH="1">
                <a:off x="6955732" y="194315"/>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94" name="文本框 65"/>
            <p:cNvSpPr txBox="1"/>
            <p:nvPr/>
          </p:nvSpPr>
          <p:spPr>
            <a:xfrm>
              <a:off x="9954929" y="50595"/>
              <a:ext cx="196659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总结展望</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cxnSp>
        <p:nvCxnSpPr>
          <p:cNvPr id="595" name="直接连接符 62"/>
          <p:cNvCxnSpPr/>
          <p:nvPr/>
        </p:nvCxnSpPr>
        <p:spPr>
          <a:xfrm flipH="1">
            <a:off x="9592354" y="270134"/>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596" name="组合 13"/>
          <p:cNvGrpSpPr/>
          <p:nvPr/>
        </p:nvGrpSpPr>
        <p:grpSpPr>
          <a:xfrm>
            <a:off x="204998" y="81727"/>
            <a:ext cx="1999471" cy="590901"/>
            <a:chOff x="4077923" y="171807"/>
            <a:chExt cx="4420435" cy="1371709"/>
          </a:xfrm>
        </p:grpSpPr>
        <p:grpSp>
          <p:nvGrpSpPr>
            <p:cNvPr id="597" name="组合 14"/>
            <p:cNvGrpSpPr/>
            <p:nvPr/>
          </p:nvGrpSpPr>
          <p:grpSpPr>
            <a:xfrm>
              <a:off x="4077923" y="171807"/>
              <a:ext cx="4260493" cy="1371709"/>
              <a:chOff x="6331308" y="1189619"/>
              <a:chExt cx="5481392" cy="1764794"/>
            </a:xfrm>
          </p:grpSpPr>
          <p:pic>
            <p:nvPicPr>
              <p:cNvPr id="598" name="图片 33"/>
              <p:cNvPicPr>
                <a:picLocks noChangeAspect="1"/>
              </p:cNvPicPr>
              <p:nvPr/>
            </p:nvPicPr>
            <p:blipFill>
              <a:blip r:embed="rId3"/>
              <a:srcRect/>
              <a:stretch>
                <a:fillRect/>
              </a:stretch>
            </p:blipFill>
            <p:spPr>
              <a:xfrm>
                <a:off x="6331308" y="1189619"/>
                <a:ext cx="1791803" cy="1764794"/>
              </a:xfrm>
              <a:prstGeom prst="rect">
                <a:avLst/>
              </a:prstGeom>
            </p:spPr>
          </p:pic>
          <p:pic>
            <p:nvPicPr>
              <p:cNvPr id="599" name="图片 35"/>
              <p:cNvPicPr>
                <a:picLocks noChangeAspect="1"/>
              </p:cNvPicPr>
              <p:nvPr/>
            </p:nvPicPr>
            <p:blipFill>
              <a:blip r:embed="rId4"/>
              <a:srcRect/>
              <a:stretch>
                <a:fillRect/>
              </a:stretch>
            </p:blipFill>
            <p:spPr>
              <a:xfrm>
                <a:off x="8302517" y="1422328"/>
                <a:ext cx="3510183" cy="965303"/>
              </a:xfrm>
              <a:prstGeom prst="rect">
                <a:avLst/>
              </a:prstGeom>
            </p:spPr>
          </p:pic>
        </p:grpSp>
        <p:sp>
          <p:nvSpPr>
            <p:cNvPr id="600" name="矩形 15"/>
            <p:cNvSpPr/>
            <p:nvPr/>
          </p:nvSpPr>
          <p:spPr>
            <a:xfrm>
              <a:off x="5470629" y="1076339"/>
              <a:ext cx="3027729" cy="410186"/>
            </a:xfrm>
            <a:prstGeom prst="rect">
              <a:avLst/>
            </a:prstGeom>
          </p:spPr>
          <p:txBody>
            <a:bodyPr wrap="square">
              <a:spAutoFit/>
            </a:bodyPr>
            <a:lstStyle/>
            <a:p>
              <a:pPr algn="dist">
                <a:defRPr/>
              </a:pPr>
              <a:r>
                <a:rPr lang="en-US" altLang="zh-CN" sz="900" b="1" dirty="0">
                  <a:solidFill>
                    <a:prstClr val="black"/>
                  </a:solidFill>
                  <a:latin typeface="Calibri" panose="020F0502020204030204"/>
                  <a:ea typeface="微软雅黑" panose="020B0503020204020204" pitchFamily="34" charset="-122"/>
                </a:rPr>
                <a:t>WUHAN UNIVERSITY</a:t>
              </a:r>
              <a:endParaRPr lang="en-US" altLang="zh-CN" sz="900" b="1" dirty="0">
                <a:solidFill>
                  <a:prstClr val="black"/>
                </a:solidFill>
                <a:latin typeface="Calibri" panose="020F0502020204030204"/>
                <a:ea typeface="微软雅黑" panose="020B0503020204020204" pitchFamily="34" charset="-122"/>
              </a:endParaRPr>
            </a:p>
          </p:txBody>
        </p:sp>
      </p:grpSp>
      <p:sp>
        <p:nvSpPr>
          <p:cNvPr id="107" name="文本框 106"/>
          <p:cNvSpPr txBox="1"/>
          <p:nvPr/>
        </p:nvSpPr>
        <p:spPr>
          <a:xfrm>
            <a:off x="205105" y="843280"/>
            <a:ext cx="3215640" cy="521970"/>
          </a:xfrm>
          <a:prstGeom prst="rect">
            <a:avLst/>
          </a:prstGeom>
          <a:noFill/>
        </p:spPr>
        <p:txBody>
          <a:bodyPr wrap="square" rtlCol="0" anchor="t">
            <a:spAutoFit/>
          </a:bodyPr>
          <a:p>
            <a:r>
              <a:rPr lang="en-US" altLang="zh-CN" sz="2800" b="1" dirty="0">
                <a:solidFill>
                  <a:srgbClr val="005825"/>
                </a:solidFill>
                <a:latin typeface="微软雅黑" panose="020B0503020204020204" pitchFamily="34" charset="-122"/>
                <a:ea typeface="微软雅黑" panose="020B0503020204020204" pitchFamily="34" charset="-122"/>
                <a:cs typeface="微软雅黑" panose="020B0503020204020204" pitchFamily="34" charset="-122"/>
                <a:sym typeface="+mn-ea"/>
              </a:rPr>
              <a:t>2.3</a:t>
            </a:r>
            <a:r>
              <a:rPr lang="zh-CN" altLang="en-US" sz="2800" b="1" dirty="0">
                <a:solidFill>
                  <a:srgbClr val="005825"/>
                </a:solidFill>
                <a:latin typeface="微软雅黑" panose="020B0503020204020204" pitchFamily="34" charset="-122"/>
                <a:ea typeface="微软雅黑" panose="020B0503020204020204" pitchFamily="34" charset="-122"/>
                <a:cs typeface="微软雅黑" panose="020B0503020204020204" pitchFamily="34" charset="-122"/>
                <a:sym typeface="+mn-ea"/>
              </a:rPr>
              <a:t>总体技术路线</a:t>
            </a:r>
            <a:endParaRPr lang="zh-CN" altLang="en-US" sz="2800" b="1" dirty="0">
              <a:solidFill>
                <a:srgbClr val="005825"/>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 name="页脚占位符 2"/>
          <p:cNvSpPr>
            <a:spLocks noGrp="1"/>
          </p:cNvSpPr>
          <p:nvPr>
            <p:ph type="ftr" sz="quarter" idx="11"/>
          </p:nvPr>
        </p:nvSpPr>
        <p:spPr/>
        <p:txBody>
          <a:bodyPr/>
          <a:p>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581" name=""/>
        <p:cNvGrpSpPr/>
        <p:nvPr/>
      </p:nvGrpSpPr>
      <p:grpSpPr>
        <a:xfrm>
          <a:off x="0" y="0"/>
          <a:ext cx="0" cy="0"/>
          <a:chOff x="0" y="0"/>
          <a:chExt cx="0" cy="0"/>
        </a:xfrm>
      </p:grpSpPr>
      <p:sp>
        <p:nvSpPr>
          <p:cNvPr id="582" name="文本框 60"/>
          <p:cNvSpPr txBox="1"/>
          <p:nvPr/>
        </p:nvSpPr>
        <p:spPr>
          <a:xfrm>
            <a:off x="10320239" y="216952"/>
            <a:ext cx="3123637" cy="369332"/>
          </a:xfrm>
          <a:prstGeom prst="rect">
            <a:avLst/>
          </a:prstGeom>
          <a:noFill/>
        </p:spPr>
        <p:txBody>
          <a:bodyPr wrap="square" rtlCol="0">
            <a:spAutoFit/>
          </a:bodyPr>
          <a:lstStyle/>
          <a:p>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未来展望</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585" name="组合 68"/>
          <p:cNvGrpSpPr/>
          <p:nvPr/>
        </p:nvGrpSpPr>
        <p:grpSpPr>
          <a:xfrm>
            <a:off x="0" y="15886"/>
            <a:ext cx="12219295" cy="1001194"/>
            <a:chOff x="-128871" y="-59933"/>
            <a:chExt cx="12219295" cy="1001194"/>
          </a:xfrm>
        </p:grpSpPr>
        <p:grpSp>
          <p:nvGrpSpPr>
            <p:cNvPr id="586" name="组合 67"/>
            <p:cNvGrpSpPr/>
            <p:nvPr/>
          </p:nvGrpSpPr>
          <p:grpSpPr>
            <a:xfrm>
              <a:off x="-128871" y="-59933"/>
              <a:ext cx="12219295" cy="1001194"/>
              <a:chOff x="-128871" y="-59933"/>
              <a:chExt cx="12219295" cy="1001194"/>
            </a:xfrm>
          </p:grpSpPr>
          <p:pic>
            <p:nvPicPr>
              <p:cNvPr id="587" name="图片 53"/>
              <p:cNvPicPr>
                <a:picLocks noChangeAspect="1"/>
              </p:cNvPicPr>
              <p:nvPr/>
            </p:nvPicPr>
            <p:blipFill>
              <a:blip r:embed="rId1" cstate="print"/>
              <a:stretch>
                <a:fillRect/>
              </a:stretch>
            </p:blipFill>
            <p:spPr>
              <a:xfrm>
                <a:off x="-128871" y="-59933"/>
                <a:ext cx="12219295" cy="1001194"/>
              </a:xfrm>
              <a:prstGeom prst="rect">
                <a:avLst/>
              </a:prstGeom>
              <a:effectLst>
                <a:outerShdw blurRad="50800" dist="38100" dir="8100000" algn="tr" rotWithShape="0">
                  <a:prstClr val="black">
                    <a:alpha val="40000"/>
                  </a:prstClr>
                </a:outerShdw>
              </a:effectLst>
            </p:spPr>
          </p:pic>
          <p:sp>
            <p:nvSpPr>
              <p:cNvPr id="588" name="矩形 55"/>
              <p:cNvSpPr/>
              <p:nvPr/>
            </p:nvSpPr>
            <p:spPr>
              <a:xfrm>
                <a:off x="4529489" y="-59933"/>
                <a:ext cx="2427605" cy="773430"/>
              </a:xfrm>
              <a:prstGeom prst="rect">
                <a:avLst/>
              </a:prstGeom>
              <a:solidFill>
                <a:srgbClr val="005825"/>
              </a:solidFill>
              <a:ln>
                <a:solidFill>
                  <a:srgbClr val="0058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89" name="文本框 57"/>
              <p:cNvSpPr txBox="1"/>
              <p:nvPr/>
            </p:nvSpPr>
            <p:spPr>
              <a:xfrm>
                <a:off x="2629484" y="48215"/>
                <a:ext cx="3123637"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选题背景</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0" name="文本框 58"/>
              <p:cNvSpPr txBox="1"/>
              <p:nvPr/>
            </p:nvSpPr>
            <p:spPr>
              <a:xfrm>
                <a:off x="4984149" y="50595"/>
                <a:ext cx="1771650" cy="52197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项目方案</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1" name="文本框 59"/>
              <p:cNvSpPr txBox="1"/>
              <p:nvPr/>
            </p:nvSpPr>
            <p:spPr>
              <a:xfrm>
                <a:off x="7339364" y="50595"/>
                <a:ext cx="174180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项目</a:t>
                </a:r>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进展</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592" name="直接连接符 61"/>
              <p:cNvCxnSpPr/>
              <p:nvPr/>
            </p:nvCxnSpPr>
            <p:spPr>
              <a:xfrm>
                <a:off x="4529735" y="113988"/>
                <a:ext cx="0" cy="4024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3" name="直接连接符 62"/>
              <p:cNvCxnSpPr/>
              <p:nvPr/>
            </p:nvCxnSpPr>
            <p:spPr>
              <a:xfrm flipH="1">
                <a:off x="6955732" y="194315"/>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94" name="文本框 65"/>
            <p:cNvSpPr txBox="1"/>
            <p:nvPr/>
          </p:nvSpPr>
          <p:spPr>
            <a:xfrm>
              <a:off x="9954929" y="50595"/>
              <a:ext cx="196659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总结展望</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cxnSp>
        <p:nvCxnSpPr>
          <p:cNvPr id="595" name="直接连接符 62"/>
          <p:cNvCxnSpPr/>
          <p:nvPr/>
        </p:nvCxnSpPr>
        <p:spPr>
          <a:xfrm flipH="1">
            <a:off x="9592354" y="270134"/>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596" name="组合 13"/>
          <p:cNvGrpSpPr/>
          <p:nvPr/>
        </p:nvGrpSpPr>
        <p:grpSpPr>
          <a:xfrm>
            <a:off x="204998" y="81727"/>
            <a:ext cx="1999471" cy="590901"/>
            <a:chOff x="4077923" y="171807"/>
            <a:chExt cx="4420435" cy="1371709"/>
          </a:xfrm>
        </p:grpSpPr>
        <p:grpSp>
          <p:nvGrpSpPr>
            <p:cNvPr id="597" name="组合 14"/>
            <p:cNvGrpSpPr/>
            <p:nvPr/>
          </p:nvGrpSpPr>
          <p:grpSpPr>
            <a:xfrm>
              <a:off x="4077923" y="171807"/>
              <a:ext cx="4260493" cy="1371709"/>
              <a:chOff x="6331308" y="1189619"/>
              <a:chExt cx="5481392" cy="1764794"/>
            </a:xfrm>
          </p:grpSpPr>
          <p:pic>
            <p:nvPicPr>
              <p:cNvPr id="598" name="图片 33"/>
              <p:cNvPicPr>
                <a:picLocks noChangeAspect="1"/>
              </p:cNvPicPr>
              <p:nvPr/>
            </p:nvPicPr>
            <p:blipFill>
              <a:blip r:embed="rId2"/>
              <a:srcRect/>
              <a:stretch>
                <a:fillRect/>
              </a:stretch>
            </p:blipFill>
            <p:spPr>
              <a:xfrm>
                <a:off x="6331308" y="1189619"/>
                <a:ext cx="1791803" cy="1764794"/>
              </a:xfrm>
              <a:prstGeom prst="rect">
                <a:avLst/>
              </a:prstGeom>
            </p:spPr>
          </p:pic>
          <p:pic>
            <p:nvPicPr>
              <p:cNvPr id="599" name="图片 35"/>
              <p:cNvPicPr>
                <a:picLocks noChangeAspect="1"/>
              </p:cNvPicPr>
              <p:nvPr/>
            </p:nvPicPr>
            <p:blipFill>
              <a:blip r:embed="rId3"/>
              <a:srcRect/>
              <a:stretch>
                <a:fillRect/>
              </a:stretch>
            </p:blipFill>
            <p:spPr>
              <a:xfrm>
                <a:off x="8302517" y="1422328"/>
                <a:ext cx="3510183" cy="965303"/>
              </a:xfrm>
              <a:prstGeom prst="rect">
                <a:avLst/>
              </a:prstGeom>
            </p:spPr>
          </p:pic>
        </p:grpSp>
        <p:sp>
          <p:nvSpPr>
            <p:cNvPr id="600" name="矩形 15"/>
            <p:cNvSpPr/>
            <p:nvPr/>
          </p:nvSpPr>
          <p:spPr>
            <a:xfrm>
              <a:off x="5470629" y="1076339"/>
              <a:ext cx="3027729" cy="410186"/>
            </a:xfrm>
            <a:prstGeom prst="rect">
              <a:avLst/>
            </a:prstGeom>
          </p:spPr>
          <p:txBody>
            <a:bodyPr wrap="square">
              <a:spAutoFit/>
            </a:bodyPr>
            <a:lstStyle/>
            <a:p>
              <a:pPr algn="dist">
                <a:defRPr/>
              </a:pPr>
              <a:r>
                <a:rPr lang="en-US" altLang="zh-CN" sz="900" b="1" dirty="0">
                  <a:solidFill>
                    <a:prstClr val="black"/>
                  </a:solidFill>
                  <a:latin typeface="Calibri" panose="020F0502020204030204"/>
                  <a:ea typeface="微软雅黑" panose="020B0503020204020204" pitchFamily="34" charset="-122"/>
                </a:rPr>
                <a:t>WUHAN UNIVERSITY</a:t>
              </a:r>
              <a:endParaRPr lang="en-US" altLang="zh-CN" sz="900" b="1" dirty="0">
                <a:solidFill>
                  <a:prstClr val="black"/>
                </a:solidFill>
                <a:latin typeface="Calibri" panose="020F0502020204030204"/>
                <a:ea typeface="微软雅黑" panose="020B0503020204020204" pitchFamily="34" charset="-122"/>
              </a:endParaRPr>
            </a:p>
          </p:txBody>
        </p:sp>
      </p:grpSp>
      <p:sp>
        <p:nvSpPr>
          <p:cNvPr id="107" name="文本框 106"/>
          <p:cNvSpPr txBox="1"/>
          <p:nvPr/>
        </p:nvSpPr>
        <p:spPr>
          <a:xfrm>
            <a:off x="205105" y="843280"/>
            <a:ext cx="3215640" cy="521970"/>
          </a:xfrm>
          <a:prstGeom prst="rect">
            <a:avLst/>
          </a:prstGeom>
          <a:noFill/>
        </p:spPr>
        <p:txBody>
          <a:bodyPr wrap="square" rtlCol="0" anchor="t">
            <a:spAutoFit/>
          </a:bodyPr>
          <a:p>
            <a:r>
              <a:rPr lang="en-US" altLang="zh-CN" sz="2800" b="1" dirty="0">
                <a:solidFill>
                  <a:srgbClr val="005825"/>
                </a:solidFill>
                <a:latin typeface="微软雅黑" panose="020B0503020204020204" pitchFamily="34" charset="-122"/>
                <a:ea typeface="微软雅黑" panose="020B0503020204020204" pitchFamily="34" charset="-122"/>
                <a:cs typeface="微软雅黑" panose="020B0503020204020204" pitchFamily="34" charset="-122"/>
                <a:sym typeface="+mn-ea"/>
              </a:rPr>
              <a:t>2.4</a:t>
            </a:r>
            <a:r>
              <a:rPr lang="zh-CN" altLang="en-US" sz="2800" b="1" dirty="0">
                <a:solidFill>
                  <a:srgbClr val="005825"/>
                </a:solidFill>
                <a:latin typeface="微软雅黑" panose="020B0503020204020204" pitchFamily="34" charset="-122"/>
                <a:ea typeface="微软雅黑" panose="020B0503020204020204" pitchFamily="34" charset="-122"/>
                <a:cs typeface="微软雅黑" panose="020B0503020204020204" pitchFamily="34" charset="-122"/>
                <a:sym typeface="+mn-ea"/>
              </a:rPr>
              <a:t>人员分工</a:t>
            </a:r>
            <a:endParaRPr lang="zh-CN" altLang="en-US" sz="2800" b="1" dirty="0">
              <a:solidFill>
                <a:srgbClr val="005825"/>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2" name="表格 1"/>
          <p:cNvGraphicFramePr/>
          <p:nvPr>
            <p:custDataLst>
              <p:tags r:id="rId4"/>
            </p:custDataLst>
          </p:nvPr>
        </p:nvGraphicFramePr>
        <p:xfrm>
          <a:off x="306070" y="1365250"/>
          <a:ext cx="11506835" cy="4958715"/>
        </p:xfrm>
        <a:graphic>
          <a:graphicData uri="http://schemas.openxmlformats.org/drawingml/2006/table">
            <a:tbl>
              <a:tblPr firstRow="1" bandRow="1">
                <a:tableStyleId>{054D6A88-18FC-46BF-8F70-5FD4559684DD}</a:tableStyleId>
              </a:tblPr>
              <a:tblGrid>
                <a:gridCol w="2141220"/>
                <a:gridCol w="2141855"/>
                <a:gridCol w="2141855"/>
                <a:gridCol w="5081905"/>
              </a:tblGrid>
              <a:tr h="412115">
                <a:tc>
                  <a:txBody>
                    <a:bodyPr/>
                    <a:p>
                      <a:pPr algn="ctr">
                        <a:buNone/>
                      </a:pPr>
                      <a:r>
                        <a:rPr lang="zh-CN" altLang="en-US" sz="2000">
                          <a:solidFill>
                            <a:schemeClr val="tx1"/>
                          </a:solidFill>
                          <a:latin typeface="微软雅黑" panose="020B0503020204020204" pitchFamily="34" charset="-122"/>
                          <a:ea typeface="微软雅黑" panose="020B0503020204020204" pitchFamily="34" charset="-122"/>
                        </a:rPr>
                        <a:t>职位</a:t>
                      </a:r>
                      <a:endParaRPr lang="zh-CN" altLang="en-US" sz="2000">
                        <a:solidFill>
                          <a:schemeClr val="tx1"/>
                        </a:solidFill>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2000">
                          <a:solidFill>
                            <a:schemeClr val="tx1"/>
                          </a:solidFill>
                          <a:latin typeface="微软雅黑" panose="020B0503020204020204" pitchFamily="34" charset="-122"/>
                          <a:ea typeface="微软雅黑" panose="020B0503020204020204" pitchFamily="34" charset="-122"/>
                        </a:rPr>
                        <a:t>姓名</a:t>
                      </a:r>
                      <a:endParaRPr lang="zh-CN" altLang="en-US" sz="2000">
                        <a:solidFill>
                          <a:schemeClr val="tx1"/>
                        </a:solidFill>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2000">
                          <a:solidFill>
                            <a:schemeClr val="tx1"/>
                          </a:solidFill>
                          <a:latin typeface="微软雅黑" panose="020B0503020204020204" pitchFamily="34" charset="-122"/>
                          <a:ea typeface="微软雅黑" panose="020B0503020204020204" pitchFamily="34" charset="-122"/>
                        </a:rPr>
                        <a:t>专业</a:t>
                      </a:r>
                      <a:endParaRPr lang="zh-CN" altLang="en-US" sz="2000">
                        <a:solidFill>
                          <a:schemeClr val="tx1"/>
                        </a:solidFill>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2000">
                          <a:solidFill>
                            <a:schemeClr val="tx1"/>
                          </a:solidFill>
                          <a:latin typeface="微软雅黑" panose="020B0503020204020204" pitchFamily="34" charset="-122"/>
                          <a:ea typeface="微软雅黑" panose="020B0503020204020204" pitchFamily="34" charset="-122"/>
                        </a:rPr>
                        <a:t>任务分工</a:t>
                      </a:r>
                      <a:endParaRPr lang="zh-CN" altLang="en-US" sz="2000">
                        <a:solidFill>
                          <a:schemeClr val="tx1"/>
                        </a:solidFill>
                        <a:latin typeface="微软雅黑" panose="020B0503020204020204" pitchFamily="34" charset="-122"/>
                        <a:ea typeface="微软雅黑" panose="020B0503020204020204" pitchFamily="34" charset="-122"/>
                      </a:endParaRPr>
                    </a:p>
                  </a:txBody>
                  <a:tcPr anchor="ctr" anchorCtr="0"/>
                </a:tc>
              </a:tr>
              <a:tr h="1346835">
                <a:tc>
                  <a:txBody>
                    <a:bodyPr/>
                    <a:p>
                      <a:pPr algn="ctr">
                        <a:buNone/>
                      </a:pPr>
                      <a:r>
                        <a:rPr lang="zh-CN" altLang="en-US" sz="1800" b="0">
                          <a:solidFill>
                            <a:schemeClr val="tx1"/>
                          </a:solidFill>
                          <a:latin typeface="微软雅黑" panose="020B0503020204020204" pitchFamily="34" charset="-122"/>
                          <a:ea typeface="微软雅黑" panose="020B0503020204020204" pitchFamily="34" charset="-122"/>
                        </a:rPr>
                        <a:t>指导老师</a:t>
                      </a:r>
                      <a:endParaRPr lang="zh-CN" altLang="en-US" sz="1800" b="0">
                        <a:solidFill>
                          <a:schemeClr val="tx1"/>
                        </a:solidFill>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800" b="0">
                          <a:solidFill>
                            <a:schemeClr val="tx1"/>
                          </a:solidFill>
                          <a:latin typeface="微软雅黑" panose="020B0503020204020204" pitchFamily="34" charset="-122"/>
                          <a:ea typeface="微软雅黑" panose="020B0503020204020204" pitchFamily="34" charset="-122"/>
                        </a:rPr>
                        <a:t>蔡忠亮</a:t>
                      </a:r>
                      <a:endParaRPr lang="zh-CN" altLang="en-US" sz="1800" b="0">
                        <a:solidFill>
                          <a:schemeClr val="tx1"/>
                        </a:solidFill>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800" b="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资环学院</a:t>
                      </a:r>
                      <a:r>
                        <a:rPr lang="en-US" altLang="zh-CN" sz="1800" b="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800" b="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教授</a:t>
                      </a:r>
                      <a:endParaRPr lang="zh-CN" altLang="en-US" sz="1800" b="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txBody>
                  <a:tcPr anchor="ctr" anchorCtr="0"/>
                </a:tc>
                <a:tc>
                  <a:txBody>
                    <a:bodyPr/>
                    <a:p>
                      <a:pPr algn="ctr">
                        <a:lnSpc>
                          <a:spcPct val="150000"/>
                        </a:lnSpc>
                        <a:buNone/>
                      </a:pPr>
                      <a:r>
                        <a:rPr lang="zh-CN" altLang="en-US" sz="1400" b="0">
                          <a:solidFill>
                            <a:schemeClr val="tx1"/>
                          </a:solidFill>
                          <a:latin typeface="微软雅黑" panose="020B0503020204020204" pitchFamily="34" charset="-122"/>
                          <a:ea typeface="微软雅黑" panose="020B0503020204020204" pitchFamily="34" charset="-122"/>
                        </a:rPr>
                        <a:t>为此项目提供高水平指导，包括项目流程，文案撰写与答辩等，提供软硬件支持为项目的开展提供了有利的环境和技术支持</a:t>
                      </a:r>
                      <a:endParaRPr lang="zh-CN" altLang="en-US" sz="1400" b="0">
                        <a:solidFill>
                          <a:schemeClr val="tx1"/>
                        </a:solidFill>
                        <a:latin typeface="微软雅黑" panose="020B0503020204020204" pitchFamily="34" charset="-122"/>
                        <a:ea typeface="微软雅黑" panose="020B0503020204020204" pitchFamily="34" charset="-122"/>
                      </a:endParaRPr>
                    </a:p>
                  </a:txBody>
                  <a:tcPr anchor="ctr" anchorCtr="0"/>
                </a:tc>
              </a:tr>
              <a:tr h="1347470">
                <a:tc>
                  <a:txBody>
                    <a:bodyPr/>
                    <a:p>
                      <a:pPr algn="ctr">
                        <a:buNone/>
                      </a:pPr>
                      <a:r>
                        <a:rPr lang="zh-CN" altLang="en-US" sz="1800" b="0">
                          <a:solidFill>
                            <a:schemeClr val="tx1"/>
                          </a:solidFill>
                          <a:latin typeface="微软雅黑" panose="020B0503020204020204" pitchFamily="34" charset="-122"/>
                          <a:ea typeface="微软雅黑" panose="020B0503020204020204" pitchFamily="34" charset="-122"/>
                        </a:rPr>
                        <a:t>负责人</a:t>
                      </a:r>
                      <a:endParaRPr lang="zh-CN" altLang="en-US" sz="1800" b="0">
                        <a:solidFill>
                          <a:schemeClr val="tx1"/>
                        </a:solidFill>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800" b="0">
                          <a:solidFill>
                            <a:schemeClr val="tx1"/>
                          </a:solidFill>
                          <a:latin typeface="微软雅黑" panose="020B0503020204020204" pitchFamily="34" charset="-122"/>
                          <a:ea typeface="微软雅黑" panose="020B0503020204020204" pitchFamily="34" charset="-122"/>
                        </a:rPr>
                        <a:t>匡怡琳</a:t>
                      </a:r>
                      <a:endParaRPr lang="zh-CN" altLang="en-US" sz="1800" b="0">
                        <a:solidFill>
                          <a:schemeClr val="tx1"/>
                        </a:solidFill>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800" b="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地理科学拔尖班</a:t>
                      </a:r>
                      <a:endParaRPr lang="zh-CN" altLang="en-US" sz="1800" b="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txBody>
                  <a:tcPr anchor="ctr" anchorCtr="0"/>
                </a:tc>
                <a:tc>
                  <a:txBody>
                    <a:bodyPr/>
                    <a:p>
                      <a:pPr algn="ctr">
                        <a:lnSpc>
                          <a:spcPct val="150000"/>
                        </a:lnSpc>
                        <a:buNone/>
                      </a:pPr>
                      <a:r>
                        <a:rPr lang="zh-CN" altLang="en-US" sz="1400" b="0">
                          <a:solidFill>
                            <a:schemeClr val="tx1"/>
                          </a:solidFill>
                          <a:latin typeface="微软雅黑" panose="020B0503020204020204" pitchFamily="34" charset="-122"/>
                          <a:ea typeface="微软雅黑" panose="020B0503020204020204" pitchFamily="34" charset="-122"/>
                          <a:sym typeface="+mn-ea"/>
                        </a:rPr>
                        <a:t>项目组组长，负责工作的统筹规划，进行方法的研究，参与实验，结果分析与表达，参与论文、报告、专利等撰写</a:t>
                      </a:r>
                      <a:endParaRPr lang="zh-CN" altLang="en-US" sz="1400" b="0">
                        <a:solidFill>
                          <a:schemeClr val="tx1"/>
                        </a:solidFill>
                        <a:latin typeface="微软雅黑" panose="020B0503020204020204" pitchFamily="34" charset="-122"/>
                        <a:ea typeface="微软雅黑" panose="020B0503020204020204" pitchFamily="34" charset="-122"/>
                        <a:sym typeface="+mn-ea"/>
                      </a:endParaRPr>
                    </a:p>
                  </a:txBody>
                  <a:tcPr anchor="ctr" anchorCtr="0"/>
                </a:tc>
              </a:tr>
              <a:tr h="925830">
                <a:tc>
                  <a:txBody>
                    <a:bodyPr/>
                    <a:p>
                      <a:pPr algn="ctr">
                        <a:buNone/>
                      </a:pPr>
                      <a:r>
                        <a:rPr lang="zh-CN" altLang="en-US" sz="1800" b="0">
                          <a:solidFill>
                            <a:schemeClr val="tx1"/>
                          </a:solidFill>
                          <a:latin typeface="微软雅黑" panose="020B0503020204020204" pitchFamily="34" charset="-122"/>
                          <a:ea typeface="微软雅黑" panose="020B0503020204020204" pitchFamily="34" charset="-122"/>
                        </a:rPr>
                        <a:t>成员</a:t>
                      </a:r>
                      <a:endParaRPr lang="zh-CN" altLang="en-US" sz="1800" b="0">
                        <a:solidFill>
                          <a:schemeClr val="tx1"/>
                        </a:solidFill>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800" b="0">
                          <a:solidFill>
                            <a:schemeClr val="tx1"/>
                          </a:solidFill>
                          <a:latin typeface="微软雅黑" panose="020B0503020204020204" pitchFamily="34" charset="-122"/>
                          <a:ea typeface="微软雅黑" panose="020B0503020204020204" pitchFamily="34" charset="-122"/>
                        </a:rPr>
                        <a:t>秦潞杰</a:t>
                      </a:r>
                      <a:endParaRPr lang="zh-CN" altLang="en-US" sz="1800" b="0">
                        <a:solidFill>
                          <a:schemeClr val="tx1"/>
                        </a:solidFill>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800" b="0">
                          <a:solidFill>
                            <a:schemeClr val="tx1"/>
                          </a:solidFill>
                          <a:latin typeface="微软雅黑" panose="020B0503020204020204" pitchFamily="34" charset="-122"/>
                          <a:ea typeface="微软雅黑" panose="020B0503020204020204" pitchFamily="34" charset="-122"/>
                        </a:rPr>
                        <a:t>地理信息科学</a:t>
                      </a:r>
                      <a:endParaRPr lang="zh-CN" altLang="en-US" sz="1800" b="0">
                        <a:solidFill>
                          <a:schemeClr val="tx1"/>
                        </a:solidFill>
                        <a:latin typeface="微软雅黑" panose="020B0503020204020204" pitchFamily="34" charset="-122"/>
                        <a:ea typeface="微软雅黑" panose="020B0503020204020204" pitchFamily="34" charset="-122"/>
                      </a:endParaRPr>
                    </a:p>
                    <a:p>
                      <a:pPr algn="ctr">
                        <a:buNone/>
                      </a:pPr>
                      <a:r>
                        <a:rPr lang="zh-CN" altLang="en-US" sz="1800" b="0">
                          <a:solidFill>
                            <a:schemeClr val="tx1"/>
                          </a:solidFill>
                          <a:latin typeface="微软雅黑" panose="020B0503020204020204" pitchFamily="34" charset="-122"/>
                          <a:ea typeface="微软雅黑" panose="020B0503020204020204" pitchFamily="34" charset="-122"/>
                        </a:rPr>
                        <a:t>（制图）</a:t>
                      </a:r>
                      <a:endParaRPr lang="zh-CN" altLang="en-US" sz="1800" b="0">
                        <a:solidFill>
                          <a:schemeClr val="tx1"/>
                        </a:solidFill>
                        <a:latin typeface="微软雅黑" panose="020B0503020204020204" pitchFamily="34" charset="-122"/>
                        <a:ea typeface="微软雅黑" panose="020B0503020204020204" pitchFamily="34" charset="-122"/>
                      </a:endParaRPr>
                    </a:p>
                  </a:txBody>
                  <a:tcPr anchor="ctr" anchorCtr="0"/>
                </a:tc>
                <a:tc>
                  <a:txBody>
                    <a:bodyPr/>
                    <a:p>
                      <a:pPr algn="ctr">
                        <a:lnSpc>
                          <a:spcPct val="150000"/>
                        </a:lnSpc>
                        <a:buNone/>
                      </a:pPr>
                      <a:r>
                        <a:rPr lang="zh-CN" altLang="en-US" sz="1400" b="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项目组组员，明确智能体核心逻辑，搭建知识图谱与数据库，负责后端</a:t>
                      </a:r>
                      <a:r>
                        <a:rPr lang="en-US" altLang="zh-CN" sz="1400" b="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API</a:t>
                      </a:r>
                      <a:r>
                        <a:rPr lang="zh-CN" altLang="en-US" sz="1400" b="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服务开发。</a:t>
                      </a:r>
                      <a:endParaRPr lang="zh-CN" altLang="en-US" sz="1400" b="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txBody>
                  <a:tcPr anchor="ctr" anchorCtr="0"/>
                </a:tc>
              </a:tr>
              <a:tr h="926465">
                <a:tc>
                  <a:txBody>
                    <a:bodyPr/>
                    <a:p>
                      <a:pPr algn="ctr">
                        <a:buNone/>
                      </a:pPr>
                      <a:r>
                        <a:rPr lang="zh-CN" altLang="en-US" sz="1800" b="0">
                          <a:solidFill>
                            <a:schemeClr val="tx1"/>
                          </a:solidFill>
                          <a:latin typeface="微软雅黑" panose="020B0503020204020204" pitchFamily="34" charset="-122"/>
                          <a:ea typeface="微软雅黑" panose="020B0503020204020204" pitchFamily="34" charset="-122"/>
                        </a:rPr>
                        <a:t>成员</a:t>
                      </a:r>
                      <a:endParaRPr lang="zh-CN" altLang="en-US" sz="1800" b="0">
                        <a:solidFill>
                          <a:schemeClr val="tx1"/>
                        </a:solidFill>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800" b="0">
                          <a:solidFill>
                            <a:schemeClr val="tx1"/>
                          </a:solidFill>
                          <a:latin typeface="微软雅黑" panose="020B0503020204020204" pitchFamily="34" charset="-122"/>
                          <a:ea typeface="微软雅黑" panose="020B0503020204020204" pitchFamily="34" charset="-122"/>
                        </a:rPr>
                        <a:t>徐欣</a:t>
                      </a:r>
                      <a:endParaRPr lang="zh-CN" altLang="en-US" sz="1800" b="0">
                        <a:solidFill>
                          <a:schemeClr val="tx1"/>
                        </a:solidFill>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800" b="0">
                          <a:solidFill>
                            <a:schemeClr val="tx1"/>
                          </a:solidFill>
                          <a:latin typeface="微软雅黑" panose="020B0503020204020204" pitchFamily="34" charset="-122"/>
                          <a:ea typeface="微软雅黑" panose="020B0503020204020204" pitchFamily="34" charset="-122"/>
                        </a:rPr>
                        <a:t>地理信息科学</a:t>
                      </a:r>
                      <a:endParaRPr lang="zh-CN" altLang="en-US" sz="1800" b="0">
                        <a:solidFill>
                          <a:schemeClr val="tx1"/>
                        </a:solidFill>
                        <a:latin typeface="微软雅黑" panose="020B0503020204020204" pitchFamily="34" charset="-122"/>
                        <a:ea typeface="微软雅黑" panose="020B0503020204020204" pitchFamily="34" charset="-122"/>
                      </a:endParaRPr>
                    </a:p>
                    <a:p>
                      <a:pPr algn="ctr">
                        <a:buNone/>
                      </a:pPr>
                      <a:r>
                        <a:rPr lang="zh-CN" altLang="en-US" sz="1800" b="0">
                          <a:solidFill>
                            <a:schemeClr val="tx1"/>
                          </a:solidFill>
                          <a:latin typeface="微软雅黑" panose="020B0503020204020204" pitchFamily="34" charset="-122"/>
                          <a:ea typeface="微软雅黑" panose="020B0503020204020204" pitchFamily="34" charset="-122"/>
                        </a:rPr>
                        <a:t>（制图）</a:t>
                      </a:r>
                      <a:endParaRPr lang="zh-CN" altLang="en-US" sz="1800" b="0">
                        <a:solidFill>
                          <a:schemeClr val="tx1"/>
                        </a:solidFill>
                        <a:latin typeface="微软雅黑" panose="020B0503020204020204" pitchFamily="34" charset="-122"/>
                        <a:ea typeface="微软雅黑" panose="020B0503020204020204" pitchFamily="34" charset="-122"/>
                      </a:endParaRPr>
                    </a:p>
                  </a:txBody>
                  <a:tcPr anchor="ctr" anchorCtr="0"/>
                </a:tc>
                <a:tc>
                  <a:txBody>
                    <a:bodyPr/>
                    <a:p>
                      <a:pPr algn="ctr">
                        <a:lnSpc>
                          <a:spcPct val="150000"/>
                        </a:lnSpc>
                        <a:buNone/>
                      </a:pPr>
                      <a:r>
                        <a:rPr lang="zh-CN" altLang="en-US" sz="1400" b="0">
                          <a:solidFill>
                            <a:schemeClr val="tx1"/>
                          </a:solidFill>
                          <a:latin typeface="微软雅黑" panose="020B0503020204020204" pitchFamily="34" charset="-122"/>
                          <a:ea typeface="微软雅黑" panose="020B0503020204020204" pitchFamily="34" charset="-122"/>
                        </a:rPr>
                        <a:t>项目组组员，用户交互界面开发，地图引擎集成，最终结果可视化呈现。</a:t>
                      </a:r>
                      <a:endParaRPr lang="zh-CN" altLang="en-US" sz="1400" b="0">
                        <a:solidFill>
                          <a:schemeClr val="tx1"/>
                        </a:solidFill>
                        <a:latin typeface="微软雅黑" panose="020B0503020204020204" pitchFamily="34" charset="-122"/>
                        <a:ea typeface="微软雅黑" panose="020B0503020204020204" pitchFamily="34" charset="-122"/>
                      </a:endParaRPr>
                    </a:p>
                  </a:txBody>
                  <a:tcPr anchor="ctr" anchorCtr="0"/>
                </a:tc>
              </a:tr>
            </a:tbl>
          </a:graphicData>
        </a:graphic>
      </p:graphicFrame>
      <p:sp>
        <p:nvSpPr>
          <p:cNvPr id="3" name="页脚占位符 2"/>
          <p:cNvSpPr>
            <a:spLocks noGrp="1"/>
          </p:cNvSpPr>
          <p:nvPr>
            <p:ph type="ftr" sz="quarter" idx="11"/>
          </p:nvPr>
        </p:nvSpPr>
        <p:spPr/>
        <p:txBody>
          <a:bodyPr/>
          <a:p>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任意多边形 9"/>
          <p:cNvSpPr/>
          <p:nvPr/>
        </p:nvSpPr>
        <p:spPr>
          <a:xfrm rot="19740000">
            <a:off x="-2280399" y="-122827"/>
            <a:ext cx="4768982" cy="7335937"/>
          </a:xfrm>
          <a:custGeom>
            <a:avLst/>
            <a:gdLst/>
            <a:ahLst/>
            <a:cxnLst>
              <a:cxn ang="3">
                <a:pos x="hc" y="t"/>
              </a:cxn>
              <a:cxn ang="cd2">
                <a:pos x="l" y="vc"/>
              </a:cxn>
              <a:cxn ang="cd4">
                <a:pos x="hc" y="b"/>
              </a:cxn>
              <a:cxn ang="0">
                <a:pos x="r" y="vc"/>
              </a:cxn>
            </a:cxnLst>
            <a:rect l="l" t="t" r="r" b="b"/>
            <a:pathLst>
              <a:path w="7510" h="11553">
                <a:moveTo>
                  <a:pt x="6301" y="0"/>
                </a:moveTo>
                <a:lnTo>
                  <a:pt x="7510" y="0"/>
                </a:lnTo>
                <a:lnTo>
                  <a:pt x="7510" y="7861"/>
                </a:lnTo>
                <a:lnTo>
                  <a:pt x="7510" y="7861"/>
                </a:lnTo>
                <a:lnTo>
                  <a:pt x="7510" y="7861"/>
                </a:lnTo>
                <a:lnTo>
                  <a:pt x="7510" y="7863"/>
                </a:lnTo>
                <a:lnTo>
                  <a:pt x="7507" y="7863"/>
                </a:lnTo>
                <a:lnTo>
                  <a:pt x="568" y="11553"/>
                </a:lnTo>
                <a:lnTo>
                  <a:pt x="0" y="10485"/>
                </a:lnTo>
                <a:lnTo>
                  <a:pt x="6301" y="7135"/>
                </a:lnTo>
                <a:lnTo>
                  <a:pt x="6301" y="0"/>
                </a:lnTo>
                <a:close/>
              </a:path>
            </a:pathLst>
          </a:custGeom>
          <a:solidFill>
            <a:srgbClr val="00481C">
              <a:alpha val="5000"/>
            </a:srgbClr>
          </a:solidFill>
          <a:ln>
            <a:solidFill>
              <a:srgbClr val="00481C">
                <a:alpha val="8000"/>
              </a:srgb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11" name="任意多边形 10"/>
          <p:cNvSpPr/>
          <p:nvPr/>
        </p:nvSpPr>
        <p:spPr>
          <a:xfrm rot="19740000">
            <a:off x="-1351394" y="-122827"/>
            <a:ext cx="4768982" cy="7335937"/>
          </a:xfrm>
          <a:custGeom>
            <a:avLst/>
            <a:gdLst/>
            <a:ahLst/>
            <a:cxnLst>
              <a:cxn ang="3">
                <a:pos x="hc" y="t"/>
              </a:cxn>
              <a:cxn ang="cd2">
                <a:pos x="l" y="vc"/>
              </a:cxn>
              <a:cxn ang="cd4">
                <a:pos x="hc" y="b"/>
              </a:cxn>
              <a:cxn ang="0">
                <a:pos x="r" y="vc"/>
              </a:cxn>
            </a:cxnLst>
            <a:rect l="l" t="t" r="r" b="b"/>
            <a:pathLst>
              <a:path w="7510" h="11553">
                <a:moveTo>
                  <a:pt x="6301" y="0"/>
                </a:moveTo>
                <a:lnTo>
                  <a:pt x="7510" y="0"/>
                </a:lnTo>
                <a:lnTo>
                  <a:pt x="7510" y="7861"/>
                </a:lnTo>
                <a:lnTo>
                  <a:pt x="7510" y="7861"/>
                </a:lnTo>
                <a:lnTo>
                  <a:pt x="7510" y="7861"/>
                </a:lnTo>
                <a:lnTo>
                  <a:pt x="7510" y="7863"/>
                </a:lnTo>
                <a:lnTo>
                  <a:pt x="7507" y="7863"/>
                </a:lnTo>
                <a:lnTo>
                  <a:pt x="568" y="11553"/>
                </a:lnTo>
                <a:lnTo>
                  <a:pt x="0" y="10485"/>
                </a:lnTo>
                <a:lnTo>
                  <a:pt x="6301" y="7135"/>
                </a:lnTo>
                <a:lnTo>
                  <a:pt x="6301" y="0"/>
                </a:lnTo>
                <a:close/>
              </a:path>
            </a:pathLst>
          </a:custGeom>
          <a:gradFill>
            <a:gsLst>
              <a:gs pos="0">
                <a:schemeClr val="bg1"/>
              </a:gs>
              <a:gs pos="100000">
                <a:srgbClr val="00481C"/>
              </a:gs>
            </a:gsLst>
            <a:lin ang="222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2" name="标题 1"/>
          <p:cNvSpPr>
            <a:spLocks noGrp="1"/>
          </p:cNvSpPr>
          <p:nvPr>
            <p:ph type="title"/>
          </p:nvPr>
        </p:nvSpPr>
        <p:spPr>
          <a:xfrm>
            <a:off x="5147945" y="1499235"/>
            <a:ext cx="4362450" cy="1325880"/>
          </a:xfrm>
        </p:spPr>
        <p:txBody>
          <a:bodyPr>
            <a:normAutofit fontScale="90000"/>
          </a:bodyPr>
          <a:p>
            <a:r>
              <a:rPr lang="en-US" altLang="zh-CN" sz="8000" b="1">
                <a:solidFill>
                  <a:srgbClr val="00481C"/>
                </a:solidFill>
                <a:latin typeface="Arial" panose="020B0604020202020204" pitchFamily="34" charset="0"/>
                <a:cs typeface="Arial" panose="020B0604020202020204" pitchFamily="34" charset="0"/>
              </a:rPr>
              <a:t>PART </a:t>
            </a:r>
            <a:r>
              <a:rPr lang="en-US" altLang="zh-CN" sz="13335" b="1" i="1">
                <a:solidFill>
                  <a:srgbClr val="00481C"/>
                </a:solidFill>
                <a:latin typeface="Arial" panose="020B0604020202020204" pitchFamily="34" charset="0"/>
                <a:cs typeface="Arial" panose="020B0604020202020204" pitchFamily="34" charset="0"/>
              </a:rPr>
              <a:t>3</a:t>
            </a:r>
            <a:endParaRPr lang="en-US" altLang="zh-CN" sz="13335" b="1" i="1">
              <a:solidFill>
                <a:srgbClr val="00481C"/>
              </a:solidFill>
              <a:latin typeface="Arial" panose="020B0604020202020204" pitchFamily="34" charset="0"/>
              <a:cs typeface="Arial" panose="020B0604020202020204" pitchFamily="34" charset="0"/>
            </a:endParaRPr>
          </a:p>
        </p:txBody>
      </p:sp>
      <p:sp>
        <p:nvSpPr>
          <p:cNvPr id="6" name="任意多边形 5"/>
          <p:cNvSpPr/>
          <p:nvPr/>
        </p:nvSpPr>
        <p:spPr>
          <a:xfrm rot="19740000">
            <a:off x="-3067685" y="-1120140"/>
            <a:ext cx="6064885" cy="9330055"/>
          </a:xfrm>
          <a:custGeom>
            <a:avLst/>
            <a:gdLst/>
            <a:ahLst/>
            <a:cxnLst>
              <a:cxn ang="3">
                <a:pos x="hc" y="t"/>
              </a:cxn>
              <a:cxn ang="cd2">
                <a:pos x="l" y="vc"/>
              </a:cxn>
              <a:cxn ang="cd4">
                <a:pos x="hc" y="b"/>
              </a:cxn>
              <a:cxn ang="0">
                <a:pos x="r" y="vc"/>
              </a:cxn>
            </a:cxnLst>
            <a:rect l="l" t="t" r="r" b="b"/>
            <a:pathLst>
              <a:path w="7510" h="11553">
                <a:moveTo>
                  <a:pt x="6301" y="0"/>
                </a:moveTo>
                <a:lnTo>
                  <a:pt x="7510" y="0"/>
                </a:lnTo>
                <a:lnTo>
                  <a:pt x="7510" y="7861"/>
                </a:lnTo>
                <a:lnTo>
                  <a:pt x="7510" y="7861"/>
                </a:lnTo>
                <a:lnTo>
                  <a:pt x="7510" y="7861"/>
                </a:lnTo>
                <a:lnTo>
                  <a:pt x="7510" y="7863"/>
                </a:lnTo>
                <a:lnTo>
                  <a:pt x="7507" y="7863"/>
                </a:lnTo>
                <a:lnTo>
                  <a:pt x="568" y="11553"/>
                </a:lnTo>
                <a:lnTo>
                  <a:pt x="0" y="10485"/>
                </a:lnTo>
                <a:lnTo>
                  <a:pt x="6301" y="7135"/>
                </a:lnTo>
                <a:lnTo>
                  <a:pt x="6301" y="0"/>
                </a:lnTo>
                <a:close/>
              </a:path>
            </a:pathLst>
          </a:custGeom>
          <a:solidFill>
            <a:srgbClr val="00481C"/>
          </a:solidFill>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cxnSp>
        <p:nvCxnSpPr>
          <p:cNvPr id="12" name="直接连接符 11"/>
          <p:cNvCxnSpPr/>
          <p:nvPr/>
        </p:nvCxnSpPr>
        <p:spPr>
          <a:xfrm flipV="1">
            <a:off x="4452620" y="2860675"/>
            <a:ext cx="5057775" cy="19050"/>
          </a:xfrm>
          <a:prstGeom prst="line">
            <a:avLst/>
          </a:prstGeom>
          <a:ln>
            <a:solidFill>
              <a:srgbClr val="00481C"/>
            </a:solidFill>
          </a:ln>
        </p:spPr>
        <p:style>
          <a:lnRef idx="2">
            <a:schemeClr val="accent1"/>
          </a:lnRef>
          <a:fillRef idx="0">
            <a:srgbClr val="FFFFFF"/>
          </a:fillRef>
          <a:effectRef idx="0">
            <a:srgbClr val="FFFFFF"/>
          </a:effectRef>
          <a:fontRef idx="minor">
            <a:schemeClr val="tx1"/>
          </a:fontRef>
        </p:style>
      </p:cxnSp>
      <p:sp>
        <p:nvSpPr>
          <p:cNvPr id="13" name="文本框 12"/>
          <p:cNvSpPr txBox="1"/>
          <p:nvPr/>
        </p:nvSpPr>
        <p:spPr>
          <a:xfrm>
            <a:off x="5071745" y="3528695"/>
            <a:ext cx="4324350" cy="1198880"/>
          </a:xfrm>
          <a:prstGeom prst="rect">
            <a:avLst/>
          </a:prstGeom>
          <a:noFill/>
        </p:spPr>
        <p:txBody>
          <a:bodyPr wrap="square" rtlCol="0">
            <a:spAutoFit/>
          </a:bodyPr>
          <a:p>
            <a:r>
              <a:rPr lang="zh-CN" altLang="en-US" sz="7200">
                <a:solidFill>
                  <a:srgbClr val="00481C"/>
                </a:solidFill>
                <a:latin typeface="微软雅黑" panose="020B0503020204020204" pitchFamily="34" charset="-122"/>
                <a:ea typeface="微软雅黑" panose="020B0503020204020204" pitchFamily="34" charset="-122"/>
              </a:rPr>
              <a:t>项目</a:t>
            </a:r>
            <a:r>
              <a:rPr lang="zh-CN" altLang="en-US" sz="7200">
                <a:solidFill>
                  <a:srgbClr val="00481C"/>
                </a:solidFill>
                <a:latin typeface="微软雅黑" panose="020B0503020204020204" pitchFamily="34" charset="-122"/>
                <a:ea typeface="微软雅黑" panose="020B0503020204020204" pitchFamily="34" charset="-122"/>
              </a:rPr>
              <a:t>进展</a:t>
            </a:r>
            <a:endParaRPr lang="zh-CN" altLang="en-US" sz="7200">
              <a:solidFill>
                <a:srgbClr val="00481C"/>
              </a:solidFill>
              <a:latin typeface="微软雅黑" panose="020B0503020204020204" pitchFamily="34" charset="-122"/>
              <a:ea typeface="微软雅黑" panose="020B0503020204020204" pitchFamily="34" charset="-122"/>
            </a:endParaRPr>
          </a:p>
        </p:txBody>
      </p:sp>
      <p:grpSp>
        <p:nvGrpSpPr>
          <p:cNvPr id="165" name="组合 39"/>
          <p:cNvGrpSpPr/>
          <p:nvPr/>
        </p:nvGrpSpPr>
        <p:grpSpPr>
          <a:xfrm>
            <a:off x="9480096" y="160513"/>
            <a:ext cx="2487599" cy="771929"/>
            <a:chOff x="4077923" y="171807"/>
            <a:chExt cx="4420435" cy="1371709"/>
          </a:xfrm>
        </p:grpSpPr>
        <p:grpSp>
          <p:nvGrpSpPr>
            <p:cNvPr id="166" name="组合 40"/>
            <p:cNvGrpSpPr/>
            <p:nvPr/>
          </p:nvGrpSpPr>
          <p:grpSpPr>
            <a:xfrm>
              <a:off x="4077923" y="171807"/>
              <a:ext cx="4260493" cy="1371709"/>
              <a:chOff x="6331308" y="1189619"/>
              <a:chExt cx="5481392" cy="1764794"/>
            </a:xfrm>
          </p:grpSpPr>
          <p:pic>
            <p:nvPicPr>
              <p:cNvPr id="167" name="图片 42"/>
              <p:cNvPicPr>
                <a:picLocks noChangeAspect="1"/>
              </p:cNvPicPr>
              <p:nvPr/>
            </p:nvPicPr>
            <p:blipFill>
              <a:blip r:embed="rId1"/>
              <a:srcRect/>
              <a:stretch>
                <a:fillRect/>
              </a:stretch>
            </p:blipFill>
            <p:spPr>
              <a:xfrm>
                <a:off x="6331308" y="1189619"/>
                <a:ext cx="1791803" cy="1764794"/>
              </a:xfrm>
              <a:prstGeom prst="rect">
                <a:avLst/>
              </a:prstGeom>
            </p:spPr>
          </p:pic>
          <p:pic>
            <p:nvPicPr>
              <p:cNvPr id="168" name="图片 43"/>
              <p:cNvPicPr>
                <a:picLocks noChangeAspect="1"/>
              </p:cNvPicPr>
              <p:nvPr/>
            </p:nvPicPr>
            <p:blipFill>
              <a:blip r:embed="rId2"/>
              <a:srcRect/>
              <a:stretch>
                <a:fillRect/>
              </a:stretch>
            </p:blipFill>
            <p:spPr>
              <a:xfrm>
                <a:off x="8302517" y="1422328"/>
                <a:ext cx="3510183" cy="965303"/>
              </a:xfrm>
              <a:prstGeom prst="rect">
                <a:avLst/>
              </a:prstGeom>
            </p:spPr>
          </p:pic>
        </p:grpSp>
        <p:sp>
          <p:nvSpPr>
            <p:cNvPr id="169" name="矩形 41"/>
            <p:cNvSpPr/>
            <p:nvPr/>
          </p:nvSpPr>
          <p:spPr>
            <a:xfrm>
              <a:off x="5470629" y="1076339"/>
              <a:ext cx="3027729" cy="410186"/>
            </a:xfrm>
            <a:prstGeom prst="rect">
              <a:avLst/>
            </a:prstGeom>
          </p:spPr>
          <p:txBody>
            <a:bodyPr wrap="square">
              <a:spAutoFit/>
            </a:bodyPr>
            <a:lstStyle/>
            <a:p>
              <a:pPr algn="dist">
                <a:defRPr/>
              </a:pPr>
              <a:r>
                <a:rPr lang="en-US" altLang="zh-CN" sz="900" b="1" dirty="0">
                  <a:solidFill>
                    <a:prstClr val="black"/>
                  </a:solidFill>
                  <a:latin typeface="Calibri" panose="020F0502020204030204"/>
                  <a:ea typeface="微软雅黑" panose="020B0503020204020204" pitchFamily="34" charset="-122"/>
                </a:rPr>
                <a:t>WUHAN UNIVERSITY</a:t>
              </a:r>
              <a:endParaRPr lang="en-US" altLang="zh-CN" sz="900" b="1" dirty="0">
                <a:solidFill>
                  <a:prstClr val="black"/>
                </a:solidFill>
                <a:latin typeface="Calibri" panose="020F0502020204030204"/>
                <a:ea typeface="微软雅黑" panose="020B0503020204020204" pitchFamily="34" charset="-122"/>
              </a:endParaRPr>
            </a:p>
          </p:txBody>
        </p:sp>
      </p:grpSp>
      <p:grpSp>
        <p:nvGrpSpPr>
          <p:cNvPr id="20" name="组合 19"/>
          <p:cNvGrpSpPr/>
          <p:nvPr/>
        </p:nvGrpSpPr>
        <p:grpSpPr>
          <a:xfrm>
            <a:off x="10212705" y="5683885"/>
            <a:ext cx="1419225" cy="768350"/>
            <a:chOff x="15240" y="8543"/>
            <a:chExt cx="2235" cy="1210"/>
          </a:xfrm>
        </p:grpSpPr>
        <p:sp>
          <p:nvSpPr>
            <p:cNvPr id="14" name="矩形 13"/>
            <p:cNvSpPr/>
            <p:nvPr/>
          </p:nvSpPr>
          <p:spPr>
            <a:xfrm>
              <a:off x="16458" y="8543"/>
              <a:ext cx="409" cy="408"/>
            </a:xfrm>
            <a:prstGeom prst="rect">
              <a:avLst/>
            </a:prstGeom>
            <a:solidFill>
              <a:srgbClr val="00481C">
                <a:alpha val="55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15" name="矩形 14"/>
            <p:cNvSpPr/>
            <p:nvPr/>
          </p:nvSpPr>
          <p:spPr>
            <a:xfrm>
              <a:off x="17067" y="8543"/>
              <a:ext cx="409" cy="408"/>
            </a:xfrm>
            <a:prstGeom prst="rect">
              <a:avLst/>
            </a:prstGeom>
            <a:solidFill>
              <a:srgbClr val="00481C">
                <a:alpha val="36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16" name="矩形 15"/>
            <p:cNvSpPr/>
            <p:nvPr/>
          </p:nvSpPr>
          <p:spPr>
            <a:xfrm>
              <a:off x="17067" y="9345"/>
              <a:ext cx="409" cy="408"/>
            </a:xfrm>
            <a:prstGeom prst="rect">
              <a:avLst/>
            </a:prstGeom>
            <a:solidFill>
              <a:srgbClr val="00481C">
                <a:alpha val="89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17" name="矩形 16"/>
            <p:cNvSpPr/>
            <p:nvPr/>
          </p:nvSpPr>
          <p:spPr>
            <a:xfrm>
              <a:off x="16458" y="9345"/>
              <a:ext cx="409" cy="408"/>
            </a:xfrm>
            <a:prstGeom prst="rect">
              <a:avLst/>
            </a:prstGeom>
            <a:solidFill>
              <a:srgbClr val="00481C">
                <a:alpha val="64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18" name="矩形 17"/>
            <p:cNvSpPr/>
            <p:nvPr/>
          </p:nvSpPr>
          <p:spPr>
            <a:xfrm>
              <a:off x="15849" y="9345"/>
              <a:ext cx="409" cy="408"/>
            </a:xfrm>
            <a:prstGeom prst="rect">
              <a:avLst/>
            </a:prstGeom>
            <a:solidFill>
              <a:srgbClr val="00481C">
                <a:alpha val="75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19" name="矩形 18"/>
            <p:cNvSpPr/>
            <p:nvPr/>
          </p:nvSpPr>
          <p:spPr>
            <a:xfrm>
              <a:off x="15240" y="9345"/>
              <a:ext cx="409" cy="408"/>
            </a:xfrm>
            <a:prstGeom prst="rect">
              <a:avLst/>
            </a:prstGeom>
            <a:solidFill>
              <a:srgbClr val="00481C">
                <a:alpha val="25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grpSp>
      <p:sp>
        <p:nvSpPr>
          <p:cNvPr id="3" name="页脚占位符 2"/>
          <p:cNvSpPr>
            <a:spLocks noGrp="1"/>
          </p:cNvSpPr>
          <p:nvPr>
            <p:ph type="ftr" sz="quarter" idx="11"/>
          </p:nvPr>
        </p:nvSpPr>
        <p:spPr/>
        <p:txBody>
          <a:bodyPr/>
          <a:p>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581" name=""/>
        <p:cNvGrpSpPr/>
        <p:nvPr/>
      </p:nvGrpSpPr>
      <p:grpSpPr>
        <a:xfrm>
          <a:off x="0" y="0"/>
          <a:ext cx="0" cy="0"/>
          <a:chOff x="0" y="0"/>
          <a:chExt cx="0" cy="0"/>
        </a:xfrm>
      </p:grpSpPr>
      <p:sp>
        <p:nvSpPr>
          <p:cNvPr id="582" name="文本框 60"/>
          <p:cNvSpPr txBox="1"/>
          <p:nvPr/>
        </p:nvSpPr>
        <p:spPr>
          <a:xfrm>
            <a:off x="10320239" y="216952"/>
            <a:ext cx="3123637" cy="369332"/>
          </a:xfrm>
          <a:prstGeom prst="rect">
            <a:avLst/>
          </a:prstGeom>
          <a:noFill/>
        </p:spPr>
        <p:txBody>
          <a:bodyPr wrap="square" rtlCol="0">
            <a:spAutoFit/>
          </a:bodyPr>
          <a:lstStyle/>
          <a:p>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未来展望</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585" name="组合 68"/>
          <p:cNvGrpSpPr/>
          <p:nvPr/>
        </p:nvGrpSpPr>
        <p:grpSpPr>
          <a:xfrm>
            <a:off x="0" y="15886"/>
            <a:ext cx="12219295" cy="1001194"/>
            <a:chOff x="-128871" y="-59933"/>
            <a:chExt cx="12219295" cy="1001194"/>
          </a:xfrm>
        </p:grpSpPr>
        <p:grpSp>
          <p:nvGrpSpPr>
            <p:cNvPr id="586" name="组合 67"/>
            <p:cNvGrpSpPr/>
            <p:nvPr/>
          </p:nvGrpSpPr>
          <p:grpSpPr>
            <a:xfrm>
              <a:off x="-128871" y="-59933"/>
              <a:ext cx="12219295" cy="1001194"/>
              <a:chOff x="-128871" y="-59933"/>
              <a:chExt cx="12219295" cy="1001194"/>
            </a:xfrm>
          </p:grpSpPr>
          <p:pic>
            <p:nvPicPr>
              <p:cNvPr id="587" name="图片 53"/>
              <p:cNvPicPr>
                <a:picLocks noChangeAspect="1"/>
              </p:cNvPicPr>
              <p:nvPr/>
            </p:nvPicPr>
            <p:blipFill>
              <a:blip r:embed="rId1" cstate="print"/>
              <a:stretch>
                <a:fillRect/>
              </a:stretch>
            </p:blipFill>
            <p:spPr>
              <a:xfrm>
                <a:off x="-128871" y="-59933"/>
                <a:ext cx="12219295" cy="1001194"/>
              </a:xfrm>
              <a:prstGeom prst="rect">
                <a:avLst/>
              </a:prstGeom>
              <a:effectLst>
                <a:outerShdw blurRad="50800" dist="38100" dir="8100000" algn="tr" rotWithShape="0">
                  <a:prstClr val="black">
                    <a:alpha val="40000"/>
                  </a:prstClr>
                </a:outerShdw>
              </a:effectLst>
            </p:spPr>
          </p:pic>
          <p:sp>
            <p:nvSpPr>
              <p:cNvPr id="588" name="矩形 55"/>
              <p:cNvSpPr/>
              <p:nvPr/>
            </p:nvSpPr>
            <p:spPr>
              <a:xfrm>
                <a:off x="6946934" y="-59933"/>
                <a:ext cx="2536825" cy="773430"/>
              </a:xfrm>
              <a:prstGeom prst="rect">
                <a:avLst/>
              </a:prstGeom>
              <a:solidFill>
                <a:srgbClr val="005825"/>
              </a:solidFill>
              <a:ln>
                <a:solidFill>
                  <a:srgbClr val="0058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89" name="文本框 57"/>
              <p:cNvSpPr txBox="1"/>
              <p:nvPr/>
            </p:nvSpPr>
            <p:spPr>
              <a:xfrm>
                <a:off x="2629484" y="48215"/>
                <a:ext cx="3123637"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选题背景</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0" name="文本框 58"/>
              <p:cNvSpPr txBox="1"/>
              <p:nvPr/>
            </p:nvSpPr>
            <p:spPr>
              <a:xfrm>
                <a:off x="4852069" y="48055"/>
                <a:ext cx="1771650"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项目方案</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1" name="文本框 59"/>
              <p:cNvSpPr txBox="1"/>
              <p:nvPr/>
            </p:nvSpPr>
            <p:spPr>
              <a:xfrm>
                <a:off x="7339364" y="50595"/>
                <a:ext cx="1741805" cy="52197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项目进展</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592" name="直接连接符 61"/>
              <p:cNvCxnSpPr/>
              <p:nvPr/>
            </p:nvCxnSpPr>
            <p:spPr>
              <a:xfrm>
                <a:off x="4529735" y="113988"/>
                <a:ext cx="0" cy="4024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3" name="直接连接符 62"/>
              <p:cNvCxnSpPr/>
              <p:nvPr/>
            </p:nvCxnSpPr>
            <p:spPr>
              <a:xfrm flipH="1">
                <a:off x="6955732" y="194315"/>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94" name="文本框 65"/>
            <p:cNvSpPr txBox="1"/>
            <p:nvPr/>
          </p:nvSpPr>
          <p:spPr>
            <a:xfrm>
              <a:off x="9954929" y="50595"/>
              <a:ext cx="196659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总结展望</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cxnSp>
        <p:nvCxnSpPr>
          <p:cNvPr id="595" name="直接连接符 62"/>
          <p:cNvCxnSpPr/>
          <p:nvPr/>
        </p:nvCxnSpPr>
        <p:spPr>
          <a:xfrm flipH="1">
            <a:off x="9592354" y="270134"/>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596" name="组合 13"/>
          <p:cNvGrpSpPr/>
          <p:nvPr/>
        </p:nvGrpSpPr>
        <p:grpSpPr>
          <a:xfrm>
            <a:off x="204998" y="81727"/>
            <a:ext cx="1999471" cy="590901"/>
            <a:chOff x="4077923" y="171807"/>
            <a:chExt cx="4420435" cy="1371709"/>
          </a:xfrm>
        </p:grpSpPr>
        <p:grpSp>
          <p:nvGrpSpPr>
            <p:cNvPr id="597" name="组合 14"/>
            <p:cNvGrpSpPr/>
            <p:nvPr/>
          </p:nvGrpSpPr>
          <p:grpSpPr>
            <a:xfrm>
              <a:off x="4077923" y="171807"/>
              <a:ext cx="4260493" cy="1371709"/>
              <a:chOff x="6331308" y="1189619"/>
              <a:chExt cx="5481392" cy="1764794"/>
            </a:xfrm>
          </p:grpSpPr>
          <p:pic>
            <p:nvPicPr>
              <p:cNvPr id="598" name="图片 33"/>
              <p:cNvPicPr>
                <a:picLocks noChangeAspect="1"/>
              </p:cNvPicPr>
              <p:nvPr/>
            </p:nvPicPr>
            <p:blipFill>
              <a:blip r:embed="rId2"/>
              <a:srcRect/>
              <a:stretch>
                <a:fillRect/>
              </a:stretch>
            </p:blipFill>
            <p:spPr>
              <a:xfrm>
                <a:off x="6331308" y="1189619"/>
                <a:ext cx="1791803" cy="1764794"/>
              </a:xfrm>
              <a:prstGeom prst="rect">
                <a:avLst/>
              </a:prstGeom>
            </p:spPr>
          </p:pic>
          <p:pic>
            <p:nvPicPr>
              <p:cNvPr id="599" name="图片 35"/>
              <p:cNvPicPr>
                <a:picLocks noChangeAspect="1"/>
              </p:cNvPicPr>
              <p:nvPr/>
            </p:nvPicPr>
            <p:blipFill>
              <a:blip r:embed="rId3"/>
              <a:srcRect/>
              <a:stretch>
                <a:fillRect/>
              </a:stretch>
            </p:blipFill>
            <p:spPr>
              <a:xfrm>
                <a:off x="8302517" y="1422328"/>
                <a:ext cx="3510183" cy="965303"/>
              </a:xfrm>
              <a:prstGeom prst="rect">
                <a:avLst/>
              </a:prstGeom>
            </p:spPr>
          </p:pic>
        </p:grpSp>
        <p:sp>
          <p:nvSpPr>
            <p:cNvPr id="600" name="矩形 15"/>
            <p:cNvSpPr/>
            <p:nvPr/>
          </p:nvSpPr>
          <p:spPr>
            <a:xfrm>
              <a:off x="5470629" y="1076339"/>
              <a:ext cx="3027729" cy="410186"/>
            </a:xfrm>
            <a:prstGeom prst="rect">
              <a:avLst/>
            </a:prstGeom>
          </p:spPr>
          <p:txBody>
            <a:bodyPr wrap="square">
              <a:spAutoFit/>
            </a:bodyPr>
            <a:lstStyle/>
            <a:p>
              <a:pPr algn="dist">
                <a:defRPr/>
              </a:pPr>
              <a:r>
                <a:rPr lang="en-US" altLang="zh-CN" sz="900" b="1" dirty="0">
                  <a:solidFill>
                    <a:prstClr val="black"/>
                  </a:solidFill>
                  <a:latin typeface="Calibri" panose="020F0502020204030204"/>
                  <a:ea typeface="微软雅黑" panose="020B0503020204020204" pitchFamily="34" charset="-122"/>
                </a:rPr>
                <a:t>WUHAN UNIVERSITY</a:t>
              </a:r>
              <a:endParaRPr lang="en-US" altLang="zh-CN" sz="900" b="1" dirty="0">
                <a:solidFill>
                  <a:prstClr val="black"/>
                </a:solidFill>
                <a:latin typeface="Calibri" panose="020F0502020204030204"/>
                <a:ea typeface="微软雅黑" panose="020B0503020204020204" pitchFamily="34" charset="-122"/>
              </a:endParaRPr>
            </a:p>
          </p:txBody>
        </p:sp>
      </p:grpSp>
      <p:sp>
        <p:nvSpPr>
          <p:cNvPr id="2" name="ïṣ1ïḑê"/>
          <p:cNvSpPr>
            <a:spLocks noGrp="1"/>
          </p:cNvSpPr>
          <p:nvPr/>
        </p:nvSpPr>
        <p:spPr>
          <a:xfrm>
            <a:off x="205105" y="1087120"/>
            <a:ext cx="10850880" cy="71247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800" b="1" kern="1200">
                <a:solidFill>
                  <a:srgbClr val="000000"/>
                </a:solidFill>
                <a:latin typeface="Arial" panose="020B0604020202020204" pitchFamily="34" charset="0"/>
                <a:ea typeface="微软雅黑" panose="020B0503020204020204" pitchFamily="34" charset="-122"/>
                <a:cs typeface="+mn-ea"/>
              </a:defRPr>
            </a:lvl1pPr>
          </a:lstStyle>
          <a:p>
            <a:r>
              <a:rPr lang="en-US" altLang="zh-CN" dirty="0">
                <a:solidFill>
                  <a:srgbClr val="005825"/>
                </a:solidFill>
              </a:rPr>
              <a:t>3.1 </a:t>
            </a:r>
            <a:r>
              <a:rPr lang="zh-CN" altLang="en-US" dirty="0">
                <a:solidFill>
                  <a:srgbClr val="00481C"/>
                </a:solidFill>
                <a:latin typeface="Times New Roman" panose="02020603050405020304" pitchFamily="18" charset="0"/>
                <a:cs typeface="Times New Roman" panose="02020603050405020304" pitchFamily="18" charset="0"/>
              </a:rPr>
              <a:t>地图制图知识图谱构建</a:t>
            </a:r>
            <a:endParaRPr lang="zh-CN" altLang="en-US" dirty="0">
              <a:solidFill>
                <a:schemeClr val="tx1"/>
              </a:solidFill>
              <a:latin typeface="Times New Roman" panose="02020603050405020304" pitchFamily="18" charset="0"/>
              <a:cs typeface="Times New Roman" panose="02020603050405020304" pitchFamily="18" charset="0"/>
            </a:endParaRPr>
          </a:p>
          <a:p>
            <a:endParaRPr lang="zh-CN" altLang="en-US" dirty="0">
              <a:solidFill>
                <a:schemeClr val="tx1"/>
              </a:solidFill>
              <a:latin typeface="Times New Roman" panose="02020603050405020304" pitchFamily="18" charset="0"/>
              <a:cs typeface="Times New Roman" panose="02020603050405020304" pitchFamily="18" charset="0"/>
            </a:endParaRPr>
          </a:p>
        </p:txBody>
      </p:sp>
      <p:sp>
        <p:nvSpPr>
          <p:cNvPr id="8" name="文本框 7"/>
          <p:cNvSpPr txBox="1"/>
          <p:nvPr/>
        </p:nvSpPr>
        <p:spPr>
          <a:xfrm>
            <a:off x="205105" y="1465580"/>
            <a:ext cx="11675110" cy="544195"/>
          </a:xfrm>
          <a:prstGeom prst="rect">
            <a:avLst/>
          </a:prstGeom>
        </p:spPr>
        <p:txBody>
          <a:bodyPr wrap="square">
            <a:noAutofit/>
          </a:bodyPr>
          <a:p>
            <a:pPr marL="0" indent="304800" algn="just" defTabSz="266700">
              <a:lnSpc>
                <a:spcPct val="150000"/>
              </a:lnSpc>
              <a:spcBef>
                <a:spcPct val="0"/>
              </a:spcBef>
              <a:spcAft>
                <a:spcPct val="0"/>
              </a:spcAft>
            </a:pPr>
            <a:r>
              <a:rPr lang="zh-CN" altLang="en-US" b="1">
                <a:solidFill>
                  <a:schemeClr val="tx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完成了</a:t>
            </a:r>
            <a:r>
              <a:rPr lang="en-US" b="1">
                <a:solidFill>
                  <a:schemeClr val="tx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地图学核心知识的梳理与预处理</a:t>
            </a:r>
            <a:r>
              <a:rPr lang="zh-CN" altLang="en-US" b="1">
                <a:solidFill>
                  <a:schemeClr val="tx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a:t>
            </a:r>
            <a:r>
              <a:rPr lang="en-US" b="1">
                <a:solidFill>
                  <a:schemeClr val="tx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定义了地图、图层、符号、规则等核心类及其相互关系</a:t>
            </a:r>
            <a:endParaRPr lang="en-US" altLang="en-US" b="1">
              <a:solidFill>
                <a:schemeClr val="tx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p:txBody>
      </p:sp>
      <p:grpSp>
        <p:nvGrpSpPr>
          <p:cNvPr id="26" name="组合 25"/>
          <p:cNvGrpSpPr/>
          <p:nvPr/>
        </p:nvGrpSpPr>
        <p:grpSpPr>
          <a:xfrm>
            <a:off x="281305" y="2536825"/>
            <a:ext cx="11541760" cy="3341370"/>
            <a:chOff x="442" y="3410"/>
            <a:chExt cx="18176" cy="4882"/>
          </a:xfrm>
        </p:grpSpPr>
        <p:grpSp>
          <p:nvGrpSpPr>
            <p:cNvPr id="21" name="组合 20"/>
            <p:cNvGrpSpPr/>
            <p:nvPr/>
          </p:nvGrpSpPr>
          <p:grpSpPr>
            <a:xfrm>
              <a:off x="6702" y="3410"/>
              <a:ext cx="4149" cy="4875"/>
              <a:chOff x="6618" y="5183"/>
              <a:chExt cx="3825" cy="4822"/>
            </a:xfrm>
          </p:grpSpPr>
          <p:pic>
            <p:nvPicPr>
              <p:cNvPr id="5" name="图片 -2147482621"/>
              <p:cNvPicPr>
                <a:picLocks noChangeAspect="1"/>
              </p:cNvPicPr>
              <p:nvPr/>
            </p:nvPicPr>
            <p:blipFill>
              <a:blip r:embed="rId4"/>
              <a:stretch>
                <a:fillRect/>
              </a:stretch>
            </p:blipFill>
            <p:spPr>
              <a:xfrm>
                <a:off x="6962" y="5399"/>
                <a:ext cx="3111" cy="3239"/>
              </a:xfrm>
              <a:prstGeom prst="rect">
                <a:avLst/>
              </a:prstGeom>
              <a:noFill/>
              <a:ln w="9525">
                <a:noFill/>
              </a:ln>
            </p:spPr>
          </p:pic>
          <p:sp>
            <p:nvSpPr>
              <p:cNvPr id="13" name="圆角矩形 12"/>
              <p:cNvSpPr/>
              <p:nvPr/>
            </p:nvSpPr>
            <p:spPr>
              <a:xfrm>
                <a:off x="6961" y="5183"/>
                <a:ext cx="3139" cy="4822"/>
              </a:xfrm>
              <a:prstGeom prst="roundRect">
                <a:avLst/>
              </a:prstGeom>
              <a:noFill/>
              <a:ln w="19050">
                <a:solidFill>
                  <a:srgbClr val="00481C"/>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ym typeface="+mn-ea"/>
                </a:endParaRPr>
              </a:p>
            </p:txBody>
          </p:sp>
          <p:sp>
            <p:nvSpPr>
              <p:cNvPr id="17" name="文本框 16"/>
              <p:cNvSpPr txBox="1"/>
              <p:nvPr/>
            </p:nvSpPr>
            <p:spPr>
              <a:xfrm>
                <a:off x="6618" y="8894"/>
                <a:ext cx="3825" cy="1016"/>
              </a:xfrm>
              <a:prstGeom prst="rect">
                <a:avLst/>
              </a:prstGeom>
            </p:spPr>
            <p:txBody>
              <a:bodyPr wrap="square">
                <a:noAutofit/>
              </a:bodyPr>
              <a:p>
                <a:pPr lvl="0" indent="304800" algn="just" defTabSz="266700">
                  <a:lnSpc>
                    <a:spcPct val="150000"/>
                  </a:lnSpc>
                  <a:buClrTx/>
                  <a:buSzTx/>
                  <a:buFontTx/>
                </a:pPr>
                <a:r>
                  <a:rPr lang="zh-CN" altLang="en-US" sz="2000">
                    <a:latin typeface="微软雅黑" panose="020B0503020204020204" pitchFamily="34" charset="-122"/>
                    <a:ea typeface="微软雅黑" panose="020B0503020204020204" pitchFamily="34" charset="-122"/>
                    <a:sym typeface="+mn-ea"/>
                  </a:rPr>
                  <a:t>地图类型与产品</a:t>
                </a:r>
                <a:endParaRPr lang="zh-CN" altLang="en-US" sz="2000">
                  <a:latin typeface="微软雅黑" panose="020B0503020204020204" pitchFamily="34" charset="-122"/>
                  <a:ea typeface="微软雅黑" panose="020B0503020204020204" pitchFamily="34" charset="-122"/>
                  <a:sym typeface="+mn-ea"/>
                </a:endParaRPr>
              </a:p>
            </p:txBody>
          </p:sp>
        </p:grpSp>
        <p:grpSp>
          <p:nvGrpSpPr>
            <p:cNvPr id="10" name="组合 9"/>
            <p:cNvGrpSpPr/>
            <p:nvPr/>
          </p:nvGrpSpPr>
          <p:grpSpPr>
            <a:xfrm>
              <a:off x="442" y="3410"/>
              <a:ext cx="3589" cy="4864"/>
              <a:chOff x="323" y="5205"/>
              <a:chExt cx="3589" cy="4822"/>
            </a:xfrm>
          </p:grpSpPr>
          <p:pic>
            <p:nvPicPr>
              <p:cNvPr id="3" name="图片 -2147482623"/>
              <p:cNvPicPr>
                <a:picLocks noChangeAspect="1"/>
              </p:cNvPicPr>
              <p:nvPr/>
            </p:nvPicPr>
            <p:blipFill>
              <a:blip r:embed="rId5"/>
              <a:stretch>
                <a:fillRect/>
              </a:stretch>
            </p:blipFill>
            <p:spPr>
              <a:xfrm>
                <a:off x="757" y="5332"/>
                <a:ext cx="2987" cy="3412"/>
              </a:xfrm>
              <a:prstGeom prst="rect">
                <a:avLst/>
              </a:prstGeom>
              <a:noFill/>
              <a:ln w="9525">
                <a:noFill/>
              </a:ln>
            </p:spPr>
          </p:pic>
          <p:sp>
            <p:nvSpPr>
              <p:cNvPr id="9" name="圆角矩形 8"/>
              <p:cNvSpPr/>
              <p:nvPr/>
            </p:nvSpPr>
            <p:spPr>
              <a:xfrm>
                <a:off x="581" y="5205"/>
                <a:ext cx="3044" cy="4822"/>
              </a:xfrm>
              <a:prstGeom prst="roundRect">
                <a:avLst/>
              </a:prstGeom>
              <a:noFill/>
              <a:ln w="19050">
                <a:solidFill>
                  <a:srgbClr val="00481C"/>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文本框 10"/>
              <p:cNvSpPr txBox="1"/>
              <p:nvPr/>
            </p:nvSpPr>
            <p:spPr>
              <a:xfrm>
                <a:off x="323" y="8893"/>
                <a:ext cx="3589" cy="801"/>
              </a:xfrm>
              <a:prstGeom prst="rect">
                <a:avLst/>
              </a:prstGeom>
            </p:spPr>
            <p:txBody>
              <a:bodyPr wrap="square">
                <a:spAutoFit/>
              </a:bodyPr>
              <a:p>
                <a:pPr marL="0" indent="304800" algn="just" defTabSz="266700">
                  <a:lnSpc>
                    <a:spcPct val="150000"/>
                  </a:lnSpc>
                  <a:spcBef>
                    <a:spcPct val="0"/>
                  </a:spcBef>
                  <a:spcAft>
                    <a:spcPct val="0"/>
                  </a:spcAft>
                </a:pPr>
                <a:r>
                  <a:rPr lang="zh-CN" altLang="en-US" sz="2000">
                    <a:latin typeface="微软雅黑" panose="020B0503020204020204" pitchFamily="34" charset="-122"/>
                    <a:ea typeface="微软雅黑" panose="020B0503020204020204" pitchFamily="34" charset="-122"/>
                  </a:rPr>
                  <a:t>地图数学基础</a:t>
                </a:r>
                <a:endParaRPr lang="zh-CN" altLang="en-US" sz="2000">
                  <a:latin typeface="微软雅黑" panose="020B0503020204020204" pitchFamily="34" charset="-122"/>
                  <a:ea typeface="微软雅黑" panose="020B0503020204020204" pitchFamily="34" charset="-122"/>
                </a:endParaRPr>
              </a:p>
            </p:txBody>
          </p:sp>
        </p:grpSp>
        <p:grpSp>
          <p:nvGrpSpPr>
            <p:cNvPr id="20" name="组合 19"/>
            <p:cNvGrpSpPr/>
            <p:nvPr/>
          </p:nvGrpSpPr>
          <p:grpSpPr>
            <a:xfrm>
              <a:off x="3433" y="3410"/>
              <a:ext cx="3933" cy="4865"/>
              <a:chOff x="3358" y="5204"/>
              <a:chExt cx="3933" cy="4822"/>
            </a:xfrm>
          </p:grpSpPr>
          <p:pic>
            <p:nvPicPr>
              <p:cNvPr id="4" name="图片 -2147482622"/>
              <p:cNvPicPr>
                <a:picLocks noChangeAspect="1"/>
              </p:cNvPicPr>
              <p:nvPr/>
            </p:nvPicPr>
            <p:blipFill>
              <a:blip r:embed="rId6"/>
              <a:stretch>
                <a:fillRect/>
              </a:stretch>
            </p:blipFill>
            <p:spPr>
              <a:xfrm>
                <a:off x="3755" y="5577"/>
                <a:ext cx="3218" cy="2711"/>
              </a:xfrm>
              <a:prstGeom prst="rect">
                <a:avLst/>
              </a:prstGeom>
              <a:noFill/>
              <a:ln w="9525">
                <a:noFill/>
              </a:ln>
            </p:spPr>
          </p:pic>
          <p:sp>
            <p:nvSpPr>
              <p:cNvPr id="12" name="圆角矩形 11"/>
              <p:cNvSpPr/>
              <p:nvPr/>
            </p:nvSpPr>
            <p:spPr>
              <a:xfrm>
                <a:off x="3771" y="5204"/>
                <a:ext cx="3044" cy="4822"/>
              </a:xfrm>
              <a:prstGeom prst="roundRect">
                <a:avLst/>
              </a:prstGeom>
              <a:noFill/>
              <a:ln w="19050">
                <a:solidFill>
                  <a:srgbClr val="00481C"/>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ym typeface="+mn-ea"/>
                </a:endParaRPr>
              </a:p>
            </p:txBody>
          </p:sp>
          <p:sp>
            <p:nvSpPr>
              <p:cNvPr id="16" name="文本框 15"/>
              <p:cNvSpPr txBox="1"/>
              <p:nvPr/>
            </p:nvSpPr>
            <p:spPr>
              <a:xfrm>
                <a:off x="3358" y="8893"/>
                <a:ext cx="3933" cy="801"/>
              </a:xfrm>
              <a:prstGeom prst="rect">
                <a:avLst/>
              </a:prstGeom>
            </p:spPr>
            <p:txBody>
              <a:bodyPr wrap="square">
                <a:spAutoFit/>
              </a:bodyPr>
              <a:p>
                <a:pPr lvl="0" indent="304800" algn="just" defTabSz="266700">
                  <a:lnSpc>
                    <a:spcPct val="150000"/>
                  </a:lnSpc>
                  <a:buClrTx/>
                  <a:buSzTx/>
                  <a:buFontTx/>
                </a:pPr>
                <a:r>
                  <a:rPr lang="zh-CN" altLang="en-US" sz="2000">
                    <a:latin typeface="微软雅黑" panose="020B0503020204020204" pitchFamily="34" charset="-122"/>
                    <a:ea typeface="微软雅黑" panose="020B0503020204020204" pitchFamily="34" charset="-122"/>
                    <a:sym typeface="+mn-ea"/>
                  </a:rPr>
                  <a:t>地图语言与符号</a:t>
                </a:r>
                <a:endParaRPr lang="zh-CN" altLang="en-US" sz="2000">
                  <a:latin typeface="微软雅黑" panose="020B0503020204020204" pitchFamily="34" charset="-122"/>
                  <a:ea typeface="微软雅黑" panose="020B0503020204020204" pitchFamily="34" charset="-122"/>
                  <a:sym typeface="+mn-ea"/>
                </a:endParaRPr>
              </a:p>
            </p:txBody>
          </p:sp>
        </p:grpSp>
        <p:grpSp>
          <p:nvGrpSpPr>
            <p:cNvPr id="22" name="组合 21"/>
            <p:cNvGrpSpPr/>
            <p:nvPr/>
          </p:nvGrpSpPr>
          <p:grpSpPr>
            <a:xfrm>
              <a:off x="10597" y="3450"/>
              <a:ext cx="3692" cy="4842"/>
              <a:chOff x="10151" y="5200"/>
              <a:chExt cx="4138" cy="4822"/>
            </a:xfrm>
          </p:grpSpPr>
          <p:pic>
            <p:nvPicPr>
              <p:cNvPr id="6" name="图片 -2147482620"/>
              <p:cNvPicPr>
                <a:picLocks noChangeAspect="1"/>
              </p:cNvPicPr>
              <p:nvPr/>
            </p:nvPicPr>
            <p:blipFill>
              <a:blip r:embed="rId7"/>
              <a:stretch>
                <a:fillRect/>
              </a:stretch>
            </p:blipFill>
            <p:spPr>
              <a:xfrm>
                <a:off x="10330" y="5399"/>
                <a:ext cx="3780" cy="3638"/>
              </a:xfrm>
              <a:prstGeom prst="rect">
                <a:avLst/>
              </a:prstGeom>
              <a:noFill/>
              <a:ln w="9525">
                <a:noFill/>
              </a:ln>
            </p:spPr>
          </p:pic>
          <p:sp>
            <p:nvSpPr>
              <p:cNvPr id="14" name="圆角矩形 13"/>
              <p:cNvSpPr/>
              <p:nvPr/>
            </p:nvSpPr>
            <p:spPr>
              <a:xfrm>
                <a:off x="10151" y="5200"/>
                <a:ext cx="4138" cy="4822"/>
              </a:xfrm>
              <a:prstGeom prst="roundRect">
                <a:avLst/>
              </a:prstGeom>
              <a:noFill/>
              <a:ln w="19050">
                <a:solidFill>
                  <a:srgbClr val="00481C"/>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ym typeface="+mn-ea"/>
                </a:endParaRPr>
              </a:p>
            </p:txBody>
          </p:sp>
          <p:sp>
            <p:nvSpPr>
              <p:cNvPr id="18" name="文本框 17"/>
              <p:cNvSpPr txBox="1"/>
              <p:nvPr/>
            </p:nvSpPr>
            <p:spPr>
              <a:xfrm>
                <a:off x="10352" y="8898"/>
                <a:ext cx="3847" cy="877"/>
              </a:xfrm>
              <a:prstGeom prst="rect">
                <a:avLst/>
              </a:prstGeom>
            </p:spPr>
            <p:txBody>
              <a:bodyPr wrap="square">
                <a:noAutofit/>
              </a:bodyPr>
              <a:p>
                <a:pPr lvl="0" indent="0" algn="just" defTabSz="266700" fontAlgn="auto">
                  <a:lnSpc>
                    <a:spcPct val="150000"/>
                  </a:lnSpc>
                  <a:buClrTx/>
                  <a:buSzTx/>
                  <a:buFontTx/>
                </a:pPr>
                <a:r>
                  <a:rPr lang="zh-CN" altLang="en-US" sz="2000">
                    <a:latin typeface="微软雅黑" panose="020B0503020204020204" pitchFamily="34" charset="-122"/>
                    <a:ea typeface="微软雅黑" panose="020B0503020204020204" pitchFamily="34" charset="-122"/>
                    <a:sym typeface="+mn-ea"/>
                  </a:rPr>
                  <a:t>地理实体与要素</a:t>
                </a:r>
                <a:endParaRPr lang="zh-CN" altLang="en-US" sz="2000">
                  <a:latin typeface="微软雅黑" panose="020B0503020204020204" pitchFamily="34" charset="-122"/>
                  <a:ea typeface="微软雅黑" panose="020B0503020204020204" pitchFamily="34" charset="-122"/>
                  <a:sym typeface="+mn-ea"/>
                </a:endParaRPr>
              </a:p>
            </p:txBody>
          </p:sp>
        </p:grpSp>
        <p:grpSp>
          <p:nvGrpSpPr>
            <p:cNvPr id="23" name="组合 22"/>
            <p:cNvGrpSpPr/>
            <p:nvPr/>
          </p:nvGrpSpPr>
          <p:grpSpPr>
            <a:xfrm>
              <a:off x="14144" y="3453"/>
              <a:ext cx="4474" cy="4822"/>
              <a:chOff x="14144" y="5183"/>
              <a:chExt cx="4474" cy="4822"/>
            </a:xfrm>
          </p:grpSpPr>
          <p:pic>
            <p:nvPicPr>
              <p:cNvPr id="7" name="图片 -2147482619"/>
              <p:cNvPicPr>
                <a:picLocks noChangeAspect="1"/>
              </p:cNvPicPr>
              <p:nvPr/>
            </p:nvPicPr>
            <p:blipFill>
              <a:blip r:embed="rId8"/>
              <a:stretch>
                <a:fillRect/>
              </a:stretch>
            </p:blipFill>
            <p:spPr>
              <a:xfrm>
                <a:off x="14504" y="5526"/>
                <a:ext cx="4005" cy="3573"/>
              </a:xfrm>
              <a:prstGeom prst="rect">
                <a:avLst/>
              </a:prstGeom>
              <a:noFill/>
              <a:ln w="9525">
                <a:noFill/>
              </a:ln>
            </p:spPr>
          </p:pic>
          <p:sp>
            <p:nvSpPr>
              <p:cNvPr id="15" name="圆角矩形 14"/>
              <p:cNvSpPr/>
              <p:nvPr/>
            </p:nvSpPr>
            <p:spPr>
              <a:xfrm>
                <a:off x="14435" y="5183"/>
                <a:ext cx="4138" cy="4822"/>
              </a:xfrm>
              <a:prstGeom prst="roundRect">
                <a:avLst/>
              </a:prstGeom>
              <a:noFill/>
              <a:ln w="19050">
                <a:solidFill>
                  <a:srgbClr val="00481C"/>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ym typeface="+mn-ea"/>
                </a:endParaRPr>
              </a:p>
            </p:txBody>
          </p:sp>
          <p:sp>
            <p:nvSpPr>
              <p:cNvPr id="19" name="文本框 18"/>
              <p:cNvSpPr txBox="1"/>
              <p:nvPr/>
            </p:nvSpPr>
            <p:spPr>
              <a:xfrm>
                <a:off x="14144" y="8894"/>
                <a:ext cx="4475" cy="725"/>
              </a:xfrm>
              <a:prstGeom prst="rect">
                <a:avLst/>
              </a:prstGeom>
            </p:spPr>
            <p:txBody>
              <a:bodyPr wrap="square">
                <a:noAutofit/>
              </a:bodyPr>
              <a:p>
                <a:pPr lvl="0" indent="304800" algn="just" defTabSz="266700">
                  <a:lnSpc>
                    <a:spcPct val="150000"/>
                  </a:lnSpc>
                  <a:buClrTx/>
                  <a:buSzTx/>
                  <a:buFontTx/>
                </a:pPr>
                <a:r>
                  <a:rPr lang="zh-CN" altLang="en-US" sz="2000">
                    <a:latin typeface="微软雅黑" panose="020B0503020204020204" pitchFamily="34" charset="-122"/>
                    <a:ea typeface="微软雅黑" panose="020B0503020204020204" pitchFamily="34" charset="-122"/>
                    <a:sym typeface="+mn-ea"/>
                  </a:rPr>
                  <a:t>技术与流程及数据源</a:t>
                </a:r>
                <a:endParaRPr lang="zh-CN" altLang="en-US" sz="2000">
                  <a:latin typeface="微软雅黑" panose="020B0503020204020204" pitchFamily="34" charset="-122"/>
                  <a:ea typeface="微软雅黑" panose="020B0503020204020204" pitchFamily="34" charset="-122"/>
                  <a:sym typeface="+mn-ea"/>
                </a:endParaRPr>
              </a:p>
            </p:txBody>
          </p:sp>
        </p:grpSp>
      </p:grpSp>
      <p:sp>
        <p:nvSpPr>
          <p:cNvPr id="24" name="文本框 23"/>
          <p:cNvSpPr txBox="1"/>
          <p:nvPr/>
        </p:nvSpPr>
        <p:spPr>
          <a:xfrm>
            <a:off x="8211185" y="6377940"/>
            <a:ext cx="4064000" cy="275590"/>
          </a:xfrm>
          <a:prstGeom prst="rect">
            <a:avLst/>
          </a:prstGeom>
          <a:noFill/>
        </p:spPr>
        <p:txBody>
          <a:bodyPr wrap="square" rtlCol="0">
            <a:spAutoFit/>
          </a:bodyPr>
          <a:p>
            <a:r>
              <a:rPr lang="zh-CN" altLang="en-US" sz="1200"/>
              <a:t>注：</a:t>
            </a:r>
            <a:r>
              <a:rPr lang="en-US" altLang="zh-CN" sz="1200"/>
              <a:t>csv</a:t>
            </a:r>
            <a:r>
              <a:rPr lang="zh-CN" altLang="en-US" sz="1200"/>
              <a:t>文件可以直接导入</a:t>
            </a:r>
            <a:r>
              <a:rPr lang="en-US" altLang="zh-CN" sz="1200"/>
              <a:t>neo4j</a:t>
            </a:r>
            <a:r>
              <a:rPr lang="zh-CN" altLang="en-US" sz="1200"/>
              <a:t>中构建知识图谱</a:t>
            </a:r>
            <a:endParaRPr lang="zh-CN" altLang="en-US" sz="1200"/>
          </a:p>
        </p:txBody>
      </p:sp>
      <p:sp>
        <p:nvSpPr>
          <p:cNvPr id="25" name="页脚占位符 24"/>
          <p:cNvSpPr>
            <a:spLocks noGrp="1"/>
          </p:cNvSpPr>
          <p:nvPr>
            <p:ph type="ftr" sz="quarter" idx="11"/>
          </p:nvPr>
        </p:nvSpPr>
        <p:spPr/>
        <p:txBody>
          <a:bodyPr/>
          <a:p>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581" name=""/>
        <p:cNvGrpSpPr/>
        <p:nvPr/>
      </p:nvGrpSpPr>
      <p:grpSpPr>
        <a:xfrm>
          <a:off x="0" y="0"/>
          <a:ext cx="0" cy="0"/>
          <a:chOff x="0" y="0"/>
          <a:chExt cx="0" cy="0"/>
        </a:xfrm>
      </p:grpSpPr>
      <p:sp>
        <p:nvSpPr>
          <p:cNvPr id="582" name="文本框 60"/>
          <p:cNvSpPr txBox="1"/>
          <p:nvPr/>
        </p:nvSpPr>
        <p:spPr>
          <a:xfrm>
            <a:off x="10320239" y="216952"/>
            <a:ext cx="3123637" cy="369332"/>
          </a:xfrm>
          <a:prstGeom prst="rect">
            <a:avLst/>
          </a:prstGeom>
          <a:noFill/>
        </p:spPr>
        <p:txBody>
          <a:bodyPr wrap="square" rtlCol="0">
            <a:spAutoFit/>
          </a:bodyPr>
          <a:lstStyle/>
          <a:p>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未来展望</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585" name="组合 68"/>
          <p:cNvGrpSpPr/>
          <p:nvPr/>
        </p:nvGrpSpPr>
        <p:grpSpPr>
          <a:xfrm>
            <a:off x="0" y="15886"/>
            <a:ext cx="12219295" cy="1001194"/>
            <a:chOff x="-128871" y="-59933"/>
            <a:chExt cx="12219295" cy="1001194"/>
          </a:xfrm>
        </p:grpSpPr>
        <p:grpSp>
          <p:nvGrpSpPr>
            <p:cNvPr id="586" name="组合 67"/>
            <p:cNvGrpSpPr/>
            <p:nvPr/>
          </p:nvGrpSpPr>
          <p:grpSpPr>
            <a:xfrm>
              <a:off x="-128871" y="-59933"/>
              <a:ext cx="12219295" cy="1001194"/>
              <a:chOff x="-128871" y="-59933"/>
              <a:chExt cx="12219295" cy="1001194"/>
            </a:xfrm>
          </p:grpSpPr>
          <p:pic>
            <p:nvPicPr>
              <p:cNvPr id="587" name="图片 53"/>
              <p:cNvPicPr>
                <a:picLocks noChangeAspect="1"/>
              </p:cNvPicPr>
              <p:nvPr/>
            </p:nvPicPr>
            <p:blipFill>
              <a:blip r:embed="rId1" cstate="print"/>
              <a:stretch>
                <a:fillRect/>
              </a:stretch>
            </p:blipFill>
            <p:spPr>
              <a:xfrm>
                <a:off x="-128871" y="-59933"/>
                <a:ext cx="12219295" cy="1001194"/>
              </a:xfrm>
              <a:prstGeom prst="rect">
                <a:avLst/>
              </a:prstGeom>
              <a:effectLst>
                <a:outerShdw blurRad="50800" dist="38100" dir="8100000" algn="tr" rotWithShape="0">
                  <a:prstClr val="black">
                    <a:alpha val="40000"/>
                  </a:prstClr>
                </a:outerShdw>
              </a:effectLst>
            </p:spPr>
          </p:pic>
          <p:sp>
            <p:nvSpPr>
              <p:cNvPr id="588" name="矩形 55"/>
              <p:cNvSpPr/>
              <p:nvPr/>
            </p:nvSpPr>
            <p:spPr>
              <a:xfrm>
                <a:off x="6946934" y="-59933"/>
                <a:ext cx="2536825" cy="773430"/>
              </a:xfrm>
              <a:prstGeom prst="rect">
                <a:avLst/>
              </a:prstGeom>
              <a:solidFill>
                <a:srgbClr val="005825"/>
              </a:solidFill>
              <a:ln>
                <a:solidFill>
                  <a:srgbClr val="0058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89" name="文本框 57"/>
              <p:cNvSpPr txBox="1"/>
              <p:nvPr/>
            </p:nvSpPr>
            <p:spPr>
              <a:xfrm>
                <a:off x="2629484" y="48215"/>
                <a:ext cx="3123637"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选题背景</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0" name="文本框 58"/>
              <p:cNvSpPr txBox="1"/>
              <p:nvPr/>
            </p:nvSpPr>
            <p:spPr>
              <a:xfrm>
                <a:off x="4852069" y="48055"/>
                <a:ext cx="1771650"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项目方案</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1" name="文本框 59"/>
              <p:cNvSpPr txBox="1"/>
              <p:nvPr/>
            </p:nvSpPr>
            <p:spPr>
              <a:xfrm>
                <a:off x="7339364" y="50595"/>
                <a:ext cx="1741805" cy="52197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项目进展</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592" name="直接连接符 61"/>
              <p:cNvCxnSpPr/>
              <p:nvPr/>
            </p:nvCxnSpPr>
            <p:spPr>
              <a:xfrm>
                <a:off x="4529735" y="113988"/>
                <a:ext cx="0" cy="4024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3" name="直接连接符 62"/>
              <p:cNvCxnSpPr/>
              <p:nvPr/>
            </p:nvCxnSpPr>
            <p:spPr>
              <a:xfrm flipH="1">
                <a:off x="6955732" y="194315"/>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94" name="文本框 65"/>
            <p:cNvSpPr txBox="1"/>
            <p:nvPr/>
          </p:nvSpPr>
          <p:spPr>
            <a:xfrm>
              <a:off x="9954929" y="50595"/>
              <a:ext cx="196659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总结展望</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cxnSp>
        <p:nvCxnSpPr>
          <p:cNvPr id="595" name="直接连接符 62"/>
          <p:cNvCxnSpPr/>
          <p:nvPr/>
        </p:nvCxnSpPr>
        <p:spPr>
          <a:xfrm flipH="1">
            <a:off x="9592354" y="270134"/>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596" name="组合 13"/>
          <p:cNvGrpSpPr/>
          <p:nvPr/>
        </p:nvGrpSpPr>
        <p:grpSpPr>
          <a:xfrm>
            <a:off x="204998" y="81727"/>
            <a:ext cx="1999471" cy="590901"/>
            <a:chOff x="4077923" y="171807"/>
            <a:chExt cx="4420435" cy="1371709"/>
          </a:xfrm>
        </p:grpSpPr>
        <p:grpSp>
          <p:nvGrpSpPr>
            <p:cNvPr id="597" name="组合 14"/>
            <p:cNvGrpSpPr/>
            <p:nvPr/>
          </p:nvGrpSpPr>
          <p:grpSpPr>
            <a:xfrm>
              <a:off x="4077923" y="171807"/>
              <a:ext cx="4260493" cy="1371709"/>
              <a:chOff x="6331308" y="1189619"/>
              <a:chExt cx="5481392" cy="1764794"/>
            </a:xfrm>
          </p:grpSpPr>
          <p:pic>
            <p:nvPicPr>
              <p:cNvPr id="598" name="图片 33"/>
              <p:cNvPicPr>
                <a:picLocks noChangeAspect="1"/>
              </p:cNvPicPr>
              <p:nvPr/>
            </p:nvPicPr>
            <p:blipFill>
              <a:blip r:embed="rId2"/>
              <a:srcRect/>
              <a:stretch>
                <a:fillRect/>
              </a:stretch>
            </p:blipFill>
            <p:spPr>
              <a:xfrm>
                <a:off x="6331308" y="1189619"/>
                <a:ext cx="1791803" cy="1764794"/>
              </a:xfrm>
              <a:prstGeom prst="rect">
                <a:avLst/>
              </a:prstGeom>
            </p:spPr>
          </p:pic>
          <p:pic>
            <p:nvPicPr>
              <p:cNvPr id="599" name="图片 35"/>
              <p:cNvPicPr>
                <a:picLocks noChangeAspect="1"/>
              </p:cNvPicPr>
              <p:nvPr/>
            </p:nvPicPr>
            <p:blipFill>
              <a:blip r:embed="rId3"/>
              <a:srcRect/>
              <a:stretch>
                <a:fillRect/>
              </a:stretch>
            </p:blipFill>
            <p:spPr>
              <a:xfrm>
                <a:off x="8302517" y="1422328"/>
                <a:ext cx="3510183" cy="965303"/>
              </a:xfrm>
              <a:prstGeom prst="rect">
                <a:avLst/>
              </a:prstGeom>
            </p:spPr>
          </p:pic>
        </p:grpSp>
        <p:sp>
          <p:nvSpPr>
            <p:cNvPr id="600" name="矩形 15"/>
            <p:cNvSpPr/>
            <p:nvPr/>
          </p:nvSpPr>
          <p:spPr>
            <a:xfrm>
              <a:off x="5470629" y="1076339"/>
              <a:ext cx="3027729" cy="410186"/>
            </a:xfrm>
            <a:prstGeom prst="rect">
              <a:avLst/>
            </a:prstGeom>
          </p:spPr>
          <p:txBody>
            <a:bodyPr wrap="square">
              <a:spAutoFit/>
            </a:bodyPr>
            <a:lstStyle/>
            <a:p>
              <a:pPr algn="dist">
                <a:defRPr/>
              </a:pPr>
              <a:r>
                <a:rPr lang="en-US" altLang="zh-CN" sz="900" b="1" dirty="0">
                  <a:solidFill>
                    <a:prstClr val="black"/>
                  </a:solidFill>
                  <a:latin typeface="Calibri" panose="020F0502020204030204"/>
                  <a:ea typeface="微软雅黑" panose="020B0503020204020204" pitchFamily="34" charset="-122"/>
                </a:rPr>
                <a:t>WUHAN UNIVERSITY</a:t>
              </a:r>
              <a:endParaRPr lang="en-US" altLang="zh-CN" sz="900" b="1" dirty="0">
                <a:solidFill>
                  <a:prstClr val="black"/>
                </a:solidFill>
                <a:latin typeface="Calibri" panose="020F0502020204030204"/>
                <a:ea typeface="微软雅黑" panose="020B0503020204020204" pitchFamily="34" charset="-122"/>
              </a:endParaRPr>
            </a:p>
          </p:txBody>
        </p:sp>
      </p:grpSp>
      <p:grpSp>
        <p:nvGrpSpPr>
          <p:cNvPr id="14" name="组合 13"/>
          <p:cNvGrpSpPr/>
          <p:nvPr/>
        </p:nvGrpSpPr>
        <p:grpSpPr>
          <a:xfrm>
            <a:off x="296545" y="1260475"/>
            <a:ext cx="11227435" cy="5492750"/>
            <a:chOff x="467" y="1985"/>
            <a:chExt cx="17681" cy="8650"/>
          </a:xfrm>
        </p:grpSpPr>
        <p:pic>
          <p:nvPicPr>
            <p:cNvPr id="3" name="图片 -2147482618"/>
            <p:cNvPicPr>
              <a:picLocks noChangeAspect="1"/>
            </p:cNvPicPr>
            <p:nvPr/>
          </p:nvPicPr>
          <p:blipFill>
            <a:blip r:embed="rId4"/>
            <a:stretch>
              <a:fillRect/>
            </a:stretch>
          </p:blipFill>
          <p:spPr>
            <a:xfrm>
              <a:off x="1099" y="2710"/>
              <a:ext cx="17049" cy="7925"/>
            </a:xfrm>
            <a:prstGeom prst="rect">
              <a:avLst/>
            </a:prstGeom>
            <a:noFill/>
            <a:ln w="9525">
              <a:noFill/>
            </a:ln>
          </p:spPr>
        </p:pic>
        <p:sp>
          <p:nvSpPr>
            <p:cNvPr id="7" name="文本框 6"/>
            <p:cNvSpPr txBox="1"/>
            <p:nvPr/>
          </p:nvSpPr>
          <p:spPr>
            <a:xfrm>
              <a:off x="467" y="1985"/>
              <a:ext cx="15785" cy="725"/>
            </a:xfrm>
            <a:prstGeom prst="rect">
              <a:avLst/>
            </a:prstGeom>
          </p:spPr>
          <p:txBody>
            <a:bodyPr wrap="square">
              <a:spAutoFit/>
            </a:bodyPr>
            <a:p>
              <a:pPr marL="0" indent="304800" algn="just" defTabSz="266700">
                <a:lnSpc>
                  <a:spcPct val="150000"/>
                </a:lnSpc>
                <a:spcBef>
                  <a:spcPct val="0"/>
                </a:spcBef>
                <a:spcAft>
                  <a:spcPct val="0"/>
                </a:spcAft>
              </a:pPr>
              <a:r>
                <a:rPr lang="zh-CN" altLang="en-US" sz="1600" b="1">
                  <a:latin typeface="微软雅黑" panose="020B0503020204020204" pitchFamily="34" charset="-122"/>
                  <a:ea typeface="微软雅黑" panose="020B0503020204020204" pitchFamily="34" charset="-122"/>
                </a:rPr>
                <a:t>从多种来源抽取地图学知识，构建知识图谱，包含了</a:t>
              </a:r>
              <a:r>
                <a:rPr lang="en-US" altLang="zh-CN" sz="1600" b="1">
                  <a:latin typeface="微软雅黑" panose="020B0503020204020204" pitchFamily="34" charset="-122"/>
                  <a:ea typeface="微软雅黑" panose="020B0503020204020204" pitchFamily="34" charset="-122"/>
                </a:rPr>
                <a:t>1224</a:t>
              </a:r>
              <a:r>
                <a:rPr lang="zh-CN" altLang="en-US" sz="1600" b="1">
                  <a:latin typeface="微软雅黑" panose="020B0503020204020204" pitchFamily="34" charset="-122"/>
                  <a:ea typeface="微软雅黑" panose="020B0503020204020204" pitchFamily="34" charset="-122"/>
                </a:rPr>
                <a:t>个实体、</a:t>
              </a:r>
              <a:r>
                <a:rPr lang="en-US" altLang="zh-CN" sz="1600" b="1">
                  <a:latin typeface="微软雅黑" panose="020B0503020204020204" pitchFamily="34" charset="-122"/>
                  <a:ea typeface="微软雅黑" panose="020B0503020204020204" pitchFamily="34" charset="-122"/>
                </a:rPr>
                <a:t>1354</a:t>
              </a:r>
              <a:r>
                <a:rPr lang="zh-CN" altLang="en-US" sz="1600" b="1">
                  <a:latin typeface="微软雅黑" panose="020B0503020204020204" pitchFamily="34" charset="-122"/>
                  <a:ea typeface="微软雅黑" panose="020B0503020204020204" pitchFamily="34" charset="-122"/>
                </a:rPr>
                <a:t>条关系</a:t>
              </a:r>
              <a:endParaRPr lang="zh-CN" altLang="en-US" sz="1600" b="1">
                <a:latin typeface="微软雅黑" panose="020B0503020204020204" pitchFamily="34" charset="-122"/>
                <a:ea typeface="微软雅黑" panose="020B0503020204020204" pitchFamily="34" charset="-122"/>
              </a:endParaRPr>
            </a:p>
          </p:txBody>
        </p:sp>
      </p:grpSp>
      <p:grpSp>
        <p:nvGrpSpPr>
          <p:cNvPr id="11" name="组合 10"/>
          <p:cNvGrpSpPr/>
          <p:nvPr/>
        </p:nvGrpSpPr>
        <p:grpSpPr>
          <a:xfrm>
            <a:off x="205105" y="1964055"/>
            <a:ext cx="5839460" cy="1506855"/>
            <a:chOff x="323" y="4433"/>
            <a:chExt cx="9196" cy="2373"/>
          </a:xfrm>
        </p:grpSpPr>
        <p:pic>
          <p:nvPicPr>
            <p:cNvPr id="1" name="图片 -2147482617"/>
            <p:cNvPicPr>
              <a:picLocks noChangeAspect="1"/>
            </p:cNvPicPr>
            <p:nvPr/>
          </p:nvPicPr>
          <p:blipFill>
            <a:blip r:embed="rId5"/>
            <a:stretch>
              <a:fillRect/>
            </a:stretch>
          </p:blipFill>
          <p:spPr>
            <a:xfrm>
              <a:off x="467" y="4433"/>
              <a:ext cx="9052" cy="2373"/>
            </a:xfrm>
            <a:prstGeom prst="rect">
              <a:avLst/>
            </a:prstGeom>
            <a:noFill/>
            <a:ln w="9525">
              <a:noFill/>
            </a:ln>
          </p:spPr>
        </p:pic>
        <p:sp>
          <p:nvSpPr>
            <p:cNvPr id="8" name="文本框 7"/>
            <p:cNvSpPr txBox="1"/>
            <p:nvPr/>
          </p:nvSpPr>
          <p:spPr>
            <a:xfrm>
              <a:off x="323" y="5399"/>
              <a:ext cx="3194" cy="1342"/>
            </a:xfrm>
            <a:prstGeom prst="rect">
              <a:avLst/>
            </a:prstGeom>
            <a:noFill/>
            <a:extLst>
              <a:ext uri="{909E8E84-426E-40DD-AFC4-6F175D3DCCD1}">
                <a14:hiddenFill xmlns:a14="http://schemas.microsoft.com/office/drawing/2010/main">
                  <a:solidFill>
                    <a:schemeClr val="accent6">
                      <a:lumMod val="40000"/>
                      <a:lumOff val="60000"/>
                    </a:schemeClr>
                  </a:solidFill>
                </a14:hiddenFill>
              </a:ext>
            </a:extLst>
          </p:spPr>
          <p:txBody>
            <a:bodyPr wrap="square">
              <a:noAutofit/>
            </a:bodyPr>
            <a:p>
              <a:pPr marL="0" indent="304800" algn="ctr" defTabSz="266700">
                <a:lnSpc>
                  <a:spcPct val="150000"/>
                </a:lnSpc>
                <a:spcBef>
                  <a:spcPct val="0"/>
                </a:spcBef>
                <a:spcAft>
                  <a:spcPct val="0"/>
                </a:spcAft>
              </a:pPr>
              <a:r>
                <a:rPr lang="zh-CN" altLang="en-US" sz="1600" b="1">
                  <a:solidFill>
                    <a:schemeClr val="tx1"/>
                  </a:solidFill>
                  <a:latin typeface="微软雅黑" panose="020B0503020204020204" pitchFamily="34" charset="-122"/>
                  <a:ea typeface="微软雅黑" panose="020B0503020204020204" pitchFamily="34" charset="-122"/>
                </a:rPr>
                <a:t>查询某类地图采用的投影</a:t>
              </a:r>
              <a:endParaRPr lang="zh-CN" altLang="en-US" sz="1600" b="1">
                <a:solidFill>
                  <a:schemeClr val="tx1"/>
                </a:solidFill>
                <a:latin typeface="微软雅黑" panose="020B0503020204020204" pitchFamily="34" charset="-122"/>
                <a:ea typeface="微软雅黑" panose="020B0503020204020204" pitchFamily="34" charset="-122"/>
              </a:endParaRPr>
            </a:p>
          </p:txBody>
        </p:sp>
      </p:grpSp>
      <p:grpSp>
        <p:nvGrpSpPr>
          <p:cNvPr id="13" name="组合 12"/>
          <p:cNvGrpSpPr/>
          <p:nvPr/>
        </p:nvGrpSpPr>
        <p:grpSpPr>
          <a:xfrm>
            <a:off x="6147346" y="2097405"/>
            <a:ext cx="5680164" cy="3587750"/>
            <a:chOff x="10172" y="4726"/>
            <a:chExt cx="8276" cy="5227"/>
          </a:xfrm>
        </p:grpSpPr>
        <p:pic>
          <p:nvPicPr>
            <p:cNvPr id="5" name="图片 -2147482616"/>
            <p:cNvPicPr>
              <a:picLocks noChangeAspect="1"/>
            </p:cNvPicPr>
            <p:nvPr/>
          </p:nvPicPr>
          <p:blipFill>
            <a:blip r:embed="rId6"/>
            <a:stretch>
              <a:fillRect/>
            </a:stretch>
          </p:blipFill>
          <p:spPr>
            <a:xfrm>
              <a:off x="10172" y="4726"/>
              <a:ext cx="8276" cy="5227"/>
            </a:xfrm>
            <a:prstGeom prst="rect">
              <a:avLst/>
            </a:prstGeom>
            <a:noFill/>
            <a:ln w="9525">
              <a:noFill/>
            </a:ln>
          </p:spPr>
        </p:pic>
        <p:sp>
          <p:nvSpPr>
            <p:cNvPr id="9" name="文本框 8"/>
            <p:cNvSpPr txBox="1"/>
            <p:nvPr/>
          </p:nvSpPr>
          <p:spPr>
            <a:xfrm>
              <a:off x="16115" y="5646"/>
              <a:ext cx="2333" cy="1209"/>
            </a:xfrm>
            <a:prstGeom prst="rect">
              <a:avLst/>
            </a:prstGeom>
          </p:spPr>
          <p:txBody>
            <a:bodyPr wrap="square">
              <a:spAutoFit/>
            </a:bodyPr>
            <a:p>
              <a:pPr indent="0" algn="ctr" defTabSz="266700" fontAlgn="auto">
                <a:lnSpc>
                  <a:spcPct val="150000"/>
                </a:lnSpc>
                <a:spcBef>
                  <a:spcPct val="0"/>
                </a:spcBef>
                <a:spcAft>
                  <a:spcPct val="0"/>
                </a:spcAft>
              </a:pPr>
              <a:r>
                <a:rPr lang="zh-CN" altLang="en-US" sz="1600" b="1">
                  <a:solidFill>
                    <a:schemeClr val="tx1"/>
                  </a:solidFill>
                  <a:latin typeface="微软雅黑" panose="020B0503020204020204" pitchFamily="34" charset="-122"/>
                  <a:ea typeface="微软雅黑" panose="020B0503020204020204" pitchFamily="34" charset="-122"/>
                </a:rPr>
                <a:t>查找某河流流经的省份</a:t>
              </a:r>
              <a:endParaRPr lang="zh-CN" altLang="en-US" sz="1600" b="1">
                <a:solidFill>
                  <a:schemeClr val="tx1"/>
                </a:solidFill>
                <a:latin typeface="微软雅黑" panose="020B0503020204020204" pitchFamily="34" charset="-122"/>
                <a:ea typeface="微软雅黑" panose="020B0503020204020204" pitchFamily="34" charset="-122"/>
              </a:endParaRPr>
            </a:p>
          </p:txBody>
        </p:sp>
      </p:grpSp>
      <p:grpSp>
        <p:nvGrpSpPr>
          <p:cNvPr id="12" name="组合 11"/>
          <p:cNvGrpSpPr/>
          <p:nvPr/>
        </p:nvGrpSpPr>
        <p:grpSpPr>
          <a:xfrm>
            <a:off x="204470" y="4206875"/>
            <a:ext cx="5839460" cy="1463040"/>
            <a:chOff x="467" y="7289"/>
            <a:chExt cx="9095" cy="2188"/>
          </a:xfrm>
        </p:grpSpPr>
        <p:pic>
          <p:nvPicPr>
            <p:cNvPr id="6" name="图片 -2147482615"/>
            <p:cNvPicPr>
              <a:picLocks noChangeAspect="1"/>
            </p:cNvPicPr>
            <p:nvPr/>
          </p:nvPicPr>
          <p:blipFill>
            <a:blip r:embed="rId7"/>
            <a:stretch>
              <a:fillRect/>
            </a:stretch>
          </p:blipFill>
          <p:spPr>
            <a:xfrm>
              <a:off x="467" y="7289"/>
              <a:ext cx="9095" cy="2188"/>
            </a:xfrm>
            <a:prstGeom prst="rect">
              <a:avLst/>
            </a:prstGeom>
            <a:noFill/>
            <a:ln w="9525">
              <a:noFill/>
            </a:ln>
          </p:spPr>
        </p:pic>
        <p:sp>
          <p:nvSpPr>
            <p:cNvPr id="10" name="文本框 9"/>
            <p:cNvSpPr txBox="1"/>
            <p:nvPr/>
          </p:nvSpPr>
          <p:spPr>
            <a:xfrm>
              <a:off x="5438" y="7978"/>
              <a:ext cx="3188" cy="1241"/>
            </a:xfrm>
            <a:prstGeom prst="rect">
              <a:avLst/>
            </a:prstGeom>
          </p:spPr>
          <p:txBody>
            <a:bodyPr wrap="square">
              <a:spAutoFit/>
            </a:bodyPr>
            <a:p>
              <a:pPr indent="0" algn="ctr" defTabSz="266700" fontAlgn="auto">
                <a:lnSpc>
                  <a:spcPct val="150000"/>
                </a:lnSpc>
                <a:spcBef>
                  <a:spcPct val="0"/>
                </a:spcBef>
                <a:spcAft>
                  <a:spcPct val="0"/>
                </a:spcAft>
              </a:pPr>
              <a:r>
                <a:rPr lang="zh-CN" altLang="en-US" sz="1600" b="1">
                  <a:latin typeface="微软雅黑" panose="020B0503020204020204" pitchFamily="34" charset="-122"/>
                  <a:ea typeface="微软雅黑" panose="020B0503020204020204" pitchFamily="34" charset="-122"/>
                </a:rPr>
                <a:t>获取绘制某专题地图所需的数据源</a:t>
              </a:r>
              <a:endParaRPr lang="zh-CN" altLang="en-US" sz="1600" b="1">
                <a:latin typeface="微软雅黑" panose="020B0503020204020204" pitchFamily="34" charset="-122"/>
                <a:ea typeface="微软雅黑" panose="020B0503020204020204" pitchFamily="34" charset="-122"/>
              </a:endParaRPr>
            </a:p>
          </p:txBody>
        </p:sp>
      </p:grpSp>
      <p:sp>
        <p:nvSpPr>
          <p:cNvPr id="4" name="ïṣ1ïḑê"/>
          <p:cNvSpPr>
            <a:spLocks noGrp="1"/>
          </p:cNvSpPr>
          <p:nvPr/>
        </p:nvSpPr>
        <p:spPr>
          <a:xfrm>
            <a:off x="205105" y="1087120"/>
            <a:ext cx="10850880" cy="71247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800" b="1" kern="1200">
                <a:solidFill>
                  <a:srgbClr val="000000"/>
                </a:solidFill>
                <a:latin typeface="Arial" panose="020B0604020202020204" pitchFamily="34" charset="0"/>
                <a:ea typeface="微软雅黑" panose="020B0503020204020204" pitchFamily="34" charset="-122"/>
                <a:cs typeface="+mn-ea"/>
              </a:defRPr>
            </a:lvl1pPr>
          </a:lstStyle>
          <a:p>
            <a:r>
              <a:rPr lang="en-US" altLang="zh-CN" dirty="0">
                <a:solidFill>
                  <a:srgbClr val="005825"/>
                </a:solidFill>
              </a:rPr>
              <a:t>3.1 </a:t>
            </a:r>
            <a:r>
              <a:rPr lang="zh-CN" altLang="en-US" dirty="0">
                <a:solidFill>
                  <a:srgbClr val="00481C"/>
                </a:solidFill>
                <a:latin typeface="Times New Roman" panose="02020603050405020304" pitchFamily="18" charset="0"/>
                <a:cs typeface="Times New Roman" panose="02020603050405020304" pitchFamily="18" charset="0"/>
              </a:rPr>
              <a:t>地图制图知识图谱构建</a:t>
            </a:r>
            <a:endParaRPr lang="zh-CN" altLang="en-US" dirty="0">
              <a:solidFill>
                <a:schemeClr val="tx1"/>
              </a:solidFill>
              <a:latin typeface="Times New Roman" panose="02020603050405020304" pitchFamily="18" charset="0"/>
              <a:cs typeface="Times New Roman" panose="02020603050405020304" pitchFamily="18" charset="0"/>
            </a:endParaRPr>
          </a:p>
          <a:p>
            <a:endParaRPr lang="zh-CN" altLang="en-US" dirty="0">
              <a:solidFill>
                <a:schemeClr val="tx1"/>
              </a:solidFill>
              <a:latin typeface="Times New Roman" panose="02020603050405020304" pitchFamily="18" charset="0"/>
              <a:cs typeface="Times New Roman" panose="02020603050405020304" pitchFamily="18" charset="0"/>
            </a:endParaRPr>
          </a:p>
        </p:txBody>
      </p:sp>
      <p:sp>
        <p:nvSpPr>
          <p:cNvPr id="2" name="页脚占位符 1"/>
          <p:cNvSpPr>
            <a:spLocks noGrp="1"/>
          </p:cNvSpPr>
          <p:nvPr>
            <p:ph type="ftr" sz="quarter" idx="11"/>
          </p:nvPr>
        </p:nvSpPr>
        <p:spPr/>
        <p:txBody>
          <a:bodyPr/>
          <a:p>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linds(horizontal)">
                                      <p:cBhvr>
                                        <p:cTn id="7" dur="500"/>
                                        <p:tgtEl>
                                          <p:spTgt spid="14"/>
                                        </p:tgtEl>
                                      </p:cBhvr>
                                    </p:animEffect>
                                  </p:childTnLst>
                                  <p:subTnLst>
                                    <p:set>
                                      <p:cBhvr override="childStyle">
                                        <p:cTn dur="65" fill="hold" display="1" masterRel="nextClick" afterEffect="1"/>
                                        <p:tgtEl>
                                          <p:spTgt spid="14"/>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linds(horizontal)">
                                      <p:cBhvr>
                                        <p:cTn id="12" dur="500"/>
                                        <p:tgtEl>
                                          <p:spTgt spid="11"/>
                                        </p:tgtEl>
                                      </p:cBhvr>
                                    </p:animEffect>
                                  </p:childTnLst>
                                </p:cTn>
                              </p:par>
                              <p:par>
                                <p:cTn id="13" presetID="3" presetClass="entr" presetSubtype="1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blinds(horizontal)">
                                      <p:cBhvr>
                                        <p:cTn id="15" dur="500"/>
                                        <p:tgtEl>
                                          <p:spTgt spid="12"/>
                                        </p:tgtEl>
                                      </p:cBhvr>
                                    </p:animEffect>
                                  </p:childTnLst>
                                </p:cTn>
                              </p:par>
                              <p:par>
                                <p:cTn id="16" presetID="3" presetClass="entr" presetSubtype="1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linds(horizontal)">
                                      <p:cBhvr>
                                        <p:cTn id="1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581" name=""/>
        <p:cNvGrpSpPr/>
        <p:nvPr/>
      </p:nvGrpSpPr>
      <p:grpSpPr>
        <a:xfrm>
          <a:off x="0" y="0"/>
          <a:ext cx="0" cy="0"/>
          <a:chOff x="0" y="0"/>
          <a:chExt cx="0" cy="0"/>
        </a:xfrm>
      </p:grpSpPr>
      <p:sp>
        <p:nvSpPr>
          <p:cNvPr id="582" name="文本框 60"/>
          <p:cNvSpPr txBox="1"/>
          <p:nvPr/>
        </p:nvSpPr>
        <p:spPr>
          <a:xfrm>
            <a:off x="10320239" y="216952"/>
            <a:ext cx="3123637" cy="369332"/>
          </a:xfrm>
          <a:prstGeom prst="rect">
            <a:avLst/>
          </a:prstGeom>
          <a:noFill/>
        </p:spPr>
        <p:txBody>
          <a:bodyPr wrap="square" rtlCol="0">
            <a:spAutoFit/>
          </a:bodyPr>
          <a:lstStyle/>
          <a:p>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未来展望</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585" name="组合 68"/>
          <p:cNvGrpSpPr/>
          <p:nvPr/>
        </p:nvGrpSpPr>
        <p:grpSpPr>
          <a:xfrm>
            <a:off x="0" y="15886"/>
            <a:ext cx="12219295" cy="1001194"/>
            <a:chOff x="-128871" y="-59933"/>
            <a:chExt cx="12219295" cy="1001194"/>
          </a:xfrm>
        </p:grpSpPr>
        <p:grpSp>
          <p:nvGrpSpPr>
            <p:cNvPr id="586" name="组合 67"/>
            <p:cNvGrpSpPr/>
            <p:nvPr/>
          </p:nvGrpSpPr>
          <p:grpSpPr>
            <a:xfrm>
              <a:off x="-128871" y="-59933"/>
              <a:ext cx="12219295" cy="1001194"/>
              <a:chOff x="-128871" y="-59933"/>
              <a:chExt cx="12219295" cy="1001194"/>
            </a:xfrm>
          </p:grpSpPr>
          <p:pic>
            <p:nvPicPr>
              <p:cNvPr id="587" name="图片 53"/>
              <p:cNvPicPr>
                <a:picLocks noChangeAspect="1"/>
              </p:cNvPicPr>
              <p:nvPr/>
            </p:nvPicPr>
            <p:blipFill>
              <a:blip r:embed="rId1" cstate="print"/>
              <a:stretch>
                <a:fillRect/>
              </a:stretch>
            </p:blipFill>
            <p:spPr>
              <a:xfrm>
                <a:off x="-128871" y="-59933"/>
                <a:ext cx="12219295" cy="1001194"/>
              </a:xfrm>
              <a:prstGeom prst="rect">
                <a:avLst/>
              </a:prstGeom>
              <a:effectLst>
                <a:outerShdw blurRad="50800" dist="38100" dir="8100000" algn="tr" rotWithShape="0">
                  <a:prstClr val="black">
                    <a:alpha val="40000"/>
                  </a:prstClr>
                </a:outerShdw>
              </a:effectLst>
            </p:spPr>
          </p:pic>
          <p:sp>
            <p:nvSpPr>
              <p:cNvPr id="588" name="矩形 55"/>
              <p:cNvSpPr/>
              <p:nvPr/>
            </p:nvSpPr>
            <p:spPr>
              <a:xfrm>
                <a:off x="6946934" y="-59933"/>
                <a:ext cx="2536825" cy="773430"/>
              </a:xfrm>
              <a:prstGeom prst="rect">
                <a:avLst/>
              </a:prstGeom>
              <a:solidFill>
                <a:srgbClr val="005825"/>
              </a:solidFill>
              <a:ln>
                <a:solidFill>
                  <a:srgbClr val="0058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89" name="文本框 57"/>
              <p:cNvSpPr txBox="1"/>
              <p:nvPr/>
            </p:nvSpPr>
            <p:spPr>
              <a:xfrm>
                <a:off x="2629484" y="48215"/>
                <a:ext cx="3123637"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选题背景</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0" name="文本框 58"/>
              <p:cNvSpPr txBox="1"/>
              <p:nvPr/>
            </p:nvSpPr>
            <p:spPr>
              <a:xfrm>
                <a:off x="4852069" y="48055"/>
                <a:ext cx="1771650"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项目方案</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1" name="文本框 59"/>
              <p:cNvSpPr txBox="1"/>
              <p:nvPr/>
            </p:nvSpPr>
            <p:spPr>
              <a:xfrm>
                <a:off x="7339364" y="50595"/>
                <a:ext cx="1741805" cy="52197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项目进展</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592" name="直接连接符 61"/>
              <p:cNvCxnSpPr/>
              <p:nvPr/>
            </p:nvCxnSpPr>
            <p:spPr>
              <a:xfrm>
                <a:off x="4529735" y="113988"/>
                <a:ext cx="0" cy="4024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3" name="直接连接符 62"/>
              <p:cNvCxnSpPr/>
              <p:nvPr/>
            </p:nvCxnSpPr>
            <p:spPr>
              <a:xfrm flipH="1">
                <a:off x="6955732" y="194315"/>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94" name="文本框 65"/>
            <p:cNvSpPr txBox="1"/>
            <p:nvPr/>
          </p:nvSpPr>
          <p:spPr>
            <a:xfrm>
              <a:off x="9954929" y="50595"/>
              <a:ext cx="196659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总结展望</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cxnSp>
        <p:nvCxnSpPr>
          <p:cNvPr id="595" name="直接连接符 62"/>
          <p:cNvCxnSpPr/>
          <p:nvPr/>
        </p:nvCxnSpPr>
        <p:spPr>
          <a:xfrm flipH="1">
            <a:off x="9592354" y="270134"/>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596" name="组合 13"/>
          <p:cNvGrpSpPr/>
          <p:nvPr/>
        </p:nvGrpSpPr>
        <p:grpSpPr>
          <a:xfrm>
            <a:off x="204998" y="81727"/>
            <a:ext cx="1999471" cy="590901"/>
            <a:chOff x="4077923" y="171807"/>
            <a:chExt cx="4420435" cy="1371709"/>
          </a:xfrm>
        </p:grpSpPr>
        <p:grpSp>
          <p:nvGrpSpPr>
            <p:cNvPr id="597" name="组合 14"/>
            <p:cNvGrpSpPr/>
            <p:nvPr/>
          </p:nvGrpSpPr>
          <p:grpSpPr>
            <a:xfrm>
              <a:off x="4077923" y="171807"/>
              <a:ext cx="4260493" cy="1371709"/>
              <a:chOff x="6331308" y="1189619"/>
              <a:chExt cx="5481392" cy="1764794"/>
            </a:xfrm>
          </p:grpSpPr>
          <p:pic>
            <p:nvPicPr>
              <p:cNvPr id="598" name="图片 33"/>
              <p:cNvPicPr>
                <a:picLocks noChangeAspect="1"/>
              </p:cNvPicPr>
              <p:nvPr/>
            </p:nvPicPr>
            <p:blipFill>
              <a:blip r:embed="rId2"/>
              <a:srcRect/>
              <a:stretch>
                <a:fillRect/>
              </a:stretch>
            </p:blipFill>
            <p:spPr>
              <a:xfrm>
                <a:off x="6331308" y="1189619"/>
                <a:ext cx="1791803" cy="1764794"/>
              </a:xfrm>
              <a:prstGeom prst="rect">
                <a:avLst/>
              </a:prstGeom>
            </p:spPr>
          </p:pic>
          <p:pic>
            <p:nvPicPr>
              <p:cNvPr id="599" name="图片 35"/>
              <p:cNvPicPr>
                <a:picLocks noChangeAspect="1"/>
              </p:cNvPicPr>
              <p:nvPr/>
            </p:nvPicPr>
            <p:blipFill>
              <a:blip r:embed="rId3"/>
              <a:srcRect/>
              <a:stretch>
                <a:fillRect/>
              </a:stretch>
            </p:blipFill>
            <p:spPr>
              <a:xfrm>
                <a:off x="8302517" y="1422328"/>
                <a:ext cx="3510183" cy="965303"/>
              </a:xfrm>
              <a:prstGeom prst="rect">
                <a:avLst/>
              </a:prstGeom>
            </p:spPr>
          </p:pic>
        </p:grpSp>
        <p:sp>
          <p:nvSpPr>
            <p:cNvPr id="600" name="矩形 15"/>
            <p:cNvSpPr/>
            <p:nvPr/>
          </p:nvSpPr>
          <p:spPr>
            <a:xfrm>
              <a:off x="5470629" y="1076339"/>
              <a:ext cx="3027729" cy="410186"/>
            </a:xfrm>
            <a:prstGeom prst="rect">
              <a:avLst/>
            </a:prstGeom>
          </p:spPr>
          <p:txBody>
            <a:bodyPr wrap="square">
              <a:spAutoFit/>
            </a:bodyPr>
            <a:lstStyle/>
            <a:p>
              <a:pPr algn="dist">
                <a:defRPr/>
              </a:pPr>
              <a:r>
                <a:rPr lang="en-US" altLang="zh-CN" sz="900" b="1" dirty="0">
                  <a:solidFill>
                    <a:prstClr val="black"/>
                  </a:solidFill>
                  <a:latin typeface="Calibri" panose="020F0502020204030204"/>
                  <a:ea typeface="微软雅黑" panose="020B0503020204020204" pitchFamily="34" charset="-122"/>
                </a:rPr>
                <a:t>WUHAN UNIVERSITY</a:t>
              </a:r>
              <a:endParaRPr lang="en-US" altLang="zh-CN" sz="900" b="1" dirty="0">
                <a:solidFill>
                  <a:prstClr val="black"/>
                </a:solidFill>
                <a:latin typeface="Calibri" panose="020F0502020204030204"/>
                <a:ea typeface="微软雅黑" panose="020B0503020204020204" pitchFamily="34" charset="-122"/>
              </a:endParaRPr>
            </a:p>
          </p:txBody>
        </p:sp>
      </p:grpSp>
      <p:sp>
        <p:nvSpPr>
          <p:cNvPr id="2" name="ïṣ1ïḑê"/>
          <p:cNvSpPr>
            <a:spLocks noGrp="1"/>
          </p:cNvSpPr>
          <p:nvPr/>
        </p:nvSpPr>
        <p:spPr>
          <a:xfrm>
            <a:off x="205105" y="1087120"/>
            <a:ext cx="10850880" cy="71247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800" b="1" kern="1200">
                <a:solidFill>
                  <a:srgbClr val="000000"/>
                </a:solidFill>
                <a:latin typeface="Arial" panose="020B0604020202020204" pitchFamily="34" charset="0"/>
                <a:ea typeface="微软雅黑" panose="020B0503020204020204" pitchFamily="34" charset="-122"/>
                <a:cs typeface="+mn-ea"/>
              </a:defRPr>
            </a:lvl1pPr>
          </a:lstStyle>
          <a:p>
            <a:r>
              <a:rPr lang="en-US" altLang="zh-CN" dirty="0">
                <a:solidFill>
                  <a:srgbClr val="005825"/>
                </a:solidFill>
              </a:rPr>
              <a:t>3.2 </a:t>
            </a:r>
            <a:r>
              <a:rPr lang="zh-CN" altLang="en-US" dirty="0">
                <a:solidFill>
                  <a:srgbClr val="00481C"/>
                </a:solidFill>
                <a:latin typeface="微软雅黑" panose="020B0503020204020204" pitchFamily="34" charset="-122"/>
                <a:cs typeface="微软雅黑" panose="020B0503020204020204" pitchFamily="34" charset="-122"/>
              </a:rPr>
              <a:t>基于大语言模型（</a:t>
            </a:r>
            <a:r>
              <a:rPr lang="en-US" altLang="zh-CN" dirty="0">
                <a:solidFill>
                  <a:srgbClr val="00481C"/>
                </a:solidFill>
                <a:latin typeface="微软雅黑" panose="020B0503020204020204" pitchFamily="34" charset="-122"/>
                <a:cs typeface="微软雅黑" panose="020B0503020204020204" pitchFamily="34" charset="-122"/>
              </a:rPr>
              <a:t>LLM</a:t>
            </a:r>
            <a:r>
              <a:rPr lang="zh-CN" altLang="en-US" dirty="0">
                <a:solidFill>
                  <a:srgbClr val="00481C"/>
                </a:solidFill>
                <a:latin typeface="微软雅黑" panose="020B0503020204020204" pitchFamily="34" charset="-122"/>
                <a:cs typeface="微软雅黑" panose="020B0503020204020204" pitchFamily="34" charset="-122"/>
              </a:rPr>
              <a:t>）的知识图谱构建器</a:t>
            </a:r>
            <a:endParaRPr lang="zh-CN" altLang="en-US" dirty="0">
              <a:solidFill>
                <a:srgbClr val="00481C"/>
              </a:solidFill>
              <a:latin typeface="微软雅黑" panose="020B0503020204020204" pitchFamily="34" charset="-122"/>
              <a:cs typeface="微软雅黑" panose="020B0503020204020204" pitchFamily="34" charset="-122"/>
            </a:endParaRPr>
          </a:p>
          <a:p>
            <a:endParaRPr lang="zh-CN" altLang="en-US" dirty="0">
              <a:solidFill>
                <a:srgbClr val="00481C"/>
              </a:solidFill>
              <a:latin typeface="微软雅黑" panose="020B0503020204020204" pitchFamily="34" charset="-122"/>
              <a:cs typeface="微软雅黑" panose="020B0503020204020204" pitchFamily="34" charset="-122"/>
            </a:endParaRPr>
          </a:p>
        </p:txBody>
      </p:sp>
      <p:sp>
        <p:nvSpPr>
          <p:cNvPr id="3" name="文本框 2"/>
          <p:cNvSpPr txBox="1"/>
          <p:nvPr/>
        </p:nvSpPr>
        <p:spPr>
          <a:xfrm>
            <a:off x="311785" y="1306830"/>
            <a:ext cx="3557905" cy="609600"/>
          </a:xfrm>
          <a:prstGeom prst="rect">
            <a:avLst/>
          </a:prstGeom>
        </p:spPr>
        <p:txBody>
          <a:bodyPr wrap="square">
            <a:noAutofit/>
          </a:bodyPr>
          <a:p>
            <a:pPr indent="304800" algn="just" defTabSz="266700">
              <a:lnSpc>
                <a:spcPct val="150000"/>
              </a:lnSpc>
              <a:spcBef>
                <a:spcPct val="0"/>
              </a:spcBef>
              <a:spcAft>
                <a:spcPct val="0"/>
              </a:spcAft>
            </a:pPr>
            <a:r>
              <a:rPr lang="en-US" sz="2000" b="1">
                <a:solidFill>
                  <a:schemeClr val="tx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1. 端到端知识构建流水线</a:t>
            </a:r>
            <a:endParaRPr lang="en-US" sz="2000">
              <a:solidFill>
                <a:schemeClr val="tx1"/>
              </a:solidFill>
              <a:latin typeface="微软雅黑" panose="020B0503020204020204" pitchFamily="34" charset="-122"/>
              <a:ea typeface="微软雅黑" panose="020B0503020204020204" pitchFamily="34" charset="-122"/>
            </a:endParaRPr>
          </a:p>
          <a:p>
            <a:pPr indent="304800" algn="just" defTabSz="266700">
              <a:lnSpc>
                <a:spcPct val="150000"/>
              </a:lnSpc>
              <a:spcBef>
                <a:spcPct val="0"/>
              </a:spcBef>
              <a:spcAft>
                <a:spcPct val="0"/>
              </a:spcAft>
            </a:pPr>
            <a:endParaRPr lang="en-US" altLang="en-US" sz="2000" b="1">
              <a:solidFill>
                <a:schemeClr val="tx1"/>
              </a:solidFill>
              <a:latin typeface="微软雅黑" panose="020B0503020204020204" pitchFamily="34" charset="-122"/>
              <a:ea typeface="微软雅黑" panose="020B0503020204020204" pitchFamily="34" charset="-122"/>
            </a:endParaRPr>
          </a:p>
        </p:txBody>
      </p:sp>
      <p:pic>
        <p:nvPicPr>
          <p:cNvPr id="4" name="图片 -2147482614"/>
          <p:cNvPicPr>
            <a:picLocks noChangeAspect="1"/>
          </p:cNvPicPr>
          <p:nvPr/>
        </p:nvPicPr>
        <p:blipFill>
          <a:blip r:embed="rId4"/>
          <a:srcRect b="8546"/>
          <a:stretch>
            <a:fillRect/>
          </a:stretch>
        </p:blipFill>
        <p:spPr>
          <a:xfrm>
            <a:off x="205105" y="2097405"/>
            <a:ext cx="5672455" cy="3890010"/>
          </a:xfrm>
          <a:prstGeom prst="rect">
            <a:avLst/>
          </a:prstGeom>
          <a:noFill/>
          <a:ln w="9525">
            <a:noFill/>
          </a:ln>
        </p:spPr>
      </p:pic>
      <p:pic>
        <p:nvPicPr>
          <p:cNvPr id="5" name="图片 -2147482613"/>
          <p:cNvPicPr>
            <a:picLocks noChangeAspect="1"/>
          </p:cNvPicPr>
          <p:nvPr/>
        </p:nvPicPr>
        <p:blipFill>
          <a:blip r:embed="rId5"/>
          <a:srcRect t="17310"/>
          <a:stretch>
            <a:fillRect/>
          </a:stretch>
        </p:blipFill>
        <p:spPr>
          <a:xfrm>
            <a:off x="5759450" y="2097405"/>
            <a:ext cx="6547485" cy="3843020"/>
          </a:xfrm>
          <a:prstGeom prst="rect">
            <a:avLst/>
          </a:prstGeom>
          <a:noFill/>
          <a:ln w="9525">
            <a:noFill/>
          </a:ln>
        </p:spPr>
      </p:pic>
      <p:sp>
        <p:nvSpPr>
          <p:cNvPr id="6" name="页脚占位符 5"/>
          <p:cNvSpPr>
            <a:spLocks noGrp="1"/>
          </p:cNvSpPr>
          <p:nvPr>
            <p:ph type="ftr" sz="quarter" idx="11"/>
          </p:nvPr>
        </p:nvSpPr>
        <p:spPr/>
        <p:txBody>
          <a:bodyPr/>
          <a:p>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581" name=""/>
        <p:cNvGrpSpPr/>
        <p:nvPr/>
      </p:nvGrpSpPr>
      <p:grpSpPr>
        <a:xfrm>
          <a:off x="0" y="0"/>
          <a:ext cx="0" cy="0"/>
          <a:chOff x="0" y="0"/>
          <a:chExt cx="0" cy="0"/>
        </a:xfrm>
      </p:grpSpPr>
      <p:sp>
        <p:nvSpPr>
          <p:cNvPr id="582" name="文本框 60"/>
          <p:cNvSpPr txBox="1"/>
          <p:nvPr/>
        </p:nvSpPr>
        <p:spPr>
          <a:xfrm>
            <a:off x="10320239" y="216952"/>
            <a:ext cx="3123637" cy="369332"/>
          </a:xfrm>
          <a:prstGeom prst="rect">
            <a:avLst/>
          </a:prstGeom>
          <a:noFill/>
        </p:spPr>
        <p:txBody>
          <a:bodyPr wrap="square" rtlCol="0">
            <a:spAutoFit/>
          </a:bodyPr>
          <a:lstStyle/>
          <a:p>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未来展望</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585" name="组合 68"/>
          <p:cNvGrpSpPr/>
          <p:nvPr/>
        </p:nvGrpSpPr>
        <p:grpSpPr>
          <a:xfrm>
            <a:off x="0" y="15886"/>
            <a:ext cx="12219295" cy="1001194"/>
            <a:chOff x="-128871" y="-59933"/>
            <a:chExt cx="12219295" cy="1001194"/>
          </a:xfrm>
        </p:grpSpPr>
        <p:grpSp>
          <p:nvGrpSpPr>
            <p:cNvPr id="586" name="组合 67"/>
            <p:cNvGrpSpPr/>
            <p:nvPr/>
          </p:nvGrpSpPr>
          <p:grpSpPr>
            <a:xfrm>
              <a:off x="-128871" y="-59933"/>
              <a:ext cx="12219295" cy="1001194"/>
              <a:chOff x="-128871" y="-59933"/>
              <a:chExt cx="12219295" cy="1001194"/>
            </a:xfrm>
          </p:grpSpPr>
          <p:pic>
            <p:nvPicPr>
              <p:cNvPr id="587" name="图片 53"/>
              <p:cNvPicPr>
                <a:picLocks noChangeAspect="1"/>
              </p:cNvPicPr>
              <p:nvPr/>
            </p:nvPicPr>
            <p:blipFill>
              <a:blip r:embed="rId1" cstate="print"/>
              <a:stretch>
                <a:fillRect/>
              </a:stretch>
            </p:blipFill>
            <p:spPr>
              <a:xfrm>
                <a:off x="-128871" y="-59933"/>
                <a:ext cx="12219295" cy="1001194"/>
              </a:xfrm>
              <a:prstGeom prst="rect">
                <a:avLst/>
              </a:prstGeom>
              <a:effectLst>
                <a:outerShdw blurRad="50800" dist="38100" dir="8100000" algn="tr" rotWithShape="0">
                  <a:prstClr val="black">
                    <a:alpha val="40000"/>
                  </a:prstClr>
                </a:outerShdw>
              </a:effectLst>
            </p:spPr>
          </p:pic>
          <p:sp>
            <p:nvSpPr>
              <p:cNvPr id="588" name="矩形 55"/>
              <p:cNvSpPr/>
              <p:nvPr/>
            </p:nvSpPr>
            <p:spPr>
              <a:xfrm>
                <a:off x="6946934" y="-59933"/>
                <a:ext cx="2536825" cy="773430"/>
              </a:xfrm>
              <a:prstGeom prst="rect">
                <a:avLst/>
              </a:prstGeom>
              <a:solidFill>
                <a:srgbClr val="005825"/>
              </a:solidFill>
              <a:ln>
                <a:solidFill>
                  <a:srgbClr val="0058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89" name="文本框 57"/>
              <p:cNvSpPr txBox="1"/>
              <p:nvPr/>
            </p:nvSpPr>
            <p:spPr>
              <a:xfrm>
                <a:off x="2629484" y="48215"/>
                <a:ext cx="3123637"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选题背景</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0" name="文本框 58"/>
              <p:cNvSpPr txBox="1"/>
              <p:nvPr/>
            </p:nvSpPr>
            <p:spPr>
              <a:xfrm>
                <a:off x="4852069" y="48055"/>
                <a:ext cx="1771650"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项目方案</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1" name="文本框 59"/>
              <p:cNvSpPr txBox="1"/>
              <p:nvPr/>
            </p:nvSpPr>
            <p:spPr>
              <a:xfrm>
                <a:off x="7339364" y="50595"/>
                <a:ext cx="1741805" cy="52197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项目进展</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592" name="直接连接符 61"/>
              <p:cNvCxnSpPr/>
              <p:nvPr/>
            </p:nvCxnSpPr>
            <p:spPr>
              <a:xfrm>
                <a:off x="4529735" y="113988"/>
                <a:ext cx="0" cy="4024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3" name="直接连接符 62"/>
              <p:cNvCxnSpPr/>
              <p:nvPr/>
            </p:nvCxnSpPr>
            <p:spPr>
              <a:xfrm flipH="1">
                <a:off x="6955732" y="194315"/>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94" name="文本框 65"/>
            <p:cNvSpPr txBox="1"/>
            <p:nvPr/>
          </p:nvSpPr>
          <p:spPr>
            <a:xfrm>
              <a:off x="9954929" y="50595"/>
              <a:ext cx="196659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总结展望</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cxnSp>
        <p:nvCxnSpPr>
          <p:cNvPr id="595" name="直接连接符 62"/>
          <p:cNvCxnSpPr/>
          <p:nvPr/>
        </p:nvCxnSpPr>
        <p:spPr>
          <a:xfrm flipH="1">
            <a:off x="9592354" y="270134"/>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596" name="组合 13"/>
          <p:cNvGrpSpPr/>
          <p:nvPr/>
        </p:nvGrpSpPr>
        <p:grpSpPr>
          <a:xfrm>
            <a:off x="204998" y="81727"/>
            <a:ext cx="1999471" cy="590901"/>
            <a:chOff x="4077923" y="171807"/>
            <a:chExt cx="4420435" cy="1371709"/>
          </a:xfrm>
        </p:grpSpPr>
        <p:grpSp>
          <p:nvGrpSpPr>
            <p:cNvPr id="597" name="组合 14"/>
            <p:cNvGrpSpPr/>
            <p:nvPr/>
          </p:nvGrpSpPr>
          <p:grpSpPr>
            <a:xfrm>
              <a:off x="4077923" y="171807"/>
              <a:ext cx="4260493" cy="1371709"/>
              <a:chOff x="6331308" y="1189619"/>
              <a:chExt cx="5481392" cy="1764794"/>
            </a:xfrm>
          </p:grpSpPr>
          <p:pic>
            <p:nvPicPr>
              <p:cNvPr id="598" name="图片 33"/>
              <p:cNvPicPr>
                <a:picLocks noChangeAspect="1"/>
              </p:cNvPicPr>
              <p:nvPr/>
            </p:nvPicPr>
            <p:blipFill>
              <a:blip r:embed="rId2"/>
              <a:srcRect/>
              <a:stretch>
                <a:fillRect/>
              </a:stretch>
            </p:blipFill>
            <p:spPr>
              <a:xfrm>
                <a:off x="6331308" y="1189619"/>
                <a:ext cx="1791803" cy="1764794"/>
              </a:xfrm>
              <a:prstGeom prst="rect">
                <a:avLst/>
              </a:prstGeom>
            </p:spPr>
          </p:pic>
          <p:pic>
            <p:nvPicPr>
              <p:cNvPr id="599" name="图片 35"/>
              <p:cNvPicPr>
                <a:picLocks noChangeAspect="1"/>
              </p:cNvPicPr>
              <p:nvPr/>
            </p:nvPicPr>
            <p:blipFill>
              <a:blip r:embed="rId3"/>
              <a:srcRect/>
              <a:stretch>
                <a:fillRect/>
              </a:stretch>
            </p:blipFill>
            <p:spPr>
              <a:xfrm>
                <a:off x="8302517" y="1422328"/>
                <a:ext cx="3510183" cy="965303"/>
              </a:xfrm>
              <a:prstGeom prst="rect">
                <a:avLst/>
              </a:prstGeom>
            </p:spPr>
          </p:pic>
        </p:grpSp>
        <p:sp>
          <p:nvSpPr>
            <p:cNvPr id="600" name="矩形 15"/>
            <p:cNvSpPr/>
            <p:nvPr/>
          </p:nvSpPr>
          <p:spPr>
            <a:xfrm>
              <a:off x="5470629" y="1076339"/>
              <a:ext cx="3027729" cy="410186"/>
            </a:xfrm>
            <a:prstGeom prst="rect">
              <a:avLst/>
            </a:prstGeom>
          </p:spPr>
          <p:txBody>
            <a:bodyPr wrap="square">
              <a:spAutoFit/>
            </a:bodyPr>
            <a:lstStyle/>
            <a:p>
              <a:pPr algn="dist">
                <a:defRPr/>
              </a:pPr>
              <a:r>
                <a:rPr lang="en-US" altLang="zh-CN" sz="900" b="1" dirty="0">
                  <a:solidFill>
                    <a:prstClr val="black"/>
                  </a:solidFill>
                  <a:latin typeface="Calibri" panose="020F0502020204030204"/>
                  <a:ea typeface="微软雅黑" panose="020B0503020204020204" pitchFamily="34" charset="-122"/>
                </a:rPr>
                <a:t>WUHAN UNIVERSITY</a:t>
              </a:r>
              <a:endParaRPr lang="en-US" altLang="zh-CN" sz="900" b="1" dirty="0">
                <a:solidFill>
                  <a:prstClr val="black"/>
                </a:solidFill>
                <a:latin typeface="Calibri" panose="020F0502020204030204"/>
                <a:ea typeface="微软雅黑" panose="020B0503020204020204" pitchFamily="34" charset="-122"/>
              </a:endParaRPr>
            </a:p>
          </p:txBody>
        </p:sp>
      </p:grpSp>
      <p:pic>
        <p:nvPicPr>
          <p:cNvPr id="4" name="图片 -2147482605"/>
          <p:cNvPicPr>
            <a:picLocks noChangeAspect="1"/>
          </p:cNvPicPr>
          <p:nvPr/>
        </p:nvPicPr>
        <p:blipFill>
          <a:blip r:embed="rId4"/>
          <a:srcRect t="4735" b="4953"/>
          <a:stretch>
            <a:fillRect/>
          </a:stretch>
        </p:blipFill>
        <p:spPr>
          <a:xfrm>
            <a:off x="319405" y="1700530"/>
            <a:ext cx="11405235" cy="5083810"/>
          </a:xfrm>
          <a:prstGeom prst="rect">
            <a:avLst/>
          </a:prstGeom>
          <a:noFill/>
          <a:ln w="9525">
            <a:noFill/>
          </a:ln>
        </p:spPr>
      </p:pic>
      <p:sp>
        <p:nvSpPr>
          <p:cNvPr id="7" name="文本框 6"/>
          <p:cNvSpPr txBox="1"/>
          <p:nvPr/>
        </p:nvSpPr>
        <p:spPr>
          <a:xfrm>
            <a:off x="319405" y="1367155"/>
            <a:ext cx="11033760" cy="864235"/>
          </a:xfrm>
          <a:prstGeom prst="rect">
            <a:avLst/>
          </a:prstGeom>
          <a:noFill/>
        </p:spPr>
        <p:txBody>
          <a:bodyPr wrap="square" rtlCol="0" anchor="t">
            <a:noAutofit/>
          </a:bodyPr>
          <a:p>
            <a:r>
              <a:rPr lang="en-US" sz="2000" b="1">
                <a:solidFill>
                  <a:schemeClr val="tx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实现从非结构化文本自动提取实体与关系，构建完整的知识图谱结构，大幅提升构建效率</a:t>
            </a:r>
            <a:r>
              <a:rPr lang="en-US" sz="2000">
                <a:solidFill>
                  <a:schemeClr val="tx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a:t>
            </a:r>
            <a:endParaRPr lang="en-US" altLang="en-US" sz="2000">
              <a:solidFill>
                <a:schemeClr val="tx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p:txBody>
      </p:sp>
      <p:sp>
        <p:nvSpPr>
          <p:cNvPr id="2" name="ïṣ1ïḑê"/>
          <p:cNvSpPr>
            <a:spLocks noGrp="1"/>
          </p:cNvSpPr>
          <p:nvPr/>
        </p:nvSpPr>
        <p:spPr>
          <a:xfrm>
            <a:off x="205105" y="1087120"/>
            <a:ext cx="10850880" cy="71247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800" b="1" kern="1200">
                <a:solidFill>
                  <a:srgbClr val="000000"/>
                </a:solidFill>
                <a:latin typeface="Arial" panose="020B0604020202020204" pitchFamily="34" charset="0"/>
                <a:ea typeface="微软雅黑" panose="020B0503020204020204" pitchFamily="34" charset="-122"/>
                <a:cs typeface="+mn-ea"/>
              </a:defRPr>
            </a:lvl1pPr>
          </a:lstStyle>
          <a:p>
            <a:r>
              <a:rPr lang="en-US" altLang="zh-CN" dirty="0">
                <a:solidFill>
                  <a:srgbClr val="005825"/>
                </a:solidFill>
              </a:rPr>
              <a:t>3.2 </a:t>
            </a:r>
            <a:r>
              <a:rPr lang="zh-CN" altLang="en-US" dirty="0">
                <a:solidFill>
                  <a:srgbClr val="00481C"/>
                </a:solidFill>
                <a:latin typeface="微软雅黑" panose="020B0503020204020204" pitchFamily="34" charset="-122"/>
                <a:cs typeface="微软雅黑" panose="020B0503020204020204" pitchFamily="34" charset="-122"/>
              </a:rPr>
              <a:t>基于大语言模型（</a:t>
            </a:r>
            <a:r>
              <a:rPr lang="en-US" altLang="zh-CN" dirty="0">
                <a:solidFill>
                  <a:srgbClr val="00481C"/>
                </a:solidFill>
                <a:latin typeface="微软雅黑" panose="020B0503020204020204" pitchFamily="34" charset="-122"/>
                <a:cs typeface="微软雅黑" panose="020B0503020204020204" pitchFamily="34" charset="-122"/>
              </a:rPr>
              <a:t>LLM</a:t>
            </a:r>
            <a:r>
              <a:rPr lang="zh-CN" altLang="en-US" dirty="0">
                <a:solidFill>
                  <a:srgbClr val="00481C"/>
                </a:solidFill>
                <a:latin typeface="微软雅黑" panose="020B0503020204020204" pitchFamily="34" charset="-122"/>
                <a:cs typeface="微软雅黑" panose="020B0503020204020204" pitchFamily="34" charset="-122"/>
              </a:rPr>
              <a:t>）的知识图谱构建器</a:t>
            </a:r>
            <a:endParaRPr lang="zh-CN" altLang="en-US" dirty="0">
              <a:solidFill>
                <a:srgbClr val="00481C"/>
              </a:solidFill>
              <a:latin typeface="微软雅黑" panose="020B0503020204020204" pitchFamily="34" charset="-122"/>
              <a:cs typeface="微软雅黑" panose="020B0503020204020204" pitchFamily="34" charset="-122"/>
            </a:endParaRPr>
          </a:p>
          <a:p>
            <a:endParaRPr lang="zh-CN" altLang="en-US" dirty="0">
              <a:solidFill>
                <a:srgbClr val="00481C"/>
              </a:solidFill>
              <a:latin typeface="微软雅黑" panose="020B0503020204020204" pitchFamily="34" charset="-122"/>
              <a:cs typeface="微软雅黑" panose="020B0503020204020204" pitchFamily="34" charset="-122"/>
            </a:endParaRPr>
          </a:p>
        </p:txBody>
      </p:sp>
      <p:sp>
        <p:nvSpPr>
          <p:cNvPr id="3" name="页脚占位符 2"/>
          <p:cNvSpPr>
            <a:spLocks noGrp="1"/>
          </p:cNvSpPr>
          <p:nvPr>
            <p:ph type="ftr" sz="quarter" idx="11"/>
          </p:nvPr>
        </p:nvSpPr>
        <p:spPr/>
        <p:txBody>
          <a:bodyPr/>
          <a:p>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581" name=""/>
        <p:cNvGrpSpPr/>
        <p:nvPr/>
      </p:nvGrpSpPr>
      <p:grpSpPr>
        <a:xfrm>
          <a:off x="0" y="0"/>
          <a:ext cx="0" cy="0"/>
          <a:chOff x="0" y="0"/>
          <a:chExt cx="0" cy="0"/>
        </a:xfrm>
      </p:grpSpPr>
      <p:sp>
        <p:nvSpPr>
          <p:cNvPr id="582" name="文本框 60"/>
          <p:cNvSpPr txBox="1"/>
          <p:nvPr/>
        </p:nvSpPr>
        <p:spPr>
          <a:xfrm>
            <a:off x="10320239" y="216952"/>
            <a:ext cx="3123637" cy="369332"/>
          </a:xfrm>
          <a:prstGeom prst="rect">
            <a:avLst/>
          </a:prstGeom>
          <a:noFill/>
        </p:spPr>
        <p:txBody>
          <a:bodyPr wrap="square" rtlCol="0">
            <a:spAutoFit/>
          </a:bodyPr>
          <a:lstStyle/>
          <a:p>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未来展望</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585" name="组合 68"/>
          <p:cNvGrpSpPr/>
          <p:nvPr/>
        </p:nvGrpSpPr>
        <p:grpSpPr>
          <a:xfrm>
            <a:off x="0" y="15886"/>
            <a:ext cx="12219295" cy="1001194"/>
            <a:chOff x="-128871" y="-59933"/>
            <a:chExt cx="12219295" cy="1001194"/>
          </a:xfrm>
        </p:grpSpPr>
        <p:grpSp>
          <p:nvGrpSpPr>
            <p:cNvPr id="586" name="组合 67"/>
            <p:cNvGrpSpPr/>
            <p:nvPr/>
          </p:nvGrpSpPr>
          <p:grpSpPr>
            <a:xfrm>
              <a:off x="-128871" y="-59933"/>
              <a:ext cx="12219295" cy="1001194"/>
              <a:chOff x="-128871" y="-59933"/>
              <a:chExt cx="12219295" cy="1001194"/>
            </a:xfrm>
          </p:grpSpPr>
          <p:pic>
            <p:nvPicPr>
              <p:cNvPr id="587" name="图片 53"/>
              <p:cNvPicPr>
                <a:picLocks noChangeAspect="1"/>
              </p:cNvPicPr>
              <p:nvPr/>
            </p:nvPicPr>
            <p:blipFill>
              <a:blip r:embed="rId1" cstate="print"/>
              <a:stretch>
                <a:fillRect/>
              </a:stretch>
            </p:blipFill>
            <p:spPr>
              <a:xfrm>
                <a:off x="-128871" y="-59933"/>
                <a:ext cx="12219295" cy="1001194"/>
              </a:xfrm>
              <a:prstGeom prst="rect">
                <a:avLst/>
              </a:prstGeom>
              <a:effectLst>
                <a:outerShdw blurRad="50800" dist="38100" dir="8100000" algn="tr" rotWithShape="0">
                  <a:prstClr val="black">
                    <a:alpha val="40000"/>
                  </a:prstClr>
                </a:outerShdw>
              </a:effectLst>
            </p:spPr>
          </p:pic>
          <p:sp>
            <p:nvSpPr>
              <p:cNvPr id="588" name="矩形 55"/>
              <p:cNvSpPr/>
              <p:nvPr/>
            </p:nvSpPr>
            <p:spPr>
              <a:xfrm>
                <a:off x="6946934" y="-59933"/>
                <a:ext cx="2536825" cy="773430"/>
              </a:xfrm>
              <a:prstGeom prst="rect">
                <a:avLst/>
              </a:prstGeom>
              <a:solidFill>
                <a:srgbClr val="005825"/>
              </a:solidFill>
              <a:ln>
                <a:solidFill>
                  <a:srgbClr val="0058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89" name="文本框 57"/>
              <p:cNvSpPr txBox="1"/>
              <p:nvPr/>
            </p:nvSpPr>
            <p:spPr>
              <a:xfrm>
                <a:off x="2629484" y="48215"/>
                <a:ext cx="3123637"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选题背景</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0" name="文本框 58"/>
              <p:cNvSpPr txBox="1"/>
              <p:nvPr/>
            </p:nvSpPr>
            <p:spPr>
              <a:xfrm>
                <a:off x="4852069" y="48055"/>
                <a:ext cx="1771650"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项目方案</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1" name="文本框 59"/>
              <p:cNvSpPr txBox="1"/>
              <p:nvPr/>
            </p:nvSpPr>
            <p:spPr>
              <a:xfrm>
                <a:off x="7339364" y="50595"/>
                <a:ext cx="1741805" cy="52197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项目进展</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592" name="直接连接符 61"/>
              <p:cNvCxnSpPr/>
              <p:nvPr/>
            </p:nvCxnSpPr>
            <p:spPr>
              <a:xfrm>
                <a:off x="4529735" y="113988"/>
                <a:ext cx="0" cy="4024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3" name="直接连接符 62"/>
              <p:cNvCxnSpPr/>
              <p:nvPr/>
            </p:nvCxnSpPr>
            <p:spPr>
              <a:xfrm flipH="1">
                <a:off x="6955732" y="194315"/>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94" name="文本框 65"/>
            <p:cNvSpPr txBox="1"/>
            <p:nvPr/>
          </p:nvSpPr>
          <p:spPr>
            <a:xfrm>
              <a:off x="9954929" y="50595"/>
              <a:ext cx="196659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总结展望</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cxnSp>
        <p:nvCxnSpPr>
          <p:cNvPr id="595" name="直接连接符 62"/>
          <p:cNvCxnSpPr/>
          <p:nvPr/>
        </p:nvCxnSpPr>
        <p:spPr>
          <a:xfrm flipH="1">
            <a:off x="9592354" y="270134"/>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596" name="组合 13"/>
          <p:cNvGrpSpPr/>
          <p:nvPr/>
        </p:nvGrpSpPr>
        <p:grpSpPr>
          <a:xfrm>
            <a:off x="204998" y="81727"/>
            <a:ext cx="1999471" cy="590901"/>
            <a:chOff x="4077923" y="171807"/>
            <a:chExt cx="4420435" cy="1371709"/>
          </a:xfrm>
        </p:grpSpPr>
        <p:grpSp>
          <p:nvGrpSpPr>
            <p:cNvPr id="597" name="组合 14"/>
            <p:cNvGrpSpPr/>
            <p:nvPr/>
          </p:nvGrpSpPr>
          <p:grpSpPr>
            <a:xfrm>
              <a:off x="4077923" y="171807"/>
              <a:ext cx="4260493" cy="1371709"/>
              <a:chOff x="6331308" y="1189619"/>
              <a:chExt cx="5481392" cy="1764794"/>
            </a:xfrm>
          </p:grpSpPr>
          <p:pic>
            <p:nvPicPr>
              <p:cNvPr id="598" name="图片 33"/>
              <p:cNvPicPr>
                <a:picLocks noChangeAspect="1"/>
              </p:cNvPicPr>
              <p:nvPr/>
            </p:nvPicPr>
            <p:blipFill>
              <a:blip r:embed="rId2"/>
              <a:srcRect/>
              <a:stretch>
                <a:fillRect/>
              </a:stretch>
            </p:blipFill>
            <p:spPr>
              <a:xfrm>
                <a:off x="6331308" y="1189619"/>
                <a:ext cx="1791803" cy="1764794"/>
              </a:xfrm>
              <a:prstGeom prst="rect">
                <a:avLst/>
              </a:prstGeom>
            </p:spPr>
          </p:pic>
          <p:pic>
            <p:nvPicPr>
              <p:cNvPr id="599" name="图片 35"/>
              <p:cNvPicPr>
                <a:picLocks noChangeAspect="1"/>
              </p:cNvPicPr>
              <p:nvPr/>
            </p:nvPicPr>
            <p:blipFill>
              <a:blip r:embed="rId3"/>
              <a:srcRect/>
              <a:stretch>
                <a:fillRect/>
              </a:stretch>
            </p:blipFill>
            <p:spPr>
              <a:xfrm>
                <a:off x="8302517" y="1422328"/>
                <a:ext cx="3510183" cy="965303"/>
              </a:xfrm>
              <a:prstGeom prst="rect">
                <a:avLst/>
              </a:prstGeom>
            </p:spPr>
          </p:pic>
        </p:grpSp>
        <p:sp>
          <p:nvSpPr>
            <p:cNvPr id="600" name="矩形 15"/>
            <p:cNvSpPr/>
            <p:nvPr/>
          </p:nvSpPr>
          <p:spPr>
            <a:xfrm>
              <a:off x="5470629" y="1076339"/>
              <a:ext cx="3027729" cy="410186"/>
            </a:xfrm>
            <a:prstGeom prst="rect">
              <a:avLst/>
            </a:prstGeom>
          </p:spPr>
          <p:txBody>
            <a:bodyPr wrap="square">
              <a:spAutoFit/>
            </a:bodyPr>
            <a:lstStyle/>
            <a:p>
              <a:pPr algn="dist">
                <a:defRPr/>
              </a:pPr>
              <a:r>
                <a:rPr lang="en-US" altLang="zh-CN" sz="900" b="1" dirty="0">
                  <a:solidFill>
                    <a:prstClr val="black"/>
                  </a:solidFill>
                  <a:latin typeface="Calibri" panose="020F0502020204030204"/>
                  <a:ea typeface="微软雅黑" panose="020B0503020204020204" pitchFamily="34" charset="-122"/>
                </a:rPr>
                <a:t>WUHAN UNIVERSITY</a:t>
              </a:r>
              <a:endParaRPr lang="en-US" altLang="zh-CN" sz="900" b="1" dirty="0">
                <a:solidFill>
                  <a:prstClr val="black"/>
                </a:solidFill>
                <a:latin typeface="Calibri" panose="020F0502020204030204"/>
                <a:ea typeface="微软雅黑" panose="020B0503020204020204" pitchFamily="34" charset="-122"/>
              </a:endParaRPr>
            </a:p>
          </p:txBody>
        </p:sp>
      </p:grpSp>
      <p:sp>
        <p:nvSpPr>
          <p:cNvPr id="5" name="文本框 4"/>
          <p:cNvSpPr txBox="1"/>
          <p:nvPr/>
        </p:nvSpPr>
        <p:spPr>
          <a:xfrm>
            <a:off x="401955" y="1399858"/>
            <a:ext cx="5080000" cy="398780"/>
          </a:xfrm>
          <a:prstGeom prst="rect">
            <a:avLst/>
          </a:prstGeom>
        </p:spPr>
        <p:txBody>
          <a:bodyPr>
            <a:spAutoFit/>
          </a:bodyPr>
          <a:p>
            <a:pPr indent="0" algn="just" defTabSz="266700">
              <a:spcBef>
                <a:spcPct val="0"/>
              </a:spcBef>
              <a:spcAft>
                <a:spcPct val="0"/>
              </a:spcAft>
            </a:pPr>
            <a:r>
              <a:rPr lang="en-US" altLang="zh-CN" sz="2000" b="1">
                <a:latin typeface="微软雅黑" panose="020B0503020204020204" pitchFamily="34" charset="-122"/>
                <a:ea typeface="微软雅黑" panose="020B0503020204020204" pitchFamily="34" charset="-122"/>
              </a:rPr>
              <a:t>2. </a:t>
            </a:r>
            <a:r>
              <a:rPr lang="zh-CN" altLang="en-US" sz="2000" b="1">
                <a:latin typeface="微软雅黑" panose="020B0503020204020204" pitchFamily="34" charset="-122"/>
                <a:ea typeface="微软雅黑" panose="020B0503020204020204" pitchFamily="34" charset="-122"/>
              </a:rPr>
              <a:t>图谱推理智能体</a:t>
            </a:r>
            <a:endParaRPr lang="zh-CN" altLang="en-US" sz="2000" b="1">
              <a:latin typeface="微软雅黑" panose="020B0503020204020204" pitchFamily="34" charset="-122"/>
              <a:ea typeface="微软雅黑" panose="020B0503020204020204" pitchFamily="34" charset="-122"/>
            </a:endParaRPr>
          </a:p>
        </p:txBody>
      </p:sp>
      <p:pic>
        <p:nvPicPr>
          <p:cNvPr id="3" name="图片 -2147482604"/>
          <p:cNvPicPr>
            <a:picLocks noChangeAspect="1"/>
          </p:cNvPicPr>
          <p:nvPr/>
        </p:nvPicPr>
        <p:blipFill>
          <a:blip r:embed="rId4"/>
          <a:srcRect t="3777" b="35574"/>
          <a:stretch>
            <a:fillRect/>
          </a:stretch>
        </p:blipFill>
        <p:spPr>
          <a:xfrm>
            <a:off x="2496820" y="1799590"/>
            <a:ext cx="4649470" cy="4283710"/>
          </a:xfrm>
          <a:prstGeom prst="rect">
            <a:avLst/>
          </a:prstGeom>
          <a:noFill/>
          <a:ln w="9525">
            <a:noFill/>
          </a:ln>
        </p:spPr>
      </p:pic>
      <p:pic>
        <p:nvPicPr>
          <p:cNvPr id="4" name="图片 -2147482603"/>
          <p:cNvPicPr>
            <a:picLocks noChangeAspect="1"/>
          </p:cNvPicPr>
          <p:nvPr/>
        </p:nvPicPr>
        <p:blipFill>
          <a:blip r:embed="rId5"/>
          <a:stretch>
            <a:fillRect/>
          </a:stretch>
        </p:blipFill>
        <p:spPr>
          <a:xfrm>
            <a:off x="7292975" y="1799590"/>
            <a:ext cx="4631690" cy="4283710"/>
          </a:xfrm>
          <a:prstGeom prst="rect">
            <a:avLst/>
          </a:prstGeom>
          <a:noFill/>
          <a:ln w="9525">
            <a:noFill/>
          </a:ln>
        </p:spPr>
      </p:pic>
      <p:sp>
        <p:nvSpPr>
          <p:cNvPr id="10" name="文本框 9"/>
          <p:cNvSpPr txBox="1"/>
          <p:nvPr/>
        </p:nvSpPr>
        <p:spPr>
          <a:xfrm>
            <a:off x="274320" y="2716530"/>
            <a:ext cx="2222500" cy="2723515"/>
          </a:xfrm>
          <a:prstGeom prst="rect">
            <a:avLst/>
          </a:prstGeom>
          <a:noFill/>
        </p:spPr>
        <p:txBody>
          <a:bodyPr wrap="square" rtlCol="0" anchor="t">
            <a:noAutofit/>
          </a:bodyPr>
          <a:p>
            <a:pPr indent="457200" algn="l" fontAlgn="auto">
              <a:lnSpc>
                <a:spcPct val="150000"/>
              </a:lnSpc>
              <a:defRPr/>
              <a:extLst>
                <a:ext uri="{35155182-B16C-46BC-9424-99874614C6A1}">
                  <wpsdc:indentchars xmlns:wpsdc="http://www.wps.cn/officeDocument/2017/drawingmlCustomData" val="200" checksum="59296752"/>
                </a:ext>
              </a:extLst>
            </a:pPr>
            <a:r>
              <a:rPr lang="en-US">
                <a:solidFill>
                  <a:schemeClr val="tx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集成智能问答模块，基于构建的图谱回答地图学等专业领域的复杂问题，提供精准推理支持。</a:t>
            </a:r>
            <a:endParaRPr lang="en-US" altLang="en-US">
              <a:solidFill>
                <a:schemeClr val="tx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p:txBody>
      </p:sp>
      <p:sp>
        <p:nvSpPr>
          <p:cNvPr id="2" name="ïṣ1ïḑê"/>
          <p:cNvSpPr>
            <a:spLocks noGrp="1"/>
          </p:cNvSpPr>
          <p:nvPr/>
        </p:nvSpPr>
        <p:spPr>
          <a:xfrm>
            <a:off x="205105" y="1087120"/>
            <a:ext cx="10850880" cy="71247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800" b="1" kern="1200">
                <a:solidFill>
                  <a:srgbClr val="000000"/>
                </a:solidFill>
                <a:latin typeface="Arial" panose="020B0604020202020204" pitchFamily="34" charset="0"/>
                <a:ea typeface="微软雅黑" panose="020B0503020204020204" pitchFamily="34" charset="-122"/>
                <a:cs typeface="+mn-ea"/>
              </a:defRPr>
            </a:lvl1pPr>
          </a:lstStyle>
          <a:p>
            <a:r>
              <a:rPr lang="en-US" altLang="zh-CN" dirty="0">
                <a:solidFill>
                  <a:srgbClr val="005825"/>
                </a:solidFill>
              </a:rPr>
              <a:t>3.2 </a:t>
            </a:r>
            <a:r>
              <a:rPr lang="zh-CN" altLang="en-US" dirty="0">
                <a:solidFill>
                  <a:srgbClr val="00481C"/>
                </a:solidFill>
                <a:latin typeface="微软雅黑" panose="020B0503020204020204" pitchFamily="34" charset="-122"/>
                <a:cs typeface="微软雅黑" panose="020B0503020204020204" pitchFamily="34" charset="-122"/>
              </a:rPr>
              <a:t>基于大语言模型（</a:t>
            </a:r>
            <a:r>
              <a:rPr lang="en-US" altLang="zh-CN" dirty="0">
                <a:solidFill>
                  <a:srgbClr val="00481C"/>
                </a:solidFill>
                <a:latin typeface="微软雅黑" panose="020B0503020204020204" pitchFamily="34" charset="-122"/>
                <a:cs typeface="微软雅黑" panose="020B0503020204020204" pitchFamily="34" charset="-122"/>
              </a:rPr>
              <a:t>LLM</a:t>
            </a:r>
            <a:r>
              <a:rPr lang="zh-CN" altLang="en-US" dirty="0">
                <a:solidFill>
                  <a:srgbClr val="00481C"/>
                </a:solidFill>
                <a:latin typeface="微软雅黑" panose="020B0503020204020204" pitchFamily="34" charset="-122"/>
                <a:cs typeface="微软雅黑" panose="020B0503020204020204" pitchFamily="34" charset="-122"/>
              </a:rPr>
              <a:t>）的知识图谱构建器</a:t>
            </a:r>
            <a:endParaRPr lang="zh-CN" altLang="en-US" dirty="0">
              <a:solidFill>
                <a:srgbClr val="00481C"/>
              </a:solidFill>
              <a:latin typeface="微软雅黑" panose="020B0503020204020204" pitchFamily="34" charset="-122"/>
              <a:cs typeface="微软雅黑" panose="020B0503020204020204" pitchFamily="34" charset="-122"/>
            </a:endParaRPr>
          </a:p>
          <a:p>
            <a:endParaRPr lang="zh-CN" altLang="en-US" dirty="0">
              <a:solidFill>
                <a:srgbClr val="00481C"/>
              </a:solidFill>
              <a:latin typeface="微软雅黑" panose="020B0503020204020204" pitchFamily="34" charset="-122"/>
              <a:cs typeface="微软雅黑" panose="020B0503020204020204" pitchFamily="34" charset="-122"/>
            </a:endParaRPr>
          </a:p>
        </p:txBody>
      </p:sp>
      <p:sp>
        <p:nvSpPr>
          <p:cNvPr id="6" name="页脚占位符 5"/>
          <p:cNvSpPr>
            <a:spLocks noGrp="1"/>
          </p:cNvSpPr>
          <p:nvPr>
            <p:ph type="ftr" sz="quarter" idx="11"/>
          </p:nvPr>
        </p:nvSpPr>
        <p:spPr/>
        <p:txBody>
          <a:bodyPr/>
          <a:p>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581" name=""/>
        <p:cNvGrpSpPr/>
        <p:nvPr/>
      </p:nvGrpSpPr>
      <p:grpSpPr>
        <a:xfrm>
          <a:off x="0" y="0"/>
          <a:ext cx="0" cy="0"/>
          <a:chOff x="0" y="0"/>
          <a:chExt cx="0" cy="0"/>
        </a:xfrm>
      </p:grpSpPr>
      <p:sp>
        <p:nvSpPr>
          <p:cNvPr id="582" name="文本框 60"/>
          <p:cNvSpPr txBox="1"/>
          <p:nvPr/>
        </p:nvSpPr>
        <p:spPr>
          <a:xfrm>
            <a:off x="10320239" y="216952"/>
            <a:ext cx="3123637" cy="369332"/>
          </a:xfrm>
          <a:prstGeom prst="rect">
            <a:avLst/>
          </a:prstGeom>
          <a:noFill/>
        </p:spPr>
        <p:txBody>
          <a:bodyPr wrap="square" rtlCol="0">
            <a:spAutoFit/>
          </a:bodyPr>
          <a:lstStyle/>
          <a:p>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未来展望</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585" name="组合 68"/>
          <p:cNvGrpSpPr/>
          <p:nvPr/>
        </p:nvGrpSpPr>
        <p:grpSpPr>
          <a:xfrm>
            <a:off x="0" y="15886"/>
            <a:ext cx="12219295" cy="1001194"/>
            <a:chOff x="-128871" y="-59933"/>
            <a:chExt cx="12219295" cy="1001194"/>
          </a:xfrm>
        </p:grpSpPr>
        <p:grpSp>
          <p:nvGrpSpPr>
            <p:cNvPr id="586" name="组合 67"/>
            <p:cNvGrpSpPr/>
            <p:nvPr/>
          </p:nvGrpSpPr>
          <p:grpSpPr>
            <a:xfrm>
              <a:off x="-128871" y="-59933"/>
              <a:ext cx="12219295" cy="1001194"/>
              <a:chOff x="-128871" y="-59933"/>
              <a:chExt cx="12219295" cy="1001194"/>
            </a:xfrm>
          </p:grpSpPr>
          <p:pic>
            <p:nvPicPr>
              <p:cNvPr id="587" name="图片 53"/>
              <p:cNvPicPr>
                <a:picLocks noChangeAspect="1"/>
              </p:cNvPicPr>
              <p:nvPr/>
            </p:nvPicPr>
            <p:blipFill>
              <a:blip r:embed="rId1" cstate="print"/>
              <a:stretch>
                <a:fillRect/>
              </a:stretch>
            </p:blipFill>
            <p:spPr>
              <a:xfrm>
                <a:off x="-128871" y="-59933"/>
                <a:ext cx="12219295" cy="1001194"/>
              </a:xfrm>
              <a:prstGeom prst="rect">
                <a:avLst/>
              </a:prstGeom>
              <a:effectLst>
                <a:outerShdw blurRad="50800" dist="38100" dir="8100000" algn="tr" rotWithShape="0">
                  <a:prstClr val="black">
                    <a:alpha val="40000"/>
                  </a:prstClr>
                </a:outerShdw>
              </a:effectLst>
            </p:spPr>
          </p:pic>
          <p:sp>
            <p:nvSpPr>
              <p:cNvPr id="588" name="矩形 55"/>
              <p:cNvSpPr/>
              <p:nvPr/>
            </p:nvSpPr>
            <p:spPr>
              <a:xfrm>
                <a:off x="6946934" y="-59933"/>
                <a:ext cx="2536825" cy="773430"/>
              </a:xfrm>
              <a:prstGeom prst="rect">
                <a:avLst/>
              </a:prstGeom>
              <a:solidFill>
                <a:srgbClr val="005825"/>
              </a:solidFill>
              <a:ln>
                <a:solidFill>
                  <a:srgbClr val="0058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89" name="文本框 57"/>
              <p:cNvSpPr txBox="1"/>
              <p:nvPr/>
            </p:nvSpPr>
            <p:spPr>
              <a:xfrm>
                <a:off x="2629484" y="48215"/>
                <a:ext cx="3123637"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选题背景</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0" name="文本框 58"/>
              <p:cNvSpPr txBox="1"/>
              <p:nvPr/>
            </p:nvSpPr>
            <p:spPr>
              <a:xfrm>
                <a:off x="4852069" y="48055"/>
                <a:ext cx="1771650"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项目方案</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1" name="文本框 59"/>
              <p:cNvSpPr txBox="1"/>
              <p:nvPr/>
            </p:nvSpPr>
            <p:spPr>
              <a:xfrm>
                <a:off x="7339364" y="50595"/>
                <a:ext cx="1741805" cy="52197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项目进展</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592" name="直接连接符 61"/>
              <p:cNvCxnSpPr/>
              <p:nvPr/>
            </p:nvCxnSpPr>
            <p:spPr>
              <a:xfrm>
                <a:off x="4529735" y="113988"/>
                <a:ext cx="0" cy="4024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3" name="直接连接符 62"/>
              <p:cNvCxnSpPr/>
              <p:nvPr/>
            </p:nvCxnSpPr>
            <p:spPr>
              <a:xfrm flipH="1">
                <a:off x="6955732" y="194315"/>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94" name="文本框 65"/>
            <p:cNvSpPr txBox="1"/>
            <p:nvPr/>
          </p:nvSpPr>
          <p:spPr>
            <a:xfrm>
              <a:off x="9954929" y="50595"/>
              <a:ext cx="196659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总结展望</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cxnSp>
        <p:nvCxnSpPr>
          <p:cNvPr id="595" name="直接连接符 62"/>
          <p:cNvCxnSpPr/>
          <p:nvPr/>
        </p:nvCxnSpPr>
        <p:spPr>
          <a:xfrm flipH="1">
            <a:off x="9592354" y="270134"/>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596" name="组合 13"/>
          <p:cNvGrpSpPr/>
          <p:nvPr/>
        </p:nvGrpSpPr>
        <p:grpSpPr>
          <a:xfrm>
            <a:off x="204998" y="81727"/>
            <a:ext cx="1999471" cy="590901"/>
            <a:chOff x="4077923" y="171807"/>
            <a:chExt cx="4420435" cy="1371709"/>
          </a:xfrm>
        </p:grpSpPr>
        <p:grpSp>
          <p:nvGrpSpPr>
            <p:cNvPr id="597" name="组合 14"/>
            <p:cNvGrpSpPr/>
            <p:nvPr/>
          </p:nvGrpSpPr>
          <p:grpSpPr>
            <a:xfrm>
              <a:off x="4077923" y="171807"/>
              <a:ext cx="4260493" cy="1371709"/>
              <a:chOff x="6331308" y="1189619"/>
              <a:chExt cx="5481392" cy="1764794"/>
            </a:xfrm>
          </p:grpSpPr>
          <p:pic>
            <p:nvPicPr>
              <p:cNvPr id="598" name="图片 33"/>
              <p:cNvPicPr>
                <a:picLocks noChangeAspect="1"/>
              </p:cNvPicPr>
              <p:nvPr/>
            </p:nvPicPr>
            <p:blipFill>
              <a:blip r:embed="rId2"/>
              <a:srcRect/>
              <a:stretch>
                <a:fillRect/>
              </a:stretch>
            </p:blipFill>
            <p:spPr>
              <a:xfrm>
                <a:off x="6331308" y="1189619"/>
                <a:ext cx="1791803" cy="1764794"/>
              </a:xfrm>
              <a:prstGeom prst="rect">
                <a:avLst/>
              </a:prstGeom>
            </p:spPr>
          </p:pic>
          <p:pic>
            <p:nvPicPr>
              <p:cNvPr id="599" name="图片 35"/>
              <p:cNvPicPr>
                <a:picLocks noChangeAspect="1"/>
              </p:cNvPicPr>
              <p:nvPr/>
            </p:nvPicPr>
            <p:blipFill>
              <a:blip r:embed="rId3"/>
              <a:srcRect/>
              <a:stretch>
                <a:fillRect/>
              </a:stretch>
            </p:blipFill>
            <p:spPr>
              <a:xfrm>
                <a:off x="8302517" y="1422328"/>
                <a:ext cx="3510183" cy="965303"/>
              </a:xfrm>
              <a:prstGeom prst="rect">
                <a:avLst/>
              </a:prstGeom>
            </p:spPr>
          </p:pic>
        </p:grpSp>
        <p:sp>
          <p:nvSpPr>
            <p:cNvPr id="600" name="矩形 15"/>
            <p:cNvSpPr/>
            <p:nvPr/>
          </p:nvSpPr>
          <p:spPr>
            <a:xfrm>
              <a:off x="5470629" y="1076339"/>
              <a:ext cx="3027729" cy="410186"/>
            </a:xfrm>
            <a:prstGeom prst="rect">
              <a:avLst/>
            </a:prstGeom>
          </p:spPr>
          <p:txBody>
            <a:bodyPr wrap="square">
              <a:spAutoFit/>
            </a:bodyPr>
            <a:lstStyle/>
            <a:p>
              <a:pPr algn="dist">
                <a:defRPr/>
              </a:pPr>
              <a:r>
                <a:rPr lang="en-US" altLang="zh-CN" sz="900" b="1" dirty="0">
                  <a:solidFill>
                    <a:prstClr val="black"/>
                  </a:solidFill>
                  <a:latin typeface="Calibri" panose="020F0502020204030204"/>
                  <a:ea typeface="微软雅黑" panose="020B0503020204020204" pitchFamily="34" charset="-122"/>
                </a:rPr>
                <a:t>WUHAN UNIVERSITY</a:t>
              </a:r>
              <a:endParaRPr lang="en-US" altLang="zh-CN" sz="900" b="1" dirty="0">
                <a:solidFill>
                  <a:prstClr val="black"/>
                </a:solidFill>
                <a:latin typeface="Calibri" panose="020F0502020204030204"/>
                <a:ea typeface="微软雅黑" panose="020B0503020204020204" pitchFamily="34" charset="-122"/>
              </a:endParaRPr>
            </a:p>
          </p:txBody>
        </p:sp>
      </p:grpSp>
      <p:pic>
        <p:nvPicPr>
          <p:cNvPr id="3" name="图片 -2147482602"/>
          <p:cNvPicPr>
            <a:picLocks noChangeAspect="1"/>
          </p:cNvPicPr>
          <p:nvPr/>
        </p:nvPicPr>
        <p:blipFill>
          <a:blip r:embed="rId4"/>
          <a:stretch>
            <a:fillRect/>
          </a:stretch>
        </p:blipFill>
        <p:spPr>
          <a:xfrm>
            <a:off x="1320800" y="1497330"/>
            <a:ext cx="8857615" cy="5271770"/>
          </a:xfrm>
          <a:prstGeom prst="rect">
            <a:avLst/>
          </a:prstGeom>
          <a:noFill/>
          <a:ln w="9525">
            <a:noFill/>
          </a:ln>
        </p:spPr>
      </p:pic>
      <p:sp>
        <p:nvSpPr>
          <p:cNvPr id="6" name="文本框 5"/>
          <p:cNvSpPr txBox="1"/>
          <p:nvPr/>
        </p:nvSpPr>
        <p:spPr>
          <a:xfrm>
            <a:off x="8406765" y="953770"/>
            <a:ext cx="5080000" cy="495935"/>
          </a:xfrm>
          <a:prstGeom prst="rect">
            <a:avLst/>
          </a:prstGeom>
        </p:spPr>
        <p:txBody>
          <a:bodyPr>
            <a:noAutofit/>
          </a:bodyPr>
          <a:p>
            <a:pPr indent="0" algn="just" defTabSz="266700">
              <a:lnSpc>
                <a:spcPct val="150000"/>
              </a:lnSpc>
              <a:spcBef>
                <a:spcPct val="0"/>
              </a:spcBef>
              <a:spcAft>
                <a:spcPct val="0"/>
              </a:spcAft>
            </a:pPr>
            <a:r>
              <a:rPr lang="en-US" altLang="zh-CN" sz="2000" b="1">
                <a:highlight>
                  <a:srgbClr val="FFFF00"/>
                </a:highlight>
                <a:latin typeface="微软雅黑" panose="020B0503020204020204" pitchFamily="34" charset="-122"/>
                <a:ea typeface="微软雅黑" panose="020B0503020204020204" pitchFamily="34" charset="-122"/>
              </a:rPr>
              <a:t>3. </a:t>
            </a:r>
            <a:r>
              <a:rPr lang="zh-CN" altLang="en-US" sz="2000" b="1">
                <a:highlight>
                  <a:srgbClr val="FFFF00"/>
                </a:highlight>
                <a:latin typeface="微软雅黑" panose="020B0503020204020204" pitchFamily="34" charset="-122"/>
                <a:ea typeface="微软雅黑" panose="020B0503020204020204" pitchFamily="34" charset="-122"/>
              </a:rPr>
              <a:t>可视化</a:t>
            </a:r>
            <a:r>
              <a:rPr lang="en-US" altLang="zh-CN" sz="2000" b="1">
                <a:highlight>
                  <a:srgbClr val="FFFF00"/>
                </a:highlight>
                <a:latin typeface="微软雅黑" panose="020B0503020204020204" pitchFamily="34" charset="-122"/>
                <a:ea typeface="微软雅黑" panose="020B0503020204020204" pitchFamily="34" charset="-122"/>
              </a:rPr>
              <a:t>Web</a:t>
            </a:r>
            <a:r>
              <a:rPr lang="zh-CN" altLang="en-US" sz="2000" b="1">
                <a:highlight>
                  <a:srgbClr val="FFFF00"/>
                </a:highlight>
                <a:latin typeface="微软雅黑" panose="020B0503020204020204" pitchFamily="34" charset="-122"/>
                <a:ea typeface="微软雅黑" panose="020B0503020204020204" pitchFamily="34" charset="-122"/>
              </a:rPr>
              <a:t>原型系统实现</a:t>
            </a:r>
            <a:endParaRPr lang="zh-CN" altLang="en-US" sz="2000" b="1">
              <a:highlight>
                <a:srgbClr val="FFFF00"/>
              </a:highlight>
              <a:latin typeface="微软雅黑" panose="020B0503020204020204" pitchFamily="34" charset="-122"/>
              <a:ea typeface="微软雅黑" panose="020B0503020204020204" pitchFamily="34" charset="-122"/>
            </a:endParaRPr>
          </a:p>
        </p:txBody>
      </p:sp>
      <p:sp>
        <p:nvSpPr>
          <p:cNvPr id="2" name="ïṣ1ïḑê"/>
          <p:cNvSpPr>
            <a:spLocks noGrp="1"/>
          </p:cNvSpPr>
          <p:nvPr/>
        </p:nvSpPr>
        <p:spPr>
          <a:xfrm>
            <a:off x="205105" y="1087120"/>
            <a:ext cx="10850880" cy="71247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800" b="1" kern="1200">
                <a:solidFill>
                  <a:srgbClr val="000000"/>
                </a:solidFill>
                <a:latin typeface="Arial" panose="020B0604020202020204" pitchFamily="34" charset="0"/>
                <a:ea typeface="微软雅黑" panose="020B0503020204020204" pitchFamily="34" charset="-122"/>
                <a:cs typeface="+mn-ea"/>
              </a:defRPr>
            </a:lvl1pPr>
          </a:lstStyle>
          <a:p>
            <a:r>
              <a:rPr lang="en-US" altLang="zh-CN" dirty="0">
                <a:solidFill>
                  <a:srgbClr val="005825"/>
                </a:solidFill>
              </a:rPr>
              <a:t>3.2 </a:t>
            </a:r>
            <a:r>
              <a:rPr lang="zh-CN" altLang="en-US" dirty="0">
                <a:solidFill>
                  <a:srgbClr val="00481C"/>
                </a:solidFill>
                <a:latin typeface="微软雅黑" panose="020B0503020204020204" pitchFamily="34" charset="-122"/>
                <a:cs typeface="微软雅黑" panose="020B0503020204020204" pitchFamily="34" charset="-122"/>
              </a:rPr>
              <a:t>基于大语言模型（</a:t>
            </a:r>
            <a:r>
              <a:rPr lang="en-US" altLang="zh-CN" dirty="0">
                <a:solidFill>
                  <a:srgbClr val="00481C"/>
                </a:solidFill>
                <a:latin typeface="微软雅黑" panose="020B0503020204020204" pitchFamily="34" charset="-122"/>
                <a:cs typeface="微软雅黑" panose="020B0503020204020204" pitchFamily="34" charset="-122"/>
              </a:rPr>
              <a:t>LLM</a:t>
            </a:r>
            <a:r>
              <a:rPr lang="zh-CN" altLang="en-US" dirty="0">
                <a:solidFill>
                  <a:srgbClr val="00481C"/>
                </a:solidFill>
                <a:latin typeface="微软雅黑" panose="020B0503020204020204" pitchFamily="34" charset="-122"/>
                <a:cs typeface="微软雅黑" panose="020B0503020204020204" pitchFamily="34" charset="-122"/>
              </a:rPr>
              <a:t>）的知识图谱构建器</a:t>
            </a:r>
            <a:endParaRPr lang="zh-CN" altLang="en-US" dirty="0">
              <a:solidFill>
                <a:srgbClr val="00481C"/>
              </a:solidFill>
              <a:latin typeface="微软雅黑" panose="020B0503020204020204" pitchFamily="34" charset="-122"/>
              <a:cs typeface="微软雅黑" panose="020B0503020204020204" pitchFamily="34" charset="-122"/>
            </a:endParaRPr>
          </a:p>
          <a:p>
            <a:endParaRPr lang="zh-CN" altLang="en-US" dirty="0">
              <a:solidFill>
                <a:srgbClr val="00481C"/>
              </a:solidFill>
              <a:latin typeface="微软雅黑" panose="020B0503020204020204" pitchFamily="34" charset="-122"/>
              <a:cs typeface="微软雅黑" panose="020B0503020204020204" pitchFamily="34" charset="-122"/>
            </a:endParaRPr>
          </a:p>
        </p:txBody>
      </p:sp>
      <p:sp>
        <p:nvSpPr>
          <p:cNvPr id="4" name="页脚占位符 3"/>
          <p:cNvSpPr>
            <a:spLocks noGrp="1"/>
          </p:cNvSpPr>
          <p:nvPr>
            <p:ph type="ftr" sz="quarter" idx="11"/>
          </p:nvPr>
        </p:nvSpPr>
        <p:spPr/>
        <p:txBody>
          <a:bodyPr/>
          <a:p>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581" name=""/>
        <p:cNvGrpSpPr/>
        <p:nvPr/>
      </p:nvGrpSpPr>
      <p:grpSpPr>
        <a:xfrm>
          <a:off x="0" y="0"/>
          <a:ext cx="0" cy="0"/>
          <a:chOff x="0" y="0"/>
          <a:chExt cx="0" cy="0"/>
        </a:xfrm>
      </p:grpSpPr>
      <p:sp>
        <p:nvSpPr>
          <p:cNvPr id="28" name="AutoShape 3"/>
          <p:cNvSpPr/>
          <p:nvPr/>
        </p:nvSpPr>
        <p:spPr>
          <a:xfrm>
            <a:off x="770890" y="2613660"/>
            <a:ext cx="5080000" cy="4318000"/>
          </a:xfrm>
          <a:prstGeom prst="roundRect">
            <a:avLst>
              <a:gd name="adj" fmla="val 2941"/>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p>
            <a:pPr algn="ctr">
              <a:defRPr/>
            </a:pPr>
          </a:p>
        </p:txBody>
      </p:sp>
      <p:sp>
        <p:nvSpPr>
          <p:cNvPr id="582" name="文本框 60"/>
          <p:cNvSpPr txBox="1"/>
          <p:nvPr/>
        </p:nvSpPr>
        <p:spPr>
          <a:xfrm>
            <a:off x="10320239" y="216952"/>
            <a:ext cx="3123637" cy="369332"/>
          </a:xfrm>
          <a:prstGeom prst="rect">
            <a:avLst/>
          </a:prstGeom>
          <a:noFill/>
        </p:spPr>
        <p:txBody>
          <a:bodyPr wrap="square" rtlCol="0">
            <a:spAutoFit/>
          </a:bodyPr>
          <a:lstStyle/>
          <a:p>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未来展望</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585" name="组合 68"/>
          <p:cNvGrpSpPr/>
          <p:nvPr/>
        </p:nvGrpSpPr>
        <p:grpSpPr>
          <a:xfrm>
            <a:off x="0" y="15886"/>
            <a:ext cx="12219295" cy="1001194"/>
            <a:chOff x="-128871" y="-59933"/>
            <a:chExt cx="12219295" cy="1001194"/>
          </a:xfrm>
        </p:grpSpPr>
        <p:grpSp>
          <p:nvGrpSpPr>
            <p:cNvPr id="586" name="组合 67"/>
            <p:cNvGrpSpPr/>
            <p:nvPr/>
          </p:nvGrpSpPr>
          <p:grpSpPr>
            <a:xfrm>
              <a:off x="-128871" y="-59933"/>
              <a:ext cx="12219295" cy="1001194"/>
              <a:chOff x="-128871" y="-59933"/>
              <a:chExt cx="12219295" cy="1001194"/>
            </a:xfrm>
          </p:grpSpPr>
          <p:pic>
            <p:nvPicPr>
              <p:cNvPr id="587" name="图片 53"/>
              <p:cNvPicPr>
                <a:picLocks noChangeAspect="1"/>
              </p:cNvPicPr>
              <p:nvPr/>
            </p:nvPicPr>
            <p:blipFill>
              <a:blip r:embed="rId1" cstate="print"/>
              <a:stretch>
                <a:fillRect/>
              </a:stretch>
            </p:blipFill>
            <p:spPr>
              <a:xfrm>
                <a:off x="-128871" y="-59933"/>
                <a:ext cx="12219295" cy="1001194"/>
              </a:xfrm>
              <a:prstGeom prst="rect">
                <a:avLst/>
              </a:prstGeom>
              <a:effectLst>
                <a:outerShdw blurRad="50800" dist="38100" dir="8100000" algn="tr" rotWithShape="0">
                  <a:prstClr val="black">
                    <a:alpha val="40000"/>
                  </a:prstClr>
                </a:outerShdw>
              </a:effectLst>
            </p:spPr>
          </p:pic>
          <p:sp>
            <p:nvSpPr>
              <p:cNvPr id="588" name="矩形 55"/>
              <p:cNvSpPr/>
              <p:nvPr/>
            </p:nvSpPr>
            <p:spPr>
              <a:xfrm>
                <a:off x="6946934" y="-59933"/>
                <a:ext cx="2536825" cy="773430"/>
              </a:xfrm>
              <a:prstGeom prst="rect">
                <a:avLst/>
              </a:prstGeom>
              <a:solidFill>
                <a:srgbClr val="005825"/>
              </a:solidFill>
              <a:ln>
                <a:solidFill>
                  <a:srgbClr val="0058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89" name="文本框 57"/>
              <p:cNvSpPr txBox="1"/>
              <p:nvPr/>
            </p:nvSpPr>
            <p:spPr>
              <a:xfrm>
                <a:off x="2629484" y="48215"/>
                <a:ext cx="3123637"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选题背景</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0" name="文本框 58"/>
              <p:cNvSpPr txBox="1"/>
              <p:nvPr/>
            </p:nvSpPr>
            <p:spPr>
              <a:xfrm>
                <a:off x="4852069" y="48055"/>
                <a:ext cx="1771650"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项目方案</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1" name="文本框 59"/>
              <p:cNvSpPr txBox="1"/>
              <p:nvPr/>
            </p:nvSpPr>
            <p:spPr>
              <a:xfrm>
                <a:off x="7339364" y="50595"/>
                <a:ext cx="1741805" cy="52197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项目进展</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592" name="直接连接符 61"/>
              <p:cNvCxnSpPr/>
              <p:nvPr/>
            </p:nvCxnSpPr>
            <p:spPr>
              <a:xfrm>
                <a:off x="4529735" y="113988"/>
                <a:ext cx="0" cy="4024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3" name="直接连接符 62"/>
              <p:cNvCxnSpPr/>
              <p:nvPr/>
            </p:nvCxnSpPr>
            <p:spPr>
              <a:xfrm flipH="1">
                <a:off x="6955732" y="194315"/>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94" name="文本框 65"/>
            <p:cNvSpPr txBox="1"/>
            <p:nvPr/>
          </p:nvSpPr>
          <p:spPr>
            <a:xfrm>
              <a:off x="9954929" y="50595"/>
              <a:ext cx="196659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总结展望</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cxnSp>
        <p:nvCxnSpPr>
          <p:cNvPr id="595" name="直接连接符 62"/>
          <p:cNvCxnSpPr/>
          <p:nvPr/>
        </p:nvCxnSpPr>
        <p:spPr>
          <a:xfrm flipH="1">
            <a:off x="9592354" y="270134"/>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596" name="组合 13"/>
          <p:cNvGrpSpPr/>
          <p:nvPr/>
        </p:nvGrpSpPr>
        <p:grpSpPr>
          <a:xfrm>
            <a:off x="204998" y="81727"/>
            <a:ext cx="1999471" cy="590901"/>
            <a:chOff x="4077923" y="171807"/>
            <a:chExt cx="4420435" cy="1371709"/>
          </a:xfrm>
        </p:grpSpPr>
        <p:grpSp>
          <p:nvGrpSpPr>
            <p:cNvPr id="597" name="组合 14"/>
            <p:cNvGrpSpPr/>
            <p:nvPr/>
          </p:nvGrpSpPr>
          <p:grpSpPr>
            <a:xfrm>
              <a:off x="4077923" y="171807"/>
              <a:ext cx="4260493" cy="1371709"/>
              <a:chOff x="6331308" y="1189619"/>
              <a:chExt cx="5481392" cy="1764794"/>
            </a:xfrm>
          </p:grpSpPr>
          <p:pic>
            <p:nvPicPr>
              <p:cNvPr id="598" name="图片 33"/>
              <p:cNvPicPr>
                <a:picLocks noChangeAspect="1"/>
              </p:cNvPicPr>
              <p:nvPr/>
            </p:nvPicPr>
            <p:blipFill>
              <a:blip r:embed="rId2"/>
              <a:srcRect/>
              <a:stretch>
                <a:fillRect/>
              </a:stretch>
            </p:blipFill>
            <p:spPr>
              <a:xfrm>
                <a:off x="6331308" y="1189619"/>
                <a:ext cx="1791803" cy="1764794"/>
              </a:xfrm>
              <a:prstGeom prst="rect">
                <a:avLst/>
              </a:prstGeom>
            </p:spPr>
          </p:pic>
          <p:pic>
            <p:nvPicPr>
              <p:cNvPr id="599" name="图片 35"/>
              <p:cNvPicPr>
                <a:picLocks noChangeAspect="1"/>
              </p:cNvPicPr>
              <p:nvPr/>
            </p:nvPicPr>
            <p:blipFill>
              <a:blip r:embed="rId3"/>
              <a:srcRect/>
              <a:stretch>
                <a:fillRect/>
              </a:stretch>
            </p:blipFill>
            <p:spPr>
              <a:xfrm>
                <a:off x="8302517" y="1422328"/>
                <a:ext cx="3510183" cy="965303"/>
              </a:xfrm>
              <a:prstGeom prst="rect">
                <a:avLst/>
              </a:prstGeom>
            </p:spPr>
          </p:pic>
        </p:grpSp>
        <p:sp>
          <p:nvSpPr>
            <p:cNvPr id="600" name="矩形 15"/>
            <p:cNvSpPr/>
            <p:nvPr/>
          </p:nvSpPr>
          <p:spPr>
            <a:xfrm>
              <a:off x="5470629" y="1076339"/>
              <a:ext cx="3027729" cy="410186"/>
            </a:xfrm>
            <a:prstGeom prst="rect">
              <a:avLst/>
            </a:prstGeom>
          </p:spPr>
          <p:txBody>
            <a:bodyPr wrap="square">
              <a:spAutoFit/>
            </a:bodyPr>
            <a:lstStyle/>
            <a:p>
              <a:pPr algn="dist">
                <a:defRPr/>
              </a:pPr>
              <a:r>
                <a:rPr lang="en-US" altLang="zh-CN" sz="900" b="1" dirty="0">
                  <a:solidFill>
                    <a:prstClr val="black"/>
                  </a:solidFill>
                  <a:latin typeface="Calibri" panose="020F0502020204030204"/>
                  <a:ea typeface="微软雅黑" panose="020B0503020204020204" pitchFamily="34" charset="-122"/>
                </a:rPr>
                <a:t>WUHAN UNIVERSITY</a:t>
              </a:r>
              <a:endParaRPr lang="en-US" altLang="zh-CN" sz="900" b="1" dirty="0">
                <a:solidFill>
                  <a:prstClr val="black"/>
                </a:solidFill>
                <a:latin typeface="Calibri" panose="020F0502020204030204"/>
                <a:ea typeface="微软雅黑" panose="020B0503020204020204" pitchFamily="34" charset="-122"/>
              </a:endParaRPr>
            </a:p>
          </p:txBody>
        </p:sp>
      </p:grpSp>
      <p:sp>
        <p:nvSpPr>
          <p:cNvPr id="2" name="ïṣ1ïḑê"/>
          <p:cNvSpPr>
            <a:spLocks noGrp="1"/>
          </p:cNvSpPr>
          <p:nvPr/>
        </p:nvSpPr>
        <p:spPr>
          <a:xfrm>
            <a:off x="205105" y="1087120"/>
            <a:ext cx="10850880" cy="71247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800" b="1" kern="1200">
                <a:solidFill>
                  <a:srgbClr val="000000"/>
                </a:solidFill>
                <a:latin typeface="Arial" panose="020B0604020202020204" pitchFamily="34" charset="0"/>
                <a:ea typeface="微软雅黑" panose="020B0503020204020204" pitchFamily="34" charset="-122"/>
                <a:cs typeface="+mn-ea"/>
              </a:defRPr>
            </a:lvl1pPr>
          </a:lstStyle>
          <a:p>
            <a:r>
              <a:rPr lang="en-US" altLang="zh-CN" dirty="0">
                <a:solidFill>
                  <a:srgbClr val="005825"/>
                </a:solidFill>
              </a:rPr>
              <a:t>3.3 </a:t>
            </a:r>
            <a:r>
              <a:rPr lang="zh-CN" altLang="en-US" dirty="0">
                <a:solidFill>
                  <a:srgbClr val="00481C"/>
                </a:solidFill>
                <a:latin typeface="Times New Roman" panose="02020603050405020304" pitchFamily="18" charset="0"/>
                <a:cs typeface="Times New Roman" panose="02020603050405020304" pitchFamily="18" charset="0"/>
              </a:rPr>
              <a:t>基于地图制图知识图谱的智能问答系统</a:t>
            </a:r>
            <a:endParaRPr lang="zh-CN" altLang="en-US" dirty="0">
              <a:solidFill>
                <a:schemeClr val="tx1"/>
              </a:solidFill>
              <a:latin typeface="Times New Roman" panose="02020603050405020304" pitchFamily="18" charset="0"/>
              <a:cs typeface="Times New Roman" panose="02020603050405020304" pitchFamily="18" charset="0"/>
            </a:endParaRPr>
          </a:p>
          <a:p>
            <a:endParaRPr lang="zh-CN" altLang="en-US" dirty="0">
              <a:solidFill>
                <a:schemeClr val="tx1"/>
              </a:solidFill>
              <a:latin typeface="Times New Roman" panose="02020603050405020304" pitchFamily="18" charset="0"/>
              <a:cs typeface="Times New Roman" panose="02020603050405020304" pitchFamily="18" charset="0"/>
            </a:endParaRPr>
          </a:p>
        </p:txBody>
      </p:sp>
      <p:grpSp>
        <p:nvGrpSpPr>
          <p:cNvPr id="5" name="组合 4"/>
          <p:cNvGrpSpPr/>
          <p:nvPr/>
        </p:nvGrpSpPr>
        <p:grpSpPr>
          <a:xfrm>
            <a:off x="531495" y="1597660"/>
            <a:ext cx="5080000" cy="4336415"/>
            <a:chOff x="1014" y="3916"/>
            <a:chExt cx="8000" cy="6800"/>
          </a:xfrm>
        </p:grpSpPr>
        <p:sp>
          <p:nvSpPr>
            <p:cNvPr id="27" name="矩形 26"/>
            <p:cNvSpPr/>
            <p:nvPr/>
          </p:nvSpPr>
          <p:spPr>
            <a:xfrm>
              <a:off x="1245" y="4290"/>
              <a:ext cx="7502" cy="6109"/>
            </a:xfrm>
            <a:prstGeom prst="rect">
              <a:avLst/>
            </a:prstGeom>
            <a:solidFill>
              <a:srgbClr val="000000">
                <a:alpha val="0"/>
              </a:srgbClr>
            </a:solidFill>
            <a:ln w="28575">
              <a:gradFill>
                <a:gsLst>
                  <a:gs pos="50000">
                    <a:schemeClr val="accent6"/>
                  </a:gs>
                  <a:gs pos="0">
                    <a:schemeClr val="accent6">
                      <a:lumMod val="25000"/>
                      <a:lumOff val="75000"/>
                    </a:schemeClr>
                  </a:gs>
                  <a:gs pos="100000">
                    <a:schemeClr val="accent6">
                      <a:lumMod val="85000"/>
                    </a:schemeClr>
                  </a:gs>
                </a:gsLst>
                <a:lin ang="5400000" scaled="0"/>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AutoShape 3"/>
            <p:cNvSpPr/>
            <p:nvPr/>
          </p:nvSpPr>
          <p:spPr>
            <a:xfrm>
              <a:off x="1014" y="3916"/>
              <a:ext cx="8000" cy="6800"/>
            </a:xfrm>
            <a:prstGeom prst="roundRect">
              <a:avLst>
                <a:gd name="adj" fmla="val 2941"/>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p>
              <a:pPr algn="ctr">
                <a:defRPr/>
              </a:pPr>
            </a:p>
          </p:txBody>
        </p:sp>
        <p:sp>
          <p:nvSpPr>
            <p:cNvPr id="7" name="AutoShape 4"/>
            <p:cNvSpPr/>
            <p:nvPr/>
          </p:nvSpPr>
          <p:spPr>
            <a:xfrm>
              <a:off x="1414" y="4316"/>
              <a:ext cx="7200" cy="600"/>
            </a:xfrm>
            <a:prstGeom prst="rect">
              <a:avLst/>
            </a:prstGeom>
            <a:noFill/>
            <a:ln w="12700" cap="flat" cmpd="sng">
              <a:noFill/>
              <a:prstDash val="solid"/>
              <a:round/>
            </a:ln>
          </p:spPr>
          <p:txBody>
            <a:bodyPr vert="horz" wrap="square" lIns="0" tIns="0" rIns="0" bIns="0" rtlCol="0" anchor="ctr" anchorCtr="0"/>
            <a:p>
              <a:pPr indent="0" algn="l">
                <a:lnSpc>
                  <a:spcPct val="125000"/>
                </a:lnSpc>
                <a:defRPr/>
              </a:pPr>
              <a:r>
                <a:rPr lang="en-US" sz="2400" b="1" i="0" u="none" strike="noStrike">
                  <a:solidFill>
                    <a:schemeClr val="tx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系统功能与关键步骤</a:t>
              </a:r>
              <a:endParaRPr lang="en-US" sz="2400" b="1" i="0" u="none" strike="noStrike">
                <a:solidFill>
                  <a:schemeClr val="tx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p:txBody>
        </p:sp>
        <p:grpSp>
          <p:nvGrpSpPr>
            <p:cNvPr id="23" name="组合 22"/>
            <p:cNvGrpSpPr/>
            <p:nvPr/>
          </p:nvGrpSpPr>
          <p:grpSpPr>
            <a:xfrm>
              <a:off x="1414" y="5126"/>
              <a:ext cx="7200" cy="520"/>
              <a:chOff x="1414" y="5376"/>
              <a:chExt cx="7200" cy="520"/>
            </a:xfrm>
          </p:grpSpPr>
          <p:pic>
            <p:nvPicPr>
              <p:cNvPr id="8"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414" y="5416"/>
                <a:ext cx="480" cy="480"/>
              </a:xfrm>
              <a:prstGeom prst="rect">
                <a:avLst/>
              </a:prstGeom>
            </p:spPr>
          </p:pic>
          <p:sp>
            <p:nvSpPr>
              <p:cNvPr id="9" name="AutoShape 7"/>
              <p:cNvSpPr/>
              <p:nvPr/>
            </p:nvSpPr>
            <p:spPr>
              <a:xfrm>
                <a:off x="2014" y="5376"/>
                <a:ext cx="6600" cy="480"/>
              </a:xfrm>
              <a:prstGeom prst="rect">
                <a:avLst/>
              </a:prstGeom>
              <a:noFill/>
              <a:ln w="12700" cap="flat" cmpd="sng">
                <a:noFill/>
                <a:prstDash val="solid"/>
                <a:round/>
              </a:ln>
            </p:spPr>
            <p:txBody>
              <a:bodyPr vert="horz" wrap="square" lIns="0" tIns="0" rIns="0" bIns="0" rtlCol="0" anchor="ctr" anchorCtr="0"/>
              <a:p>
                <a:pPr indent="0" algn="l">
                  <a:lnSpc>
                    <a:spcPct val="125000"/>
                  </a:lnSpc>
                  <a:defRPr/>
                </a:pPr>
                <a:r>
                  <a:rPr lang="en-US" b="1" i="0" u="none" strike="noStrike">
                    <a:solidFill>
                      <a:schemeClr val="tx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数据准备</a:t>
                </a:r>
                <a:endParaRPr lang="en-US" b="1" i="0" u="none" strike="noStrike">
                  <a:solidFill>
                    <a:schemeClr val="tx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p:txBody>
          </p:sp>
        </p:grpSp>
        <p:sp>
          <p:nvSpPr>
            <p:cNvPr id="10" name="AutoShape 8"/>
            <p:cNvSpPr/>
            <p:nvPr/>
          </p:nvSpPr>
          <p:spPr>
            <a:xfrm>
              <a:off x="2014" y="5720"/>
              <a:ext cx="6600" cy="800"/>
            </a:xfrm>
            <a:prstGeom prst="rect">
              <a:avLst/>
            </a:prstGeom>
            <a:noFill/>
            <a:ln w="12700" cap="flat" cmpd="sng">
              <a:noFill/>
              <a:prstDash val="solid"/>
              <a:round/>
            </a:ln>
          </p:spPr>
          <p:txBody>
            <a:bodyPr vert="horz" wrap="square" lIns="0" tIns="0" rIns="0" bIns="0" rtlCol="0" anchor="ctr" anchorCtr="0">
              <a:noAutofit/>
            </a:bodyPr>
            <a:p>
              <a:pPr lvl="0" algn="l">
                <a:lnSpc>
                  <a:spcPct val="150000"/>
                </a:lnSpc>
                <a:buClrTx/>
                <a:buSzTx/>
                <a:buFontTx/>
                <a:defRPr/>
              </a:pPr>
              <a:r>
                <a:rPr lang="en-US" sz="1600">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完成地图学相关数据的爬取与结构化处理，构建基础数据库。</a:t>
              </a:r>
              <a:endParaRPr lang="en-US" sz="1600">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p:txBody>
        </p:sp>
        <p:grpSp>
          <p:nvGrpSpPr>
            <p:cNvPr id="24" name="组合 23"/>
            <p:cNvGrpSpPr/>
            <p:nvPr/>
          </p:nvGrpSpPr>
          <p:grpSpPr>
            <a:xfrm>
              <a:off x="1414" y="6669"/>
              <a:ext cx="7200" cy="520"/>
              <a:chOff x="1414" y="6776"/>
              <a:chExt cx="7200" cy="520"/>
            </a:xfrm>
          </p:grpSpPr>
          <p:pic>
            <p:nvPicPr>
              <p:cNvPr id="11"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414" y="6816"/>
                <a:ext cx="480" cy="480"/>
              </a:xfrm>
              <a:prstGeom prst="rect">
                <a:avLst/>
              </a:prstGeom>
            </p:spPr>
          </p:pic>
          <p:sp>
            <p:nvSpPr>
              <p:cNvPr id="12" name="AutoShape 10"/>
              <p:cNvSpPr/>
              <p:nvPr/>
            </p:nvSpPr>
            <p:spPr>
              <a:xfrm>
                <a:off x="2014" y="6776"/>
                <a:ext cx="6600" cy="480"/>
              </a:xfrm>
              <a:prstGeom prst="rect">
                <a:avLst/>
              </a:prstGeom>
              <a:noFill/>
              <a:ln w="12700" cap="flat" cmpd="sng">
                <a:noFill/>
                <a:prstDash val="solid"/>
                <a:round/>
              </a:ln>
            </p:spPr>
            <p:txBody>
              <a:bodyPr vert="horz" wrap="square" lIns="0" tIns="0" rIns="0" bIns="0" rtlCol="0" anchor="ctr" anchorCtr="0">
                <a:noAutofit/>
              </a:bodyPr>
              <a:p>
                <a:pPr lvl="0" algn="l">
                  <a:lnSpc>
                    <a:spcPct val="125000"/>
                  </a:lnSpc>
                  <a:buClrTx/>
                  <a:buSzTx/>
                  <a:buFontTx/>
                  <a:defRPr/>
                </a:pPr>
                <a:r>
                  <a:rPr lang="en-US" b="1">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问题处理</a:t>
                </a:r>
                <a:endParaRPr lang="en-US" b="1">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p:txBody>
          </p:sp>
        </p:grpSp>
        <p:sp>
          <p:nvSpPr>
            <p:cNvPr id="13" name="AutoShape 11"/>
            <p:cNvSpPr/>
            <p:nvPr/>
          </p:nvSpPr>
          <p:spPr>
            <a:xfrm>
              <a:off x="2014" y="7256"/>
              <a:ext cx="6600" cy="800"/>
            </a:xfrm>
            <a:prstGeom prst="rect">
              <a:avLst/>
            </a:prstGeom>
            <a:noFill/>
            <a:ln w="12700" cap="flat" cmpd="sng">
              <a:noFill/>
              <a:prstDash val="solid"/>
              <a:round/>
            </a:ln>
          </p:spPr>
          <p:txBody>
            <a:bodyPr vert="horz" wrap="square" lIns="0" tIns="0" rIns="0" bIns="0" rtlCol="0" anchor="ctr" anchorCtr="0">
              <a:noAutofit/>
            </a:bodyPr>
            <a:p>
              <a:pPr lvl="0" algn="l">
                <a:lnSpc>
                  <a:spcPct val="150000"/>
                </a:lnSpc>
                <a:buClrTx/>
                <a:buSzTx/>
                <a:buFontTx/>
                <a:defRPr/>
              </a:pPr>
              <a:r>
                <a:rPr lang="en-US" sz="1600">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基于Neo4j和规则匹配，实现对用户自然语言问题的精准解析。</a:t>
              </a:r>
              <a:endParaRPr lang="en-US" sz="1600">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p:txBody>
        </p:sp>
        <p:grpSp>
          <p:nvGrpSpPr>
            <p:cNvPr id="25" name="组合 24"/>
            <p:cNvGrpSpPr/>
            <p:nvPr/>
          </p:nvGrpSpPr>
          <p:grpSpPr>
            <a:xfrm>
              <a:off x="1414" y="8193"/>
              <a:ext cx="7200" cy="523"/>
              <a:chOff x="1414" y="8216"/>
              <a:chExt cx="7200" cy="499"/>
            </a:xfrm>
          </p:grpSpPr>
          <p:pic>
            <p:nvPicPr>
              <p:cNvPr id="14" name="Picture 12"/>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414" y="8216"/>
                <a:ext cx="480" cy="480"/>
              </a:xfrm>
              <a:prstGeom prst="rect">
                <a:avLst/>
              </a:prstGeom>
            </p:spPr>
          </p:pic>
          <p:sp>
            <p:nvSpPr>
              <p:cNvPr id="15" name="AutoShape 13"/>
              <p:cNvSpPr/>
              <p:nvPr/>
            </p:nvSpPr>
            <p:spPr>
              <a:xfrm>
                <a:off x="2014" y="8235"/>
                <a:ext cx="6600" cy="480"/>
              </a:xfrm>
              <a:prstGeom prst="rect">
                <a:avLst/>
              </a:prstGeom>
              <a:noFill/>
              <a:ln w="12700" cap="flat" cmpd="sng">
                <a:noFill/>
                <a:prstDash val="solid"/>
                <a:round/>
              </a:ln>
            </p:spPr>
            <p:txBody>
              <a:bodyPr vert="horz" wrap="square" lIns="0" tIns="0" rIns="0" bIns="0" rtlCol="0" anchor="ctr" anchorCtr="0">
                <a:noAutofit/>
              </a:bodyPr>
              <a:p>
                <a:pPr lvl="0" algn="l">
                  <a:lnSpc>
                    <a:spcPct val="125000"/>
                  </a:lnSpc>
                  <a:buClrTx/>
                  <a:buSzTx/>
                  <a:buFontTx/>
                  <a:defRPr/>
                </a:pPr>
                <a:r>
                  <a:rPr lang="en-US" b="1">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答案生成</a:t>
                </a:r>
                <a:endParaRPr lang="en-US" b="1">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p:txBody>
          </p:sp>
        </p:grpSp>
        <p:sp>
          <p:nvSpPr>
            <p:cNvPr id="16" name="AutoShape 14"/>
            <p:cNvSpPr/>
            <p:nvPr/>
          </p:nvSpPr>
          <p:spPr>
            <a:xfrm>
              <a:off x="2014" y="8701"/>
              <a:ext cx="6600" cy="1045"/>
            </a:xfrm>
            <a:prstGeom prst="rect">
              <a:avLst/>
            </a:prstGeom>
            <a:noFill/>
            <a:ln w="12700" cap="flat" cmpd="sng">
              <a:noFill/>
              <a:prstDash val="solid"/>
              <a:round/>
            </a:ln>
          </p:spPr>
          <p:txBody>
            <a:bodyPr vert="horz" wrap="square" lIns="0" tIns="0" rIns="0" bIns="0" rtlCol="0" anchor="ctr" anchorCtr="0">
              <a:noAutofit/>
            </a:bodyPr>
            <a:p>
              <a:pPr lvl="0" algn="l">
                <a:lnSpc>
                  <a:spcPct val="150000"/>
                </a:lnSpc>
                <a:buClrTx/>
                <a:buSzTx/>
                <a:buFontTx/>
                <a:defRPr/>
              </a:pPr>
              <a:r>
                <a:rPr lang="en-US" sz="1600">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查询知识图谱，生成准确、专业的地图学知识答案。</a:t>
              </a:r>
              <a:endParaRPr lang="en-US" sz="1600">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p:txBody>
        </p:sp>
      </p:grpSp>
      <p:grpSp>
        <p:nvGrpSpPr>
          <p:cNvPr id="32" name="组合 31"/>
          <p:cNvGrpSpPr/>
          <p:nvPr/>
        </p:nvGrpSpPr>
        <p:grpSpPr>
          <a:xfrm>
            <a:off x="6096000" y="1616075"/>
            <a:ext cx="5372735" cy="4318000"/>
            <a:chOff x="9600" y="3916"/>
            <a:chExt cx="8461" cy="6800"/>
          </a:xfrm>
        </p:grpSpPr>
        <p:sp>
          <p:nvSpPr>
            <p:cNvPr id="29" name="矩形 28"/>
            <p:cNvSpPr/>
            <p:nvPr/>
          </p:nvSpPr>
          <p:spPr>
            <a:xfrm>
              <a:off x="9741" y="4277"/>
              <a:ext cx="8321" cy="6121"/>
            </a:xfrm>
            <a:prstGeom prst="rect">
              <a:avLst/>
            </a:prstGeom>
            <a:solidFill>
              <a:srgbClr val="000000">
                <a:alpha val="0"/>
              </a:srgbClr>
            </a:solidFill>
            <a:ln w="28575">
              <a:gradFill>
                <a:gsLst>
                  <a:gs pos="50000">
                    <a:schemeClr val="accent6"/>
                  </a:gs>
                  <a:gs pos="0">
                    <a:schemeClr val="accent6">
                      <a:lumMod val="25000"/>
                      <a:lumOff val="75000"/>
                    </a:schemeClr>
                  </a:gs>
                  <a:gs pos="100000">
                    <a:schemeClr val="accent6">
                      <a:lumMod val="85000"/>
                    </a:schemeClr>
                  </a:gs>
                </a:gsLst>
                <a:lin ang="5400000" scaled="0"/>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30" name="组合 29"/>
            <p:cNvGrpSpPr/>
            <p:nvPr/>
          </p:nvGrpSpPr>
          <p:grpSpPr>
            <a:xfrm>
              <a:off x="9600" y="3916"/>
              <a:ext cx="8400" cy="6800"/>
              <a:chOff x="9600" y="3916"/>
              <a:chExt cx="8400" cy="6800"/>
            </a:xfrm>
          </p:grpSpPr>
          <p:sp>
            <p:nvSpPr>
              <p:cNvPr id="17" name="AutoShape 15"/>
              <p:cNvSpPr/>
              <p:nvPr/>
            </p:nvSpPr>
            <p:spPr>
              <a:xfrm>
                <a:off x="9600" y="3916"/>
                <a:ext cx="8400" cy="6800"/>
              </a:xfrm>
              <a:prstGeom prst="roundRect">
                <a:avLst>
                  <a:gd name="adj" fmla="val 2941"/>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p>
                <a:pPr algn="ctr">
                  <a:defRPr/>
                </a:pPr>
              </a:p>
            </p:txBody>
          </p:sp>
          <p:sp>
            <p:nvSpPr>
              <p:cNvPr id="18" name="AutoShape 16"/>
              <p:cNvSpPr/>
              <p:nvPr/>
            </p:nvSpPr>
            <p:spPr>
              <a:xfrm>
                <a:off x="10000" y="4316"/>
                <a:ext cx="7600" cy="600"/>
              </a:xfrm>
              <a:prstGeom prst="rect">
                <a:avLst/>
              </a:prstGeom>
              <a:noFill/>
              <a:ln w="12700" cap="flat" cmpd="sng">
                <a:noFill/>
                <a:prstDash val="solid"/>
                <a:round/>
              </a:ln>
            </p:spPr>
            <p:txBody>
              <a:bodyPr vert="horz" wrap="square" lIns="0" tIns="0" rIns="0" bIns="0" rtlCol="0" anchor="ctr" anchorCtr="0">
                <a:noAutofit/>
              </a:bodyPr>
              <a:p>
                <a:pPr lvl="0" algn="l">
                  <a:lnSpc>
                    <a:spcPct val="125000"/>
                  </a:lnSpc>
                  <a:buClrTx/>
                  <a:buSzTx/>
                  <a:buFontTx/>
                  <a:defRPr/>
                </a:pPr>
                <a:r>
                  <a:rPr lang="en-US" sz="2400" b="1">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系统流程与验证结果</a:t>
                </a:r>
                <a:endParaRPr lang="en-US" sz="2400" b="1">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p:txBody>
          </p:sp>
          <p:pic>
            <p:nvPicPr>
              <p:cNvPr id="19" name="Picture 18"/>
              <p:cNvPicPr>
                <a:picLocks noChangeAspect="1"/>
              </p:cNvPicPr>
              <p:nvPr/>
            </p:nvPicPr>
            <p:blipFill>
              <a:blip r:embed="rId10"/>
              <a:srcRect t="14912" b="14912"/>
              <a:stretch>
                <a:fillRect/>
              </a:stretch>
            </p:blipFill>
            <p:spPr>
              <a:xfrm>
                <a:off x="10000" y="5060"/>
                <a:ext cx="7600" cy="3000"/>
              </a:xfrm>
              <a:prstGeom prst="roundRect">
                <a:avLst>
                  <a:gd name="adj" fmla="val 10566"/>
                </a:avLst>
              </a:prstGeom>
              <a:noFill/>
              <a:ln w="12700" cap="flat" cmpd="sng">
                <a:solidFill>
                  <a:srgbClr val="FFFFFF">
                    <a:alpha val="20000"/>
                  </a:srgbClr>
                </a:solidFill>
                <a:prstDash val="solid"/>
                <a:round/>
              </a:ln>
            </p:spPr>
          </p:pic>
          <p:grpSp>
            <p:nvGrpSpPr>
              <p:cNvPr id="26" name="组合 25"/>
              <p:cNvGrpSpPr/>
              <p:nvPr/>
            </p:nvGrpSpPr>
            <p:grpSpPr>
              <a:xfrm>
                <a:off x="10000" y="8166"/>
                <a:ext cx="7600" cy="558"/>
                <a:chOff x="10000" y="8316"/>
                <a:chExt cx="7600" cy="558"/>
              </a:xfrm>
            </p:grpSpPr>
            <p:pic>
              <p:nvPicPr>
                <p:cNvPr id="20" name="Picture 19"/>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0000" y="8394"/>
                  <a:ext cx="480" cy="480"/>
                </a:xfrm>
                <a:prstGeom prst="rect">
                  <a:avLst/>
                </a:prstGeom>
              </p:spPr>
            </p:pic>
            <p:sp>
              <p:nvSpPr>
                <p:cNvPr id="21" name="AutoShape 20"/>
                <p:cNvSpPr/>
                <p:nvPr/>
              </p:nvSpPr>
              <p:spPr>
                <a:xfrm>
                  <a:off x="10600" y="8316"/>
                  <a:ext cx="7000" cy="480"/>
                </a:xfrm>
                <a:prstGeom prst="rect">
                  <a:avLst/>
                </a:prstGeom>
                <a:noFill/>
                <a:ln w="12700" cap="flat" cmpd="sng">
                  <a:noFill/>
                  <a:prstDash val="solid"/>
                  <a:round/>
                </a:ln>
              </p:spPr>
              <p:txBody>
                <a:bodyPr vert="horz" wrap="square" lIns="0" tIns="0" rIns="0" bIns="0" rtlCol="0" anchor="ctr" anchorCtr="0">
                  <a:noAutofit/>
                </a:bodyPr>
                <a:p>
                  <a:pPr lvl="0" algn="l">
                    <a:lnSpc>
                      <a:spcPct val="125000"/>
                    </a:lnSpc>
                    <a:buClrTx/>
                    <a:buSzTx/>
                    <a:buFontTx/>
                    <a:defRPr/>
                  </a:pPr>
                  <a:r>
                    <a:rPr lang="en-US" b="1">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验证成果</a:t>
                  </a:r>
                  <a:endParaRPr lang="en-US" b="1">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p:txBody>
            </p:sp>
          </p:grpSp>
          <p:sp>
            <p:nvSpPr>
              <p:cNvPr id="22" name="AutoShape 21"/>
              <p:cNvSpPr/>
              <p:nvPr/>
            </p:nvSpPr>
            <p:spPr>
              <a:xfrm>
                <a:off x="10600" y="8625"/>
                <a:ext cx="7000" cy="1631"/>
              </a:xfrm>
              <a:prstGeom prst="rect">
                <a:avLst/>
              </a:prstGeom>
              <a:noFill/>
              <a:ln w="12700" cap="flat" cmpd="sng">
                <a:noFill/>
                <a:prstDash val="solid"/>
                <a:round/>
              </a:ln>
            </p:spPr>
            <p:txBody>
              <a:bodyPr vert="horz" wrap="square" lIns="0" tIns="0" rIns="0" bIns="0" rtlCol="0" anchor="ctr" anchorCtr="0">
                <a:noAutofit/>
              </a:bodyPr>
              <a:p>
                <a:pPr lvl="0" algn="l">
                  <a:lnSpc>
                    <a:spcPct val="150000"/>
                  </a:lnSpc>
                  <a:buClrTx/>
                  <a:buSzTx/>
                  <a:buFontTx/>
                  <a:defRPr/>
                </a:pPr>
                <a:r>
                  <a:rPr lang="en-US" sz="1600">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成功验证了知识图谱与大语言模型结合进行专业知识问答的技术可行性，实现了流畅的端到端交互流程。</a:t>
                </a:r>
                <a:endParaRPr lang="en-US" sz="1600">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p:txBody>
          </p:sp>
        </p:grpSp>
      </p:grpSp>
      <p:sp>
        <p:nvSpPr>
          <p:cNvPr id="3" name="页脚占位符 2"/>
          <p:cNvSpPr>
            <a:spLocks noGrp="1"/>
          </p:cNvSpPr>
          <p:nvPr>
            <p:ph type="ftr" sz="quarter" idx="11"/>
          </p:nvPr>
        </p:nvSpPr>
        <p:spPr/>
        <p:txBody>
          <a:bodyPr/>
          <a:p>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581" name=""/>
        <p:cNvGrpSpPr/>
        <p:nvPr/>
      </p:nvGrpSpPr>
      <p:grpSpPr>
        <a:xfrm>
          <a:off x="0" y="0"/>
          <a:ext cx="0" cy="0"/>
          <a:chOff x="0" y="0"/>
          <a:chExt cx="0" cy="0"/>
        </a:xfrm>
      </p:grpSpPr>
      <p:sp>
        <p:nvSpPr>
          <p:cNvPr id="582" name="文本框 60"/>
          <p:cNvSpPr txBox="1"/>
          <p:nvPr/>
        </p:nvSpPr>
        <p:spPr>
          <a:xfrm>
            <a:off x="10320239" y="216952"/>
            <a:ext cx="3123637" cy="369332"/>
          </a:xfrm>
          <a:prstGeom prst="rect">
            <a:avLst/>
          </a:prstGeom>
          <a:noFill/>
        </p:spPr>
        <p:txBody>
          <a:bodyPr wrap="square" rtlCol="0">
            <a:spAutoFit/>
          </a:bodyPr>
          <a:lstStyle/>
          <a:p>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未来展望</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585" name="组合 68"/>
          <p:cNvGrpSpPr/>
          <p:nvPr/>
        </p:nvGrpSpPr>
        <p:grpSpPr>
          <a:xfrm>
            <a:off x="0" y="15886"/>
            <a:ext cx="12219295" cy="1001194"/>
            <a:chOff x="-128871" y="-59933"/>
            <a:chExt cx="12219295" cy="1001194"/>
          </a:xfrm>
        </p:grpSpPr>
        <p:grpSp>
          <p:nvGrpSpPr>
            <p:cNvPr id="586" name="组合 67"/>
            <p:cNvGrpSpPr/>
            <p:nvPr/>
          </p:nvGrpSpPr>
          <p:grpSpPr>
            <a:xfrm>
              <a:off x="-128871" y="-59933"/>
              <a:ext cx="12219295" cy="1001194"/>
              <a:chOff x="-128871" y="-59933"/>
              <a:chExt cx="12219295" cy="1001194"/>
            </a:xfrm>
          </p:grpSpPr>
          <p:pic>
            <p:nvPicPr>
              <p:cNvPr id="587" name="图片 53"/>
              <p:cNvPicPr>
                <a:picLocks noChangeAspect="1"/>
              </p:cNvPicPr>
              <p:nvPr/>
            </p:nvPicPr>
            <p:blipFill>
              <a:blip r:embed="rId1" cstate="print"/>
              <a:stretch>
                <a:fillRect/>
              </a:stretch>
            </p:blipFill>
            <p:spPr>
              <a:xfrm>
                <a:off x="-128871" y="-59933"/>
                <a:ext cx="12219295" cy="1001194"/>
              </a:xfrm>
              <a:prstGeom prst="rect">
                <a:avLst/>
              </a:prstGeom>
              <a:effectLst>
                <a:outerShdw blurRad="50800" dist="38100" dir="8100000" algn="tr" rotWithShape="0">
                  <a:prstClr val="black">
                    <a:alpha val="40000"/>
                  </a:prstClr>
                </a:outerShdw>
              </a:effectLst>
            </p:spPr>
          </p:pic>
          <p:sp>
            <p:nvSpPr>
              <p:cNvPr id="588" name="矩形 55"/>
              <p:cNvSpPr/>
              <p:nvPr/>
            </p:nvSpPr>
            <p:spPr>
              <a:xfrm>
                <a:off x="6946934" y="-59933"/>
                <a:ext cx="2536825" cy="773430"/>
              </a:xfrm>
              <a:prstGeom prst="rect">
                <a:avLst/>
              </a:prstGeom>
              <a:solidFill>
                <a:srgbClr val="005825"/>
              </a:solidFill>
              <a:ln>
                <a:solidFill>
                  <a:srgbClr val="0058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89" name="文本框 57"/>
              <p:cNvSpPr txBox="1"/>
              <p:nvPr/>
            </p:nvSpPr>
            <p:spPr>
              <a:xfrm>
                <a:off x="2629484" y="48215"/>
                <a:ext cx="3123637"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选题背景</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0" name="文本框 58"/>
              <p:cNvSpPr txBox="1"/>
              <p:nvPr/>
            </p:nvSpPr>
            <p:spPr>
              <a:xfrm>
                <a:off x="4852069" y="48055"/>
                <a:ext cx="1771650"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项目方案</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1" name="文本框 59"/>
              <p:cNvSpPr txBox="1"/>
              <p:nvPr/>
            </p:nvSpPr>
            <p:spPr>
              <a:xfrm>
                <a:off x="7339364" y="50595"/>
                <a:ext cx="1741805" cy="52197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项目进展</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592" name="直接连接符 61"/>
              <p:cNvCxnSpPr/>
              <p:nvPr/>
            </p:nvCxnSpPr>
            <p:spPr>
              <a:xfrm>
                <a:off x="4529735" y="113988"/>
                <a:ext cx="0" cy="4024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3" name="直接连接符 62"/>
              <p:cNvCxnSpPr/>
              <p:nvPr/>
            </p:nvCxnSpPr>
            <p:spPr>
              <a:xfrm flipH="1">
                <a:off x="6955732" y="194315"/>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94" name="文本框 65"/>
            <p:cNvSpPr txBox="1"/>
            <p:nvPr/>
          </p:nvSpPr>
          <p:spPr>
            <a:xfrm>
              <a:off x="9954929" y="50595"/>
              <a:ext cx="196659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总结展望</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cxnSp>
        <p:nvCxnSpPr>
          <p:cNvPr id="595" name="直接连接符 62"/>
          <p:cNvCxnSpPr/>
          <p:nvPr/>
        </p:nvCxnSpPr>
        <p:spPr>
          <a:xfrm flipH="1">
            <a:off x="9592354" y="270134"/>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596" name="组合 13"/>
          <p:cNvGrpSpPr/>
          <p:nvPr/>
        </p:nvGrpSpPr>
        <p:grpSpPr>
          <a:xfrm>
            <a:off x="204998" y="81727"/>
            <a:ext cx="1999471" cy="590901"/>
            <a:chOff x="4077923" y="171807"/>
            <a:chExt cx="4420435" cy="1371709"/>
          </a:xfrm>
        </p:grpSpPr>
        <p:grpSp>
          <p:nvGrpSpPr>
            <p:cNvPr id="597" name="组合 14"/>
            <p:cNvGrpSpPr/>
            <p:nvPr/>
          </p:nvGrpSpPr>
          <p:grpSpPr>
            <a:xfrm>
              <a:off x="4077923" y="171807"/>
              <a:ext cx="4260493" cy="1371709"/>
              <a:chOff x="6331308" y="1189619"/>
              <a:chExt cx="5481392" cy="1764794"/>
            </a:xfrm>
          </p:grpSpPr>
          <p:pic>
            <p:nvPicPr>
              <p:cNvPr id="598" name="图片 33"/>
              <p:cNvPicPr>
                <a:picLocks noChangeAspect="1"/>
              </p:cNvPicPr>
              <p:nvPr/>
            </p:nvPicPr>
            <p:blipFill>
              <a:blip r:embed="rId2"/>
              <a:srcRect/>
              <a:stretch>
                <a:fillRect/>
              </a:stretch>
            </p:blipFill>
            <p:spPr>
              <a:xfrm>
                <a:off x="6331308" y="1189619"/>
                <a:ext cx="1791803" cy="1764794"/>
              </a:xfrm>
              <a:prstGeom prst="rect">
                <a:avLst/>
              </a:prstGeom>
            </p:spPr>
          </p:pic>
          <p:pic>
            <p:nvPicPr>
              <p:cNvPr id="599" name="图片 35"/>
              <p:cNvPicPr>
                <a:picLocks noChangeAspect="1"/>
              </p:cNvPicPr>
              <p:nvPr/>
            </p:nvPicPr>
            <p:blipFill>
              <a:blip r:embed="rId3"/>
              <a:srcRect/>
              <a:stretch>
                <a:fillRect/>
              </a:stretch>
            </p:blipFill>
            <p:spPr>
              <a:xfrm>
                <a:off x="8302517" y="1422328"/>
                <a:ext cx="3510183" cy="965303"/>
              </a:xfrm>
              <a:prstGeom prst="rect">
                <a:avLst/>
              </a:prstGeom>
            </p:spPr>
          </p:pic>
        </p:grpSp>
        <p:sp>
          <p:nvSpPr>
            <p:cNvPr id="600" name="矩形 15"/>
            <p:cNvSpPr/>
            <p:nvPr/>
          </p:nvSpPr>
          <p:spPr>
            <a:xfrm>
              <a:off x="5470629" y="1076339"/>
              <a:ext cx="3027729" cy="410186"/>
            </a:xfrm>
            <a:prstGeom prst="rect">
              <a:avLst/>
            </a:prstGeom>
          </p:spPr>
          <p:txBody>
            <a:bodyPr wrap="square">
              <a:spAutoFit/>
            </a:bodyPr>
            <a:lstStyle/>
            <a:p>
              <a:pPr algn="dist">
                <a:defRPr/>
              </a:pPr>
              <a:r>
                <a:rPr lang="en-US" altLang="zh-CN" sz="900" b="1" dirty="0">
                  <a:solidFill>
                    <a:prstClr val="black"/>
                  </a:solidFill>
                  <a:latin typeface="Calibri" panose="020F0502020204030204"/>
                  <a:ea typeface="微软雅黑" panose="020B0503020204020204" pitchFamily="34" charset="-122"/>
                </a:rPr>
                <a:t>WUHAN UNIVERSITY</a:t>
              </a:r>
              <a:endParaRPr lang="en-US" altLang="zh-CN" sz="900" b="1" dirty="0">
                <a:solidFill>
                  <a:prstClr val="black"/>
                </a:solidFill>
                <a:latin typeface="Calibri" panose="020F0502020204030204"/>
                <a:ea typeface="微软雅黑" panose="020B0503020204020204" pitchFamily="34" charset="-122"/>
              </a:endParaRPr>
            </a:p>
          </p:txBody>
        </p:sp>
      </p:grpSp>
      <p:sp>
        <p:nvSpPr>
          <p:cNvPr id="3" name="ïṣ1ïḑê"/>
          <p:cNvSpPr>
            <a:spLocks noGrp="1"/>
          </p:cNvSpPr>
          <p:nvPr/>
        </p:nvSpPr>
        <p:spPr>
          <a:xfrm>
            <a:off x="205105" y="1087120"/>
            <a:ext cx="10850880" cy="71247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800" b="1" kern="1200">
                <a:solidFill>
                  <a:srgbClr val="000000"/>
                </a:solidFill>
                <a:latin typeface="Arial" panose="020B0604020202020204" pitchFamily="34" charset="0"/>
                <a:ea typeface="微软雅黑" panose="020B0503020204020204" pitchFamily="34" charset="-122"/>
                <a:cs typeface="+mn-ea"/>
              </a:defRPr>
            </a:lvl1pPr>
          </a:lstStyle>
          <a:p>
            <a:r>
              <a:rPr lang="en-US" altLang="zh-CN" dirty="0">
                <a:solidFill>
                  <a:srgbClr val="005825"/>
                </a:solidFill>
              </a:rPr>
              <a:t>3.4 </a:t>
            </a:r>
            <a:r>
              <a:rPr lang="zh-CN" altLang="en-US" dirty="0">
                <a:solidFill>
                  <a:srgbClr val="005825"/>
                </a:solidFill>
              </a:rPr>
              <a:t>制图原型模块</a:t>
            </a:r>
            <a:r>
              <a:rPr lang="en-US" altLang="zh-CN" dirty="0">
                <a:solidFill>
                  <a:srgbClr val="005825"/>
                </a:solidFill>
              </a:rPr>
              <a:t> </a:t>
            </a:r>
            <a:endParaRPr lang="zh-CN" altLang="en-US" dirty="0">
              <a:solidFill>
                <a:srgbClr val="00481C"/>
              </a:solidFill>
              <a:latin typeface="微软雅黑" panose="020B0503020204020204" pitchFamily="34" charset="-122"/>
              <a:cs typeface="微软雅黑" panose="020B0503020204020204" pitchFamily="34" charset="-122"/>
            </a:endParaRPr>
          </a:p>
          <a:p>
            <a:endParaRPr lang="zh-CN" altLang="en-US" dirty="0">
              <a:solidFill>
                <a:srgbClr val="00481C"/>
              </a:solidFill>
              <a:latin typeface="微软雅黑" panose="020B0503020204020204" pitchFamily="34" charset="-122"/>
              <a:cs typeface="微软雅黑" panose="020B0503020204020204" pitchFamily="34" charset="-122"/>
            </a:endParaRPr>
          </a:p>
        </p:txBody>
      </p:sp>
      <p:sp>
        <p:nvSpPr>
          <p:cNvPr id="2" name="文本框 1"/>
          <p:cNvSpPr txBox="1"/>
          <p:nvPr/>
        </p:nvSpPr>
        <p:spPr>
          <a:xfrm>
            <a:off x="289560" y="2571750"/>
            <a:ext cx="2294890" cy="3196590"/>
          </a:xfrm>
          <a:prstGeom prst="rect">
            <a:avLst/>
          </a:prstGeom>
        </p:spPr>
        <p:txBody>
          <a:bodyPr wrap="square">
            <a:noAutofit/>
          </a:bodyPr>
          <a:p>
            <a:pPr indent="406400" fontAlgn="auto">
              <a:lnSpc>
                <a:spcPct val="150000"/>
              </a:lnSpc>
              <a:extLst>
                <a:ext uri="{35155182-B16C-46BC-9424-99874614C6A1}">
                  <wpsdc:indentchars xmlns:wpsdc="http://www.wps.cn/officeDocument/2017/drawingmlCustomData" val="200" checksum="1740828767"/>
                </a:ext>
              </a:extLst>
            </a:pPr>
            <a:r>
              <a:rPr lang="zh-CN" altLang="en-US" sz="1600" b="0" i="0">
                <a:solidFill>
                  <a:srgbClr val="000000"/>
                </a:solidFill>
                <a:latin typeface="微软雅黑" panose="020B0503020204020204" pitchFamily="34" charset="-122"/>
                <a:ea typeface="微软雅黑" panose="020B0503020204020204" pitchFamily="34" charset="-122"/>
              </a:rPr>
              <a:t>本模块接收自然语言指令，通过知识图谱获取制图规则，结合开放地理数据实时生成交互式地图。当前支持武汉市交通图的初步生成，并具备基础的空间知识问答能力。</a:t>
            </a:r>
            <a:endParaRPr lang="zh-CN" altLang="en-US" sz="1600" b="0" i="0">
              <a:solidFill>
                <a:srgbClr val="000000"/>
              </a:solidFill>
              <a:latin typeface="微软雅黑" panose="020B0503020204020204" pitchFamily="34" charset="-122"/>
              <a:ea typeface="微软雅黑" panose="020B0503020204020204" pitchFamily="34" charset="-122"/>
            </a:endParaRPr>
          </a:p>
        </p:txBody>
      </p:sp>
      <p:pic>
        <p:nvPicPr>
          <p:cNvPr id="4" name="图片 3"/>
          <p:cNvPicPr/>
          <p:nvPr/>
        </p:nvPicPr>
        <p:blipFill>
          <a:blip r:embed="rId4"/>
          <a:srcRect t="170" b="170"/>
          <a:stretch>
            <a:fillRect/>
          </a:stretch>
        </p:blipFill>
        <p:spPr>
          <a:xfrm>
            <a:off x="2758440" y="1527175"/>
            <a:ext cx="9145905" cy="5050790"/>
          </a:xfrm>
          <a:prstGeom prst="rect">
            <a:avLst/>
          </a:prstGeom>
        </p:spPr>
      </p:pic>
      <p:pic>
        <p:nvPicPr>
          <p:cNvPr id="5" name="图片 4" descr="10757621480"/>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89560" y="1588135"/>
            <a:ext cx="805180" cy="805180"/>
          </a:xfrm>
          <a:prstGeom prst="rect">
            <a:avLst/>
          </a:prstGeom>
        </p:spPr>
      </p:pic>
      <p:sp>
        <p:nvSpPr>
          <p:cNvPr id="6" name="页脚占位符 5"/>
          <p:cNvSpPr>
            <a:spLocks noGrp="1"/>
          </p:cNvSpPr>
          <p:nvPr>
            <p:ph type="ftr" sz="quarter" idx="11"/>
          </p:nvPr>
        </p:nvSpPr>
        <p:spPr/>
        <p:txBody>
          <a:bodyPr/>
          <a:p>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581" name=""/>
        <p:cNvGrpSpPr/>
        <p:nvPr/>
      </p:nvGrpSpPr>
      <p:grpSpPr>
        <a:xfrm>
          <a:off x="0" y="0"/>
          <a:ext cx="0" cy="0"/>
          <a:chOff x="0" y="0"/>
          <a:chExt cx="0" cy="0"/>
        </a:xfrm>
      </p:grpSpPr>
      <p:sp>
        <p:nvSpPr>
          <p:cNvPr id="582" name="文本框 60"/>
          <p:cNvSpPr txBox="1"/>
          <p:nvPr/>
        </p:nvSpPr>
        <p:spPr>
          <a:xfrm>
            <a:off x="10320239" y="216952"/>
            <a:ext cx="3123637" cy="369332"/>
          </a:xfrm>
          <a:prstGeom prst="rect">
            <a:avLst/>
          </a:prstGeom>
          <a:noFill/>
        </p:spPr>
        <p:txBody>
          <a:bodyPr wrap="square" rtlCol="0">
            <a:spAutoFit/>
          </a:bodyPr>
          <a:lstStyle/>
          <a:p>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未来展望</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585" name="组合 68"/>
          <p:cNvGrpSpPr/>
          <p:nvPr/>
        </p:nvGrpSpPr>
        <p:grpSpPr>
          <a:xfrm>
            <a:off x="0" y="15886"/>
            <a:ext cx="12219295" cy="1001194"/>
            <a:chOff x="-128871" y="-59933"/>
            <a:chExt cx="12219295" cy="1001194"/>
          </a:xfrm>
        </p:grpSpPr>
        <p:grpSp>
          <p:nvGrpSpPr>
            <p:cNvPr id="586" name="组合 67"/>
            <p:cNvGrpSpPr/>
            <p:nvPr/>
          </p:nvGrpSpPr>
          <p:grpSpPr>
            <a:xfrm>
              <a:off x="-128871" y="-59933"/>
              <a:ext cx="12219295" cy="1001194"/>
              <a:chOff x="-128871" y="-59933"/>
              <a:chExt cx="12219295" cy="1001194"/>
            </a:xfrm>
          </p:grpSpPr>
          <p:pic>
            <p:nvPicPr>
              <p:cNvPr id="587" name="图片 53"/>
              <p:cNvPicPr>
                <a:picLocks noChangeAspect="1"/>
              </p:cNvPicPr>
              <p:nvPr/>
            </p:nvPicPr>
            <p:blipFill>
              <a:blip r:embed="rId1" cstate="print"/>
              <a:stretch>
                <a:fillRect/>
              </a:stretch>
            </p:blipFill>
            <p:spPr>
              <a:xfrm>
                <a:off x="-128871" y="-59933"/>
                <a:ext cx="12219295" cy="1001194"/>
              </a:xfrm>
              <a:prstGeom prst="rect">
                <a:avLst/>
              </a:prstGeom>
              <a:effectLst>
                <a:outerShdw blurRad="50800" dist="38100" dir="8100000" algn="tr" rotWithShape="0">
                  <a:prstClr val="black">
                    <a:alpha val="40000"/>
                  </a:prstClr>
                </a:outerShdw>
              </a:effectLst>
            </p:spPr>
          </p:pic>
          <p:sp>
            <p:nvSpPr>
              <p:cNvPr id="588" name="矩形 55"/>
              <p:cNvSpPr/>
              <p:nvPr/>
            </p:nvSpPr>
            <p:spPr>
              <a:xfrm>
                <a:off x="6946934" y="-59933"/>
                <a:ext cx="2536825" cy="773430"/>
              </a:xfrm>
              <a:prstGeom prst="rect">
                <a:avLst/>
              </a:prstGeom>
              <a:solidFill>
                <a:srgbClr val="005825"/>
              </a:solidFill>
              <a:ln>
                <a:solidFill>
                  <a:srgbClr val="0058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89" name="文本框 57"/>
              <p:cNvSpPr txBox="1"/>
              <p:nvPr/>
            </p:nvSpPr>
            <p:spPr>
              <a:xfrm>
                <a:off x="2629484" y="48215"/>
                <a:ext cx="3123637"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选题背景</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0" name="文本框 58"/>
              <p:cNvSpPr txBox="1"/>
              <p:nvPr/>
            </p:nvSpPr>
            <p:spPr>
              <a:xfrm>
                <a:off x="4852069" y="48055"/>
                <a:ext cx="1771650"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项目方案</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1" name="文本框 59"/>
              <p:cNvSpPr txBox="1"/>
              <p:nvPr/>
            </p:nvSpPr>
            <p:spPr>
              <a:xfrm>
                <a:off x="7339364" y="50595"/>
                <a:ext cx="1741805" cy="52197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项目进展</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592" name="直接连接符 61"/>
              <p:cNvCxnSpPr/>
              <p:nvPr/>
            </p:nvCxnSpPr>
            <p:spPr>
              <a:xfrm>
                <a:off x="4529735" y="113988"/>
                <a:ext cx="0" cy="4024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3" name="直接连接符 62"/>
              <p:cNvCxnSpPr/>
              <p:nvPr/>
            </p:nvCxnSpPr>
            <p:spPr>
              <a:xfrm flipH="1">
                <a:off x="6955732" y="194315"/>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94" name="文本框 65"/>
            <p:cNvSpPr txBox="1"/>
            <p:nvPr/>
          </p:nvSpPr>
          <p:spPr>
            <a:xfrm>
              <a:off x="9954929" y="50595"/>
              <a:ext cx="196659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总结展望</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cxnSp>
        <p:nvCxnSpPr>
          <p:cNvPr id="595" name="直接连接符 62"/>
          <p:cNvCxnSpPr/>
          <p:nvPr/>
        </p:nvCxnSpPr>
        <p:spPr>
          <a:xfrm flipH="1">
            <a:off x="9592354" y="270134"/>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596" name="组合 13"/>
          <p:cNvGrpSpPr/>
          <p:nvPr/>
        </p:nvGrpSpPr>
        <p:grpSpPr>
          <a:xfrm>
            <a:off x="204998" y="81727"/>
            <a:ext cx="1999471" cy="590901"/>
            <a:chOff x="4077923" y="171807"/>
            <a:chExt cx="4420435" cy="1371709"/>
          </a:xfrm>
        </p:grpSpPr>
        <p:grpSp>
          <p:nvGrpSpPr>
            <p:cNvPr id="597" name="组合 14"/>
            <p:cNvGrpSpPr/>
            <p:nvPr/>
          </p:nvGrpSpPr>
          <p:grpSpPr>
            <a:xfrm>
              <a:off x="4077923" y="171807"/>
              <a:ext cx="4260493" cy="1371709"/>
              <a:chOff x="6331308" y="1189619"/>
              <a:chExt cx="5481392" cy="1764794"/>
            </a:xfrm>
          </p:grpSpPr>
          <p:pic>
            <p:nvPicPr>
              <p:cNvPr id="598" name="图片 33"/>
              <p:cNvPicPr>
                <a:picLocks noChangeAspect="1"/>
              </p:cNvPicPr>
              <p:nvPr/>
            </p:nvPicPr>
            <p:blipFill>
              <a:blip r:embed="rId2"/>
              <a:srcRect/>
              <a:stretch>
                <a:fillRect/>
              </a:stretch>
            </p:blipFill>
            <p:spPr>
              <a:xfrm>
                <a:off x="6331308" y="1189619"/>
                <a:ext cx="1791803" cy="1764794"/>
              </a:xfrm>
              <a:prstGeom prst="rect">
                <a:avLst/>
              </a:prstGeom>
            </p:spPr>
          </p:pic>
          <p:pic>
            <p:nvPicPr>
              <p:cNvPr id="599" name="图片 35"/>
              <p:cNvPicPr>
                <a:picLocks noChangeAspect="1"/>
              </p:cNvPicPr>
              <p:nvPr/>
            </p:nvPicPr>
            <p:blipFill>
              <a:blip r:embed="rId3"/>
              <a:srcRect/>
              <a:stretch>
                <a:fillRect/>
              </a:stretch>
            </p:blipFill>
            <p:spPr>
              <a:xfrm>
                <a:off x="8302517" y="1422328"/>
                <a:ext cx="3510183" cy="965303"/>
              </a:xfrm>
              <a:prstGeom prst="rect">
                <a:avLst/>
              </a:prstGeom>
            </p:spPr>
          </p:pic>
        </p:grpSp>
        <p:sp>
          <p:nvSpPr>
            <p:cNvPr id="600" name="矩形 15"/>
            <p:cNvSpPr/>
            <p:nvPr/>
          </p:nvSpPr>
          <p:spPr>
            <a:xfrm>
              <a:off x="5470629" y="1076339"/>
              <a:ext cx="3027729" cy="410186"/>
            </a:xfrm>
            <a:prstGeom prst="rect">
              <a:avLst/>
            </a:prstGeom>
          </p:spPr>
          <p:txBody>
            <a:bodyPr wrap="square">
              <a:spAutoFit/>
            </a:bodyPr>
            <a:lstStyle/>
            <a:p>
              <a:pPr algn="dist">
                <a:defRPr/>
              </a:pPr>
              <a:r>
                <a:rPr lang="en-US" altLang="zh-CN" sz="900" b="1" dirty="0">
                  <a:solidFill>
                    <a:prstClr val="black"/>
                  </a:solidFill>
                  <a:latin typeface="Calibri" panose="020F0502020204030204"/>
                  <a:ea typeface="微软雅黑" panose="020B0503020204020204" pitchFamily="34" charset="-122"/>
                </a:rPr>
                <a:t>WUHAN UNIVERSITY</a:t>
              </a:r>
              <a:endParaRPr lang="en-US" altLang="zh-CN" sz="900" b="1" dirty="0">
                <a:solidFill>
                  <a:prstClr val="black"/>
                </a:solidFill>
                <a:latin typeface="Calibri" panose="020F0502020204030204"/>
                <a:ea typeface="微软雅黑" panose="020B0503020204020204" pitchFamily="34" charset="-122"/>
              </a:endParaRPr>
            </a:p>
          </p:txBody>
        </p:sp>
      </p:grpSp>
      <p:sp>
        <p:nvSpPr>
          <p:cNvPr id="2" name="ïṣ1ïḑê"/>
          <p:cNvSpPr>
            <a:spLocks noGrp="1"/>
          </p:cNvSpPr>
          <p:nvPr/>
        </p:nvSpPr>
        <p:spPr>
          <a:xfrm>
            <a:off x="205105" y="1087120"/>
            <a:ext cx="10850880" cy="71247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800" b="1" kern="1200">
                <a:solidFill>
                  <a:srgbClr val="000000"/>
                </a:solidFill>
                <a:latin typeface="Arial" panose="020B0604020202020204" pitchFamily="34" charset="0"/>
                <a:ea typeface="微软雅黑" panose="020B0503020204020204" pitchFamily="34" charset="-122"/>
                <a:cs typeface="+mn-ea"/>
              </a:defRPr>
            </a:lvl1pPr>
          </a:lstStyle>
          <a:p>
            <a:r>
              <a:rPr lang="en-US" altLang="zh-CN" dirty="0">
                <a:solidFill>
                  <a:srgbClr val="005825"/>
                </a:solidFill>
              </a:rPr>
              <a:t>3.5 </a:t>
            </a:r>
            <a:r>
              <a:rPr lang="zh-CN" altLang="en-US" dirty="0">
                <a:solidFill>
                  <a:srgbClr val="005825"/>
                </a:solidFill>
              </a:rPr>
              <a:t>用户端</a:t>
            </a:r>
            <a:r>
              <a:rPr lang="en-US" altLang="zh-CN" dirty="0">
                <a:solidFill>
                  <a:srgbClr val="005825"/>
                </a:solidFill>
              </a:rPr>
              <a:t>UI</a:t>
            </a:r>
            <a:r>
              <a:rPr lang="zh-CN" altLang="en-US" dirty="0">
                <a:solidFill>
                  <a:srgbClr val="005825"/>
                </a:solidFill>
              </a:rPr>
              <a:t>界面设计</a:t>
            </a:r>
            <a:endParaRPr lang="zh-CN" altLang="en-US" dirty="0">
              <a:solidFill>
                <a:srgbClr val="00481C"/>
              </a:solidFill>
              <a:latin typeface="微软雅黑" panose="020B0503020204020204" pitchFamily="34" charset="-122"/>
              <a:cs typeface="微软雅黑" panose="020B0503020204020204" pitchFamily="34" charset="-122"/>
            </a:endParaRPr>
          </a:p>
          <a:p>
            <a:endParaRPr lang="zh-CN" altLang="en-US" dirty="0">
              <a:solidFill>
                <a:srgbClr val="00481C"/>
              </a:solidFill>
              <a:latin typeface="微软雅黑" panose="020B0503020204020204" pitchFamily="34" charset="-122"/>
              <a:cs typeface="微软雅黑" panose="020B0503020204020204" pitchFamily="34" charset="-122"/>
            </a:endParaRPr>
          </a:p>
        </p:txBody>
      </p:sp>
      <p:pic>
        <p:nvPicPr>
          <p:cNvPr id="3" name="图片 2"/>
          <p:cNvPicPr/>
          <p:nvPr/>
        </p:nvPicPr>
        <p:blipFill>
          <a:blip r:embed="rId4"/>
          <a:stretch>
            <a:fillRect/>
          </a:stretch>
        </p:blipFill>
        <p:spPr>
          <a:xfrm>
            <a:off x="1550670" y="1492885"/>
            <a:ext cx="8813165" cy="5229860"/>
          </a:xfrm>
          <a:prstGeom prst="rect">
            <a:avLst/>
          </a:prstGeom>
        </p:spPr>
      </p:pic>
      <p:sp>
        <p:nvSpPr>
          <p:cNvPr id="5" name="文本框 4"/>
          <p:cNvSpPr txBox="1"/>
          <p:nvPr/>
        </p:nvSpPr>
        <p:spPr>
          <a:xfrm>
            <a:off x="275590" y="1349375"/>
            <a:ext cx="875665" cy="275590"/>
          </a:xfrm>
          <a:prstGeom prst="rect">
            <a:avLst/>
          </a:prstGeom>
          <a:noFill/>
        </p:spPr>
        <p:txBody>
          <a:bodyPr wrap="square" rtlCol="0">
            <a:spAutoFit/>
          </a:bodyPr>
          <a:p>
            <a:r>
              <a:rPr lang="zh-CN" altLang="en-US" sz="1200" b="1">
                <a:latin typeface="微软雅黑" panose="020B0503020204020204" pitchFamily="34" charset="-122"/>
                <a:ea typeface="微软雅黑" panose="020B0503020204020204" pitchFamily="34" charset="-122"/>
              </a:rPr>
              <a:t>个人中心</a:t>
            </a:r>
            <a:endParaRPr lang="zh-CN" altLang="en-US" sz="1200" b="1">
              <a:latin typeface="微软雅黑" panose="020B0503020204020204" pitchFamily="34" charset="-122"/>
              <a:ea typeface="微软雅黑" panose="020B0503020204020204" pitchFamily="34" charset="-122"/>
            </a:endParaRPr>
          </a:p>
        </p:txBody>
      </p:sp>
      <p:cxnSp>
        <p:nvCxnSpPr>
          <p:cNvPr id="8" name="直接箭头连接符 7"/>
          <p:cNvCxnSpPr/>
          <p:nvPr/>
        </p:nvCxnSpPr>
        <p:spPr>
          <a:xfrm flipH="1" flipV="1">
            <a:off x="1016000" y="1498600"/>
            <a:ext cx="635000" cy="482600"/>
          </a:xfrm>
          <a:prstGeom prst="straightConnector1">
            <a:avLst/>
          </a:prstGeom>
          <a:ln>
            <a:solidFill>
              <a:srgbClr val="00481C"/>
            </a:solidFill>
            <a:tailEnd type="arrow"/>
          </a:ln>
        </p:spPr>
        <p:style>
          <a:lnRef idx="2">
            <a:schemeClr val="accent1"/>
          </a:lnRef>
          <a:fillRef idx="0">
            <a:srgbClr val="FFFFFF"/>
          </a:fillRef>
          <a:effectRef idx="0">
            <a:srgbClr val="FFFFFF"/>
          </a:effectRef>
          <a:fontRef idx="minor">
            <a:schemeClr val="tx1"/>
          </a:fontRef>
        </p:style>
      </p:cxnSp>
      <p:cxnSp>
        <p:nvCxnSpPr>
          <p:cNvPr id="9" name="直接箭头连接符 8"/>
          <p:cNvCxnSpPr/>
          <p:nvPr/>
        </p:nvCxnSpPr>
        <p:spPr>
          <a:xfrm flipH="1">
            <a:off x="996950" y="2032000"/>
            <a:ext cx="831850" cy="101600"/>
          </a:xfrm>
          <a:prstGeom prst="straightConnector1">
            <a:avLst/>
          </a:prstGeom>
          <a:ln>
            <a:solidFill>
              <a:srgbClr val="00481C"/>
            </a:solidFill>
            <a:tailEnd type="arrow"/>
          </a:ln>
        </p:spPr>
        <p:style>
          <a:lnRef idx="2">
            <a:schemeClr val="accent1"/>
          </a:lnRef>
          <a:fillRef idx="0">
            <a:srgbClr val="FFFFFF"/>
          </a:fillRef>
          <a:effectRef idx="0">
            <a:srgbClr val="FFFFFF"/>
          </a:effectRef>
          <a:fontRef idx="minor">
            <a:schemeClr val="tx1"/>
          </a:fontRef>
        </p:style>
      </p:cxnSp>
      <p:sp>
        <p:nvSpPr>
          <p:cNvPr id="11" name="文本框 10"/>
          <p:cNvSpPr txBox="1"/>
          <p:nvPr/>
        </p:nvSpPr>
        <p:spPr>
          <a:xfrm>
            <a:off x="503555" y="1957070"/>
            <a:ext cx="647700" cy="275590"/>
          </a:xfrm>
          <a:prstGeom prst="rect">
            <a:avLst/>
          </a:prstGeom>
          <a:noFill/>
        </p:spPr>
        <p:txBody>
          <a:bodyPr wrap="square" rtlCol="0">
            <a:spAutoFit/>
          </a:bodyPr>
          <a:p>
            <a:pPr lvl="0" algn="l">
              <a:buClrTx/>
              <a:buSzTx/>
              <a:buFontTx/>
            </a:pPr>
            <a:r>
              <a:rPr lang="zh-CN" altLang="en-US" sz="1200" b="1">
                <a:latin typeface="微软雅黑" panose="020B0503020204020204" pitchFamily="34" charset="-122"/>
                <a:ea typeface="微软雅黑" panose="020B0503020204020204" pitchFamily="34" charset="-122"/>
                <a:sym typeface="+mn-ea"/>
              </a:rPr>
              <a:t>收藏</a:t>
            </a:r>
            <a:endParaRPr lang="zh-CN" altLang="en-US" sz="1200" b="1">
              <a:latin typeface="微软雅黑" panose="020B0503020204020204" pitchFamily="34" charset="-122"/>
              <a:ea typeface="微软雅黑" panose="020B0503020204020204" pitchFamily="34" charset="-122"/>
              <a:sym typeface="+mn-ea"/>
            </a:endParaRPr>
          </a:p>
        </p:txBody>
      </p:sp>
      <p:cxnSp>
        <p:nvCxnSpPr>
          <p:cNvPr id="12" name="直接箭头连接符 11"/>
          <p:cNvCxnSpPr/>
          <p:nvPr/>
        </p:nvCxnSpPr>
        <p:spPr>
          <a:xfrm flipH="1">
            <a:off x="1056640" y="2035175"/>
            <a:ext cx="952500" cy="603250"/>
          </a:xfrm>
          <a:prstGeom prst="straightConnector1">
            <a:avLst/>
          </a:prstGeom>
          <a:ln>
            <a:solidFill>
              <a:srgbClr val="00481C"/>
            </a:solidFill>
            <a:tailEnd type="arrow"/>
          </a:ln>
        </p:spPr>
        <p:style>
          <a:lnRef idx="2">
            <a:schemeClr val="accent1"/>
          </a:lnRef>
          <a:fillRef idx="0">
            <a:srgbClr val="FFFFFF"/>
          </a:fillRef>
          <a:effectRef idx="0">
            <a:srgbClr val="FFFFFF"/>
          </a:effectRef>
          <a:fontRef idx="minor">
            <a:schemeClr val="tx1"/>
          </a:fontRef>
        </p:style>
      </p:cxnSp>
      <p:sp>
        <p:nvSpPr>
          <p:cNvPr id="13" name="文本框 12"/>
          <p:cNvSpPr txBox="1"/>
          <p:nvPr/>
        </p:nvSpPr>
        <p:spPr>
          <a:xfrm>
            <a:off x="320040" y="2441575"/>
            <a:ext cx="4064000" cy="275590"/>
          </a:xfrm>
          <a:prstGeom prst="rect">
            <a:avLst/>
          </a:prstGeom>
          <a:noFill/>
        </p:spPr>
        <p:txBody>
          <a:bodyPr wrap="square" rtlCol="0">
            <a:spAutoFit/>
          </a:bodyPr>
          <a:p>
            <a:pPr lvl="0" algn="l">
              <a:buClrTx/>
              <a:buSzTx/>
              <a:buFontTx/>
            </a:pPr>
            <a:r>
              <a:rPr lang="zh-CN" altLang="en-US" sz="1200" b="1">
                <a:latin typeface="微软雅黑" panose="020B0503020204020204" pitchFamily="34" charset="-122"/>
                <a:ea typeface="微软雅黑" panose="020B0503020204020204" pitchFamily="34" charset="-122"/>
                <a:sym typeface="+mn-ea"/>
              </a:rPr>
              <a:t>历史记录</a:t>
            </a:r>
            <a:endParaRPr lang="zh-CN" altLang="en-US" sz="1200" b="1">
              <a:latin typeface="微软雅黑" panose="020B0503020204020204" pitchFamily="34" charset="-122"/>
              <a:ea typeface="微软雅黑" panose="020B0503020204020204" pitchFamily="34" charset="-122"/>
              <a:sym typeface="+mn-ea"/>
            </a:endParaRPr>
          </a:p>
        </p:txBody>
      </p:sp>
      <p:cxnSp>
        <p:nvCxnSpPr>
          <p:cNvPr id="14" name="直接箭头连接符 13"/>
          <p:cNvCxnSpPr/>
          <p:nvPr/>
        </p:nvCxnSpPr>
        <p:spPr>
          <a:xfrm flipH="1">
            <a:off x="1170940" y="2032000"/>
            <a:ext cx="1033780" cy="911225"/>
          </a:xfrm>
          <a:prstGeom prst="straightConnector1">
            <a:avLst/>
          </a:prstGeom>
          <a:ln>
            <a:solidFill>
              <a:srgbClr val="00481C"/>
            </a:solidFill>
            <a:tailEnd type="arrow"/>
          </a:ln>
        </p:spPr>
        <p:style>
          <a:lnRef idx="2">
            <a:schemeClr val="accent1"/>
          </a:lnRef>
          <a:fillRef idx="0">
            <a:srgbClr val="FFFFFF"/>
          </a:fillRef>
          <a:effectRef idx="0">
            <a:srgbClr val="FFFFFF"/>
          </a:effectRef>
          <a:fontRef idx="minor">
            <a:schemeClr val="tx1"/>
          </a:fontRef>
        </p:style>
      </p:cxnSp>
      <p:sp>
        <p:nvSpPr>
          <p:cNvPr id="15" name="文本框 14"/>
          <p:cNvSpPr txBox="1"/>
          <p:nvPr/>
        </p:nvSpPr>
        <p:spPr>
          <a:xfrm>
            <a:off x="594360" y="2874010"/>
            <a:ext cx="4064000" cy="275590"/>
          </a:xfrm>
          <a:prstGeom prst="rect">
            <a:avLst/>
          </a:prstGeom>
          <a:noFill/>
        </p:spPr>
        <p:txBody>
          <a:bodyPr wrap="square" rtlCol="0">
            <a:spAutoFit/>
          </a:bodyPr>
          <a:p>
            <a:pPr lvl="0" algn="l">
              <a:buClrTx/>
              <a:buSzTx/>
              <a:buFontTx/>
            </a:pPr>
            <a:r>
              <a:rPr lang="zh-CN" altLang="en-US" sz="1200" b="1">
                <a:latin typeface="微软雅黑" panose="020B0503020204020204" pitchFamily="34" charset="-122"/>
                <a:ea typeface="微软雅黑" panose="020B0503020204020204" pitchFamily="34" charset="-122"/>
                <a:sym typeface="+mn-ea"/>
              </a:rPr>
              <a:t>下载</a:t>
            </a:r>
            <a:endParaRPr lang="zh-CN" altLang="en-US" sz="1200" b="1">
              <a:latin typeface="微软雅黑" panose="020B0503020204020204" pitchFamily="34" charset="-122"/>
              <a:ea typeface="微软雅黑" panose="020B0503020204020204" pitchFamily="34" charset="-122"/>
              <a:sym typeface="+mn-ea"/>
            </a:endParaRPr>
          </a:p>
        </p:txBody>
      </p:sp>
      <p:cxnSp>
        <p:nvCxnSpPr>
          <p:cNvPr id="16" name="直接箭头连接符 15"/>
          <p:cNvCxnSpPr/>
          <p:nvPr/>
        </p:nvCxnSpPr>
        <p:spPr>
          <a:xfrm flipH="1" flipV="1">
            <a:off x="5784850" y="1771650"/>
            <a:ext cx="97155" cy="152400"/>
          </a:xfrm>
          <a:prstGeom prst="straightConnector1">
            <a:avLst/>
          </a:prstGeom>
          <a:ln>
            <a:solidFill>
              <a:srgbClr val="00481C"/>
            </a:solidFill>
            <a:tailEnd type="arrow"/>
          </a:ln>
        </p:spPr>
        <p:style>
          <a:lnRef idx="2">
            <a:schemeClr val="accent1"/>
          </a:lnRef>
          <a:fillRef idx="0">
            <a:srgbClr val="FFFFFF"/>
          </a:fillRef>
          <a:effectRef idx="0">
            <a:srgbClr val="FFFFFF"/>
          </a:effectRef>
          <a:fontRef idx="minor">
            <a:schemeClr val="tx1"/>
          </a:fontRef>
        </p:style>
      </p:cxnSp>
      <p:sp>
        <p:nvSpPr>
          <p:cNvPr id="17" name="文本框 16"/>
          <p:cNvSpPr txBox="1"/>
          <p:nvPr/>
        </p:nvSpPr>
        <p:spPr>
          <a:xfrm>
            <a:off x="5260340" y="1492885"/>
            <a:ext cx="4064000" cy="275590"/>
          </a:xfrm>
          <a:prstGeom prst="rect">
            <a:avLst/>
          </a:prstGeom>
          <a:noFill/>
        </p:spPr>
        <p:txBody>
          <a:bodyPr wrap="square" rtlCol="0">
            <a:spAutoFit/>
          </a:bodyPr>
          <a:p>
            <a:pPr lvl="0" algn="l">
              <a:buClrTx/>
              <a:buSzTx/>
              <a:buFontTx/>
            </a:pPr>
            <a:r>
              <a:rPr lang="zh-CN" altLang="en-US" sz="1200" b="1">
                <a:latin typeface="微软雅黑" panose="020B0503020204020204" pitchFamily="34" charset="-122"/>
                <a:ea typeface="微软雅黑" panose="020B0503020204020204" pitchFamily="34" charset="-122"/>
                <a:sym typeface="+mn-ea"/>
              </a:rPr>
              <a:t>新对话</a:t>
            </a:r>
            <a:endParaRPr lang="zh-CN" altLang="en-US" sz="1200" b="1">
              <a:latin typeface="微软雅黑" panose="020B0503020204020204" pitchFamily="34" charset="-122"/>
              <a:ea typeface="微软雅黑" panose="020B0503020204020204" pitchFamily="34" charset="-122"/>
              <a:sym typeface="+mn-ea"/>
            </a:endParaRPr>
          </a:p>
        </p:txBody>
      </p:sp>
      <p:cxnSp>
        <p:nvCxnSpPr>
          <p:cNvPr id="18" name="直接箭头连接符 17"/>
          <p:cNvCxnSpPr/>
          <p:nvPr/>
        </p:nvCxnSpPr>
        <p:spPr>
          <a:xfrm flipV="1">
            <a:off x="6045200" y="1749425"/>
            <a:ext cx="64135" cy="174625"/>
          </a:xfrm>
          <a:prstGeom prst="straightConnector1">
            <a:avLst/>
          </a:prstGeom>
          <a:ln>
            <a:solidFill>
              <a:srgbClr val="00481C"/>
            </a:solidFill>
            <a:tailEnd type="arrow"/>
          </a:ln>
        </p:spPr>
        <p:style>
          <a:lnRef idx="2">
            <a:schemeClr val="accent1"/>
          </a:lnRef>
          <a:fillRef idx="0">
            <a:srgbClr val="FFFFFF"/>
          </a:fillRef>
          <a:effectRef idx="0">
            <a:srgbClr val="FFFFFF"/>
          </a:effectRef>
          <a:fontRef idx="minor">
            <a:schemeClr val="tx1"/>
          </a:fontRef>
        </p:style>
      </p:cxnSp>
      <p:sp>
        <p:nvSpPr>
          <p:cNvPr id="19" name="文本框 18"/>
          <p:cNvSpPr txBox="1"/>
          <p:nvPr/>
        </p:nvSpPr>
        <p:spPr>
          <a:xfrm>
            <a:off x="6019800" y="1492885"/>
            <a:ext cx="4064000" cy="275590"/>
          </a:xfrm>
          <a:prstGeom prst="rect">
            <a:avLst/>
          </a:prstGeom>
          <a:noFill/>
        </p:spPr>
        <p:txBody>
          <a:bodyPr wrap="square" rtlCol="0">
            <a:spAutoFit/>
          </a:bodyPr>
          <a:p>
            <a:pPr lvl="0" algn="l">
              <a:buClrTx/>
              <a:buSzTx/>
              <a:buFontTx/>
            </a:pPr>
            <a:r>
              <a:rPr lang="zh-CN" altLang="en-US" sz="1200" b="1">
                <a:latin typeface="微软雅黑" panose="020B0503020204020204" pitchFamily="34" charset="-122"/>
                <a:ea typeface="微软雅黑" panose="020B0503020204020204" pitchFamily="34" charset="-122"/>
                <a:sym typeface="+mn-ea"/>
              </a:rPr>
              <a:t>侧边栏</a:t>
            </a:r>
            <a:endParaRPr lang="zh-CN" altLang="en-US" sz="1200" b="1">
              <a:latin typeface="微软雅黑" panose="020B0503020204020204" pitchFamily="34" charset="-122"/>
              <a:ea typeface="微软雅黑" panose="020B0503020204020204" pitchFamily="34" charset="-122"/>
              <a:sym typeface="+mn-ea"/>
            </a:endParaRPr>
          </a:p>
        </p:txBody>
      </p:sp>
      <p:sp>
        <p:nvSpPr>
          <p:cNvPr id="20" name="文本框 19"/>
          <p:cNvSpPr txBox="1"/>
          <p:nvPr/>
        </p:nvSpPr>
        <p:spPr>
          <a:xfrm>
            <a:off x="10629265" y="1908810"/>
            <a:ext cx="875665" cy="275590"/>
          </a:xfrm>
          <a:prstGeom prst="rect">
            <a:avLst/>
          </a:prstGeom>
          <a:noFill/>
        </p:spPr>
        <p:txBody>
          <a:bodyPr wrap="square" rtlCol="0">
            <a:spAutoFit/>
          </a:bodyPr>
          <a:p>
            <a:r>
              <a:rPr lang="zh-CN" altLang="en-US" sz="1200" b="1">
                <a:latin typeface="微软雅黑" panose="020B0503020204020204" pitchFamily="34" charset="-122"/>
                <a:ea typeface="微软雅黑" panose="020B0503020204020204" pitchFamily="34" charset="-122"/>
              </a:rPr>
              <a:t>标点</a:t>
            </a:r>
            <a:endParaRPr lang="zh-CN" altLang="en-US" sz="1200" b="1">
              <a:latin typeface="微软雅黑" panose="020B0503020204020204" pitchFamily="34" charset="-122"/>
              <a:ea typeface="微软雅黑" panose="020B0503020204020204" pitchFamily="34" charset="-122"/>
            </a:endParaRPr>
          </a:p>
        </p:txBody>
      </p:sp>
      <p:sp>
        <p:nvSpPr>
          <p:cNvPr id="21" name="文本框 20"/>
          <p:cNvSpPr txBox="1"/>
          <p:nvPr/>
        </p:nvSpPr>
        <p:spPr>
          <a:xfrm>
            <a:off x="10629265" y="2294255"/>
            <a:ext cx="875665" cy="275590"/>
          </a:xfrm>
          <a:prstGeom prst="rect">
            <a:avLst/>
          </a:prstGeom>
          <a:noFill/>
        </p:spPr>
        <p:txBody>
          <a:bodyPr wrap="square" rtlCol="0">
            <a:spAutoFit/>
          </a:bodyPr>
          <a:p>
            <a:r>
              <a:rPr lang="zh-CN" altLang="en-US" sz="1200" b="1">
                <a:latin typeface="微软雅黑" panose="020B0503020204020204" pitchFamily="34" charset="-122"/>
                <a:ea typeface="微软雅黑" panose="020B0503020204020204" pitchFamily="34" charset="-122"/>
              </a:rPr>
              <a:t>标</a:t>
            </a:r>
            <a:r>
              <a:rPr lang="zh-CN" altLang="en-US" sz="1200" b="1">
                <a:latin typeface="微软雅黑" panose="020B0503020204020204" pitchFamily="34" charset="-122"/>
                <a:ea typeface="微软雅黑" panose="020B0503020204020204" pitchFamily="34" charset="-122"/>
              </a:rPr>
              <a:t>线</a:t>
            </a:r>
            <a:endParaRPr lang="zh-CN" altLang="en-US" sz="1200" b="1">
              <a:latin typeface="微软雅黑" panose="020B0503020204020204" pitchFamily="34" charset="-122"/>
              <a:ea typeface="微软雅黑" panose="020B0503020204020204" pitchFamily="34" charset="-122"/>
            </a:endParaRPr>
          </a:p>
        </p:txBody>
      </p:sp>
      <p:sp>
        <p:nvSpPr>
          <p:cNvPr id="22" name="文本框 21"/>
          <p:cNvSpPr txBox="1"/>
          <p:nvPr/>
        </p:nvSpPr>
        <p:spPr>
          <a:xfrm>
            <a:off x="10629265" y="2540000"/>
            <a:ext cx="875665" cy="275590"/>
          </a:xfrm>
          <a:prstGeom prst="rect">
            <a:avLst/>
          </a:prstGeom>
          <a:noFill/>
        </p:spPr>
        <p:txBody>
          <a:bodyPr wrap="square" rtlCol="0">
            <a:spAutoFit/>
          </a:bodyPr>
          <a:p>
            <a:r>
              <a:rPr lang="zh-CN" altLang="en-US" sz="1200" b="1">
                <a:latin typeface="微软雅黑" panose="020B0503020204020204" pitchFamily="34" charset="-122"/>
                <a:ea typeface="微软雅黑" panose="020B0503020204020204" pitchFamily="34" charset="-122"/>
              </a:rPr>
              <a:t>标</a:t>
            </a:r>
            <a:r>
              <a:rPr lang="zh-CN" altLang="en-US" sz="1200" b="1">
                <a:latin typeface="微软雅黑" panose="020B0503020204020204" pitchFamily="34" charset="-122"/>
                <a:ea typeface="微软雅黑" panose="020B0503020204020204" pitchFamily="34" charset="-122"/>
              </a:rPr>
              <a:t>面</a:t>
            </a:r>
            <a:endParaRPr lang="zh-CN" altLang="en-US" sz="1200" b="1">
              <a:latin typeface="微软雅黑" panose="020B0503020204020204" pitchFamily="34" charset="-122"/>
              <a:ea typeface="微软雅黑" panose="020B0503020204020204" pitchFamily="34" charset="-122"/>
            </a:endParaRPr>
          </a:p>
        </p:txBody>
      </p:sp>
      <p:sp>
        <p:nvSpPr>
          <p:cNvPr id="23" name="文本框 22"/>
          <p:cNvSpPr txBox="1"/>
          <p:nvPr/>
        </p:nvSpPr>
        <p:spPr>
          <a:xfrm>
            <a:off x="10629265" y="2810510"/>
            <a:ext cx="875665" cy="275590"/>
          </a:xfrm>
          <a:prstGeom prst="rect">
            <a:avLst/>
          </a:prstGeom>
          <a:noFill/>
        </p:spPr>
        <p:txBody>
          <a:bodyPr wrap="square" rtlCol="0">
            <a:spAutoFit/>
          </a:bodyPr>
          <a:p>
            <a:r>
              <a:rPr lang="zh-CN" altLang="en-US" sz="1200" b="1">
                <a:latin typeface="微软雅黑" panose="020B0503020204020204" pitchFamily="34" charset="-122"/>
                <a:ea typeface="微软雅黑" panose="020B0503020204020204" pitchFamily="34" charset="-122"/>
              </a:rPr>
              <a:t>画</a:t>
            </a:r>
            <a:r>
              <a:rPr lang="zh-CN" altLang="en-US" sz="1200" b="1">
                <a:latin typeface="微软雅黑" panose="020B0503020204020204" pitchFamily="34" charset="-122"/>
                <a:ea typeface="微软雅黑" panose="020B0503020204020204" pitchFamily="34" charset="-122"/>
              </a:rPr>
              <a:t>圆</a:t>
            </a:r>
            <a:endParaRPr lang="zh-CN" altLang="en-US" sz="1200" b="1">
              <a:latin typeface="微软雅黑" panose="020B0503020204020204" pitchFamily="34" charset="-122"/>
              <a:ea typeface="微软雅黑" panose="020B0503020204020204" pitchFamily="34" charset="-122"/>
            </a:endParaRPr>
          </a:p>
        </p:txBody>
      </p:sp>
      <p:sp>
        <p:nvSpPr>
          <p:cNvPr id="24" name="文本框 23"/>
          <p:cNvSpPr txBox="1"/>
          <p:nvPr/>
        </p:nvSpPr>
        <p:spPr>
          <a:xfrm>
            <a:off x="10629265" y="3048000"/>
            <a:ext cx="875665" cy="275590"/>
          </a:xfrm>
          <a:prstGeom prst="rect">
            <a:avLst/>
          </a:prstGeom>
          <a:noFill/>
        </p:spPr>
        <p:txBody>
          <a:bodyPr wrap="square" rtlCol="0">
            <a:spAutoFit/>
          </a:bodyPr>
          <a:p>
            <a:r>
              <a:rPr lang="zh-CN" altLang="en-US" sz="1200" b="1">
                <a:latin typeface="微软雅黑" panose="020B0503020204020204" pitchFamily="34" charset="-122"/>
                <a:ea typeface="微软雅黑" panose="020B0503020204020204" pitchFamily="34" charset="-122"/>
              </a:rPr>
              <a:t>画矩形</a:t>
            </a:r>
            <a:endParaRPr lang="zh-CN" altLang="en-US" sz="1200" b="1">
              <a:latin typeface="微软雅黑" panose="020B0503020204020204" pitchFamily="34" charset="-122"/>
              <a:ea typeface="微软雅黑" panose="020B0503020204020204" pitchFamily="34" charset="-122"/>
            </a:endParaRPr>
          </a:p>
        </p:txBody>
      </p:sp>
      <p:sp>
        <p:nvSpPr>
          <p:cNvPr id="25" name="文本框 24"/>
          <p:cNvSpPr txBox="1"/>
          <p:nvPr/>
        </p:nvSpPr>
        <p:spPr>
          <a:xfrm>
            <a:off x="10629265" y="3291205"/>
            <a:ext cx="875665" cy="275590"/>
          </a:xfrm>
          <a:prstGeom prst="rect">
            <a:avLst/>
          </a:prstGeom>
          <a:noFill/>
        </p:spPr>
        <p:txBody>
          <a:bodyPr wrap="square" rtlCol="0">
            <a:spAutoFit/>
          </a:bodyPr>
          <a:p>
            <a:r>
              <a:rPr lang="zh-CN" altLang="en-US" sz="1200" b="1">
                <a:latin typeface="微软雅黑" panose="020B0503020204020204" pitchFamily="34" charset="-122"/>
                <a:ea typeface="微软雅黑" panose="020B0503020204020204" pitchFamily="34" charset="-122"/>
              </a:rPr>
              <a:t>全屏</a:t>
            </a:r>
            <a:endParaRPr lang="zh-CN" altLang="en-US" sz="1200" b="1">
              <a:latin typeface="微软雅黑" panose="020B0503020204020204" pitchFamily="34" charset="-122"/>
              <a:ea typeface="微软雅黑" panose="020B0503020204020204" pitchFamily="34" charset="-122"/>
            </a:endParaRPr>
          </a:p>
        </p:txBody>
      </p:sp>
      <p:sp>
        <p:nvSpPr>
          <p:cNvPr id="26" name="文本框 25"/>
          <p:cNvSpPr txBox="1"/>
          <p:nvPr/>
        </p:nvSpPr>
        <p:spPr>
          <a:xfrm>
            <a:off x="10629265" y="3898900"/>
            <a:ext cx="875665" cy="579755"/>
          </a:xfrm>
          <a:prstGeom prst="rect">
            <a:avLst/>
          </a:prstGeom>
          <a:noFill/>
        </p:spPr>
        <p:txBody>
          <a:bodyPr wrap="square" rtlCol="0">
            <a:noAutofit/>
          </a:bodyPr>
          <a:p>
            <a:r>
              <a:rPr lang="zh-CN" altLang="en-US" sz="1200" b="1">
                <a:latin typeface="微软雅黑" panose="020B0503020204020204" pitchFamily="34" charset="-122"/>
                <a:ea typeface="微软雅黑" panose="020B0503020204020204" pitchFamily="34" charset="-122"/>
              </a:rPr>
              <a:t>测</a:t>
            </a:r>
            <a:r>
              <a:rPr lang="zh-CN" altLang="en-US" sz="1200" b="1">
                <a:latin typeface="微软雅黑" panose="020B0503020204020204" pitchFamily="34" charset="-122"/>
                <a:ea typeface="微软雅黑" panose="020B0503020204020204" pitchFamily="34" charset="-122"/>
              </a:rPr>
              <a:t>面（</a:t>
            </a:r>
            <a:r>
              <a:rPr lang="zh-CN" altLang="en-US" sz="1200" b="1">
                <a:latin typeface="微软雅黑" panose="020B0503020204020204" pitchFamily="34" charset="-122"/>
                <a:ea typeface="微软雅黑" panose="020B0503020204020204" pitchFamily="34" charset="-122"/>
              </a:rPr>
              <a:t>图标出问题）</a:t>
            </a:r>
            <a:endParaRPr lang="zh-CN" altLang="en-US" sz="1200" b="1">
              <a:latin typeface="微软雅黑" panose="020B0503020204020204" pitchFamily="34" charset="-122"/>
              <a:ea typeface="微软雅黑" panose="020B0503020204020204" pitchFamily="34" charset="-122"/>
            </a:endParaRPr>
          </a:p>
        </p:txBody>
      </p:sp>
      <p:sp>
        <p:nvSpPr>
          <p:cNvPr id="27" name="文本框 26"/>
          <p:cNvSpPr txBox="1"/>
          <p:nvPr/>
        </p:nvSpPr>
        <p:spPr>
          <a:xfrm>
            <a:off x="9798685" y="4159250"/>
            <a:ext cx="875665" cy="275590"/>
          </a:xfrm>
          <a:prstGeom prst="rect">
            <a:avLst/>
          </a:prstGeom>
          <a:noFill/>
        </p:spPr>
        <p:txBody>
          <a:bodyPr wrap="square" rtlCol="0">
            <a:spAutoFit/>
          </a:bodyPr>
          <a:p>
            <a:r>
              <a:rPr lang="zh-CN" altLang="en-US" sz="1200" b="1">
                <a:latin typeface="微软雅黑" panose="020B0503020204020204" pitchFamily="34" charset="-122"/>
                <a:ea typeface="微软雅黑" panose="020B0503020204020204" pitchFamily="34" charset="-122"/>
              </a:rPr>
              <a:t>清空</a:t>
            </a:r>
            <a:endParaRPr lang="zh-CN" altLang="en-US" sz="1200" b="1">
              <a:latin typeface="微软雅黑" panose="020B0503020204020204" pitchFamily="34" charset="-122"/>
              <a:ea typeface="微软雅黑" panose="020B0503020204020204" pitchFamily="34" charset="-122"/>
            </a:endParaRPr>
          </a:p>
        </p:txBody>
      </p:sp>
      <p:cxnSp>
        <p:nvCxnSpPr>
          <p:cNvPr id="28" name="直接箭头连接符 27"/>
          <p:cNvCxnSpPr>
            <a:endCxn id="20" idx="1"/>
          </p:cNvCxnSpPr>
          <p:nvPr/>
        </p:nvCxnSpPr>
        <p:spPr>
          <a:xfrm flipV="1">
            <a:off x="10179050" y="2046605"/>
            <a:ext cx="450215" cy="150495"/>
          </a:xfrm>
          <a:prstGeom prst="straightConnector1">
            <a:avLst/>
          </a:prstGeom>
          <a:ln>
            <a:solidFill>
              <a:srgbClr val="00481C"/>
            </a:solidFill>
            <a:tailEnd type="arrow"/>
          </a:ln>
        </p:spPr>
        <p:style>
          <a:lnRef idx="2">
            <a:schemeClr val="accent1"/>
          </a:lnRef>
          <a:fillRef idx="0">
            <a:srgbClr val="FFFFFF"/>
          </a:fillRef>
          <a:effectRef idx="0">
            <a:srgbClr val="FFFFFF"/>
          </a:effectRef>
          <a:fontRef idx="minor">
            <a:schemeClr val="tx1"/>
          </a:fontRef>
        </p:style>
      </p:cxnSp>
      <p:cxnSp>
        <p:nvCxnSpPr>
          <p:cNvPr id="29" name="直接箭头连接符 28"/>
          <p:cNvCxnSpPr>
            <a:endCxn id="22" idx="1"/>
          </p:cNvCxnSpPr>
          <p:nvPr/>
        </p:nvCxnSpPr>
        <p:spPr>
          <a:xfrm>
            <a:off x="10118090" y="2624455"/>
            <a:ext cx="511175" cy="53340"/>
          </a:xfrm>
          <a:prstGeom prst="straightConnector1">
            <a:avLst/>
          </a:prstGeom>
          <a:ln>
            <a:solidFill>
              <a:srgbClr val="00481C"/>
            </a:solidFill>
            <a:tailEnd type="arrow"/>
          </a:ln>
        </p:spPr>
        <p:style>
          <a:lnRef idx="2">
            <a:schemeClr val="accent1"/>
          </a:lnRef>
          <a:fillRef idx="0">
            <a:srgbClr val="FFFFFF"/>
          </a:fillRef>
          <a:effectRef idx="0">
            <a:srgbClr val="FFFFFF"/>
          </a:effectRef>
          <a:fontRef idx="minor">
            <a:schemeClr val="tx1"/>
          </a:fontRef>
        </p:style>
      </p:cxnSp>
      <p:cxnSp>
        <p:nvCxnSpPr>
          <p:cNvPr id="30" name="直接箭头连接符 29"/>
          <p:cNvCxnSpPr>
            <a:endCxn id="21" idx="1"/>
          </p:cNvCxnSpPr>
          <p:nvPr/>
        </p:nvCxnSpPr>
        <p:spPr>
          <a:xfrm>
            <a:off x="10151745" y="2414270"/>
            <a:ext cx="477520" cy="17780"/>
          </a:xfrm>
          <a:prstGeom prst="straightConnector1">
            <a:avLst/>
          </a:prstGeom>
          <a:ln>
            <a:solidFill>
              <a:srgbClr val="00481C"/>
            </a:solidFill>
            <a:tailEnd type="arrow"/>
          </a:ln>
        </p:spPr>
        <p:style>
          <a:lnRef idx="2">
            <a:schemeClr val="accent1"/>
          </a:lnRef>
          <a:fillRef idx="0">
            <a:srgbClr val="FFFFFF"/>
          </a:fillRef>
          <a:effectRef idx="0">
            <a:srgbClr val="FFFFFF"/>
          </a:effectRef>
          <a:fontRef idx="minor">
            <a:schemeClr val="tx1"/>
          </a:fontRef>
        </p:style>
      </p:cxnSp>
      <p:cxnSp>
        <p:nvCxnSpPr>
          <p:cNvPr id="31" name="直接箭头连接符 30"/>
          <p:cNvCxnSpPr>
            <a:endCxn id="23" idx="1"/>
          </p:cNvCxnSpPr>
          <p:nvPr/>
        </p:nvCxnSpPr>
        <p:spPr>
          <a:xfrm>
            <a:off x="10165715" y="2821305"/>
            <a:ext cx="463550" cy="127000"/>
          </a:xfrm>
          <a:prstGeom prst="straightConnector1">
            <a:avLst/>
          </a:prstGeom>
          <a:ln>
            <a:solidFill>
              <a:srgbClr val="00481C"/>
            </a:solidFill>
            <a:tailEnd type="arrow"/>
          </a:ln>
        </p:spPr>
        <p:style>
          <a:lnRef idx="2">
            <a:schemeClr val="accent1"/>
          </a:lnRef>
          <a:fillRef idx="0">
            <a:srgbClr val="FFFFFF"/>
          </a:fillRef>
          <a:effectRef idx="0">
            <a:srgbClr val="FFFFFF"/>
          </a:effectRef>
          <a:fontRef idx="minor">
            <a:schemeClr val="tx1"/>
          </a:fontRef>
        </p:style>
      </p:cxnSp>
      <p:cxnSp>
        <p:nvCxnSpPr>
          <p:cNvPr id="32" name="直接箭头连接符 31"/>
          <p:cNvCxnSpPr>
            <a:endCxn id="24" idx="1"/>
          </p:cNvCxnSpPr>
          <p:nvPr/>
        </p:nvCxnSpPr>
        <p:spPr>
          <a:xfrm>
            <a:off x="10118090" y="3024505"/>
            <a:ext cx="511175" cy="161290"/>
          </a:xfrm>
          <a:prstGeom prst="straightConnector1">
            <a:avLst/>
          </a:prstGeom>
          <a:ln>
            <a:solidFill>
              <a:srgbClr val="00481C"/>
            </a:solidFill>
            <a:tailEnd type="arrow"/>
          </a:ln>
        </p:spPr>
        <p:style>
          <a:lnRef idx="2">
            <a:schemeClr val="accent1"/>
          </a:lnRef>
          <a:fillRef idx="0">
            <a:srgbClr val="FFFFFF"/>
          </a:fillRef>
          <a:effectRef idx="0">
            <a:srgbClr val="FFFFFF"/>
          </a:effectRef>
          <a:fontRef idx="minor">
            <a:schemeClr val="tx1"/>
          </a:fontRef>
        </p:style>
      </p:cxnSp>
      <p:cxnSp>
        <p:nvCxnSpPr>
          <p:cNvPr id="33" name="直接箭头连接符 32"/>
          <p:cNvCxnSpPr>
            <a:endCxn id="25" idx="1"/>
          </p:cNvCxnSpPr>
          <p:nvPr/>
        </p:nvCxnSpPr>
        <p:spPr>
          <a:xfrm>
            <a:off x="10124440" y="3234690"/>
            <a:ext cx="504825" cy="194310"/>
          </a:xfrm>
          <a:prstGeom prst="straightConnector1">
            <a:avLst/>
          </a:prstGeom>
          <a:ln>
            <a:solidFill>
              <a:srgbClr val="00481C"/>
            </a:solidFill>
            <a:tailEnd type="arrow"/>
          </a:ln>
        </p:spPr>
        <p:style>
          <a:lnRef idx="2">
            <a:schemeClr val="accent1"/>
          </a:lnRef>
          <a:fillRef idx="0">
            <a:srgbClr val="FFFFFF"/>
          </a:fillRef>
          <a:effectRef idx="0">
            <a:srgbClr val="FFFFFF"/>
          </a:effectRef>
          <a:fontRef idx="minor">
            <a:schemeClr val="tx1"/>
          </a:fontRef>
        </p:style>
      </p:cxnSp>
      <p:cxnSp>
        <p:nvCxnSpPr>
          <p:cNvPr id="34" name="直接箭头连接符 33"/>
          <p:cNvCxnSpPr>
            <a:endCxn id="35" idx="1"/>
          </p:cNvCxnSpPr>
          <p:nvPr/>
        </p:nvCxnSpPr>
        <p:spPr>
          <a:xfrm>
            <a:off x="10138410" y="3458845"/>
            <a:ext cx="490855" cy="291465"/>
          </a:xfrm>
          <a:prstGeom prst="straightConnector1">
            <a:avLst/>
          </a:prstGeom>
          <a:ln>
            <a:solidFill>
              <a:srgbClr val="00481C"/>
            </a:solidFill>
            <a:tailEnd type="arrow"/>
          </a:ln>
        </p:spPr>
        <p:style>
          <a:lnRef idx="2">
            <a:schemeClr val="accent1"/>
          </a:lnRef>
          <a:fillRef idx="0">
            <a:srgbClr val="FFFFFF"/>
          </a:fillRef>
          <a:effectRef idx="0">
            <a:srgbClr val="FFFFFF"/>
          </a:effectRef>
          <a:fontRef idx="minor">
            <a:schemeClr val="tx1"/>
          </a:fontRef>
        </p:style>
      </p:cxnSp>
      <p:sp>
        <p:nvSpPr>
          <p:cNvPr id="35" name="文本框 34"/>
          <p:cNvSpPr txBox="1"/>
          <p:nvPr/>
        </p:nvSpPr>
        <p:spPr>
          <a:xfrm>
            <a:off x="10629265" y="3519805"/>
            <a:ext cx="875665" cy="460375"/>
          </a:xfrm>
          <a:prstGeom prst="rect">
            <a:avLst/>
          </a:prstGeom>
          <a:noFill/>
        </p:spPr>
        <p:txBody>
          <a:bodyPr wrap="square" rtlCol="0">
            <a:spAutoFit/>
          </a:bodyPr>
          <a:p>
            <a:r>
              <a:rPr lang="zh-CN" altLang="en-US" sz="1200" b="1">
                <a:latin typeface="微软雅黑" panose="020B0503020204020204" pitchFamily="34" charset="-122"/>
                <a:ea typeface="微软雅黑" panose="020B0503020204020204" pitchFamily="34" charset="-122"/>
              </a:rPr>
              <a:t>测距（</a:t>
            </a:r>
            <a:r>
              <a:rPr lang="zh-CN" altLang="en-US" sz="1200" b="1">
                <a:latin typeface="微软雅黑" panose="020B0503020204020204" pitchFamily="34" charset="-122"/>
                <a:ea typeface="微软雅黑" panose="020B0503020204020204" pitchFamily="34" charset="-122"/>
              </a:rPr>
              <a:t>图标出问题）</a:t>
            </a:r>
            <a:endParaRPr lang="zh-CN" altLang="en-US" sz="1200" b="1">
              <a:latin typeface="微软雅黑" panose="020B0503020204020204" pitchFamily="34" charset="-122"/>
              <a:ea typeface="微软雅黑" panose="020B0503020204020204" pitchFamily="34" charset="-122"/>
            </a:endParaRPr>
          </a:p>
        </p:txBody>
      </p:sp>
      <p:cxnSp>
        <p:nvCxnSpPr>
          <p:cNvPr id="36" name="直接箭头连接符 35"/>
          <p:cNvCxnSpPr/>
          <p:nvPr/>
        </p:nvCxnSpPr>
        <p:spPr>
          <a:xfrm>
            <a:off x="10138410" y="3662045"/>
            <a:ext cx="521970" cy="502285"/>
          </a:xfrm>
          <a:prstGeom prst="straightConnector1">
            <a:avLst/>
          </a:prstGeom>
          <a:ln>
            <a:solidFill>
              <a:srgbClr val="00481C"/>
            </a:solidFill>
            <a:tailEnd type="arrow"/>
          </a:ln>
        </p:spPr>
        <p:style>
          <a:lnRef idx="2">
            <a:schemeClr val="accent1"/>
          </a:lnRef>
          <a:fillRef idx="0">
            <a:srgbClr val="FFFFFF"/>
          </a:fillRef>
          <a:effectRef idx="0">
            <a:srgbClr val="FFFFFF"/>
          </a:effectRef>
          <a:fontRef idx="minor">
            <a:schemeClr val="tx1"/>
          </a:fontRef>
        </p:style>
      </p:cxnSp>
      <p:cxnSp>
        <p:nvCxnSpPr>
          <p:cNvPr id="37" name="直接箭头连接符 36"/>
          <p:cNvCxnSpPr/>
          <p:nvPr/>
        </p:nvCxnSpPr>
        <p:spPr>
          <a:xfrm flipH="1">
            <a:off x="10124440" y="3872865"/>
            <a:ext cx="6985" cy="298450"/>
          </a:xfrm>
          <a:prstGeom prst="straightConnector1">
            <a:avLst/>
          </a:prstGeom>
          <a:ln>
            <a:solidFill>
              <a:srgbClr val="00481C"/>
            </a:solidFill>
            <a:tailEnd type="arrow"/>
          </a:ln>
        </p:spPr>
        <p:style>
          <a:lnRef idx="2">
            <a:schemeClr val="accent1"/>
          </a:lnRef>
          <a:fillRef idx="0">
            <a:srgbClr val="FFFFFF"/>
          </a:fillRef>
          <a:effectRef idx="0">
            <a:srgbClr val="FFFFFF"/>
          </a:effectRef>
          <a:fontRef idx="minor">
            <a:schemeClr val="tx1"/>
          </a:fontRef>
        </p:style>
      </p:cxnSp>
      <p:sp>
        <p:nvSpPr>
          <p:cNvPr id="38" name="文本框 37"/>
          <p:cNvSpPr txBox="1"/>
          <p:nvPr/>
        </p:nvSpPr>
        <p:spPr>
          <a:xfrm>
            <a:off x="10083800" y="5771515"/>
            <a:ext cx="1255395" cy="275590"/>
          </a:xfrm>
          <a:prstGeom prst="rect">
            <a:avLst/>
          </a:prstGeom>
          <a:noFill/>
        </p:spPr>
        <p:txBody>
          <a:bodyPr wrap="square" rtlCol="0">
            <a:spAutoFit/>
          </a:bodyPr>
          <a:p>
            <a:r>
              <a:rPr lang="zh-CN" altLang="en-US" sz="1200" b="1">
                <a:latin typeface="微软雅黑" panose="020B0503020204020204" pitchFamily="34" charset="-122"/>
                <a:ea typeface="微软雅黑" panose="020B0503020204020204" pitchFamily="34" charset="-122"/>
              </a:rPr>
              <a:t>指南针（</a:t>
            </a:r>
            <a:r>
              <a:rPr lang="zh-CN" altLang="en-US" sz="1200" b="1">
                <a:latin typeface="微软雅黑" panose="020B0503020204020204" pitchFamily="34" charset="-122"/>
                <a:ea typeface="微软雅黑" panose="020B0503020204020204" pitchFamily="34" charset="-122"/>
              </a:rPr>
              <a:t>出问题）</a:t>
            </a:r>
            <a:endParaRPr lang="zh-CN" altLang="en-US" sz="1200" b="1">
              <a:latin typeface="微软雅黑" panose="020B0503020204020204" pitchFamily="34" charset="-122"/>
              <a:ea typeface="微软雅黑" panose="020B0503020204020204" pitchFamily="34" charset="-122"/>
            </a:endParaRPr>
          </a:p>
        </p:txBody>
      </p:sp>
      <p:sp>
        <p:nvSpPr>
          <p:cNvPr id="39" name="文本框 38"/>
          <p:cNvSpPr txBox="1"/>
          <p:nvPr/>
        </p:nvSpPr>
        <p:spPr>
          <a:xfrm>
            <a:off x="10083800" y="6090920"/>
            <a:ext cx="875665" cy="275590"/>
          </a:xfrm>
          <a:prstGeom prst="rect">
            <a:avLst/>
          </a:prstGeom>
          <a:noFill/>
        </p:spPr>
        <p:txBody>
          <a:bodyPr wrap="square" rtlCol="0">
            <a:spAutoFit/>
          </a:bodyPr>
          <a:p>
            <a:r>
              <a:rPr lang="zh-CN" altLang="en-US" sz="1200" b="1">
                <a:latin typeface="微软雅黑" panose="020B0503020204020204" pitchFamily="34" charset="-122"/>
                <a:ea typeface="微软雅黑" panose="020B0503020204020204" pitchFamily="34" charset="-122"/>
              </a:rPr>
              <a:t>放大</a:t>
            </a:r>
            <a:endParaRPr lang="zh-CN" altLang="en-US" sz="1200" b="1">
              <a:latin typeface="微软雅黑" panose="020B0503020204020204" pitchFamily="34" charset="-122"/>
              <a:ea typeface="微软雅黑" panose="020B0503020204020204" pitchFamily="34" charset="-122"/>
            </a:endParaRPr>
          </a:p>
        </p:txBody>
      </p:sp>
      <p:sp>
        <p:nvSpPr>
          <p:cNvPr id="40" name="文本框 39"/>
          <p:cNvSpPr txBox="1"/>
          <p:nvPr/>
        </p:nvSpPr>
        <p:spPr>
          <a:xfrm>
            <a:off x="10118090" y="6366510"/>
            <a:ext cx="875665" cy="275590"/>
          </a:xfrm>
          <a:prstGeom prst="rect">
            <a:avLst/>
          </a:prstGeom>
          <a:noFill/>
        </p:spPr>
        <p:txBody>
          <a:bodyPr wrap="square" rtlCol="0">
            <a:spAutoFit/>
          </a:bodyPr>
          <a:p>
            <a:r>
              <a:rPr lang="zh-CN" altLang="en-US" sz="1200" b="1">
                <a:latin typeface="微软雅黑" panose="020B0503020204020204" pitchFamily="34" charset="-122"/>
                <a:ea typeface="微软雅黑" panose="020B0503020204020204" pitchFamily="34" charset="-122"/>
              </a:rPr>
              <a:t>缩小</a:t>
            </a:r>
            <a:endParaRPr lang="zh-CN" altLang="en-US" sz="1200" b="1">
              <a:latin typeface="微软雅黑" panose="020B0503020204020204" pitchFamily="34" charset="-122"/>
              <a:ea typeface="微软雅黑" panose="020B0503020204020204" pitchFamily="34" charset="-122"/>
            </a:endParaRPr>
          </a:p>
        </p:txBody>
      </p:sp>
      <p:sp>
        <p:nvSpPr>
          <p:cNvPr id="41" name="文本框 40"/>
          <p:cNvSpPr txBox="1"/>
          <p:nvPr/>
        </p:nvSpPr>
        <p:spPr>
          <a:xfrm>
            <a:off x="8334375" y="6447155"/>
            <a:ext cx="875665" cy="275590"/>
          </a:xfrm>
          <a:prstGeom prst="rect">
            <a:avLst/>
          </a:prstGeom>
          <a:noFill/>
        </p:spPr>
        <p:txBody>
          <a:bodyPr wrap="square" rtlCol="0">
            <a:spAutoFit/>
          </a:bodyPr>
          <a:p>
            <a:r>
              <a:rPr lang="zh-CN" altLang="en-US" sz="1200" b="1">
                <a:latin typeface="微软雅黑" panose="020B0503020204020204" pitchFamily="34" charset="-122"/>
                <a:ea typeface="微软雅黑" panose="020B0503020204020204" pitchFamily="34" charset="-122"/>
              </a:rPr>
              <a:t>比例尺</a:t>
            </a:r>
            <a:endParaRPr lang="zh-CN" altLang="en-US" sz="1200" b="1">
              <a:latin typeface="微软雅黑" panose="020B0503020204020204" pitchFamily="34" charset="-122"/>
              <a:ea typeface="微软雅黑" panose="020B0503020204020204" pitchFamily="34" charset="-122"/>
            </a:endParaRPr>
          </a:p>
        </p:txBody>
      </p:sp>
      <p:cxnSp>
        <p:nvCxnSpPr>
          <p:cNvPr id="42" name="直接箭头连接符 41"/>
          <p:cNvCxnSpPr>
            <a:endCxn id="38" idx="1"/>
          </p:cNvCxnSpPr>
          <p:nvPr/>
        </p:nvCxnSpPr>
        <p:spPr>
          <a:xfrm flipV="1">
            <a:off x="9786620" y="5909310"/>
            <a:ext cx="297180" cy="141605"/>
          </a:xfrm>
          <a:prstGeom prst="straightConnector1">
            <a:avLst/>
          </a:prstGeom>
          <a:ln>
            <a:solidFill>
              <a:srgbClr val="00481C"/>
            </a:solidFill>
            <a:tailEnd type="arrow"/>
          </a:ln>
        </p:spPr>
        <p:style>
          <a:lnRef idx="2">
            <a:schemeClr val="accent1"/>
          </a:lnRef>
          <a:fillRef idx="0">
            <a:srgbClr val="FFFFFF"/>
          </a:fillRef>
          <a:effectRef idx="0">
            <a:srgbClr val="FFFFFF"/>
          </a:effectRef>
          <a:fontRef idx="minor">
            <a:schemeClr val="tx1"/>
          </a:fontRef>
        </p:style>
      </p:cxnSp>
      <p:cxnSp>
        <p:nvCxnSpPr>
          <p:cNvPr id="43" name="直接箭头连接符 42"/>
          <p:cNvCxnSpPr>
            <a:endCxn id="39" idx="1"/>
          </p:cNvCxnSpPr>
          <p:nvPr/>
        </p:nvCxnSpPr>
        <p:spPr>
          <a:xfrm>
            <a:off x="9793605" y="6217285"/>
            <a:ext cx="290195" cy="11430"/>
          </a:xfrm>
          <a:prstGeom prst="straightConnector1">
            <a:avLst/>
          </a:prstGeom>
          <a:ln>
            <a:solidFill>
              <a:srgbClr val="00481C"/>
            </a:solidFill>
            <a:tailEnd type="arrow"/>
          </a:ln>
        </p:spPr>
        <p:style>
          <a:lnRef idx="2">
            <a:schemeClr val="accent1"/>
          </a:lnRef>
          <a:fillRef idx="0">
            <a:srgbClr val="FFFFFF"/>
          </a:fillRef>
          <a:effectRef idx="0">
            <a:srgbClr val="FFFFFF"/>
          </a:effectRef>
          <a:fontRef idx="minor">
            <a:schemeClr val="tx1"/>
          </a:fontRef>
        </p:style>
      </p:cxnSp>
      <p:cxnSp>
        <p:nvCxnSpPr>
          <p:cNvPr id="44" name="直接箭头连接符 43"/>
          <p:cNvCxnSpPr>
            <a:endCxn id="40" idx="1"/>
          </p:cNvCxnSpPr>
          <p:nvPr/>
        </p:nvCxnSpPr>
        <p:spPr>
          <a:xfrm>
            <a:off x="9801225" y="6354445"/>
            <a:ext cx="316865" cy="149860"/>
          </a:xfrm>
          <a:prstGeom prst="straightConnector1">
            <a:avLst/>
          </a:prstGeom>
          <a:ln>
            <a:solidFill>
              <a:srgbClr val="00481C"/>
            </a:solidFill>
            <a:tailEnd type="arrow"/>
          </a:ln>
        </p:spPr>
        <p:style>
          <a:lnRef idx="2">
            <a:schemeClr val="accent1"/>
          </a:lnRef>
          <a:fillRef idx="0">
            <a:srgbClr val="FFFFFF"/>
          </a:fillRef>
          <a:effectRef idx="0">
            <a:srgbClr val="FFFFFF"/>
          </a:effectRef>
          <a:fontRef idx="minor">
            <a:schemeClr val="tx1"/>
          </a:fontRef>
        </p:style>
      </p:cxnSp>
      <p:cxnSp>
        <p:nvCxnSpPr>
          <p:cNvPr id="45" name="直接箭头连接符 44"/>
          <p:cNvCxnSpPr/>
          <p:nvPr/>
        </p:nvCxnSpPr>
        <p:spPr>
          <a:xfrm flipH="1">
            <a:off x="8935085" y="6563360"/>
            <a:ext cx="519430" cy="29210"/>
          </a:xfrm>
          <a:prstGeom prst="straightConnector1">
            <a:avLst/>
          </a:prstGeom>
          <a:ln>
            <a:solidFill>
              <a:srgbClr val="00481C"/>
            </a:solidFill>
            <a:tailEnd type="arrow"/>
          </a:ln>
        </p:spPr>
        <p:style>
          <a:lnRef idx="2">
            <a:schemeClr val="accent1"/>
          </a:lnRef>
          <a:fillRef idx="0">
            <a:srgbClr val="FFFFFF"/>
          </a:fillRef>
          <a:effectRef idx="0">
            <a:srgbClr val="FFFFFF"/>
          </a:effectRef>
          <a:fontRef idx="minor">
            <a:schemeClr val="tx1"/>
          </a:fontRef>
        </p:style>
      </p:cxnSp>
      <p:sp>
        <p:nvSpPr>
          <p:cNvPr id="4" name="页脚占位符 3"/>
          <p:cNvSpPr>
            <a:spLocks noGrp="1"/>
          </p:cNvSpPr>
          <p:nvPr>
            <p:ph type="ftr" sz="quarter" idx="11"/>
          </p:nvPr>
        </p:nvSpPr>
        <p:spPr/>
        <p:txBody>
          <a:bodyPr/>
          <a:p>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任意多边形 9"/>
          <p:cNvSpPr/>
          <p:nvPr/>
        </p:nvSpPr>
        <p:spPr>
          <a:xfrm rot="19740000">
            <a:off x="-2280399" y="-122827"/>
            <a:ext cx="4768982" cy="7335937"/>
          </a:xfrm>
          <a:custGeom>
            <a:avLst/>
            <a:gdLst/>
            <a:ahLst/>
            <a:cxnLst>
              <a:cxn ang="3">
                <a:pos x="hc" y="t"/>
              </a:cxn>
              <a:cxn ang="cd2">
                <a:pos x="l" y="vc"/>
              </a:cxn>
              <a:cxn ang="cd4">
                <a:pos x="hc" y="b"/>
              </a:cxn>
              <a:cxn ang="0">
                <a:pos x="r" y="vc"/>
              </a:cxn>
            </a:cxnLst>
            <a:rect l="l" t="t" r="r" b="b"/>
            <a:pathLst>
              <a:path w="7510" h="11553">
                <a:moveTo>
                  <a:pt x="6301" y="0"/>
                </a:moveTo>
                <a:lnTo>
                  <a:pt x="7510" y="0"/>
                </a:lnTo>
                <a:lnTo>
                  <a:pt x="7510" y="7861"/>
                </a:lnTo>
                <a:lnTo>
                  <a:pt x="7510" y="7861"/>
                </a:lnTo>
                <a:lnTo>
                  <a:pt x="7510" y="7861"/>
                </a:lnTo>
                <a:lnTo>
                  <a:pt x="7510" y="7863"/>
                </a:lnTo>
                <a:lnTo>
                  <a:pt x="7507" y="7863"/>
                </a:lnTo>
                <a:lnTo>
                  <a:pt x="568" y="11553"/>
                </a:lnTo>
                <a:lnTo>
                  <a:pt x="0" y="10485"/>
                </a:lnTo>
                <a:lnTo>
                  <a:pt x="6301" y="7135"/>
                </a:lnTo>
                <a:lnTo>
                  <a:pt x="6301" y="0"/>
                </a:lnTo>
                <a:close/>
              </a:path>
            </a:pathLst>
          </a:custGeom>
          <a:solidFill>
            <a:srgbClr val="00481C">
              <a:alpha val="5000"/>
            </a:srgbClr>
          </a:solidFill>
          <a:ln>
            <a:solidFill>
              <a:srgbClr val="00481C">
                <a:alpha val="8000"/>
              </a:srgb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11" name="任意多边形 10"/>
          <p:cNvSpPr/>
          <p:nvPr/>
        </p:nvSpPr>
        <p:spPr>
          <a:xfrm rot="19740000">
            <a:off x="-1351394" y="-122827"/>
            <a:ext cx="4768982" cy="7335937"/>
          </a:xfrm>
          <a:custGeom>
            <a:avLst/>
            <a:gdLst/>
            <a:ahLst/>
            <a:cxnLst>
              <a:cxn ang="3">
                <a:pos x="hc" y="t"/>
              </a:cxn>
              <a:cxn ang="cd2">
                <a:pos x="l" y="vc"/>
              </a:cxn>
              <a:cxn ang="cd4">
                <a:pos x="hc" y="b"/>
              </a:cxn>
              <a:cxn ang="0">
                <a:pos x="r" y="vc"/>
              </a:cxn>
            </a:cxnLst>
            <a:rect l="l" t="t" r="r" b="b"/>
            <a:pathLst>
              <a:path w="7510" h="11553">
                <a:moveTo>
                  <a:pt x="6301" y="0"/>
                </a:moveTo>
                <a:lnTo>
                  <a:pt x="7510" y="0"/>
                </a:lnTo>
                <a:lnTo>
                  <a:pt x="7510" y="7861"/>
                </a:lnTo>
                <a:lnTo>
                  <a:pt x="7510" y="7861"/>
                </a:lnTo>
                <a:lnTo>
                  <a:pt x="7510" y="7861"/>
                </a:lnTo>
                <a:lnTo>
                  <a:pt x="7510" y="7863"/>
                </a:lnTo>
                <a:lnTo>
                  <a:pt x="7507" y="7863"/>
                </a:lnTo>
                <a:lnTo>
                  <a:pt x="568" y="11553"/>
                </a:lnTo>
                <a:lnTo>
                  <a:pt x="0" y="10485"/>
                </a:lnTo>
                <a:lnTo>
                  <a:pt x="6301" y="7135"/>
                </a:lnTo>
                <a:lnTo>
                  <a:pt x="6301" y="0"/>
                </a:lnTo>
                <a:close/>
              </a:path>
            </a:pathLst>
          </a:custGeom>
          <a:gradFill>
            <a:gsLst>
              <a:gs pos="0">
                <a:schemeClr val="bg1"/>
              </a:gs>
              <a:gs pos="100000">
                <a:srgbClr val="00481C"/>
              </a:gs>
            </a:gsLst>
            <a:lin ang="222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2" name="标题 1"/>
          <p:cNvSpPr>
            <a:spLocks noGrp="1"/>
          </p:cNvSpPr>
          <p:nvPr>
            <p:ph type="title"/>
          </p:nvPr>
        </p:nvSpPr>
        <p:spPr>
          <a:xfrm>
            <a:off x="5147945" y="1499235"/>
            <a:ext cx="4362450" cy="1325880"/>
          </a:xfrm>
        </p:spPr>
        <p:txBody>
          <a:bodyPr>
            <a:normAutofit fontScale="90000"/>
          </a:bodyPr>
          <a:p>
            <a:r>
              <a:rPr lang="en-US" altLang="zh-CN" sz="8000" b="1">
                <a:solidFill>
                  <a:srgbClr val="00481C"/>
                </a:solidFill>
                <a:latin typeface="Arial" panose="020B0604020202020204" pitchFamily="34" charset="0"/>
                <a:cs typeface="Arial" panose="020B0604020202020204" pitchFamily="34" charset="0"/>
              </a:rPr>
              <a:t>PART </a:t>
            </a:r>
            <a:r>
              <a:rPr lang="en-US" altLang="zh-CN" sz="13335" b="1" i="1">
                <a:solidFill>
                  <a:srgbClr val="00481C"/>
                </a:solidFill>
                <a:latin typeface="Arial" panose="020B0604020202020204" pitchFamily="34" charset="0"/>
                <a:cs typeface="Arial" panose="020B0604020202020204" pitchFamily="34" charset="0"/>
              </a:rPr>
              <a:t>4</a:t>
            </a:r>
            <a:endParaRPr lang="en-US" altLang="zh-CN" sz="13335" b="1" i="1">
              <a:solidFill>
                <a:srgbClr val="00481C"/>
              </a:solidFill>
              <a:latin typeface="Arial" panose="020B0604020202020204" pitchFamily="34" charset="0"/>
              <a:cs typeface="Arial" panose="020B0604020202020204" pitchFamily="34" charset="0"/>
            </a:endParaRPr>
          </a:p>
        </p:txBody>
      </p:sp>
      <p:sp>
        <p:nvSpPr>
          <p:cNvPr id="6" name="任意多边形 5"/>
          <p:cNvSpPr/>
          <p:nvPr/>
        </p:nvSpPr>
        <p:spPr>
          <a:xfrm rot="19740000">
            <a:off x="-3067685" y="-1120140"/>
            <a:ext cx="6064885" cy="9330055"/>
          </a:xfrm>
          <a:custGeom>
            <a:avLst/>
            <a:gdLst/>
            <a:ahLst/>
            <a:cxnLst>
              <a:cxn ang="3">
                <a:pos x="hc" y="t"/>
              </a:cxn>
              <a:cxn ang="cd2">
                <a:pos x="l" y="vc"/>
              </a:cxn>
              <a:cxn ang="cd4">
                <a:pos x="hc" y="b"/>
              </a:cxn>
              <a:cxn ang="0">
                <a:pos x="r" y="vc"/>
              </a:cxn>
            </a:cxnLst>
            <a:rect l="l" t="t" r="r" b="b"/>
            <a:pathLst>
              <a:path w="7510" h="11553">
                <a:moveTo>
                  <a:pt x="6301" y="0"/>
                </a:moveTo>
                <a:lnTo>
                  <a:pt x="7510" y="0"/>
                </a:lnTo>
                <a:lnTo>
                  <a:pt x="7510" y="7861"/>
                </a:lnTo>
                <a:lnTo>
                  <a:pt x="7510" y="7861"/>
                </a:lnTo>
                <a:lnTo>
                  <a:pt x="7510" y="7861"/>
                </a:lnTo>
                <a:lnTo>
                  <a:pt x="7510" y="7863"/>
                </a:lnTo>
                <a:lnTo>
                  <a:pt x="7507" y="7863"/>
                </a:lnTo>
                <a:lnTo>
                  <a:pt x="568" y="11553"/>
                </a:lnTo>
                <a:lnTo>
                  <a:pt x="0" y="10485"/>
                </a:lnTo>
                <a:lnTo>
                  <a:pt x="6301" y="7135"/>
                </a:lnTo>
                <a:lnTo>
                  <a:pt x="6301" y="0"/>
                </a:lnTo>
                <a:close/>
              </a:path>
            </a:pathLst>
          </a:custGeom>
          <a:solidFill>
            <a:srgbClr val="00481C"/>
          </a:solidFill>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cxnSp>
        <p:nvCxnSpPr>
          <p:cNvPr id="12" name="直接连接符 11"/>
          <p:cNvCxnSpPr/>
          <p:nvPr/>
        </p:nvCxnSpPr>
        <p:spPr>
          <a:xfrm flipV="1">
            <a:off x="4452620" y="2860675"/>
            <a:ext cx="5057775" cy="19050"/>
          </a:xfrm>
          <a:prstGeom prst="line">
            <a:avLst/>
          </a:prstGeom>
          <a:ln>
            <a:solidFill>
              <a:srgbClr val="00481C"/>
            </a:solidFill>
          </a:ln>
        </p:spPr>
        <p:style>
          <a:lnRef idx="2">
            <a:schemeClr val="accent1"/>
          </a:lnRef>
          <a:fillRef idx="0">
            <a:srgbClr val="FFFFFF"/>
          </a:fillRef>
          <a:effectRef idx="0">
            <a:srgbClr val="FFFFFF"/>
          </a:effectRef>
          <a:fontRef idx="minor">
            <a:schemeClr val="tx1"/>
          </a:fontRef>
        </p:style>
      </p:cxnSp>
      <p:sp>
        <p:nvSpPr>
          <p:cNvPr id="13" name="文本框 12"/>
          <p:cNvSpPr txBox="1"/>
          <p:nvPr/>
        </p:nvSpPr>
        <p:spPr>
          <a:xfrm>
            <a:off x="5071745" y="3528695"/>
            <a:ext cx="4324350" cy="1198880"/>
          </a:xfrm>
          <a:prstGeom prst="rect">
            <a:avLst/>
          </a:prstGeom>
          <a:noFill/>
        </p:spPr>
        <p:txBody>
          <a:bodyPr wrap="square" rtlCol="0">
            <a:spAutoFit/>
          </a:bodyPr>
          <a:p>
            <a:r>
              <a:rPr lang="zh-CN" altLang="en-US" sz="7200">
                <a:solidFill>
                  <a:srgbClr val="00481C"/>
                </a:solidFill>
                <a:latin typeface="微软雅黑" panose="020B0503020204020204" pitchFamily="34" charset="-122"/>
                <a:ea typeface="微软雅黑" panose="020B0503020204020204" pitchFamily="34" charset="-122"/>
              </a:rPr>
              <a:t>总结</a:t>
            </a:r>
            <a:r>
              <a:rPr lang="zh-CN" altLang="en-US" sz="7200">
                <a:solidFill>
                  <a:srgbClr val="00481C"/>
                </a:solidFill>
                <a:latin typeface="微软雅黑" panose="020B0503020204020204" pitchFamily="34" charset="-122"/>
                <a:ea typeface="微软雅黑" panose="020B0503020204020204" pitchFamily="34" charset="-122"/>
              </a:rPr>
              <a:t>展望</a:t>
            </a:r>
            <a:endParaRPr lang="zh-CN" altLang="en-US" sz="7200">
              <a:solidFill>
                <a:srgbClr val="00481C"/>
              </a:solidFill>
              <a:latin typeface="微软雅黑" panose="020B0503020204020204" pitchFamily="34" charset="-122"/>
              <a:ea typeface="微软雅黑" panose="020B0503020204020204" pitchFamily="34" charset="-122"/>
            </a:endParaRPr>
          </a:p>
        </p:txBody>
      </p:sp>
      <p:grpSp>
        <p:nvGrpSpPr>
          <p:cNvPr id="165" name="组合 39"/>
          <p:cNvGrpSpPr/>
          <p:nvPr/>
        </p:nvGrpSpPr>
        <p:grpSpPr>
          <a:xfrm>
            <a:off x="9480096" y="160513"/>
            <a:ext cx="2487599" cy="771929"/>
            <a:chOff x="4077923" y="171807"/>
            <a:chExt cx="4420435" cy="1371709"/>
          </a:xfrm>
        </p:grpSpPr>
        <p:grpSp>
          <p:nvGrpSpPr>
            <p:cNvPr id="166" name="组合 40"/>
            <p:cNvGrpSpPr/>
            <p:nvPr/>
          </p:nvGrpSpPr>
          <p:grpSpPr>
            <a:xfrm>
              <a:off x="4077923" y="171807"/>
              <a:ext cx="4260493" cy="1371709"/>
              <a:chOff x="6331308" y="1189619"/>
              <a:chExt cx="5481392" cy="1764794"/>
            </a:xfrm>
          </p:grpSpPr>
          <p:pic>
            <p:nvPicPr>
              <p:cNvPr id="167" name="图片 42"/>
              <p:cNvPicPr>
                <a:picLocks noChangeAspect="1"/>
              </p:cNvPicPr>
              <p:nvPr/>
            </p:nvPicPr>
            <p:blipFill>
              <a:blip r:embed="rId1"/>
              <a:srcRect/>
              <a:stretch>
                <a:fillRect/>
              </a:stretch>
            </p:blipFill>
            <p:spPr>
              <a:xfrm>
                <a:off x="6331308" y="1189619"/>
                <a:ext cx="1791803" cy="1764794"/>
              </a:xfrm>
              <a:prstGeom prst="rect">
                <a:avLst/>
              </a:prstGeom>
            </p:spPr>
          </p:pic>
          <p:pic>
            <p:nvPicPr>
              <p:cNvPr id="168" name="图片 43"/>
              <p:cNvPicPr>
                <a:picLocks noChangeAspect="1"/>
              </p:cNvPicPr>
              <p:nvPr/>
            </p:nvPicPr>
            <p:blipFill>
              <a:blip r:embed="rId2"/>
              <a:srcRect/>
              <a:stretch>
                <a:fillRect/>
              </a:stretch>
            </p:blipFill>
            <p:spPr>
              <a:xfrm>
                <a:off x="8302517" y="1422328"/>
                <a:ext cx="3510183" cy="965303"/>
              </a:xfrm>
              <a:prstGeom prst="rect">
                <a:avLst/>
              </a:prstGeom>
            </p:spPr>
          </p:pic>
        </p:grpSp>
        <p:sp>
          <p:nvSpPr>
            <p:cNvPr id="169" name="矩形 41"/>
            <p:cNvSpPr/>
            <p:nvPr/>
          </p:nvSpPr>
          <p:spPr>
            <a:xfrm>
              <a:off x="5470629" y="1076339"/>
              <a:ext cx="3027729" cy="410186"/>
            </a:xfrm>
            <a:prstGeom prst="rect">
              <a:avLst/>
            </a:prstGeom>
          </p:spPr>
          <p:txBody>
            <a:bodyPr wrap="square">
              <a:spAutoFit/>
            </a:bodyPr>
            <a:lstStyle/>
            <a:p>
              <a:pPr algn="dist">
                <a:defRPr/>
              </a:pPr>
              <a:r>
                <a:rPr lang="en-US" altLang="zh-CN" sz="900" b="1" dirty="0">
                  <a:solidFill>
                    <a:prstClr val="black"/>
                  </a:solidFill>
                  <a:latin typeface="Calibri" panose="020F0502020204030204"/>
                  <a:ea typeface="微软雅黑" panose="020B0503020204020204" pitchFamily="34" charset="-122"/>
                </a:rPr>
                <a:t>WUHAN UNIVERSITY</a:t>
              </a:r>
              <a:endParaRPr lang="en-US" altLang="zh-CN" sz="900" b="1" dirty="0">
                <a:solidFill>
                  <a:prstClr val="black"/>
                </a:solidFill>
                <a:latin typeface="Calibri" panose="020F0502020204030204"/>
                <a:ea typeface="微软雅黑" panose="020B0503020204020204" pitchFamily="34" charset="-122"/>
              </a:endParaRPr>
            </a:p>
          </p:txBody>
        </p:sp>
      </p:grpSp>
      <p:grpSp>
        <p:nvGrpSpPr>
          <p:cNvPr id="20" name="组合 19"/>
          <p:cNvGrpSpPr/>
          <p:nvPr/>
        </p:nvGrpSpPr>
        <p:grpSpPr>
          <a:xfrm>
            <a:off x="10212705" y="5683885"/>
            <a:ext cx="1419225" cy="768350"/>
            <a:chOff x="15240" y="8543"/>
            <a:chExt cx="2235" cy="1210"/>
          </a:xfrm>
        </p:grpSpPr>
        <p:sp>
          <p:nvSpPr>
            <p:cNvPr id="14" name="矩形 13"/>
            <p:cNvSpPr/>
            <p:nvPr/>
          </p:nvSpPr>
          <p:spPr>
            <a:xfrm>
              <a:off x="16458" y="8543"/>
              <a:ext cx="409" cy="408"/>
            </a:xfrm>
            <a:prstGeom prst="rect">
              <a:avLst/>
            </a:prstGeom>
            <a:solidFill>
              <a:srgbClr val="00481C">
                <a:alpha val="55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15" name="矩形 14"/>
            <p:cNvSpPr/>
            <p:nvPr/>
          </p:nvSpPr>
          <p:spPr>
            <a:xfrm>
              <a:off x="17067" y="8543"/>
              <a:ext cx="409" cy="408"/>
            </a:xfrm>
            <a:prstGeom prst="rect">
              <a:avLst/>
            </a:prstGeom>
            <a:solidFill>
              <a:srgbClr val="00481C">
                <a:alpha val="36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16" name="矩形 15"/>
            <p:cNvSpPr/>
            <p:nvPr/>
          </p:nvSpPr>
          <p:spPr>
            <a:xfrm>
              <a:off x="17067" y="9345"/>
              <a:ext cx="409" cy="408"/>
            </a:xfrm>
            <a:prstGeom prst="rect">
              <a:avLst/>
            </a:prstGeom>
            <a:solidFill>
              <a:srgbClr val="00481C">
                <a:alpha val="89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17" name="矩形 16"/>
            <p:cNvSpPr/>
            <p:nvPr/>
          </p:nvSpPr>
          <p:spPr>
            <a:xfrm>
              <a:off x="16458" y="9345"/>
              <a:ext cx="409" cy="408"/>
            </a:xfrm>
            <a:prstGeom prst="rect">
              <a:avLst/>
            </a:prstGeom>
            <a:solidFill>
              <a:srgbClr val="00481C">
                <a:alpha val="64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18" name="矩形 17"/>
            <p:cNvSpPr/>
            <p:nvPr/>
          </p:nvSpPr>
          <p:spPr>
            <a:xfrm>
              <a:off x="15849" y="9345"/>
              <a:ext cx="409" cy="408"/>
            </a:xfrm>
            <a:prstGeom prst="rect">
              <a:avLst/>
            </a:prstGeom>
            <a:solidFill>
              <a:srgbClr val="00481C">
                <a:alpha val="75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19" name="矩形 18"/>
            <p:cNvSpPr/>
            <p:nvPr/>
          </p:nvSpPr>
          <p:spPr>
            <a:xfrm>
              <a:off x="15240" y="9345"/>
              <a:ext cx="409" cy="408"/>
            </a:xfrm>
            <a:prstGeom prst="rect">
              <a:avLst/>
            </a:prstGeom>
            <a:solidFill>
              <a:srgbClr val="00481C">
                <a:alpha val="25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grpSp>
      <p:sp>
        <p:nvSpPr>
          <p:cNvPr id="3" name="页脚占位符 2"/>
          <p:cNvSpPr>
            <a:spLocks noGrp="1"/>
          </p:cNvSpPr>
          <p:nvPr>
            <p:ph type="ftr" sz="quarter" idx="11"/>
          </p:nvPr>
        </p:nvSpPr>
        <p:spPr/>
        <p:txBody>
          <a:bodyPr/>
          <a:p>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581" name=""/>
        <p:cNvGrpSpPr/>
        <p:nvPr/>
      </p:nvGrpSpPr>
      <p:grpSpPr>
        <a:xfrm>
          <a:off x="0" y="0"/>
          <a:ext cx="0" cy="0"/>
          <a:chOff x="0" y="0"/>
          <a:chExt cx="0" cy="0"/>
        </a:xfrm>
      </p:grpSpPr>
      <p:sp>
        <p:nvSpPr>
          <p:cNvPr id="582" name="文本框 60"/>
          <p:cNvSpPr txBox="1"/>
          <p:nvPr/>
        </p:nvSpPr>
        <p:spPr>
          <a:xfrm>
            <a:off x="10320239" y="216952"/>
            <a:ext cx="3123637" cy="369332"/>
          </a:xfrm>
          <a:prstGeom prst="rect">
            <a:avLst/>
          </a:prstGeom>
          <a:noFill/>
        </p:spPr>
        <p:txBody>
          <a:bodyPr wrap="square" rtlCol="0">
            <a:spAutoFit/>
          </a:bodyPr>
          <a:lstStyle/>
          <a:p>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未来展望</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585" name="组合 68"/>
          <p:cNvGrpSpPr/>
          <p:nvPr/>
        </p:nvGrpSpPr>
        <p:grpSpPr>
          <a:xfrm>
            <a:off x="0" y="15886"/>
            <a:ext cx="12219295" cy="1001194"/>
            <a:chOff x="-128871" y="-59933"/>
            <a:chExt cx="12219295" cy="1001194"/>
          </a:xfrm>
        </p:grpSpPr>
        <p:grpSp>
          <p:nvGrpSpPr>
            <p:cNvPr id="586" name="组合 67"/>
            <p:cNvGrpSpPr/>
            <p:nvPr/>
          </p:nvGrpSpPr>
          <p:grpSpPr>
            <a:xfrm>
              <a:off x="-128871" y="-59933"/>
              <a:ext cx="12219295" cy="1001194"/>
              <a:chOff x="-128871" y="-59933"/>
              <a:chExt cx="12219295" cy="1001194"/>
            </a:xfrm>
          </p:grpSpPr>
          <p:pic>
            <p:nvPicPr>
              <p:cNvPr id="587" name="图片 53"/>
              <p:cNvPicPr>
                <a:picLocks noChangeAspect="1"/>
              </p:cNvPicPr>
              <p:nvPr/>
            </p:nvPicPr>
            <p:blipFill>
              <a:blip r:embed="rId1" cstate="print"/>
              <a:stretch>
                <a:fillRect/>
              </a:stretch>
            </p:blipFill>
            <p:spPr>
              <a:xfrm>
                <a:off x="-128871" y="-59933"/>
                <a:ext cx="12219295" cy="1001194"/>
              </a:xfrm>
              <a:prstGeom prst="rect">
                <a:avLst/>
              </a:prstGeom>
              <a:effectLst>
                <a:outerShdw blurRad="50800" dist="38100" dir="8100000" algn="tr" rotWithShape="0">
                  <a:prstClr val="black">
                    <a:alpha val="40000"/>
                  </a:prstClr>
                </a:outerShdw>
              </a:effectLst>
            </p:spPr>
          </p:pic>
          <p:sp>
            <p:nvSpPr>
              <p:cNvPr id="588" name="矩形 55"/>
              <p:cNvSpPr/>
              <p:nvPr/>
            </p:nvSpPr>
            <p:spPr>
              <a:xfrm>
                <a:off x="9472329" y="-59933"/>
                <a:ext cx="2604770" cy="773430"/>
              </a:xfrm>
              <a:prstGeom prst="rect">
                <a:avLst/>
              </a:prstGeom>
              <a:solidFill>
                <a:srgbClr val="005825"/>
              </a:solidFill>
              <a:ln>
                <a:solidFill>
                  <a:srgbClr val="0058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89" name="文本框 57"/>
              <p:cNvSpPr txBox="1"/>
              <p:nvPr/>
            </p:nvSpPr>
            <p:spPr>
              <a:xfrm>
                <a:off x="2629484" y="48215"/>
                <a:ext cx="3123637"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选题背景</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0" name="文本框 58"/>
              <p:cNvSpPr txBox="1"/>
              <p:nvPr/>
            </p:nvSpPr>
            <p:spPr>
              <a:xfrm>
                <a:off x="4852069" y="48055"/>
                <a:ext cx="1771650"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项目方案</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1" name="文本框 59"/>
              <p:cNvSpPr txBox="1"/>
              <p:nvPr/>
            </p:nvSpPr>
            <p:spPr>
              <a:xfrm>
                <a:off x="7339364" y="50595"/>
                <a:ext cx="1741805" cy="521970"/>
              </a:xfrm>
              <a:prstGeom prst="rect">
                <a:avLst/>
              </a:prstGeom>
              <a:noFill/>
            </p:spPr>
            <p:txBody>
              <a:bodyPr wrap="square" rtlCol="0">
                <a:spAutoFit/>
              </a:bodyPr>
              <a:lstStyle/>
              <a:p>
                <a:pPr algn="l">
                  <a:buClrTx/>
                  <a:buSzTx/>
                  <a:buFontTx/>
                </a:pPr>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项目进展</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592" name="直接连接符 61"/>
              <p:cNvCxnSpPr/>
              <p:nvPr/>
            </p:nvCxnSpPr>
            <p:spPr>
              <a:xfrm>
                <a:off x="4529735" y="113988"/>
                <a:ext cx="0" cy="4024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3" name="直接连接符 62"/>
              <p:cNvCxnSpPr/>
              <p:nvPr/>
            </p:nvCxnSpPr>
            <p:spPr>
              <a:xfrm flipH="1">
                <a:off x="6955732" y="194315"/>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94" name="文本框 65"/>
            <p:cNvSpPr txBox="1"/>
            <p:nvPr/>
          </p:nvSpPr>
          <p:spPr>
            <a:xfrm>
              <a:off x="9846344" y="50595"/>
              <a:ext cx="1966595" cy="52197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总结展望</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cxnSp>
        <p:nvCxnSpPr>
          <p:cNvPr id="595" name="直接连接符 62"/>
          <p:cNvCxnSpPr/>
          <p:nvPr/>
        </p:nvCxnSpPr>
        <p:spPr>
          <a:xfrm flipH="1">
            <a:off x="9592354" y="270134"/>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596" name="组合 13"/>
          <p:cNvGrpSpPr/>
          <p:nvPr/>
        </p:nvGrpSpPr>
        <p:grpSpPr>
          <a:xfrm>
            <a:off x="204998" y="81727"/>
            <a:ext cx="1999471" cy="590901"/>
            <a:chOff x="4077923" y="171807"/>
            <a:chExt cx="4420435" cy="1371709"/>
          </a:xfrm>
        </p:grpSpPr>
        <p:grpSp>
          <p:nvGrpSpPr>
            <p:cNvPr id="597" name="组合 14"/>
            <p:cNvGrpSpPr/>
            <p:nvPr/>
          </p:nvGrpSpPr>
          <p:grpSpPr>
            <a:xfrm>
              <a:off x="4077923" y="171807"/>
              <a:ext cx="4260493" cy="1371709"/>
              <a:chOff x="6331308" y="1189619"/>
              <a:chExt cx="5481392" cy="1764794"/>
            </a:xfrm>
          </p:grpSpPr>
          <p:pic>
            <p:nvPicPr>
              <p:cNvPr id="598" name="图片 33"/>
              <p:cNvPicPr>
                <a:picLocks noChangeAspect="1"/>
              </p:cNvPicPr>
              <p:nvPr/>
            </p:nvPicPr>
            <p:blipFill>
              <a:blip r:embed="rId2"/>
              <a:srcRect/>
              <a:stretch>
                <a:fillRect/>
              </a:stretch>
            </p:blipFill>
            <p:spPr>
              <a:xfrm>
                <a:off x="6331308" y="1189619"/>
                <a:ext cx="1791803" cy="1764794"/>
              </a:xfrm>
              <a:prstGeom prst="rect">
                <a:avLst/>
              </a:prstGeom>
            </p:spPr>
          </p:pic>
          <p:pic>
            <p:nvPicPr>
              <p:cNvPr id="599" name="图片 35"/>
              <p:cNvPicPr>
                <a:picLocks noChangeAspect="1"/>
              </p:cNvPicPr>
              <p:nvPr/>
            </p:nvPicPr>
            <p:blipFill>
              <a:blip r:embed="rId3"/>
              <a:srcRect/>
              <a:stretch>
                <a:fillRect/>
              </a:stretch>
            </p:blipFill>
            <p:spPr>
              <a:xfrm>
                <a:off x="8302517" y="1422328"/>
                <a:ext cx="3510183" cy="965303"/>
              </a:xfrm>
              <a:prstGeom prst="rect">
                <a:avLst/>
              </a:prstGeom>
            </p:spPr>
          </p:pic>
        </p:grpSp>
        <p:sp>
          <p:nvSpPr>
            <p:cNvPr id="600" name="矩形 15"/>
            <p:cNvSpPr/>
            <p:nvPr/>
          </p:nvSpPr>
          <p:spPr>
            <a:xfrm>
              <a:off x="5470629" y="1076339"/>
              <a:ext cx="3027729" cy="410186"/>
            </a:xfrm>
            <a:prstGeom prst="rect">
              <a:avLst/>
            </a:prstGeom>
          </p:spPr>
          <p:txBody>
            <a:bodyPr wrap="square">
              <a:spAutoFit/>
            </a:bodyPr>
            <a:lstStyle/>
            <a:p>
              <a:pPr algn="dist">
                <a:defRPr/>
              </a:pPr>
              <a:r>
                <a:rPr lang="en-US" altLang="zh-CN" sz="900" b="1" dirty="0">
                  <a:solidFill>
                    <a:prstClr val="black"/>
                  </a:solidFill>
                  <a:latin typeface="Calibri" panose="020F0502020204030204"/>
                  <a:ea typeface="微软雅黑" panose="020B0503020204020204" pitchFamily="34" charset="-122"/>
                </a:rPr>
                <a:t>WUHAN UNIVERSITY</a:t>
              </a:r>
              <a:endParaRPr lang="en-US" altLang="zh-CN" sz="900" b="1" dirty="0">
                <a:solidFill>
                  <a:prstClr val="black"/>
                </a:solidFill>
                <a:latin typeface="Calibri" panose="020F0502020204030204"/>
                <a:ea typeface="微软雅黑" panose="020B0503020204020204" pitchFamily="34" charset="-122"/>
              </a:endParaRPr>
            </a:p>
          </p:txBody>
        </p:sp>
      </p:grpSp>
      <p:sp>
        <p:nvSpPr>
          <p:cNvPr id="6" name="矩形: 圆角 65"/>
          <p:cNvSpPr/>
          <p:nvPr>
            <p:custDataLst>
              <p:tags r:id="rId4"/>
            </p:custDataLst>
          </p:nvPr>
        </p:nvSpPr>
        <p:spPr>
          <a:xfrm>
            <a:off x="1403350" y="1125220"/>
            <a:ext cx="9156065" cy="2588895"/>
          </a:xfrm>
          <a:prstGeom prst="roundRect">
            <a:avLst/>
          </a:prstGeom>
          <a:solidFill>
            <a:schemeClr val="bg1"/>
          </a:solidFill>
          <a:ln w="38100">
            <a:gradFill>
              <a:gsLst>
                <a:gs pos="50000">
                  <a:schemeClr val="accent6"/>
                </a:gs>
                <a:gs pos="0">
                  <a:schemeClr val="accent6">
                    <a:lumMod val="25000"/>
                    <a:lumOff val="75000"/>
                  </a:schemeClr>
                </a:gs>
                <a:gs pos="100000">
                  <a:schemeClr val="accent6">
                    <a:lumMod val="8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解释变量目前缺乏精确的指标来衡量机动车道和非机动车道的舒适度水平</a:t>
            </a: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7" name="矩形: 圆角 66"/>
          <p:cNvSpPr/>
          <p:nvPr>
            <p:custDataLst>
              <p:tags r:id="rId5"/>
            </p:custDataLst>
          </p:nvPr>
        </p:nvSpPr>
        <p:spPr>
          <a:xfrm>
            <a:off x="648786" y="1975981"/>
            <a:ext cx="1196340" cy="548640"/>
          </a:xfrm>
          <a:prstGeom prst="roundRect">
            <a:avLst/>
          </a:prstGeom>
          <a:solidFill>
            <a:schemeClr val="accent6">
              <a:lumMod val="5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latin typeface="微软雅黑" panose="020B0503020204020204" pitchFamily="34" charset="-122"/>
                <a:ea typeface="微软雅黑" panose="020B0503020204020204" pitchFamily="34" charset="-122"/>
              </a:rPr>
              <a:t>总结</a:t>
            </a:r>
            <a:endParaRPr lang="zh-CN" altLang="en-US" b="1" dirty="0">
              <a:latin typeface="微软雅黑" panose="020B0503020204020204" pitchFamily="34" charset="-122"/>
              <a:ea typeface="微软雅黑" panose="020B0503020204020204" pitchFamily="34" charset="-122"/>
            </a:endParaRPr>
          </a:p>
        </p:txBody>
      </p:sp>
      <p:sp>
        <p:nvSpPr>
          <p:cNvPr id="8" name="Bullet1"/>
          <p:cNvSpPr/>
          <p:nvPr>
            <p:custDataLst>
              <p:tags r:id="rId6"/>
            </p:custDataLst>
          </p:nvPr>
        </p:nvSpPr>
        <p:spPr>
          <a:xfrm>
            <a:off x="2079625" y="1202690"/>
            <a:ext cx="8149590" cy="2299335"/>
          </a:xfrm>
          <a:prstGeom prst="rect">
            <a:avLst/>
          </a:prstGeom>
          <a:noFill/>
          <a:ln w="12700" cap="rnd">
            <a:noFill/>
            <a:prstDash val="solid"/>
            <a:round/>
          </a:ln>
          <a:effectLst>
            <a:outerShdw blurRad="254000" dist="127000" algn="ctr" rotWithShape="0">
              <a:schemeClr val="bg1">
                <a:lumMod val="6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42900" indent="-342900">
              <a:lnSpc>
                <a:spcPct val="150000"/>
              </a:lnSpc>
              <a:spcAft>
                <a:spcPts val="600"/>
              </a:spcAft>
              <a:buFont typeface="Wingdings" panose="05000000000000000000" pitchFamily="2" charset="2"/>
              <a:buChar char="p"/>
            </a:pPr>
            <a:r>
              <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完成了地图学知识图谱的核心构建；</a:t>
            </a:r>
            <a:endPar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nSpc>
                <a:spcPct val="150000"/>
              </a:lnSpc>
              <a:spcAft>
                <a:spcPts val="600"/>
              </a:spcAft>
              <a:buFont typeface="Wingdings" panose="05000000000000000000" pitchFamily="2" charset="2"/>
              <a:buChar char="p"/>
            </a:pPr>
            <a:r>
              <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掌握了领域知识图谱自动化构建、智能交互的全流程核心技术；</a:t>
            </a:r>
            <a:endPar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nSpc>
                <a:spcPct val="150000"/>
              </a:lnSpc>
              <a:spcAft>
                <a:spcPts val="600"/>
              </a:spcAft>
              <a:buFont typeface="Wingdings" panose="05000000000000000000" pitchFamily="2" charset="2"/>
              <a:buChar char="p"/>
            </a:pPr>
            <a:r>
              <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创建了基于地图制图知识图谱的</a:t>
            </a:r>
            <a:r>
              <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智能问答系统；</a:t>
            </a:r>
            <a:endPar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nSpc>
                <a:spcPct val="150000"/>
              </a:lnSpc>
              <a:spcAft>
                <a:spcPts val="600"/>
              </a:spcAft>
              <a:buFont typeface="Wingdings" panose="05000000000000000000" pitchFamily="2" charset="2"/>
              <a:buChar char="p"/>
            </a:pPr>
            <a:r>
              <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完成核心技术链路的多原型验证，实现自然语言驱动智能制图的最小闭</a:t>
            </a:r>
            <a:r>
              <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环；</a:t>
            </a:r>
            <a:endPar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nSpc>
                <a:spcPct val="150000"/>
              </a:lnSpc>
              <a:spcAft>
                <a:spcPts val="600"/>
              </a:spcAft>
              <a:buFont typeface="Wingdings" panose="05000000000000000000" pitchFamily="2" charset="2"/>
              <a:buChar char="p"/>
            </a:pPr>
            <a:r>
              <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完成用户端</a:t>
            </a:r>
            <a:r>
              <a:rPr lang="en-US" altLang="zh-CN"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UI </a:t>
            </a:r>
            <a:r>
              <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界面全流程设计与规范制定。</a:t>
            </a:r>
            <a:endPar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矩形: 圆角 84"/>
          <p:cNvSpPr/>
          <p:nvPr>
            <p:custDataLst>
              <p:tags r:id="rId7"/>
            </p:custDataLst>
          </p:nvPr>
        </p:nvSpPr>
        <p:spPr>
          <a:xfrm>
            <a:off x="1338580" y="4041140"/>
            <a:ext cx="9221470" cy="2449195"/>
          </a:xfrm>
          <a:prstGeom prst="roundRect">
            <a:avLst/>
          </a:prstGeom>
          <a:solidFill>
            <a:schemeClr val="bg1"/>
          </a:solidFill>
          <a:ln w="38100">
            <a:gradFill>
              <a:gsLst>
                <a:gs pos="50000">
                  <a:schemeClr val="accent6"/>
                </a:gs>
                <a:gs pos="0">
                  <a:schemeClr val="accent6">
                    <a:lumMod val="25000"/>
                    <a:lumOff val="75000"/>
                  </a:schemeClr>
                </a:gs>
                <a:gs pos="100000">
                  <a:schemeClr val="accent6">
                    <a:lumMod val="8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解释变量目前缺乏精确的指标来衡量机动车道和非机动车道的舒适度水平</a:t>
            </a: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10" name="矩形: 圆角 85"/>
          <p:cNvSpPr/>
          <p:nvPr>
            <p:custDataLst>
              <p:tags r:id="rId8"/>
            </p:custDataLst>
          </p:nvPr>
        </p:nvSpPr>
        <p:spPr>
          <a:xfrm>
            <a:off x="648978" y="4756734"/>
            <a:ext cx="1196340" cy="548640"/>
          </a:xfrm>
          <a:prstGeom prst="roundRect">
            <a:avLst/>
          </a:prstGeom>
          <a:solidFill>
            <a:schemeClr val="accent6">
              <a:lumMod val="5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latin typeface="微软雅黑" panose="020B0503020204020204" pitchFamily="34" charset="-122"/>
                <a:ea typeface="微软雅黑" panose="020B0503020204020204" pitchFamily="34" charset="-122"/>
              </a:rPr>
              <a:t>展望</a:t>
            </a:r>
            <a:endParaRPr lang="zh-CN" altLang="en-US" b="1" dirty="0">
              <a:latin typeface="微软雅黑" panose="020B0503020204020204" pitchFamily="34" charset="-122"/>
              <a:ea typeface="微软雅黑" panose="020B0503020204020204" pitchFamily="34" charset="-122"/>
            </a:endParaRPr>
          </a:p>
        </p:txBody>
      </p:sp>
      <p:sp>
        <p:nvSpPr>
          <p:cNvPr id="11" name="Bullet1"/>
          <p:cNvSpPr/>
          <p:nvPr>
            <p:custDataLst>
              <p:tags r:id="rId9"/>
            </p:custDataLst>
          </p:nvPr>
        </p:nvSpPr>
        <p:spPr>
          <a:xfrm>
            <a:off x="2079764" y="4143184"/>
            <a:ext cx="8149564" cy="2250718"/>
          </a:xfrm>
          <a:prstGeom prst="rect">
            <a:avLst/>
          </a:prstGeom>
          <a:noFill/>
          <a:ln w="12700" cap="rnd">
            <a:noFill/>
            <a:prstDash val="solid"/>
            <a:round/>
          </a:ln>
          <a:effectLst>
            <a:outerShdw blurRad="254000" dist="127000" algn="ctr" rotWithShape="0">
              <a:schemeClr val="bg1">
                <a:lumMod val="6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42900" lvl="0" indent="-342900" algn="l">
              <a:lnSpc>
                <a:spcPct val="150000"/>
              </a:lnSpc>
              <a:spcAft>
                <a:spcPts val="600"/>
              </a:spcAft>
              <a:buClrTx/>
              <a:buSzTx/>
              <a:buFont typeface="Wingdings" panose="05000000000000000000" pitchFamily="2" charset="2"/>
              <a:buChar char="p"/>
            </a:pPr>
            <a:r>
              <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持续优化知识图谱，提升知识的覆盖率和准确率；</a:t>
            </a:r>
            <a:endPar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lvl="0" indent="-342900" algn="l">
              <a:lnSpc>
                <a:spcPct val="150000"/>
              </a:lnSpc>
              <a:spcAft>
                <a:spcPts val="600"/>
              </a:spcAft>
              <a:buClrTx/>
              <a:buSzTx/>
              <a:buFont typeface="Wingdings" panose="05000000000000000000" pitchFamily="2" charset="2"/>
              <a:buChar char="p"/>
            </a:pPr>
            <a:r>
              <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完成原型系统集成与验证；</a:t>
            </a:r>
            <a:endPar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lvl="0" indent="-342900" algn="l">
              <a:lnSpc>
                <a:spcPct val="150000"/>
              </a:lnSpc>
              <a:spcAft>
                <a:spcPts val="600"/>
              </a:spcAft>
              <a:buClrTx/>
              <a:buSzTx/>
              <a:buFont typeface="Wingdings" panose="05000000000000000000" pitchFamily="2" charset="2"/>
              <a:buChar char="p"/>
            </a:pPr>
            <a:r>
              <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增强</a:t>
            </a:r>
            <a:r>
              <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智能体处理复杂任务和异常情况的能力；</a:t>
            </a:r>
            <a:endPar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lvl="0" indent="-342900" algn="l">
              <a:lnSpc>
                <a:spcPct val="150000"/>
              </a:lnSpc>
              <a:spcAft>
                <a:spcPts val="600"/>
              </a:spcAft>
              <a:buClrTx/>
              <a:buSzTx/>
              <a:buFont typeface="Wingdings" panose="05000000000000000000" pitchFamily="2" charset="2"/>
              <a:buChar char="p"/>
            </a:pPr>
            <a:r>
              <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优化算法，提升系统响应速度和地图生成质量；</a:t>
            </a:r>
            <a:endPar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endParaRPr>
          </a:p>
          <a:p>
            <a:pPr marL="342900" lvl="0" indent="-342900" algn="l">
              <a:lnSpc>
                <a:spcPct val="150000"/>
              </a:lnSpc>
              <a:spcAft>
                <a:spcPts val="600"/>
              </a:spcAft>
              <a:buClrTx/>
              <a:buSzTx/>
              <a:buFont typeface="Wingdings" panose="05000000000000000000" pitchFamily="2" charset="2"/>
              <a:buChar char="p"/>
            </a:pPr>
            <a:r>
              <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拓展更多应用场景，进行更广泛的用户测试与反馈收集。</a:t>
            </a:r>
            <a:endPar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endParaRPr>
          </a:p>
        </p:txBody>
      </p:sp>
      <p:sp>
        <p:nvSpPr>
          <p:cNvPr id="2" name="页脚占位符 1"/>
          <p:cNvSpPr>
            <a:spLocks noGrp="1"/>
          </p:cNvSpPr>
          <p:nvPr>
            <p:ph type="ftr" sz="quarter" idx="11"/>
          </p:nvPr>
        </p:nvSpPr>
        <p:spPr/>
        <p:txBody>
          <a:bodyPr/>
          <a:p>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07" name=""/>
        <p:cNvGrpSpPr/>
        <p:nvPr/>
      </p:nvGrpSpPr>
      <p:grpSpPr>
        <a:xfrm>
          <a:off x="0" y="0"/>
          <a:ext cx="0" cy="0"/>
          <a:chOff x="0" y="0"/>
          <a:chExt cx="0" cy="0"/>
        </a:xfrm>
      </p:grpSpPr>
      <p:pic>
        <p:nvPicPr>
          <p:cNvPr id="108" name="Picture 2"/>
          <p:cNvPicPr>
            <a:picLocks noChangeAspect="1" noChangeArrowheads="1"/>
          </p:cNvPicPr>
          <p:nvPr/>
        </p:nvPicPr>
        <p:blipFill rotWithShape="1">
          <a:blip r:embed="rId1">
            <a:extLst>
              <a:ext uri="{BEBA8EAE-BF5A-486C-A8C5-ECC9F3942E4B}">
                <a14:imgProps xmlns:a14="http://schemas.microsoft.com/office/drawing/2010/main">
                  <a14:imgLayer r:embed="rId2">
                    <a14:imgEffect>
                      <a14:brightnessContrast bright="20000" contrast="40000"/>
                    </a14:imgEffect>
                  </a14:imgLayer>
                </a14:imgProps>
              </a:ext>
            </a:extLst>
          </a:blip>
          <a:srcRect b="25979"/>
          <a:stretch>
            <a:fillRect/>
          </a:stretch>
        </p:blipFill>
        <p:spPr bwMode="auto">
          <a:xfrm>
            <a:off x="1" y="1592036"/>
            <a:ext cx="12191998" cy="3023421"/>
          </a:xfrm>
          <a:prstGeom prst="rect">
            <a:avLst/>
          </a:prstGeom>
          <a:noFill/>
        </p:spPr>
      </p:pic>
      <p:sp>
        <p:nvSpPr>
          <p:cNvPr id="109" name="矩形 4"/>
          <p:cNvSpPr/>
          <p:nvPr/>
        </p:nvSpPr>
        <p:spPr>
          <a:xfrm>
            <a:off x="0" y="1591945"/>
            <a:ext cx="12192000" cy="3020695"/>
          </a:xfrm>
          <a:prstGeom prst="rect">
            <a:avLst/>
          </a:prstGeom>
          <a:solidFill>
            <a:srgbClr val="014B30">
              <a:alpha val="82000"/>
            </a:srgbClr>
          </a:solidFill>
          <a:ln w="12700" cap="flat" cmpd="sng" algn="ctr">
            <a:noFill/>
            <a:prstDash val="solid"/>
            <a:miter lim="800000"/>
          </a:ln>
          <a:effectLst/>
        </p:spPr>
        <p:txBody>
          <a:bodyPr rtlCol="0" anchor="ctr"/>
          <a:lstStyle/>
          <a:p>
            <a:pPr algn="ctr">
              <a:defRPr/>
            </a:pPr>
            <a:endParaRPr lang="zh-CN" altLang="en-US" kern="0" dirty="0">
              <a:solidFill>
                <a:srgbClr val="FFFFFF"/>
              </a:solidFill>
              <a:latin typeface="Arial" panose="020B0604020202020204"/>
              <a:ea typeface="微软雅黑" panose="020B0503020204020204" pitchFamily="34" charset="-122"/>
              <a:cs typeface="+mn-ea"/>
              <a:sym typeface="+mn-lt"/>
            </a:endParaRPr>
          </a:p>
        </p:txBody>
      </p:sp>
      <p:grpSp>
        <p:nvGrpSpPr>
          <p:cNvPr id="110" name="组合 5"/>
          <p:cNvGrpSpPr>
            <a:grpSpLocks noChangeAspect="1"/>
          </p:cNvGrpSpPr>
          <p:nvPr/>
        </p:nvGrpSpPr>
        <p:grpSpPr>
          <a:xfrm rot="0">
            <a:off x="4342130" y="285115"/>
            <a:ext cx="3373120" cy="1060450"/>
            <a:chOff x="3985415" y="208718"/>
            <a:chExt cx="4288716" cy="1348022"/>
          </a:xfrm>
        </p:grpSpPr>
        <p:grpSp>
          <p:nvGrpSpPr>
            <p:cNvPr id="111" name="组合 6"/>
            <p:cNvGrpSpPr/>
            <p:nvPr/>
          </p:nvGrpSpPr>
          <p:grpSpPr>
            <a:xfrm>
              <a:off x="3985415" y="208718"/>
              <a:ext cx="4288716" cy="1348022"/>
              <a:chOff x="6212289" y="1237107"/>
              <a:chExt cx="5517703" cy="1734319"/>
            </a:xfrm>
          </p:grpSpPr>
          <p:pic>
            <p:nvPicPr>
              <p:cNvPr id="112" name="图片 8"/>
              <p:cNvPicPr>
                <a:picLocks noChangeAspect="1"/>
              </p:cNvPicPr>
              <p:nvPr/>
            </p:nvPicPr>
            <p:blipFill>
              <a:blip r:embed="rId3"/>
              <a:srcRect/>
              <a:stretch>
                <a:fillRect/>
              </a:stretch>
            </p:blipFill>
            <p:spPr>
              <a:xfrm>
                <a:off x="6212289" y="1237107"/>
                <a:ext cx="1760862" cy="1734319"/>
              </a:xfrm>
              <a:prstGeom prst="rect">
                <a:avLst/>
              </a:prstGeom>
            </p:spPr>
          </p:pic>
          <p:pic>
            <p:nvPicPr>
              <p:cNvPr id="113" name="图片 9"/>
              <p:cNvPicPr>
                <a:picLocks noChangeAspect="1"/>
              </p:cNvPicPr>
              <p:nvPr/>
            </p:nvPicPr>
            <p:blipFill>
              <a:blip r:embed="rId4"/>
              <a:srcRect/>
              <a:stretch>
                <a:fillRect/>
              </a:stretch>
            </p:blipFill>
            <p:spPr>
              <a:xfrm>
                <a:off x="8069580" y="1413307"/>
                <a:ext cx="3660412" cy="1006616"/>
              </a:xfrm>
              <a:prstGeom prst="rect">
                <a:avLst/>
              </a:prstGeom>
            </p:spPr>
          </p:pic>
        </p:grpSp>
        <p:sp>
          <p:nvSpPr>
            <p:cNvPr id="114" name="矩形 7"/>
            <p:cNvSpPr/>
            <p:nvPr/>
          </p:nvSpPr>
          <p:spPr>
            <a:xfrm>
              <a:off x="5399041" y="1126776"/>
              <a:ext cx="2845109" cy="389877"/>
            </a:xfrm>
            <a:prstGeom prst="rect">
              <a:avLst/>
            </a:prstGeom>
          </p:spPr>
          <p:txBody>
            <a:bodyPr wrap="square">
              <a:spAutoFit/>
            </a:bodyPr>
            <a:lstStyle/>
            <a:p>
              <a:pPr algn="dist">
                <a:defRPr/>
              </a:pPr>
              <a:r>
                <a:rPr lang="en-US" altLang="zh-CN" sz="1400" b="1" dirty="0">
                  <a:solidFill>
                    <a:prstClr val="black"/>
                  </a:solidFill>
                  <a:latin typeface="Calibri" panose="020F0502020204030204"/>
                  <a:ea typeface="微软雅黑" panose="020B0503020204020204" pitchFamily="34" charset="-122"/>
                </a:rPr>
                <a:t>WUHAN UNIVERSITY</a:t>
              </a:r>
              <a:endParaRPr lang="en-US" altLang="zh-CN" sz="1400" b="1" dirty="0">
                <a:solidFill>
                  <a:prstClr val="black"/>
                </a:solidFill>
                <a:latin typeface="Calibri" panose="020F0502020204030204"/>
                <a:ea typeface="微软雅黑" panose="020B0503020204020204" pitchFamily="34" charset="-122"/>
              </a:endParaRPr>
            </a:p>
          </p:txBody>
        </p:sp>
      </p:grpSp>
      <p:sp>
        <p:nvSpPr>
          <p:cNvPr id="115" name="TextBox 14"/>
          <p:cNvSpPr txBox="1"/>
          <p:nvPr/>
        </p:nvSpPr>
        <p:spPr>
          <a:xfrm>
            <a:off x="10468610" y="6245225"/>
            <a:ext cx="1310640" cy="504825"/>
          </a:xfrm>
          <a:prstGeom prst="rect">
            <a:avLst/>
          </a:prstGeom>
          <a:noFill/>
        </p:spPr>
        <p:txBody>
          <a:bodyPr wrap="none" rtlCol="0">
            <a:noAutofit/>
          </a:bodyPr>
          <a:lstStyle/>
          <a:p>
            <a:pPr algn="ctr"/>
            <a:r>
              <a:rPr lang="en-US" altLang="zh-CN" sz="2000">
                <a:solidFill>
                  <a:srgbClr val="014B30">
                    <a:alpha val="100000"/>
                  </a:srgbClr>
                </a:solidFill>
                <a:latin typeface="华文行楷" panose="02010800040101010101" charset="-122"/>
                <a:ea typeface="华文行楷" panose="02010800040101010101" charset="-122"/>
                <a:cs typeface="等线" panose="02010600030101010101" pitchFamily="2" charset="-122"/>
              </a:rPr>
              <a:t>2026.3.14</a:t>
            </a:r>
            <a:endParaRPr lang="en-US" altLang="zh-CN" sz="2000">
              <a:solidFill>
                <a:srgbClr val="014B30">
                  <a:alpha val="100000"/>
                </a:srgbClr>
              </a:solidFill>
              <a:latin typeface="华文行楷" panose="02010800040101010101" charset="-122"/>
              <a:ea typeface="华文行楷" panose="02010800040101010101" charset="-122"/>
              <a:cs typeface="等线" panose="02010600030101010101" pitchFamily="2" charset="-122"/>
            </a:endParaRPr>
          </a:p>
        </p:txBody>
      </p:sp>
      <p:cxnSp>
        <p:nvCxnSpPr>
          <p:cNvPr id="119" name="直接连接符 17"/>
          <p:cNvCxnSpPr/>
          <p:nvPr/>
        </p:nvCxnSpPr>
        <p:spPr>
          <a:xfrm>
            <a:off x="-249638" y="4893485"/>
            <a:ext cx="5256126" cy="0"/>
          </a:xfrm>
          <a:prstGeom prst="line">
            <a:avLst/>
          </a:prstGeom>
          <a:noFill/>
          <a:ln w="38100" cap="flat" cmpd="sng" algn="ctr">
            <a:solidFill>
              <a:srgbClr val="014B30"/>
            </a:solidFill>
            <a:prstDash val="solid"/>
            <a:miter lim="800000"/>
          </a:ln>
          <a:effectLst/>
        </p:spPr>
      </p:cxnSp>
      <p:cxnSp>
        <p:nvCxnSpPr>
          <p:cNvPr id="121" name="直接连接符 18"/>
          <p:cNvCxnSpPr>
            <a:stCxn id="120" idx="3"/>
          </p:cNvCxnSpPr>
          <p:nvPr/>
        </p:nvCxnSpPr>
        <p:spPr>
          <a:xfrm flipV="1">
            <a:off x="7238852" y="4889574"/>
            <a:ext cx="5386041" cy="4546"/>
          </a:xfrm>
          <a:prstGeom prst="line">
            <a:avLst/>
          </a:prstGeom>
          <a:noFill/>
          <a:ln w="38100" cap="flat" cmpd="sng" algn="ctr">
            <a:solidFill>
              <a:srgbClr val="014B30"/>
            </a:solidFill>
            <a:prstDash val="solid"/>
            <a:miter lim="800000"/>
          </a:ln>
          <a:effectLst/>
        </p:spPr>
      </p:cxnSp>
      <p:pic>
        <p:nvPicPr>
          <p:cNvPr id="120" name="图片 19"/>
          <p:cNvPicPr>
            <a:picLocks noChangeAspect="1"/>
          </p:cNvPicPr>
          <p:nvPr/>
        </p:nvPicPr>
        <p:blipFill>
          <a:blip r:embed="rId5"/>
          <a:srcRect/>
          <a:stretch>
            <a:fillRect/>
          </a:stretch>
        </p:blipFill>
        <p:spPr>
          <a:xfrm>
            <a:off x="4959498" y="4735775"/>
            <a:ext cx="2279354" cy="315419"/>
          </a:xfrm>
          <a:prstGeom prst="rect">
            <a:avLst/>
          </a:prstGeom>
        </p:spPr>
      </p:pic>
      <p:sp>
        <p:nvSpPr>
          <p:cNvPr id="2" name="文本框 1"/>
          <p:cNvSpPr txBox="1"/>
          <p:nvPr/>
        </p:nvSpPr>
        <p:spPr>
          <a:xfrm>
            <a:off x="707390" y="2660015"/>
            <a:ext cx="11188700" cy="579755"/>
          </a:xfrm>
          <a:prstGeom prst="rect">
            <a:avLst/>
          </a:prstGeom>
        </p:spPr>
        <p:txBody>
          <a:bodyPr>
            <a:noAutofit/>
          </a:bodyPr>
          <a:p>
            <a:r>
              <a:rPr lang="zh-CN" sz="8000" b="1">
                <a:solidFill>
                  <a:schemeClr val="bg1">
                    <a:alpha val="100000"/>
                  </a:schemeClr>
                </a:solidFill>
                <a:latin typeface="华文行楷" panose="02010800040101010101" charset="-122"/>
                <a:ea typeface="华文行楷" panose="02010800040101010101" charset="-122"/>
                <a:cs typeface="华文行楷" panose="02010800040101010101" charset="-122"/>
              </a:rPr>
              <a:t>恳请各位老师批评指正</a:t>
            </a:r>
            <a:endParaRPr lang="zh-CN" sz="8000" b="1">
              <a:solidFill>
                <a:schemeClr val="bg1">
                  <a:alpha val="100000"/>
                </a:schemeClr>
              </a:solidFill>
              <a:latin typeface="华文行楷" panose="02010800040101010101" charset="-122"/>
              <a:ea typeface="华文行楷" panose="02010800040101010101" charset="-122"/>
              <a:cs typeface="华文行楷" panose="02010800040101010101" charset="-122"/>
            </a:endParaRPr>
          </a:p>
        </p:txBody>
      </p:sp>
      <p:sp>
        <p:nvSpPr>
          <p:cNvPr id="507" name="文本框 1"/>
          <p:cNvSpPr txBox="1"/>
          <p:nvPr/>
        </p:nvSpPr>
        <p:spPr>
          <a:xfrm>
            <a:off x="4588510" y="1765935"/>
            <a:ext cx="3103245" cy="441960"/>
          </a:xfrm>
          <a:prstGeom prst="rect">
            <a:avLst/>
          </a:prstGeom>
        </p:spPr>
        <p:txBody>
          <a:bodyPr>
            <a:noAutofit/>
          </a:bodyPr>
          <a:p>
            <a:r>
              <a:rPr lang="en-US" sz="3600" b="1">
                <a:solidFill>
                  <a:schemeClr val="bg1">
                    <a:alpha val="100000"/>
                  </a:schemeClr>
                </a:solidFill>
                <a:latin typeface="演示流云楷"/>
                <a:ea typeface="演示流云楷"/>
                <a:cs typeface="+mn-cs"/>
              </a:rPr>
              <a:t>— THANKS —</a:t>
            </a:r>
            <a:endParaRPr lang="en-US" sz="3600" b="1">
              <a:solidFill>
                <a:schemeClr val="bg1">
                  <a:alpha val="100000"/>
                </a:schemeClr>
              </a:solidFill>
              <a:latin typeface="演示流云楷"/>
              <a:ea typeface="演示流云楷"/>
              <a:cs typeface="+mn-cs"/>
            </a:endParaRPr>
          </a:p>
        </p:txBody>
      </p:sp>
      <p:sp>
        <p:nvSpPr>
          <p:cNvPr id="4" name="文本框 3"/>
          <p:cNvSpPr txBox="1"/>
          <p:nvPr/>
        </p:nvSpPr>
        <p:spPr>
          <a:xfrm>
            <a:off x="3278505" y="5196205"/>
            <a:ext cx="5634990" cy="1198880"/>
          </a:xfrm>
          <a:prstGeom prst="rect">
            <a:avLst/>
          </a:prstGeom>
          <a:noFill/>
        </p:spPr>
        <p:txBody>
          <a:bodyPr wrap="square" rtlCol="0" anchor="t">
            <a:spAutoFit/>
          </a:bodyPr>
          <a:p>
            <a:pPr algn="ctr">
              <a:lnSpc>
                <a:spcPct val="150000"/>
              </a:lnSpc>
            </a:pPr>
            <a:r>
              <a:rPr lang="zh-CN" altLang="en-US" sz="2400">
                <a:solidFill>
                  <a:srgbClr val="00481C"/>
                </a:solidFill>
                <a:latin typeface="华文行楷" panose="02010800040101010101" charset="-122"/>
                <a:ea typeface="华文行楷" panose="02010800040101010101" charset="-122"/>
              </a:rPr>
              <a:t>集成大语言模型与知识图谱的</a:t>
            </a:r>
            <a:endParaRPr lang="zh-CN" altLang="en-US" sz="2400">
              <a:solidFill>
                <a:srgbClr val="00481C"/>
              </a:solidFill>
              <a:latin typeface="华文行楷" panose="02010800040101010101" charset="-122"/>
              <a:ea typeface="华文行楷" panose="02010800040101010101" charset="-122"/>
            </a:endParaRPr>
          </a:p>
          <a:p>
            <a:pPr algn="ctr">
              <a:lnSpc>
                <a:spcPct val="150000"/>
              </a:lnSpc>
            </a:pPr>
            <a:r>
              <a:rPr lang="zh-CN" altLang="en-US" sz="2400">
                <a:solidFill>
                  <a:srgbClr val="00481C"/>
                </a:solidFill>
                <a:latin typeface="华文行楷" panose="02010800040101010101" charset="-122"/>
                <a:ea typeface="华文行楷" panose="02010800040101010101" charset="-122"/>
              </a:rPr>
              <a:t>在线地图制图智能体研发</a:t>
            </a:r>
            <a:endParaRPr lang="zh-CN" altLang="en-US" sz="2400">
              <a:solidFill>
                <a:srgbClr val="00481C"/>
              </a:solidFill>
              <a:latin typeface="华文行楷" panose="02010800040101010101" charset="-122"/>
              <a:ea typeface="华文行楷" panose="02010800040101010101" charset="-122"/>
            </a:endParaRPr>
          </a:p>
        </p:txBody>
      </p:sp>
      <p:sp>
        <p:nvSpPr>
          <p:cNvPr id="3" name="文本框 2"/>
          <p:cNvSpPr txBox="1"/>
          <p:nvPr/>
        </p:nvSpPr>
        <p:spPr>
          <a:xfrm>
            <a:off x="9792970" y="5790565"/>
            <a:ext cx="2103120" cy="398780"/>
          </a:xfrm>
          <a:prstGeom prst="rect">
            <a:avLst/>
          </a:prstGeom>
          <a:noFill/>
        </p:spPr>
        <p:txBody>
          <a:bodyPr wrap="square" rtlCol="0" anchor="t">
            <a:spAutoFit/>
          </a:bodyPr>
          <a:p>
            <a:r>
              <a:rPr lang="zh-CN" sz="2000">
                <a:solidFill>
                  <a:srgbClr val="014B30">
                    <a:alpha val="100000"/>
                  </a:srgbClr>
                </a:solidFill>
                <a:latin typeface="华文行楷" panose="02010800040101010101" charset="-122"/>
                <a:ea typeface="华文行楷" panose="02010800040101010101" charset="-122"/>
                <a:cs typeface="等线" panose="02010600030101010101" pitchFamily="2" charset="-122"/>
                <a:sym typeface="+mn-ea"/>
              </a:rPr>
              <a:t>答辩人：匡怡琳</a:t>
            </a:r>
            <a:endParaRPr lang="zh-CN" altLang="en-US" sz="2000">
              <a:solidFill>
                <a:srgbClr val="014B30">
                  <a:alpha val="100000"/>
                </a:srgbClr>
              </a:solidFill>
              <a:latin typeface="华文行楷" panose="02010800040101010101" charset="-122"/>
              <a:ea typeface="华文行楷" panose="02010800040101010101" charset="-122"/>
              <a:cs typeface="等线" panose="02010600030101010101" pitchFamily="2" charset="-122"/>
              <a:sym typeface="+mn-ea"/>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tags/tag1.xml><?xml version="1.0" encoding="utf-8"?>
<p:tagLst xmlns:p="http://schemas.openxmlformats.org/presentationml/2006/main">
  <p:tag name="KSO_WM_DIAGRAM_VIRTUALLY_FRAME" val="{&quot;height&quot;:313.4766929133858,&quot;left&quot;:512.0675590551181,&quot;top&quot;:118.59881889763778,&quot;width&quot;:337.0856692913386}"/>
</p:tagLst>
</file>

<file path=ppt/tags/tag2.xml><?xml version="1.0" encoding="utf-8"?>
<p:tagLst xmlns:p="http://schemas.openxmlformats.org/presentationml/2006/main">
  <p:tag name="KSO_WM_DIAGRAM_VIRTUALLY_FRAME" val="{&quot;height&quot;:313.4766929133858,&quot;left&quot;:512.0675590551181,&quot;top&quot;:118.59881889763778,&quot;width&quot;:337.0856692913386}"/>
</p:tagLst>
</file>

<file path=ppt/tags/tag3.xml><?xml version="1.0" encoding="utf-8"?>
<p:tagLst xmlns:p="http://schemas.openxmlformats.org/presentationml/2006/main">
  <p:tag name="KSO_WM_DIAGRAM_VIRTUALLY_FRAME" val="{&quot;height&quot;:313.4766929133858,&quot;left&quot;:512.0675590551181,&quot;top&quot;:118.59881889763778,&quot;width&quot;:337.0856692913386}"/>
</p:tagLst>
</file>

<file path=ppt/tags/tag4.xml><?xml version="1.0" encoding="utf-8"?>
<p:tagLst xmlns:p="http://schemas.openxmlformats.org/presentationml/2006/main">
  <p:tag name="KSO_WM_DIAGRAM_VIRTUALLY_FRAME" val="{&quot;height&quot;:313.4766929133858,&quot;left&quot;:512.0675590551181,&quot;top&quot;:118.59881889763778,&quot;width&quot;:337.0856692913386}"/>
</p:tagLst>
</file>

<file path=ppt/tags/tag5.xml><?xml version="1.0" encoding="utf-8"?>
<p:tagLst xmlns:p="http://schemas.openxmlformats.org/presentationml/2006/main">
  <p:tag name="KSO_WM_DIAGRAM_VIRTUALLY_FRAME" val="{&quot;height&quot;:313.4766929133858,&quot;left&quot;:512.0675590551181,&quot;top&quot;:118.59881889763778,&quot;width&quot;:337.0856692913386}"/>
</p:tagLst>
</file>

<file path=ppt/tags/tag6.xml><?xml version="1.0" encoding="utf-8"?>
<p:tagLst xmlns:p="http://schemas.openxmlformats.org/presentationml/2006/main">
  <p:tag name="KSO_WM_DIAGRAM_VIRTUALLY_FRAME" val="{&quot;height&quot;:313.4766929133858,&quot;left&quot;:512.0675590551181,&quot;top&quot;:118.59881889763778,&quot;width&quot;:337.0856692913386}"/>
</p:tagLst>
</file>

<file path=ppt/tags/tag7.xml><?xml version="1.0" encoding="utf-8"?>
<p:tagLst xmlns:p="http://schemas.openxmlformats.org/presentationml/2006/main">
  <p:tag name="KSO_WM_DIAGRAM_VIRTUALLY_FRAME" val="{&quot;height&quot;:313.4766929133858,&quot;left&quot;:512.0675590551181,&quot;top&quot;:118.59881889763778,&quot;width&quot;:337.0856692913386}"/>
</p:tagLst>
</file>

<file path=ppt/tags/tag8.xml><?xml version="1.0" encoding="utf-8"?>
<p:tagLst xmlns:p="http://schemas.openxmlformats.org/presentationml/2006/main">
  <p:tag name="KSO_WM_DIAGRAM_VIRTUALLY_FRAME" val="{&quot;height&quot;:313.4766929133858,&quot;left&quot;:512.0675590551181,&quot;top&quot;:118.59881889763778,&quot;width&quot;:337.0856692913386}"/>
</p:tagLst>
</file>

<file path=ppt/tags/tag9.xml><?xml version="1.0" encoding="utf-8"?>
<p:tagLst xmlns:p="http://schemas.openxmlformats.org/presentationml/2006/main">
  <p:tag name="KSO_WM_DIAGRAM_VIRTUALLY_FRAME" val="{&quot;height&quot;:313.4766929133858,&quot;left&quot;:512.0675590551181,&quot;top&quot;:118.59881889763778,&quot;width&quot;:337.0856692913386}"/>
</p:tagLst>
</file>

<file path=ppt/tags/tag10.xml><?xml version="1.0" encoding="utf-8"?>
<p:tagLst xmlns:p="http://schemas.openxmlformats.org/presentationml/2006/main">
  <p:tag name="KSO_WM_DIAGRAM_VIRTUALLY_FRAME" val="{&quot;height&quot;:313.4766929133858,&quot;left&quot;:512.0675590551181,&quot;top&quot;:118.59881889763778,&quot;width&quot;:337.0856692913386}"/>
</p:tagLst>
</file>

<file path=ppt/tags/tag11.xml><?xml version="1.0" encoding="utf-8"?>
<p:tagLst xmlns:p="http://schemas.openxmlformats.org/presentationml/2006/main">
  <p:tag name="KSO_WM_DIAGRAM_VIRTUALLY_FRAME" val="{&quot;height&quot;:313.4766929133858,&quot;left&quot;:512.0675590551181,&quot;top&quot;:118.59881889763778,&quot;width&quot;:337.0856692913386}"/>
</p:tagLst>
</file>

<file path=ppt/tags/tag12.xml><?xml version="1.0" encoding="utf-8"?>
<p:tagLst xmlns:p="http://schemas.openxmlformats.org/presentationml/2006/main">
  <p:tag name="KSO_WM_DIAGRAM_VIRTUALLY_FRAME" val="{&quot;height&quot;:313.4766929133858,&quot;left&quot;:512.0675590551181,&quot;top&quot;:118.59881889763778,&quot;width&quot;:337.0856692913386}"/>
</p:tagLst>
</file>

<file path=ppt/tags/tag13.xml><?xml version="1.0" encoding="utf-8"?>
<p:tagLst xmlns:p="http://schemas.openxmlformats.org/presentationml/2006/main">
  <p:tag name="KSO_WM_DIAGRAM_VIRTUALLY_FRAME" val="{&quot;height&quot;:313.4766929133858,&quot;left&quot;:512.0675590551181,&quot;top&quot;:118.59881889763778,&quot;width&quot;:337.0856692913386}"/>
</p:tagLst>
</file>

<file path=ppt/tags/tag14.xml><?xml version="1.0" encoding="utf-8"?>
<p:tagLst xmlns:p="http://schemas.openxmlformats.org/presentationml/2006/main">
  <p:tag name="KSO_WM_DIAGRAM_VIRTUALLY_FRAME" val="{&quot;height&quot;:313.4766929133858,&quot;left&quot;:512.0675590551181,&quot;top&quot;:118.59881889763778,&quot;width&quot;:337.0856692913386}"/>
</p:tagLst>
</file>

<file path=ppt/tags/tag15.xml><?xml version="1.0" encoding="utf-8"?>
<p:tagLst xmlns:p="http://schemas.openxmlformats.org/presentationml/2006/main">
  <p:tag name="KSO_WM_DIAGRAM_VIRTUALLY_FRAME" val="{&quot;height&quot;:313.4766929133858,&quot;left&quot;:512.0675590551181,&quot;top&quot;:118.59881889763778,&quot;width&quot;:337.0856692913386}"/>
</p:tagLst>
</file>

<file path=ppt/tags/tag16.xml><?xml version="1.0" encoding="utf-8"?>
<p:tagLst xmlns:p="http://schemas.openxmlformats.org/presentationml/2006/main">
  <p:tag name="KSO_WM_DIAGRAM_VIRTUALLY_FRAME" val="{&quot;height&quot;:313.4766929133858,&quot;left&quot;:512.0675590551181,&quot;top&quot;:118.59881889763778,&quot;width&quot;:337.0856692913386}"/>
</p:tagLst>
</file>

<file path=ppt/tags/tag17.xml><?xml version="1.0" encoding="utf-8"?>
<p:tagLst xmlns:p="http://schemas.openxmlformats.org/presentationml/2006/main">
  <p:tag name="KSO_WM_DIAGRAM_VIRTUALLY_FRAME" val="{&quot;height&quot;:260,&quot;left&quot;:60,&quot;top&quot;:140,&quot;width&quot;:840}"/>
</p:tagLst>
</file>

<file path=ppt/tags/tag18.xml><?xml version="1.0" encoding="utf-8"?>
<p:tagLst xmlns:p="http://schemas.openxmlformats.org/presentationml/2006/main">
  <p:tag name="KSO_WM_DIAGRAM_VIRTUALLY_FRAME" val="{&quot;height&quot;:260,&quot;left&quot;:60,&quot;top&quot;:140,&quot;width&quot;:840}"/>
</p:tagLst>
</file>

<file path=ppt/tags/tag19.xml><?xml version="1.0" encoding="utf-8"?>
<p:tagLst xmlns:p="http://schemas.openxmlformats.org/presentationml/2006/main">
  <p:tag name="KSO_WM_DIAGRAM_VIRTUALLY_FRAME" val="{&quot;height&quot;:260,&quot;left&quot;:60,&quot;top&quot;:140,&quot;width&quot;:840}"/>
</p:tagLst>
</file>

<file path=ppt/tags/tag20.xml><?xml version="1.0" encoding="utf-8"?>
<p:tagLst xmlns:p="http://schemas.openxmlformats.org/presentationml/2006/main">
  <p:tag name="KSO_WM_DIAGRAM_VIRTUALLY_FRAME" val="{&quot;height&quot;:260,&quot;left&quot;:60,&quot;top&quot;:140,&quot;width&quot;:840}"/>
</p:tagLst>
</file>

<file path=ppt/tags/tag21.xml><?xml version="1.0" encoding="utf-8"?>
<p:tagLst xmlns:p="http://schemas.openxmlformats.org/presentationml/2006/main">
  <p:tag name="KSO_WM_DIAGRAM_VIRTUALLY_FRAME" val="{&quot;height&quot;:260,&quot;left&quot;:60,&quot;top&quot;:140,&quot;width&quot;:840}"/>
</p:tagLst>
</file>

<file path=ppt/tags/tag22.xml><?xml version="1.0" encoding="utf-8"?>
<p:tagLst xmlns:p="http://schemas.openxmlformats.org/presentationml/2006/main">
  <p:tag name="KSO_WM_DIAGRAM_VIRTUALLY_FRAME" val="{&quot;height&quot;:260,&quot;left&quot;:60,&quot;top&quot;:140,&quot;width&quot;:840}"/>
</p:tagLst>
</file>

<file path=ppt/tags/tag23.xml><?xml version="1.0" encoding="utf-8"?>
<p:tagLst xmlns:p="http://schemas.openxmlformats.org/presentationml/2006/main">
  <p:tag name="KSO_WM_DIAGRAM_VIRTUALLY_FRAME" val="{&quot;height&quot;:260,&quot;left&quot;:60,&quot;top&quot;:140,&quot;width&quot;:840}"/>
</p:tagLst>
</file>

<file path=ppt/tags/tag24.xml><?xml version="1.0" encoding="utf-8"?>
<p:tagLst xmlns:p="http://schemas.openxmlformats.org/presentationml/2006/main">
  <p:tag name="KSO_WM_DIAGRAM_VIRTUALLY_FRAME" val="{&quot;height&quot;:260,&quot;left&quot;:60,&quot;top&quot;:140,&quot;width&quot;:840}"/>
</p:tagLst>
</file>

<file path=ppt/tags/tag25.xml><?xml version="1.0" encoding="utf-8"?>
<p:tagLst xmlns:p="http://schemas.openxmlformats.org/presentationml/2006/main">
  <p:tag name="KSO_WM_DIAGRAM_VIRTUALLY_FRAME" val="{&quot;height&quot;:260,&quot;left&quot;:60,&quot;top&quot;:140,&quot;width&quot;:840}"/>
</p:tagLst>
</file>

<file path=ppt/tags/tag26.xml><?xml version="1.0" encoding="utf-8"?>
<p:tagLst xmlns:p="http://schemas.openxmlformats.org/presentationml/2006/main">
  <p:tag name="KSO_WM_DIAGRAM_VIRTUALLY_FRAME" val="{&quot;height&quot;:260,&quot;left&quot;:60,&quot;top&quot;:140,&quot;width&quot;:840}"/>
</p:tagLst>
</file>

<file path=ppt/tags/tag27.xml><?xml version="1.0" encoding="utf-8"?>
<p:tagLst xmlns:p="http://schemas.openxmlformats.org/presentationml/2006/main">
  <p:tag name="KSO_WM_DIAGRAM_VIRTUALLY_FRAME" val="{&quot;height&quot;:260,&quot;left&quot;:60,&quot;top&quot;:140,&quot;width&quot;:840}"/>
</p:tagLst>
</file>

<file path=ppt/tags/tag28.xml><?xml version="1.0" encoding="utf-8"?>
<p:tagLst xmlns:p="http://schemas.openxmlformats.org/presentationml/2006/main">
  <p:tag name="KSO_WM_DIAGRAM_VIRTUALLY_FRAME" val="{&quot;height&quot;:260,&quot;left&quot;:60,&quot;top&quot;:140,&quot;width&quot;:840}"/>
</p:tagLst>
</file>

<file path=ppt/tags/tag29.xml><?xml version="1.0" encoding="utf-8"?>
<p:tagLst xmlns:p="http://schemas.openxmlformats.org/presentationml/2006/main">
  <p:tag name="KSO_WM_DIAGRAM_VIRTUALLY_FRAME" val="{&quot;height&quot;:223.65,&quot;left&quot;:42.3,&quot;top&quot;:140.65,&quot;width&quot;:362.5}"/>
</p:tagLst>
</file>

<file path=ppt/tags/tag30.xml><?xml version="1.0" encoding="utf-8"?>
<p:tagLst xmlns:p="http://schemas.openxmlformats.org/presentationml/2006/main">
  <p:tag name="KSO_WM_DIAGRAM_VIRTUALLY_FRAME" val="{&quot;height&quot;:223.65,&quot;left&quot;:42.3,&quot;top&quot;:140.65,&quot;width&quot;:362.5}"/>
</p:tagLst>
</file>

<file path=ppt/tags/tag31.xml><?xml version="1.0" encoding="utf-8"?>
<p:tagLst xmlns:p="http://schemas.openxmlformats.org/presentationml/2006/main">
  <p:tag name="KSO_WM_DIAGRAM_VIRTUALLY_FRAME" val="{&quot;height&quot;:223.65,&quot;left&quot;:42.3,&quot;top&quot;:140.65,&quot;width&quot;:362.5}"/>
</p:tagLst>
</file>

<file path=ppt/tags/tag32.xml><?xml version="1.0" encoding="utf-8"?>
<p:tagLst xmlns:p="http://schemas.openxmlformats.org/presentationml/2006/main">
  <p:tag name="KSO_WM_DIAGRAM_VIRTUALLY_FRAME" val="{&quot;height&quot;:223.65,&quot;left&quot;:42.3,&quot;top&quot;:140.65,&quot;width&quot;:362.5}"/>
</p:tagLst>
</file>

<file path=ppt/tags/tag33.xml><?xml version="1.0" encoding="utf-8"?>
<p:tagLst xmlns:p="http://schemas.openxmlformats.org/presentationml/2006/main">
  <p:tag name="KSO_WM_DIAGRAM_VIRTUALLY_FRAME" val="{&quot;height&quot;:223.65,&quot;left&quot;:42.3,&quot;top&quot;:140.65,&quot;width&quot;:362.5}"/>
</p:tagLst>
</file>

<file path=ppt/tags/tag34.xml><?xml version="1.0" encoding="utf-8"?>
<p:tagLst xmlns:p="http://schemas.openxmlformats.org/presentationml/2006/main">
  <p:tag name="KSO_WM_DIAGRAM_VIRTUALLY_FRAME" val="{&quot;height&quot;:223.65,&quot;left&quot;:42.3,&quot;top&quot;:140.65,&quot;width&quot;:362.5}"/>
</p:tagLst>
</file>

<file path=ppt/tags/tag35.xml><?xml version="1.0" encoding="utf-8"?>
<p:tagLst xmlns:p="http://schemas.openxmlformats.org/presentationml/2006/main">
  <p:tag name="TABLE_ENDDRAG_ORIGIN_RECT" val="883*374"/>
  <p:tag name="TABLE_ENDDRAG_RECT" val="24*107*883*374"/>
</p:tagLst>
</file>

<file path=ppt/tags/tag36.xml><?xml version="1.0" encoding="utf-8"?>
<p:tagLst xmlns:p="http://schemas.openxmlformats.org/presentationml/2006/main">
  <p:tag name="KSO_WM_DIAGRAM_VIRTUALLY_FRAME" val="{&quot;height&quot;:430.95,&quot;left&quot;:46.00062992125984,&quot;top&quot;:80.1,&quot;width&quot;:785.4993700787402}"/>
</p:tagLst>
</file>

<file path=ppt/tags/tag37.xml><?xml version="1.0" encoding="utf-8"?>
<p:tagLst xmlns:p="http://schemas.openxmlformats.org/presentationml/2006/main">
  <p:tag name="KSO_WM_DIAGRAM_VIRTUALLY_FRAME" val="{&quot;height&quot;:430.95,&quot;left&quot;:46.00062992125984,&quot;top&quot;:80.1,&quot;width&quot;:785.4993700787402}"/>
</p:tagLst>
</file>

<file path=ppt/tags/tag38.xml><?xml version="1.0" encoding="utf-8"?>
<p:tagLst xmlns:p="http://schemas.openxmlformats.org/presentationml/2006/main">
  <p:tag name="KSO_WM_DIAGRAM_VIRTUALLY_FRAME" val="{&quot;height&quot;:430.95,&quot;left&quot;:46.00062992125984,&quot;top&quot;:80.1,&quot;width&quot;:785.4993700787402}"/>
</p:tagLst>
</file>

<file path=ppt/tags/tag39.xml><?xml version="1.0" encoding="utf-8"?>
<p:tagLst xmlns:p="http://schemas.openxmlformats.org/presentationml/2006/main">
  <p:tag name="KSO_WM_DIAGRAM_VIRTUALLY_FRAME" val="{&quot;height&quot;:430.95,&quot;left&quot;:46.00062992125984,&quot;top&quot;:80.1,&quot;width&quot;:785.4993700787402}"/>
</p:tagLst>
</file>

<file path=ppt/tags/tag40.xml><?xml version="1.0" encoding="utf-8"?>
<p:tagLst xmlns:p="http://schemas.openxmlformats.org/presentationml/2006/main">
  <p:tag name="KSO_WM_DIAGRAM_VIRTUALLY_FRAME" val="{&quot;height&quot;:430.95,&quot;left&quot;:46.00062992125984,&quot;top&quot;:80.1,&quot;width&quot;:785.4993700787402}"/>
</p:tagLst>
</file>

<file path=ppt/tags/tag41.xml><?xml version="1.0" encoding="utf-8"?>
<p:tagLst xmlns:p="http://schemas.openxmlformats.org/presentationml/2006/main">
  <p:tag name="KSO_WM_DIAGRAM_VIRTUALLY_FRAME" val="{&quot;height&quot;:430.95,&quot;left&quot;:46.00062992125984,&quot;top&quot;:80.1,&quot;width&quot;:785.4993700787402}"/>
</p:tagLst>
</file>

<file path=ppt/tags/tag42.xml><?xml version="1.0" encoding="utf-8"?>
<p:tagLst xmlns:p="http://schemas.openxmlformats.org/presentationml/2006/main">
  <p:tag name="ISLIDE TOOLS.GUIDESSETTING" val="{&quot;Id&quot;:&quot;2d4375ee-8516-45e0-8956-45702a61a9b6&quot;,&quot;Name&quot;:&quot;iSlide&quot;,&quot;HeaderHeight&quot;:15.0,&quot;FooterHeight&quot;:9.0000000000000036,&quot;SideMargin&quot;:5.4999999999999982,&quot;TopMargin&quot;:0.0,&quot;BottomMargin&quot;:0.0,&quot;IntervalMargin&quot;:1.3999999999999997}"/>
  <p:tag name="ISLIDE.GUIDESSETTING" val="{&quot;Id&quot;:&quot;GuidesStyle_Normal&quot;,&quot;Name&quot;:&quot;正常&quot;,&quot;HeaderHeight&quot;:15.0,&quot;FooterHeight&quot;:9.0,&quot;SideMargin&quot;:5.5,&quot;TopMargin&quot;:0.0,&quot;BottomMargin&quot;:0.0,&quot;IntervalMargin&quot;:1.5}"/>
  <p:tag name="ISLIDE.THEME" val="225bf695-daa2-4759-97b7-6398e4bba18c"/>
  <p:tag name="THINKCELLUNDODONOTDELETE" val="0"/>
  <p:tag name="ISLIDE.TEMPLATE" val="#477685"/>
  <p:tag name="resource_record_key" val="{&quot;10&quot;:[21565025,4590357,50048862,4590358,4590359,4587606,4587607,4587609],&quot;19&quot;:[20348542],&quot;29&quot;:[50000076,50000059]}"/>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00481C"/>
        </a:solidFill>
      </a:spPr>
      <a:bodyPr wrap="square" rtlCol="0" anchor="ctr">
        <a:noAutofit/>
      </a:bodyPr>
      <a:lstStyle>
        <a:defPPr algn="ctr">
          <a:defRPr lang="zh-CN" altLang="en-US"/>
        </a:defPPr>
      </a:lstStyle>
      <a:style>
        <a:lnRef idx="2">
          <a:schemeClr val="accent1">
            <a:lumMod val="75000"/>
          </a:schemeClr>
        </a:lnRef>
        <a:fillRef idx="1">
          <a:schemeClr val="accent1"/>
        </a:fillRef>
        <a:effectRef idx="0">
          <a:srgbClr val="FFFFFF"/>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3859</Words>
  <Application>WPS 演示</Application>
  <PresentationFormat>宽屏</PresentationFormat>
  <Paragraphs>617</Paragraphs>
  <Slides>27</Slides>
  <Notes>42</Notes>
  <HiddenSlides>1</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27</vt:i4>
      </vt:variant>
    </vt:vector>
  </HeadingPairs>
  <TitlesOfParts>
    <vt:vector size="44" baseType="lpstr">
      <vt:lpstr>Arial</vt:lpstr>
      <vt:lpstr>宋体</vt:lpstr>
      <vt:lpstr>Wingdings</vt:lpstr>
      <vt:lpstr>微软雅黑</vt:lpstr>
      <vt:lpstr>Arial</vt:lpstr>
      <vt:lpstr>Calibri</vt:lpstr>
      <vt:lpstr>等线</vt:lpstr>
      <vt:lpstr>Calibri</vt:lpstr>
      <vt:lpstr>微软雅黑 Light</vt:lpstr>
      <vt:lpstr>华文行楷</vt:lpstr>
      <vt:lpstr>Noto Sans SC</vt:lpstr>
      <vt:lpstr>Wingdings</vt:lpstr>
      <vt:lpstr>Arial Unicode MS</vt:lpstr>
      <vt:lpstr>等线 Light</vt:lpstr>
      <vt:lpstr>Times New Roman</vt:lpstr>
      <vt:lpstr>演示流云楷</vt:lpstr>
      <vt:lpstr>Office 主题​​</vt:lpstr>
      <vt:lpstr>PowerPoint 演示文稿</vt:lpstr>
      <vt:lpstr>PowerPoint 演示文稿</vt:lpstr>
      <vt:lpstr>PART 1</vt:lpstr>
      <vt:lpstr>PowerPoint 演示文稿</vt:lpstr>
      <vt:lpstr>PowerPoint 演示文稿</vt:lpstr>
      <vt:lpstr>PowerPoint 演示文稿</vt:lpstr>
      <vt:lpstr>PART 2</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PART 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PART 4</vt:lpstr>
      <vt:lpstr>PowerPoint 演示文稿</vt:lpstr>
      <vt:lpstr>PowerPoint 演示文稿</vt:lpstr>
    </vt:vector>
  </TitlesOfParts>
  <Company>iSlide</Company>
  <LinksUpToDate>false</LinksUpToDate>
  <SharedDoc>false</SharedDoc>
  <HyperlinksChanged>false</HyperlinksChanged>
  <AppVersion>14.0000</AppVersion>
  <Manager>iSlide</Manager>
  <HyperlinkBase>https://www.islide.cc</HyperlinkBase>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利用主成分地理加权随机森林 探究建成环境对城市交通拥堵的影响</dc:title>
  <dc:creator>菠萝煮茶</dc:creator>
  <cp:lastModifiedBy>秦潞杰</cp:lastModifiedBy>
  <cp:revision>181</cp:revision>
  <cp:lastPrinted>2025-04-21T12:54:00Z</cp:lastPrinted>
  <dcterms:created xsi:type="dcterms:W3CDTF">2025-04-21T14:21:00Z</dcterms:created>
  <dcterms:modified xsi:type="dcterms:W3CDTF">2026-03-12T04:15:23Z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y fmtid="{D5CDD505-2E9C-101B-9397-08002B2CF9AE}" pid="3" name="iSlide.TEMPLATE">
    <vt:lpwstr>67a787e4-bbb0-4b7b-a406-d39e9dc1117d</vt:lpwstr>
  </property>
  <property fmtid="{D5CDD505-2E9C-101B-9397-08002B2CF9AE}" pid="4" name="ICV">
    <vt:lpwstr>9C55DE36FAF749099DBBA1CD4CB4A9FB_13</vt:lpwstr>
  </property>
  <property fmtid="{D5CDD505-2E9C-101B-9397-08002B2CF9AE}" pid="5" name="KSOProductBuildVer">
    <vt:lpwstr>2052-12.1.0.23542</vt:lpwstr>
  </property>
</Properties>
</file>