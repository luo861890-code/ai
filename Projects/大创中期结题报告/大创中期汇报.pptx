
<file path=[Content_Types].xml><?xml version="1.0" encoding="utf-8"?>
<Types xmlns="http://schemas.openxmlformats.org/package/2006/content-types">
  <Default Extension="png" ContentType="image/png"/>
  <Default Extension="wdp" ContentType="image/vnd.ms-photo"/>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media/image11.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3.svg" ContentType="image/svg+xml"/>
  <Override PartName="/ppt/media/image25.svg" ContentType="image/svg+xml"/>
  <Override PartName="/ppt/media/image27.svg" ContentType="image/svg+xml"/>
  <Override PartName="/ppt/media/image30.svg" ContentType="image/svg+xml"/>
  <Override PartName="/ppt/media/image32.svg" ContentType="image/svg+xml"/>
  <Override PartName="/ppt/media/image34.svg" ContentType="image/svg+xml"/>
  <Override PartName="/ppt/media/image37.svg" ContentType="image/svg+xml"/>
  <Override PartName="/ppt/media/image39.svg" ContentType="image/svg+xml"/>
  <Override PartName="/ppt/media/image42.svg" ContentType="image/svg+xml"/>
  <Override PartName="/ppt/media/image44.svg" ContentType="image/svg+xml"/>
  <Override PartName="/ppt/media/image47.svg" ContentType="image/svg+xml"/>
  <Override PartName="/ppt/media/image49.svg" ContentType="image/svg+xml"/>
  <Override PartName="/ppt/media/image51.svg" ContentType="image/svg+xml"/>
  <Override PartName="/ppt/media/image67.svg" ContentType="image/svg+xml"/>
  <Override PartName="/ppt/media/image69.svg" ContentType="image/svg+xml"/>
  <Override PartName="/ppt/media/image71.svg" ContentType="image/svg+xml"/>
  <Override PartName="/ppt/media/image73.svg" ContentType="image/svg+xml"/>
  <Override PartName="/ppt/media/image7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48" r:id="rId1"/>
  </p:sldMasterIdLst>
  <p:notesMasterIdLst>
    <p:notesMasterId r:id="rId4"/>
  </p:notesMasterIdLst>
  <p:handoutMasterIdLst>
    <p:handoutMasterId r:id="rId31"/>
  </p:handoutMasterIdLst>
  <p:sldIdLst>
    <p:sldId id="1946" r:id="rId3"/>
    <p:sldId id="1947" r:id="rId5"/>
    <p:sldId id="2044" r:id="rId6"/>
    <p:sldId id="2069" r:id="rId7"/>
    <p:sldId id="2070" r:id="rId8"/>
    <p:sldId id="2023" r:id="rId9"/>
    <p:sldId id="2045" r:id="rId10"/>
    <p:sldId id="2071" r:id="rId11"/>
    <p:sldId id="2072" r:id="rId12"/>
    <p:sldId id="2073" r:id="rId13"/>
    <p:sldId id="2000" r:id="rId14"/>
    <p:sldId id="2074" r:id="rId15"/>
    <p:sldId id="2024" r:id="rId16"/>
    <p:sldId id="2079" r:id="rId17"/>
    <p:sldId id="2075" r:id="rId18"/>
    <p:sldId id="2046" r:id="rId19"/>
    <p:sldId id="2076" r:id="rId20"/>
    <p:sldId id="2077" r:id="rId21"/>
    <p:sldId id="2007" r:id="rId22"/>
    <p:sldId id="2015" r:id="rId23"/>
    <p:sldId id="2014" r:id="rId24"/>
    <p:sldId id="2005" r:id="rId25"/>
    <p:sldId id="2078" r:id="rId26"/>
    <p:sldId id="2043" r:id="rId27"/>
    <p:sldId id="2047" r:id="rId28"/>
    <p:sldId id="2068" r:id="rId29"/>
    <p:sldId id="1952" r:id="rId30"/>
  </p:sldIdLst>
  <p:sldSz cx="12192000" cy="6858000"/>
  <p:notesSz cx="9928225" cy="6797675"/>
  <p:embeddedFontLst>
    <p:embeddedFont>
      <p:font typeface="微软雅黑" panose="020B0503020204020204" pitchFamily="34" charset="-122"/>
      <p:regular r:id="rId36"/>
    </p:embeddedFont>
    <p:embeddedFont>
      <p:font typeface="Calibri" panose="020F0502020204030204"/>
      <p:regular r:id="rId37"/>
      <p:bold r:id="rId38"/>
      <p:italic r:id="rId39"/>
      <p:boldItalic r:id="rId40"/>
    </p:embeddedFont>
    <p:embeddedFont>
      <p:font typeface="等线" panose="02010600030101010101" pitchFamily="2" charset="-122"/>
      <p:regular r:id="rId41"/>
    </p:embeddedFont>
    <p:embeddedFont>
      <p:font typeface="Calibri" panose="020F0502020204030204" pitchFamily="34" charset="0"/>
      <p:regular r:id="rId42"/>
      <p:bold r:id="rId43"/>
      <p:italic r:id="rId44"/>
      <p:boldItalic r:id="rId45"/>
    </p:embeddedFont>
    <p:embeddedFont>
      <p:font typeface="华文行楷" panose="02010800040101010101" charset="-122"/>
      <p:regular r:id="rId46"/>
    </p:embeddedFont>
    <p:embeddedFont>
      <p:font typeface="Noto Sans SC" panose="020B0200000000000000" charset="-122"/>
      <p:regular r:id="rId47"/>
    </p:embeddedFont>
    <p:embeddedFont>
      <p:font typeface="等线 Light" panose="02010600030101010101" charset="-122"/>
      <p:regular r:id="rId48"/>
    </p:embeddedFont>
  </p:embeddedFontLst>
  <p:custDataLst>
    <p:tags r:id="rId4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600" userDrawn="1">
          <p15:clr>
            <a:srgbClr val="A4A3A4"/>
          </p15:clr>
        </p15:guide>
        <p15:guide id="2" pos="3840" userDrawn="1">
          <p15:clr>
            <a:srgbClr val="A4A3A4"/>
          </p15:clr>
        </p15:guide>
        <p15:guide id="3" orient="horz" pos="113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李伯钊" initials="李伯钊"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81C"/>
    <a:srgbClr val="005825"/>
    <a:srgbClr val="A40000"/>
    <a:srgbClr val="04640B"/>
    <a:srgbClr val="CC9B00"/>
    <a:srgbClr val="E24E0C"/>
    <a:srgbClr val="06A211"/>
    <a:srgbClr val="1E2678"/>
    <a:srgbClr val="ECEFF4"/>
    <a:srgbClr val="2C1E5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4D6A88-18FC-46BF-8F70-5FD4559684DD}" styleName="表样式 1">
    <a:wholeTbl>
      <a:tcTxStyle>
        <a:fontRef idx="none">
          <a:srgbClr val="000000"/>
        </a:fontRef>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a:noFill/>
            </a:ln>
          </a:insideH>
          <a:insideV>
            <a:ln>
              <a:noFill/>
            </a:ln>
          </a:insideV>
        </a:tcBdr>
        <a:fill>
          <a:solidFill>
            <a:srgbClr val="FFFFFF"/>
          </a:solidFill>
        </a:fill>
      </a:tcStyle>
    </a:wholeTbl>
    <a:band2H>
      <a:tcStyle>
        <a:tcBdr/>
        <a:fill>
          <a:solidFill>
            <a:schemeClr val="accent6">
              <a:lumMod val="10000"/>
              <a:lumOff val="90000"/>
            </a:schemeClr>
          </a:solidFill>
        </a:fill>
      </a:tcStyle>
    </a:band2H>
    <a:band1V>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a:noFill/>
            </a:ln>
          </a:insideH>
          <a:insideV>
            <a:ln>
              <a:noFill/>
            </a:ln>
          </a:insideV>
        </a:tcBdr>
        <a:fill>
          <a:solidFill>
            <a:schemeClr val="accent6">
              <a:lumMod val="10000"/>
              <a:lumOff val="90000"/>
            </a:schemeClr>
          </a:solidFill>
        </a:fill>
      </a:tcStyle>
    </a:band1V>
    <a:band2V>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solidFill>
            <a:schemeClr val="bg1"/>
          </a:solidFill>
        </a:fill>
      </a:tcStyle>
    </a:band2V>
    <a:lastCol>
      <a:tcTxStyle b="on">
        <a:fontRef idx="none">
          <a:srgbClr val="08090C"/>
        </a:fontRef>
      </a:tcTxStyle>
      <a:tcStyle>
        <a:tcBdr>
          <a:left>
            <a:ln>
              <a:noFill/>
            </a:ln>
          </a:left>
          <a:right>
            <a:ln w="12700" cmpd="sng">
              <a:solidFill>
                <a:schemeClr val="accent6"/>
              </a:solidFill>
            </a:ln>
          </a:right>
          <a:top>
            <a:ln w="12700" cmpd="sng">
              <a:solidFill>
                <a:schemeClr val="accent6"/>
              </a:solidFill>
            </a:ln>
          </a:top>
          <a:bottom>
            <a:ln w="12700" cmpd="sng">
              <a:solidFill>
                <a:schemeClr val="accent6"/>
              </a:solidFill>
            </a:ln>
          </a:bottom>
          <a:insideH>
            <a:ln>
              <a:noFill/>
            </a:ln>
          </a:insideH>
          <a:insideV>
            <a:ln>
              <a:noFill/>
            </a:ln>
          </a:insideV>
        </a:tcBdr>
        <a:fill>
          <a:solidFill>
            <a:schemeClr val="accent6">
              <a:lumMod val="20000"/>
              <a:lumOff val="80000"/>
            </a:schemeClr>
          </a:solidFill>
        </a:fill>
      </a:tcStyle>
    </a:lastCol>
    <a:firstCol>
      <a:tcTxStyle b="on">
        <a:fontRef idx="none">
          <a:srgbClr val="08090C"/>
        </a:fontRef>
      </a:tcTxStyle>
      <a:tcStyle>
        <a:tcBdr>
          <a:left>
            <a:ln w="12700" cmpd="sng">
              <a:solidFill>
                <a:schemeClr val="accent6"/>
              </a:solid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solidFill>
            <a:schemeClr val="accent6">
              <a:lumMod val="20000"/>
              <a:lumOff val="80000"/>
            </a:schemeClr>
          </a:solidFill>
        </a:fill>
      </a:tcStyle>
    </a:firstCol>
    <a:lastRow>
      <a:tcTxStyle b="on">
        <a:fontRef idx="none">
          <a:schemeClr val="accent6"/>
        </a:fontRef>
      </a:tcTxStyle>
      <a:tcStyle>
        <a:tcBdr>
          <a:left>
            <a:ln w="12700" cmpd="sng">
              <a:solidFill>
                <a:schemeClr val="accent6"/>
              </a:solidFill>
            </a:ln>
          </a:left>
          <a:right>
            <a:ln w="12700" cmpd="sng">
              <a:solidFill>
                <a:schemeClr val="accent6"/>
              </a:solidFill>
            </a:ln>
          </a:right>
          <a:top>
            <a:ln w="9525" cmpd="sng">
              <a:solidFill>
                <a:schemeClr val="accent6"/>
              </a:solidFill>
            </a:ln>
          </a:top>
          <a:bottom>
            <a:ln w="12700" cmpd="sng">
              <a:solidFill>
                <a:schemeClr val="accent6"/>
              </a:solidFill>
            </a:ln>
          </a:bottom>
          <a:insideH>
            <a:ln>
              <a:noFill/>
            </a:ln>
          </a:insideH>
          <a:insideV>
            <a:ln>
              <a:noFill/>
            </a:ln>
          </a:insideV>
        </a:tcBdr>
        <a:fill>
          <a:solidFill>
            <a:srgbClr val="FFFFFF"/>
          </a:solidFill>
        </a:fill>
      </a:tcStyle>
    </a:lastRow>
    <a:firstRow>
      <a:tcTxStyle b="on">
        <a:fontRef idx="none">
          <a:srgbClr val="FFFFFF"/>
        </a:fontRef>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472" autoAdjust="0"/>
    <p:restoredTop sz="80245" autoAdjust="0"/>
  </p:normalViewPr>
  <p:slideViewPr>
    <p:cSldViewPr snapToGrid="0" showGuides="1">
      <p:cViewPr varScale="1">
        <p:scale>
          <a:sx n="88" d="100"/>
          <a:sy n="88" d="100"/>
        </p:scale>
        <p:origin x="912" y="72"/>
      </p:cViewPr>
      <p:guideLst>
        <p:guide orient="horz" pos="2600"/>
        <p:guide pos="3840"/>
        <p:guide orient="horz" pos="1130"/>
      </p:guideLst>
    </p:cSldViewPr>
  </p:slideViewPr>
  <p:notesTextViewPr>
    <p:cViewPr>
      <p:scale>
        <a:sx n="3" d="2"/>
        <a:sy n="3" d="2"/>
      </p:scale>
      <p:origin x="0" y="0"/>
    </p:cViewPr>
  </p:notesTextViewPr>
  <p:sorterViewPr>
    <p:cViewPr varScale="1">
      <p:scale>
        <a:sx n="1" d="1"/>
        <a:sy n="1" d="1"/>
      </p:scale>
      <p:origin x="0" y="0"/>
    </p:cViewPr>
  </p:sorterViewPr>
  <p:notesViewPr>
    <p:cSldViewPr snapToGrid="0">
      <p:cViewPr varScale="1">
        <p:scale>
          <a:sx n="80" d="100"/>
          <a:sy n="80" d="100"/>
        </p:scale>
        <p:origin x="3204" y="9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9" Type="http://schemas.openxmlformats.org/officeDocument/2006/relationships/tags" Target="tags/tag61.xml"/><Relationship Id="rId48" Type="http://schemas.openxmlformats.org/officeDocument/2006/relationships/font" Target="fonts/font13.fntdata"/><Relationship Id="rId47" Type="http://schemas.openxmlformats.org/officeDocument/2006/relationships/font" Target="fonts/font12.fntdata"/><Relationship Id="rId46" Type="http://schemas.openxmlformats.org/officeDocument/2006/relationships/font" Target="fonts/font11.fntdata"/><Relationship Id="rId45" Type="http://schemas.openxmlformats.org/officeDocument/2006/relationships/font" Target="fonts/font10.fntdata"/><Relationship Id="rId44" Type="http://schemas.openxmlformats.org/officeDocument/2006/relationships/font" Target="fonts/font9.fntdata"/><Relationship Id="rId43" Type="http://schemas.openxmlformats.org/officeDocument/2006/relationships/font" Target="fonts/font8.fntdata"/><Relationship Id="rId42" Type="http://schemas.openxmlformats.org/officeDocument/2006/relationships/font" Target="fonts/font7.fntdata"/><Relationship Id="rId41" Type="http://schemas.openxmlformats.org/officeDocument/2006/relationships/font" Target="fonts/font6.fntdata"/><Relationship Id="rId40" Type="http://schemas.openxmlformats.org/officeDocument/2006/relationships/font" Target="fonts/font5.fntdata"/><Relationship Id="rId4" Type="http://schemas.openxmlformats.org/officeDocument/2006/relationships/notesMaster" Target="notesMasters/notesMaster1.xml"/><Relationship Id="rId39" Type="http://schemas.openxmlformats.org/officeDocument/2006/relationships/font" Target="fonts/font4.fntdata"/><Relationship Id="rId38" Type="http://schemas.openxmlformats.org/officeDocument/2006/relationships/font" Target="fonts/font3.fntdata"/><Relationship Id="rId37" Type="http://schemas.openxmlformats.org/officeDocument/2006/relationships/font" Target="fonts/font2.fntdata"/><Relationship Id="rId36" Type="http://schemas.openxmlformats.org/officeDocument/2006/relationships/font" Target="fonts/font1.fntdata"/><Relationship Id="rId35" Type="http://schemas.openxmlformats.org/officeDocument/2006/relationships/commentAuthors" Target="commentAuthors.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handoutMaster" Target="handoutMasters/handoutMaster1.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4302231" cy="341064"/>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5623697" y="1"/>
            <a:ext cx="4302231" cy="341064"/>
          </a:xfrm>
          <a:prstGeom prst="rect">
            <a:avLst/>
          </a:prstGeom>
        </p:spPr>
        <p:txBody>
          <a:bodyPr vert="horz" lIns="91440" tIns="45720" rIns="91440" bIns="45720" rtlCol="0"/>
          <a:lstStyle>
            <a:lvl1pPr algn="r">
              <a:defRPr sz="1200"/>
            </a:lvl1pPr>
          </a:lstStyle>
          <a:p>
            <a:fld id="{B478E0E4-DC06-4041-AFA7-BB6F527FFA3F}" type="datetimeFigureOut">
              <a:rPr lang="zh-CN" altLang="en-US" smtClean="0"/>
            </a:fld>
            <a:endParaRPr lang="zh-CN" altLang="en-US"/>
          </a:p>
        </p:txBody>
      </p:sp>
      <p:sp>
        <p:nvSpPr>
          <p:cNvPr id="4" name="页脚占位符 3"/>
          <p:cNvSpPr>
            <a:spLocks noGrp="1"/>
          </p:cNvSpPr>
          <p:nvPr>
            <p:ph type="ftr" sz="quarter" idx="2"/>
          </p:nvPr>
        </p:nvSpPr>
        <p:spPr>
          <a:xfrm>
            <a:off x="0" y="6456612"/>
            <a:ext cx="4302231" cy="341063"/>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623697" y="6456612"/>
            <a:ext cx="4302231" cy="341063"/>
          </a:xfrm>
          <a:prstGeom prst="rect">
            <a:avLst/>
          </a:prstGeom>
        </p:spPr>
        <p:txBody>
          <a:bodyPr vert="horz" lIns="91440" tIns="45720" rIns="91440" bIns="45720" rtlCol="0" anchor="b"/>
          <a:lstStyle>
            <a:lvl1pPr algn="r">
              <a:defRPr sz="1200"/>
            </a:lvl1pPr>
          </a:lstStyle>
          <a:p>
            <a:fld id="{B14B7432-8BB0-4EFA-A417-EFCDC17B2811}"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4302231" cy="341064"/>
          </a:xfrm>
          <a:prstGeom prst="rect">
            <a:avLst/>
          </a:prstGeom>
        </p:spPr>
        <p:txBody>
          <a:bodyPr vert="horz" lIns="91440" tIns="45720" rIns="91440" bIns="45720" rtlCol="0"/>
          <a:lstStyle>
            <a:lvl1pPr algn="l">
              <a:defRPr sz="1200">
                <a:ea typeface="微软雅黑" panose="020B0503020204020204" pitchFamily="34" charset="-122"/>
              </a:defRPr>
            </a:lvl1pPr>
          </a:lstStyle>
          <a:p>
            <a:endParaRPr lang="zh-CN" altLang="en-US"/>
          </a:p>
        </p:txBody>
      </p:sp>
      <p:sp>
        <p:nvSpPr>
          <p:cNvPr id="3" name="日期占位符 2"/>
          <p:cNvSpPr>
            <a:spLocks noGrp="1"/>
          </p:cNvSpPr>
          <p:nvPr>
            <p:ph type="dt" idx="1"/>
          </p:nvPr>
        </p:nvSpPr>
        <p:spPr>
          <a:xfrm>
            <a:off x="5623697" y="1"/>
            <a:ext cx="4302231" cy="341064"/>
          </a:xfrm>
          <a:prstGeom prst="rect">
            <a:avLst/>
          </a:prstGeom>
        </p:spPr>
        <p:txBody>
          <a:bodyPr vert="horz" lIns="91440" tIns="45720" rIns="91440" bIns="45720" rtlCol="0"/>
          <a:lstStyle>
            <a:lvl1pPr algn="r">
              <a:defRPr sz="1200">
                <a:ea typeface="微软雅黑" panose="020B0503020204020204" pitchFamily="34" charset="-122"/>
              </a:defRPr>
            </a:lvl1pPr>
          </a:lstStyle>
          <a:p>
            <a:fld id="{E86D8963-CFCD-4740-AF60-049850373CD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925763" y="849313"/>
            <a:ext cx="4076700" cy="2293937"/>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92823" y="3271381"/>
            <a:ext cx="7942580" cy="2676585"/>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6456612"/>
            <a:ext cx="4302231" cy="341063"/>
          </a:xfrm>
          <a:prstGeom prst="rect">
            <a:avLst/>
          </a:prstGeom>
        </p:spPr>
        <p:txBody>
          <a:bodyPr vert="horz" lIns="91440" tIns="45720" rIns="91440" bIns="45720" rtlCol="0" anchor="b"/>
          <a:lstStyle>
            <a:lvl1pPr algn="l">
              <a:defRPr sz="1200">
                <a:ea typeface="微软雅黑" panose="020B0503020204020204" pitchFamily="34" charset="-122"/>
              </a:defRPr>
            </a:lvl1pPr>
          </a:lstStyle>
          <a:p>
            <a:endParaRPr lang="zh-CN" altLang="en-US"/>
          </a:p>
        </p:txBody>
      </p:sp>
      <p:sp>
        <p:nvSpPr>
          <p:cNvPr id="7" name="灯片编号占位符 6"/>
          <p:cNvSpPr>
            <a:spLocks noGrp="1"/>
          </p:cNvSpPr>
          <p:nvPr>
            <p:ph type="sldNum" sz="quarter" idx="5"/>
          </p:nvPr>
        </p:nvSpPr>
        <p:spPr>
          <a:xfrm>
            <a:off x="5623697" y="6456612"/>
            <a:ext cx="4302231" cy="341063"/>
          </a:xfrm>
          <a:prstGeom prst="rect">
            <a:avLst/>
          </a:prstGeom>
        </p:spPr>
        <p:txBody>
          <a:bodyPr vert="horz" lIns="91440" tIns="45720" rIns="91440" bIns="45720" rtlCol="0" anchor="b"/>
          <a:lstStyle>
            <a:lvl1pPr algn="r">
              <a:defRPr sz="1200">
                <a:ea typeface="微软雅黑" panose="020B0503020204020204" pitchFamily="34" charset="-122"/>
              </a:defRPr>
            </a:lvl1pPr>
          </a:lstStyle>
          <a:p>
            <a:fld id="{E9E6FDB6-6D2B-46C1-9FA1-D82906A37C3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微软雅黑" panose="020B0503020204020204" pitchFamily="34" charset="-122"/>
        <a:cs typeface="+mn-cs"/>
      </a:defRPr>
    </a:lvl1pPr>
    <a:lvl2pPr marL="457200" algn="l" defTabSz="914400" rtl="0" eaLnBrk="1" latinLnBrk="0" hangingPunct="1">
      <a:defRPr sz="1200" kern="1200">
        <a:solidFill>
          <a:schemeClr val="tx1"/>
        </a:solidFill>
        <a:latin typeface="+mn-lt"/>
        <a:ea typeface="微软雅黑" panose="020B0503020204020204" pitchFamily="34" charset="-122"/>
        <a:cs typeface="+mn-cs"/>
      </a:defRPr>
    </a:lvl2pPr>
    <a:lvl3pPr marL="914400" algn="l" defTabSz="914400" rtl="0" eaLnBrk="1" latinLnBrk="0" hangingPunct="1">
      <a:defRPr sz="1200" kern="1200">
        <a:solidFill>
          <a:schemeClr val="tx1"/>
        </a:solidFill>
        <a:latin typeface="+mn-lt"/>
        <a:ea typeface="微软雅黑" panose="020B0503020204020204" pitchFamily="34" charset="-122"/>
        <a:cs typeface="+mn-cs"/>
      </a:defRPr>
    </a:lvl3pPr>
    <a:lvl4pPr marL="1371600" algn="l" defTabSz="914400" rtl="0" eaLnBrk="1" latinLnBrk="0" hangingPunct="1">
      <a:defRPr sz="1200" kern="1200">
        <a:solidFill>
          <a:schemeClr val="tx1"/>
        </a:solidFill>
        <a:latin typeface="+mn-lt"/>
        <a:ea typeface="微软雅黑" panose="020B0503020204020204" pitchFamily="34" charset="-122"/>
        <a:cs typeface="+mn-cs"/>
      </a:defRPr>
    </a:lvl4pPr>
    <a:lvl5pPr marL="1828800" algn="l" defTabSz="914400" rtl="0" eaLnBrk="1" latinLnBrk="0" hangingPunct="1">
      <a:defRPr sz="1200" kern="1200">
        <a:solidFill>
          <a:schemeClr val="tx1"/>
        </a:solidFill>
        <a:latin typeface="+mn-lt"/>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各位老师好，我是</a:t>
            </a:r>
            <a:r>
              <a:rPr lang="en-US" altLang="zh-CN">
                <a:sym typeface="+mn-ea"/>
              </a:rPr>
              <a:t>24</a:t>
            </a:r>
            <a:r>
              <a:rPr lang="zh-CN" altLang="en-US">
                <a:sym typeface="+mn-ea"/>
              </a:rPr>
              <a:t>地科班的匡怡琳，我今天汇报的项目是</a:t>
            </a:r>
            <a:r>
              <a:rPr lang="en-US" altLang="zh-CN">
                <a:sym typeface="+mn-ea"/>
              </a:rPr>
              <a:t>“</a:t>
            </a:r>
            <a:r>
              <a:rPr lang="zh-CN" altLang="en-US">
                <a:sym typeface="+mn-ea"/>
              </a:rPr>
              <a:t>集成大语言模型与知识图谱的在线地图制图智能体研发</a:t>
            </a:r>
            <a:r>
              <a:rPr lang="en-US" altLang="zh-CN">
                <a:sym typeface="+mn-ea"/>
              </a:rPr>
              <a:t>“</a:t>
            </a:r>
            <a:r>
              <a:rPr lang="zh-CN" altLang="en-US">
                <a:sym typeface="+mn-ea"/>
              </a:rPr>
              <a:t>，项目成员还有</a:t>
            </a:r>
            <a:r>
              <a:rPr lang="en-US" altLang="zh-CN">
                <a:sym typeface="+mn-ea"/>
              </a:rPr>
              <a:t>24</a:t>
            </a:r>
            <a:r>
              <a:rPr lang="zh-CN" altLang="en-US">
                <a:sym typeface="+mn-ea"/>
              </a:rPr>
              <a:t>制图的秦潞杰和徐欣，指导老师是蔡忠亮老师。</a:t>
            </a:r>
            <a:endParaRPr lang="zh-CN" altLang="en-US"/>
          </a:p>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本次汇报分为四个部分：选题背景、项目方案、项目进展、总结展望</a:t>
            </a:r>
            <a:endParaRPr lang="zh-CN" altLang="en-US"/>
          </a:p>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首先是选题背景，</a:t>
            </a:r>
            <a:r>
              <a:rPr lang="zh-CN" altLang="en-US" dirty="0">
                <a:sym typeface="+mn-ea"/>
              </a:rPr>
              <a:t>将按照研究背景与现状、研究意义两个方面来进行分析</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r>
              <a:rPr lang="zh-CN" altLang="en-US">
                <a:sym typeface="+mn-ea"/>
              </a:rPr>
              <a:t>随着信息技术的飞速发展，</a:t>
            </a:r>
            <a:r>
              <a:rPr lang="zh-CN" altLang="zh-CN" dirty="0">
                <a:effectLst/>
                <a:ea typeface="+mn-ea"/>
                <a:sym typeface="+mn-ea"/>
              </a:rPr>
              <a:t>地图呈现出大众化的趋势。但是</a:t>
            </a:r>
            <a:r>
              <a:rPr lang="zh-CN" altLang="en-US">
                <a:sym typeface="+mn-ea"/>
              </a:rPr>
              <a:t>传统的地图制图过程依然高度专业化，普通用户难以参与。</a:t>
            </a:r>
            <a:endParaRPr lang="zh-CN" altLang="en-US"/>
          </a:p>
          <a:p>
            <a:r>
              <a:rPr lang="zh-CN" altLang="en-US">
                <a:sym typeface="+mn-ea"/>
              </a:rPr>
              <a:t>目前也研究多</a:t>
            </a:r>
            <a:r>
              <a:rPr lang="zh-CN" altLang="en-US">
                <a:sym typeface="+mn-ea"/>
              </a:rPr>
              <a:t>聚焦空间语义理解、对于制图生成研究不成熟，再加上通用大语言模型存在</a:t>
            </a:r>
            <a:r>
              <a:rPr lang="en-US" altLang="zh-CN">
                <a:sym typeface="+mn-ea"/>
              </a:rPr>
              <a:t>“</a:t>
            </a:r>
            <a:r>
              <a:rPr lang="zh-CN" altLang="en-US">
                <a:sym typeface="+mn-ea"/>
              </a:rPr>
              <a:t>幻觉</a:t>
            </a:r>
            <a:r>
              <a:rPr lang="en-US" altLang="zh-CN">
                <a:sym typeface="+mn-ea"/>
              </a:rPr>
              <a:t>”</a:t>
            </a:r>
            <a:r>
              <a:rPr lang="zh-CN" altLang="en-US">
                <a:sym typeface="+mn-ea"/>
              </a:rPr>
              <a:t>问题，未能形成完整的智能制图体系。</a:t>
            </a:r>
            <a:endParaRPr lang="zh-CN" altLang="en-US">
              <a:sym typeface="+mn-ea"/>
            </a:endParaRPr>
          </a:p>
          <a:p>
            <a:endParaRPr lang="zh-CN" altLang="en-US"/>
          </a:p>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r>
              <a:rPr lang="zh-CN" altLang="en-US"/>
              <a:t>与此同时，人工智能的发展也给制图领域带来了新的机遇，知识图谱、大语言模型、智能体等</a:t>
            </a:r>
            <a:r>
              <a:rPr lang="zh-CN" altLang="en-US"/>
              <a:t>新技术都能简化复杂制图</a:t>
            </a:r>
            <a:r>
              <a:rPr lang="zh-CN" altLang="en-US"/>
              <a:t>流程。</a:t>
            </a:r>
            <a:endParaRPr lang="zh-CN" altLang="en-US"/>
          </a:p>
          <a:p>
            <a:r>
              <a:rPr lang="zh-CN" altLang="en-US"/>
              <a:t>我们期望融合三者，构建一个</a:t>
            </a:r>
            <a:r>
              <a:rPr lang="en-US" altLang="zh-CN"/>
              <a:t>“</a:t>
            </a:r>
            <a:r>
              <a:rPr lang="zh-CN" altLang="en-US"/>
              <a:t>人人皆可制图</a:t>
            </a:r>
            <a:r>
              <a:rPr lang="en-US" altLang="zh-CN"/>
              <a:t>”</a:t>
            </a:r>
            <a:r>
              <a:rPr lang="zh-CN" altLang="en-US"/>
              <a:t>的智能制图系统，以解决传统制图的困境，推动空间信息的民主化。</a:t>
            </a:r>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r>
              <a:rPr lang="zh-CN" altLang="en-US">
                <a:sym typeface="+mn-ea"/>
              </a:rPr>
              <a:t>本项目研究意义重大，既可以从理论上，推动地图学与人工智能交叉融合，探索大语言模型与知识图谱在制图领域的应用，</a:t>
            </a:r>
            <a:endParaRPr lang="zh-CN" altLang="en-US"/>
          </a:p>
          <a:p>
            <a:r>
              <a:rPr lang="zh-CN" altLang="en-US">
                <a:sym typeface="+mn-ea"/>
              </a:rPr>
              <a:t>还可以在实践中，降低制图门槛，提升专业人员制图效率，同时还能促进空间信息的民主化，为多领域应用提供智能化、个性化的地图服务支撑。</a:t>
            </a:r>
            <a:endParaRPr lang="zh-CN" altLang="en-US"/>
          </a:p>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接下来介绍该项目的项目方案。</a:t>
            </a:r>
            <a:endParaRPr lang="zh-CN" altLang="en-US"/>
          </a:p>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r>
              <a:rPr lang="zh-CN" altLang="en-US">
                <a:sym typeface="+mn-ea"/>
              </a:rPr>
              <a:t>这是本项目的总体框架，我们的项目包括面向智能制图的地图学知识图谱构建，在线地图制图智能体设计，大语言模型、知识图谱、智能体的技术融合，实验验证与原型系统开发四个内容。</a:t>
            </a:r>
            <a:endParaRPr lang="zh-CN" altLang="en-US"/>
          </a:p>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r>
              <a:rPr lang="zh-CN" altLang="en-US">
                <a:sym typeface="+mn-ea"/>
              </a:rPr>
              <a:t>内容一：知识图谱</a:t>
            </a:r>
            <a:r>
              <a:rPr lang="zh-CN" altLang="en-US">
                <a:sym typeface="+mn-ea"/>
              </a:rPr>
              <a:t>。右图为</a:t>
            </a:r>
            <a:r>
              <a:rPr lang="zh-CN" altLang="en-US">
                <a:sym typeface="+mn-ea"/>
              </a:rPr>
              <a:t>该部分的研究内容</a:t>
            </a:r>
            <a:endParaRPr lang="zh-CN" altLang="en-US">
              <a:sym typeface="+mn-ea"/>
            </a:endParaRPr>
          </a:p>
          <a:p>
            <a:r>
              <a:rPr lang="zh-CN" altLang="en-US">
                <a:sym typeface="+mn-ea"/>
              </a:rPr>
              <a:t>构建地图学知识图谱有两大目的，一是搭建专业知识底座，支撑智能制图系统；二是抑制大模型幻觉，确保</a:t>
            </a:r>
            <a:r>
              <a:rPr lang="en-US" altLang="zh-CN">
                <a:sym typeface="+mn-ea"/>
              </a:rPr>
              <a:t>AI</a:t>
            </a:r>
            <a:r>
              <a:rPr lang="zh-CN" altLang="en-US">
                <a:sym typeface="+mn-ea"/>
              </a:rPr>
              <a:t>制图专业规范，本项目采用知识体系梳理、多源知识抽取等方法，预期获取本体模型、结构化数据库及编程接口。</a:t>
            </a:r>
            <a:endParaRPr lang="zh-CN" altLang="en-US">
              <a:sym typeface="+mn-ea"/>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r>
              <a:rPr lang="zh-CN" altLang="en-US"/>
              <a:t>内容二：基于</a:t>
            </a:r>
            <a:r>
              <a:rPr lang="en-US" altLang="zh-CN"/>
              <a:t> ReAct </a:t>
            </a:r>
            <a:r>
              <a:rPr lang="zh-CN" altLang="en-US"/>
              <a:t>范式研发智能体。</a:t>
            </a:r>
            <a:r>
              <a:rPr lang="en-US">
                <a:solidFill>
                  <a:srgbClr val="000000"/>
                </a:solidFill>
                <a:sym typeface="+mn-ea"/>
              </a:rPr>
              <a:t>这个智能体是我们系统的“大脑”和“调度中心”。</a:t>
            </a:r>
            <a:r>
              <a:rPr lang="zh-CN" altLang="en-US"/>
              <a:t>下</a:t>
            </a:r>
            <a:r>
              <a:rPr lang="zh-CN" altLang="en-US"/>
              <a:t>方图为该部分的研究内容</a:t>
            </a:r>
            <a:endParaRPr lang="zh-CN" altLang="en-US"/>
          </a:p>
          <a:p>
            <a:r>
              <a:rPr lang="zh-CN" altLang="en-US"/>
              <a:t>本项目</a:t>
            </a:r>
            <a:r>
              <a:rPr lang="en-US">
                <a:solidFill>
                  <a:srgbClr val="000000"/>
                </a:solidFill>
                <a:sym typeface="+mn-ea"/>
              </a:rPr>
              <a:t>利用LangChain框架来实现这一智能体，让它能够像人一样“思考”和“行动”：先理解用户需求，然后规划步骤，接着调用工具去执行，并根据结果不断调整。</a:t>
            </a:r>
            <a:r>
              <a:rPr lang="zh-CN" altLang="en-US"/>
              <a:t>。</a:t>
            </a:r>
            <a:endParaRPr lang="zh-CN" altLang="en-US"/>
          </a:p>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r>
              <a:rPr lang="zh-CN" altLang="en-US"/>
              <a:t>内容三是智能化制图方法的研究，也就是技术融合部分。</a:t>
            </a:r>
            <a:r>
              <a:rPr lang="zh-CN" altLang="en-US">
                <a:sym typeface="+mn-ea"/>
              </a:rPr>
              <a:t>右图为</a:t>
            </a:r>
            <a:r>
              <a:rPr lang="zh-CN" altLang="en-US">
                <a:sym typeface="+mn-ea"/>
              </a:rPr>
              <a:t>该部分的研究内容。</a:t>
            </a:r>
            <a:endParaRPr lang="zh-CN" altLang="en-US">
              <a:sym typeface="+mn-ea"/>
            </a:endParaRPr>
          </a:p>
          <a:p>
            <a:r>
              <a:rPr lang="en-US">
                <a:solidFill>
                  <a:srgbClr val="000000"/>
                </a:solidFill>
                <a:sym typeface="+mn-ea"/>
              </a:rPr>
              <a:t>我们的核心思路是采用检索增强生成（RAG）机制，让大模型在做决策前，先去知识图谱里“查资料”，确保其生成的制图方案既符合用户需求，又遵循专业规范。</a:t>
            </a:r>
            <a:endParaRPr lang="en-US">
              <a:solidFill>
                <a:srgbClr val="000000"/>
              </a:solidFill>
              <a:sym typeface="+mn-ea"/>
            </a:endParaRPr>
          </a:p>
          <a:p>
            <a:r>
              <a:rPr lang="en-US">
                <a:solidFill>
                  <a:srgbClr val="000000"/>
                </a:solidFill>
                <a:sym typeface="+mn-ea"/>
              </a:rPr>
              <a:t>通过这一方法，我们将打通从需求理解到地图生成的全链路智能化流程。</a:t>
            </a:r>
            <a:endParaRPr lang="zh-CN" altLang="en-US">
              <a:sym typeface="+mn-ea"/>
            </a:endParaRPr>
          </a:p>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r>
              <a:rPr lang="en-US">
                <a:solidFill>
                  <a:srgbClr val="000000"/>
                </a:solidFill>
                <a:sym typeface="+mn-ea"/>
              </a:rPr>
              <a:t>最后一项研究内容是原型系统的开发与实验验证。</a:t>
            </a:r>
            <a:r>
              <a:rPr lang="zh-CN" altLang="en-US">
                <a:sym typeface="+mn-ea"/>
              </a:rPr>
              <a:t>右图为该部分的研究内容。</a:t>
            </a:r>
            <a:endParaRPr lang="zh-CN" altLang="en-US">
              <a:sym typeface="+mn-ea"/>
            </a:endParaRPr>
          </a:p>
          <a:p>
            <a:r>
              <a:rPr lang="en-US">
                <a:solidFill>
                  <a:srgbClr val="000000"/>
                </a:solidFill>
                <a:sym typeface="+mn-ea"/>
              </a:rPr>
              <a:t>我们</a:t>
            </a:r>
            <a:r>
              <a:rPr lang="zh-CN" altLang="en-US">
                <a:solidFill>
                  <a:srgbClr val="000000"/>
                </a:solidFill>
                <a:sym typeface="+mn-ea"/>
              </a:rPr>
              <a:t>计划</a:t>
            </a:r>
            <a:r>
              <a:rPr lang="en-US">
                <a:solidFill>
                  <a:srgbClr val="000000"/>
                </a:solidFill>
                <a:sym typeface="+mn-ea"/>
              </a:rPr>
              <a:t>采用前后端分离的架构，</a:t>
            </a:r>
            <a:r>
              <a:rPr lang="zh-CN" altLang="en-US">
                <a:sym typeface="+mn-ea"/>
              </a:rPr>
              <a:t>前端用</a:t>
            </a:r>
            <a:r>
              <a:rPr lang="en-US" altLang="zh-CN">
                <a:sym typeface="+mn-ea"/>
              </a:rPr>
              <a:t>Vue.js</a:t>
            </a:r>
            <a:r>
              <a:rPr lang="zh-CN" altLang="en-US">
                <a:sym typeface="+mn-ea"/>
              </a:rPr>
              <a:t>，后端用</a:t>
            </a:r>
            <a:r>
              <a:rPr lang="en-US" altLang="zh-CN">
                <a:sym typeface="+mn-ea"/>
              </a:rPr>
              <a:t>Flask</a:t>
            </a:r>
            <a:r>
              <a:rPr lang="zh-CN" altLang="en-US">
                <a:sym typeface="+mn-ea"/>
              </a:rPr>
              <a:t>，集成</a:t>
            </a:r>
            <a:r>
              <a:rPr lang="en-US" altLang="zh-CN">
                <a:sym typeface="+mn-ea"/>
              </a:rPr>
              <a:t>OpenLayers</a:t>
            </a:r>
            <a:r>
              <a:rPr lang="zh-CN" altLang="en-US">
                <a:sym typeface="+mn-ea"/>
              </a:rPr>
              <a:t>实现可视化。</a:t>
            </a:r>
            <a:r>
              <a:rPr lang="en-US">
                <a:solidFill>
                  <a:srgbClr val="000000"/>
                </a:solidFill>
                <a:sym typeface="+mn-ea"/>
              </a:rPr>
              <a:t>同时</a:t>
            </a:r>
            <a:r>
              <a:rPr lang="zh-CN" altLang="en-US">
                <a:solidFill>
                  <a:srgbClr val="000000"/>
                </a:solidFill>
                <a:sym typeface="+mn-ea"/>
              </a:rPr>
              <a:t>对系统进行多</a:t>
            </a:r>
            <a:r>
              <a:rPr lang="en-US">
                <a:solidFill>
                  <a:srgbClr val="000000"/>
                </a:solidFill>
                <a:sym typeface="+mn-ea"/>
              </a:rPr>
              <a:t>场景</a:t>
            </a:r>
            <a:r>
              <a:rPr lang="zh-CN" altLang="en-US">
                <a:solidFill>
                  <a:srgbClr val="000000"/>
                </a:solidFill>
                <a:sym typeface="+mn-ea"/>
              </a:rPr>
              <a:t>多</a:t>
            </a:r>
            <a:r>
              <a:rPr lang="en-US">
                <a:solidFill>
                  <a:srgbClr val="000000"/>
                </a:solidFill>
                <a:sym typeface="+mn-ea"/>
              </a:rPr>
              <a:t>维度的测试和验证，</a:t>
            </a:r>
            <a:r>
              <a:rPr lang="zh-CN" altLang="en-US">
                <a:sym typeface="+mn-ea"/>
              </a:rPr>
              <a:t>产出可交互的</a:t>
            </a:r>
            <a:r>
              <a:rPr lang="en-US" altLang="zh-CN">
                <a:sym typeface="+mn-ea"/>
              </a:rPr>
              <a:t>Web</a:t>
            </a:r>
            <a:r>
              <a:rPr lang="zh-CN" altLang="en-US">
                <a:sym typeface="+mn-ea"/>
              </a:rPr>
              <a:t>端原型系统</a:t>
            </a:r>
            <a:r>
              <a:rPr lang="en-US">
                <a:solidFill>
                  <a:srgbClr val="000000"/>
                </a:solidFill>
                <a:sym typeface="+mn-ea"/>
              </a:rPr>
              <a:t>。</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r>
              <a:rPr lang="zh-CN" altLang="en-US">
                <a:sym typeface="+mn-ea"/>
              </a:rPr>
              <a:t>这是本项目的总体技术路线，是达成目标的关键。</a:t>
            </a:r>
            <a:endParaRPr lang="zh-CN" altLang="en-US">
              <a:sym typeface="+mn-ea"/>
            </a:endParaRPr>
          </a:p>
          <a:p>
            <a:r>
              <a:rPr lang="zh-CN" altLang="en-US"/>
              <a:t>本技术路线通过</a:t>
            </a:r>
            <a:r>
              <a:rPr lang="en-US" altLang="zh-CN"/>
              <a:t> “</a:t>
            </a:r>
            <a:r>
              <a:rPr lang="zh-CN" altLang="en-US"/>
              <a:t>知识打底</a:t>
            </a:r>
            <a:r>
              <a:rPr lang="en-US" altLang="zh-CN"/>
              <a:t> — </a:t>
            </a:r>
            <a:r>
              <a:rPr lang="zh-CN" altLang="en-US"/>
              <a:t>执行落地</a:t>
            </a:r>
            <a:r>
              <a:rPr lang="en-US" altLang="zh-CN"/>
              <a:t> — </a:t>
            </a:r>
            <a:r>
              <a:rPr lang="zh-CN" altLang="en-US"/>
              <a:t>智能交互</a:t>
            </a:r>
            <a:r>
              <a:rPr lang="en-US" altLang="zh-CN"/>
              <a:t> — </a:t>
            </a:r>
            <a:r>
              <a:rPr lang="zh-CN" altLang="en-US"/>
              <a:t>实证优化</a:t>
            </a:r>
            <a:r>
              <a:rPr lang="en-US" altLang="zh-CN"/>
              <a:t>” </a:t>
            </a:r>
            <a:r>
              <a:rPr lang="zh-CN" altLang="en-US"/>
              <a:t>的递进逻辑，</a:t>
            </a:r>
            <a:r>
              <a:rPr lang="zh-CN" altLang="en-US"/>
              <a:t>确保技术实现的专业性与可行性</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r>
              <a:rPr lang="zh-CN" altLang="en-US"/>
              <a:t>本项目以知识筑基、执行落地、智能交互为递进逻辑，从知识体系、执行架构、技术融合三方面创新，构建全链路智能制图系统，有效解决大模型幻觉与传统制图门槛高的核心问题。</a:t>
            </a: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r>
              <a:rPr lang="zh-CN" altLang="en-US"/>
              <a:t>接下来是人员分工，我主要负责</a:t>
            </a:r>
            <a:r>
              <a:rPr lang="zh-CN" altLang="en-US">
                <a:latin typeface="微软雅黑" panose="020B0503020204020204" pitchFamily="34" charset="-122"/>
                <a:sym typeface="+mn-ea"/>
              </a:rPr>
              <a:t>负责工作的统筹规划、进行方法的研究等工作，秦潞杰同学主要负责后端，徐欣同学负责前端。不过，实际上，我们都是在蔡老师的指导下，共同学习、协同攻坚，一起推进项目</a:t>
            </a:r>
            <a:r>
              <a:rPr lang="zh-CN" altLang="en-US">
                <a:latin typeface="微软雅黑" panose="020B0503020204020204" pitchFamily="34" charset="-122"/>
                <a:sym typeface="+mn-ea"/>
              </a:rPr>
              <a:t>进度。</a:t>
            </a:r>
            <a:endParaRPr lang="zh-CN" altLang="en-US">
              <a:latin typeface="微软雅黑" panose="020B0503020204020204" pitchFamily="34" charset="-122"/>
              <a:sym typeface="+mn-ea"/>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第三部分，是项目进展，</a:t>
            </a:r>
            <a:r>
              <a:rPr lang="zh-CN" altLang="en-US">
                <a:sym typeface="+mn-ea"/>
              </a:rPr>
              <a:t>此部分展示项目在各方面的推进情况，让大家清晰了解项目的实际成果与发展态势。</a:t>
            </a:r>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r>
              <a:rPr lang="en-US">
                <a:solidFill>
                  <a:srgbClr val="000000"/>
                </a:solidFill>
                <a:sym typeface="+mn-ea"/>
              </a:rPr>
              <a:t>首先，我们已经完成了地图学知识图谱的核心构建工作。我们梳理了知识体系，设计了本体框架，并成功将多源知识转换为结构化的图谱数据，存储在Neo4j数据库中。目前，我们的图谱已经初具规模，为后续应用奠定了坚实基础。</a:t>
            </a:r>
            <a:endParaRPr lang="en-US" b="0" i="0" u="none" strike="noStrike">
              <a:solidFill>
                <a:srgbClr val="000000"/>
              </a:solidFill>
            </a:endParaRPr>
          </a:p>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pPr marL="0" indent="304800" algn="l" defTabSz="266700">
              <a:lnSpc>
                <a:spcPct val="150000"/>
              </a:lnSpc>
              <a:spcBef>
                <a:spcPct val="0"/>
              </a:spcBef>
              <a:spcAft>
                <a:spcPct val="0"/>
              </a:spcAft>
            </a:pPr>
            <a:r>
              <a:rPr lang="zh-CN" altLang="en-US"/>
              <a:t>这个是我们目前构建的知识图谱，它包含</a:t>
            </a:r>
            <a:r>
              <a:rPr lang="en-US" altLang="zh-CN">
                <a:latin typeface="微软雅黑" panose="020B0503020204020204" pitchFamily="34" charset="-122"/>
                <a:sym typeface="+mn-ea"/>
              </a:rPr>
              <a:t>1224</a:t>
            </a:r>
            <a:r>
              <a:rPr lang="zh-CN" altLang="en-US">
                <a:latin typeface="微软雅黑" panose="020B0503020204020204" pitchFamily="34" charset="-122"/>
                <a:sym typeface="+mn-ea"/>
              </a:rPr>
              <a:t>个实体、</a:t>
            </a:r>
            <a:r>
              <a:rPr lang="en-US" altLang="zh-CN">
                <a:latin typeface="微软雅黑" panose="020B0503020204020204" pitchFamily="34" charset="-122"/>
                <a:sym typeface="+mn-ea"/>
              </a:rPr>
              <a:t>1354</a:t>
            </a:r>
            <a:r>
              <a:rPr lang="zh-CN" altLang="en-US">
                <a:latin typeface="微软雅黑" panose="020B0503020204020204" pitchFamily="34" charset="-122"/>
                <a:sym typeface="+mn-ea"/>
              </a:rPr>
              <a:t>条关系，存储了多个方面的制图</a:t>
            </a:r>
            <a:r>
              <a:rPr lang="zh-CN" altLang="en-US">
                <a:latin typeface="微软雅黑" panose="020B0503020204020204" pitchFamily="34" charset="-122"/>
                <a:sym typeface="+mn-ea"/>
              </a:rPr>
              <a:t>知识</a:t>
            </a:r>
            <a:endParaRPr lang="zh-CN" altLang="en-US">
              <a:latin typeface="微软雅黑" panose="020B0503020204020204" pitchFamily="34" charset="-122"/>
              <a:sym typeface="+mn-ea"/>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r>
              <a:rPr lang="zh-CN" altLang="en-US"/>
              <a:t>其次，我们通过修改</a:t>
            </a:r>
            <a:r>
              <a:rPr lang="en-US" altLang="zh-CN"/>
              <a:t>GitHub</a:t>
            </a:r>
            <a:r>
              <a:rPr lang="zh-CN" altLang="en-US"/>
              <a:t>上的相关源码，成功实现了</a:t>
            </a:r>
            <a:r>
              <a:rPr lang="zh-CN" altLang="en-US" dirty="0">
                <a:solidFill>
                  <a:srgbClr val="00481C"/>
                </a:solidFill>
                <a:latin typeface="微软雅黑" panose="020B0503020204020204" pitchFamily="34" charset="-122"/>
                <a:cs typeface="微软雅黑" panose="020B0503020204020204" pitchFamily="34" charset="-122"/>
                <a:sym typeface="+mn-ea"/>
              </a:rPr>
              <a:t>基于大语言模型（</a:t>
            </a:r>
            <a:r>
              <a:rPr lang="en-US" altLang="zh-CN" dirty="0">
                <a:solidFill>
                  <a:srgbClr val="00481C"/>
                </a:solidFill>
                <a:latin typeface="微软雅黑" panose="020B0503020204020204" pitchFamily="34" charset="-122"/>
                <a:cs typeface="微软雅黑" panose="020B0503020204020204" pitchFamily="34" charset="-122"/>
                <a:sym typeface="+mn-ea"/>
              </a:rPr>
              <a:t>LLM</a:t>
            </a:r>
            <a:r>
              <a:rPr lang="zh-CN" altLang="en-US" dirty="0">
                <a:solidFill>
                  <a:srgbClr val="00481C"/>
                </a:solidFill>
                <a:latin typeface="微软雅黑" panose="020B0503020204020204" pitchFamily="34" charset="-122"/>
                <a:cs typeface="微软雅黑" panose="020B0503020204020204" pitchFamily="34" charset="-122"/>
                <a:sym typeface="+mn-ea"/>
              </a:rPr>
              <a:t>）的知识图谱构建功能。</a:t>
            </a:r>
            <a:endParaRPr lang="zh-CN" altLang="en-US" dirty="0">
              <a:solidFill>
                <a:srgbClr val="00481C"/>
              </a:solidFill>
              <a:latin typeface="微软雅黑" panose="020B0503020204020204" pitchFamily="34" charset="-122"/>
              <a:cs typeface="微软雅黑" panose="020B0503020204020204" pitchFamily="34" charset="-122"/>
            </a:endParaRPr>
          </a:p>
          <a:p>
            <a:r>
              <a:rPr lang="zh-CN" altLang="en-US"/>
              <a:t>该构建器优势显著，它能解决传统知识图谱构建方法成本高、周期长、适配性差等痛点，实现</a:t>
            </a:r>
            <a:r>
              <a:rPr lang="zh-CN" altLang="en-US">
                <a:sym typeface="+mn-ea"/>
              </a:rPr>
              <a:t>从非结构化文本自动提取实体与关系，构建完整知识图谱结构，可大幅提升构建效率</a:t>
            </a:r>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r>
              <a:rPr lang="zh-CN" altLang="en-US"/>
              <a:t>这个是图谱构建器文档处理的流程，沿着这个流程可以将</a:t>
            </a:r>
            <a:r>
              <a:rPr lang="en-US" altLang="zh-CN"/>
              <a:t>txt</a:t>
            </a:r>
            <a:r>
              <a:rPr lang="zh-CN" altLang="en-US"/>
              <a:t>、</a:t>
            </a:r>
            <a:r>
              <a:rPr lang="en-US" altLang="zh-CN"/>
              <a:t>docx</a:t>
            </a:r>
            <a:r>
              <a:rPr lang="zh-CN" altLang="en-US"/>
              <a:t>、</a:t>
            </a:r>
            <a:r>
              <a:rPr lang="en-US" altLang="zh-CN"/>
              <a:t>pdf</a:t>
            </a:r>
            <a:r>
              <a:rPr lang="zh-CN" altLang="en-US"/>
              <a:t>中的知识存储入库，构建</a:t>
            </a:r>
            <a:r>
              <a:rPr lang="zh-CN" altLang="en-US"/>
              <a:t>知识图谱</a:t>
            </a:r>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r>
              <a:rPr lang="zh-CN" altLang="en-US"/>
              <a:t>该项目</a:t>
            </a:r>
            <a:r>
              <a:rPr lang="zh-CN" altLang="en-US">
                <a:sym typeface="+mn-ea"/>
              </a:rPr>
              <a:t>已配置可视化</a:t>
            </a:r>
            <a:r>
              <a:rPr lang="en-US" altLang="zh-CN">
                <a:sym typeface="+mn-ea"/>
              </a:rPr>
              <a:t>Web</a:t>
            </a:r>
            <a:r>
              <a:rPr lang="zh-CN" altLang="en-US">
                <a:sym typeface="+mn-ea"/>
              </a:rPr>
              <a:t>原型系统，左侧为交互式图谱可视化，能够实现实体搜索、自动配色等交互功能；右侧为图推理智能体，它依托构建的图谱，能解答地图学等专业复杂问题，</a:t>
            </a:r>
            <a:r>
              <a:rPr lang="en-US">
                <a:latin typeface="微软雅黑" panose="020B0503020204020204" pitchFamily="34" charset="-122"/>
                <a:cs typeface="微软雅黑" panose="020B0503020204020204" pitchFamily="34" charset="-122"/>
                <a:sym typeface="Noto Sans SC" panose="020B0200000000000000" charset="-122"/>
              </a:rPr>
              <a:t>实现知识图谱的智能问答。</a:t>
            </a:r>
            <a:endParaRPr lang="zh-CN" altLang="en-US">
              <a:sym typeface="+mn-ea"/>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r>
              <a:rPr lang="zh-CN" altLang="en-US"/>
              <a:t>第三项成</a:t>
            </a:r>
            <a:r>
              <a:rPr lang="zh-CN" altLang="en-US"/>
              <a:t>果是一个</a:t>
            </a:r>
            <a:r>
              <a:rPr lang="zh-CN" altLang="en-US" dirty="0">
                <a:solidFill>
                  <a:srgbClr val="00481C"/>
                </a:solidFill>
                <a:latin typeface="Times New Roman" panose="02020603050405020304" pitchFamily="18" charset="0"/>
                <a:cs typeface="Times New Roman" panose="02020603050405020304" pitchFamily="18" charset="0"/>
                <a:sym typeface="+mn-ea"/>
              </a:rPr>
              <a:t>基于地图制图知识图谱的智能问答系统</a:t>
            </a:r>
            <a:endParaRPr lang="zh-CN" altLang="en-US" dirty="0">
              <a:solidFill>
                <a:srgbClr val="00481C"/>
              </a:solidFill>
              <a:latin typeface="Times New Roman" panose="02020603050405020304" pitchFamily="18" charset="0"/>
              <a:cs typeface="Times New Roman" panose="02020603050405020304" pitchFamily="18" charset="0"/>
              <a:sym typeface="+mn-ea"/>
            </a:endParaRPr>
          </a:p>
          <a:p>
            <a:r>
              <a:rPr lang="zh-CN" altLang="en-US"/>
              <a:t>它主要包括数据获取、自然语言处理、</a:t>
            </a:r>
            <a:r>
              <a:rPr lang="en-US">
                <a:latin typeface="Noto Sans SC" panose="020B0200000000000000" charset="-122"/>
                <a:ea typeface="Noto Sans SC" panose="020B0200000000000000" charset="-122"/>
                <a:cs typeface="Noto Sans SC" panose="020B0200000000000000" charset="-122"/>
                <a:sym typeface="Noto Sans SC" panose="020B0200000000000000" charset="-122"/>
              </a:rPr>
              <a:t>问答检索与答案生成</a:t>
            </a:r>
            <a:r>
              <a:rPr lang="zh-CN" altLang="en-US"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、多轮问答交互四个功能，该系统既可以从知识库中获取知识回答，也可以通过大语言模型生成答案，</a:t>
            </a:r>
            <a:r>
              <a:rPr lang="en-US">
                <a:latin typeface="微软雅黑" panose="020B0503020204020204" pitchFamily="34" charset="-122"/>
                <a:cs typeface="Noto Sans SC" panose="020B0200000000000000" charset="-122"/>
                <a:sym typeface="Noto Sans SC" panose="020B0200000000000000" charset="-122"/>
              </a:rPr>
              <a:t>成功验证了知识图谱与大语言模型结合进行专业知识问答的技术可行性</a:t>
            </a:r>
            <a:endParaRPr lang="zh-CN" altLang="en-US"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r>
              <a:rPr lang="zh-CN" altLang="en-US"/>
              <a:t>第四部分是制图原型模块，也是我们正在</a:t>
            </a:r>
            <a:r>
              <a:rPr lang="zh-CN" altLang="en-US"/>
              <a:t>做的</a:t>
            </a:r>
            <a:r>
              <a:rPr lang="zh-CN" altLang="en-US"/>
              <a:t>模块。</a:t>
            </a:r>
            <a:endParaRPr lang="zh-CN" altLang="en-US"/>
          </a:p>
          <a:p>
            <a:r>
              <a:rPr lang="zh-CN" altLang="en-US">
                <a:sym typeface="+mn-ea"/>
              </a:rPr>
              <a:t>该模块可接收自然语言指令，借助知识图谱获取制图规则，结合地理数据实时生成交互式地图，目前已支持武汉市交通图初步生成。</a:t>
            </a:r>
            <a:endParaRPr lang="zh-CN" altLang="en-US">
              <a:sym typeface="+mn-ea"/>
            </a:endParaRPr>
          </a:p>
          <a:p>
            <a:r>
              <a:rPr lang="zh-CN" altLang="en-US"/>
              <a:t>但由于技术问题，生成地图在视觉美观度、数据丰富度方面仍存在不足，可生成内容也十分</a:t>
            </a:r>
            <a:r>
              <a:rPr lang="zh-CN" altLang="en-US"/>
              <a:t>单一。</a:t>
            </a:r>
            <a:endParaRPr lang="zh-CN" altLang="en-US"/>
          </a:p>
          <a:p>
            <a:r>
              <a:rPr lang="zh-CN" altLang="en-US"/>
              <a:t>目前我们正通过优化代码结构、配置符号库等操作来逐步</a:t>
            </a:r>
            <a:r>
              <a:rPr lang="zh-CN" altLang="en-US"/>
              <a:t>完善。</a:t>
            </a:r>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r>
              <a:rPr lang="zh-CN" altLang="en-US"/>
              <a:t>最后一个成果是</a:t>
            </a:r>
            <a:r>
              <a:rPr lang="zh-CN" altLang="en-US">
                <a:sym typeface="+mn-ea"/>
              </a:rPr>
              <a:t>用户端</a:t>
            </a:r>
            <a:r>
              <a:rPr lang="en-US" altLang="zh-CN">
                <a:sym typeface="+mn-ea"/>
              </a:rPr>
              <a:t> UI </a:t>
            </a:r>
            <a:r>
              <a:rPr lang="zh-CN" altLang="en-US">
                <a:sym typeface="+mn-ea"/>
              </a:rPr>
              <a:t>界面设计。</a:t>
            </a:r>
            <a:endParaRPr lang="zh-CN" altLang="en-US">
              <a:sym typeface="+mn-ea"/>
            </a:endParaRPr>
          </a:p>
          <a:p>
            <a:r>
              <a:rPr lang="zh-CN" altLang="en-US"/>
              <a:t>设计参考现有的大模型软件，</a:t>
            </a:r>
            <a:r>
              <a:rPr lang="zh-CN" altLang="en-US">
                <a:sym typeface="+mn-ea"/>
              </a:rPr>
              <a:t>设有个人中心、收藏、历史记录等功能，右侧提供标点、标线等绘图工具，右下角配置指北针、比例尺、放大缩小的地图基本内容。后续将持续优化，同时链接后端开发，实现从自然语言指令到交互式地图生成的完整闭环，为用户提供流畅的</a:t>
            </a:r>
            <a:r>
              <a:rPr lang="en-US" altLang="zh-CN">
                <a:sym typeface="+mn-ea"/>
              </a:rPr>
              <a:t>“</a:t>
            </a:r>
            <a:r>
              <a:rPr lang="zh-CN" altLang="en-US">
                <a:sym typeface="+mn-ea"/>
              </a:rPr>
              <a:t>对话</a:t>
            </a:r>
            <a:r>
              <a:rPr lang="en-US" altLang="zh-CN">
                <a:sym typeface="+mn-ea"/>
              </a:rPr>
              <a:t>-</a:t>
            </a:r>
            <a:r>
              <a:rPr lang="zh-CN" altLang="en-US">
                <a:sym typeface="+mn-ea"/>
              </a:rPr>
              <a:t>制图</a:t>
            </a:r>
            <a:r>
              <a:rPr lang="en-US" altLang="zh-CN">
                <a:sym typeface="+mn-ea"/>
              </a:rPr>
              <a:t>-</a:t>
            </a:r>
            <a:r>
              <a:rPr lang="zh-CN" altLang="en-US">
                <a:sym typeface="+mn-ea"/>
              </a:rPr>
              <a:t>交互</a:t>
            </a:r>
            <a:r>
              <a:rPr lang="en-US" altLang="zh-CN">
                <a:sym typeface="+mn-ea"/>
              </a:rPr>
              <a:t>“ </a:t>
            </a:r>
            <a:r>
              <a:rPr lang="zh-CN" altLang="en-US">
                <a:sym typeface="+mn-ea"/>
              </a:rPr>
              <a:t>一站式体验。</a:t>
            </a:r>
            <a:endParaRPr lang="zh-CN" altLang="en-US">
              <a:sym typeface="+mn-ea"/>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现在进入第四部分</a:t>
            </a:r>
            <a:r>
              <a:rPr lang="en-US" altLang="zh-CN">
                <a:sym typeface="+mn-ea"/>
              </a:rPr>
              <a:t>——</a:t>
            </a:r>
            <a:r>
              <a:rPr lang="zh-CN" altLang="en-US">
                <a:sym typeface="+mn-ea"/>
              </a:rPr>
              <a:t>总结展望。此前我们介绍了项目各方面内容，接下来将总结已取得的成果，并对未来发展进行展望，明确后续努力方向，以推动项目持续完善与进步。</a:t>
            </a:r>
            <a:endParaRPr lang="zh-CN" altLang="en-US"/>
          </a:p>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r>
              <a:rPr lang="zh-CN" altLang="en-US">
                <a:sym typeface="+mn-ea"/>
              </a:rPr>
              <a:t>截至目前，本项目有多项成果，完成地图学知识图谱核心构建，掌握全流程核心技术，创建智能问答系统等等。不过，当前研究仍存在诸多不足。展望未来，我们将进一步要优化知识图谱，</a:t>
            </a:r>
            <a:r>
              <a:rPr lang="zh-CN" altLang="en-US"/>
              <a:t>完成原型系统的集成与验证，增强智能体处理复杂任务的能力，优化核心算法以提升系统效率与制图质量，并逐步拓展应用场景、开展广泛验证。</a:t>
            </a:r>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solidFill>
                  <a:srgbClr val="000000"/>
                </a:solidFill>
                <a:sym typeface="+mn-ea"/>
              </a:rPr>
              <a:t>最后，衷心感谢蔡</a:t>
            </a:r>
            <a:r>
              <a:rPr lang="zh-CN" altLang="en-US">
                <a:solidFill>
                  <a:srgbClr val="000000"/>
                </a:solidFill>
                <a:sym typeface="+mn-ea"/>
              </a:rPr>
              <a:t>老师</a:t>
            </a:r>
            <a:r>
              <a:rPr lang="en-US">
                <a:solidFill>
                  <a:srgbClr val="000000"/>
                </a:solidFill>
                <a:sym typeface="+mn-ea"/>
              </a:rPr>
              <a:t>的悉心指导，感谢学校提供的平台，也感谢团队成员的通力合作！我的汇报到此结束，</a:t>
            </a:r>
            <a:r>
              <a:rPr lang="zh-CN" altLang="en-US">
                <a:solidFill>
                  <a:srgbClr val="000000"/>
                </a:solidFill>
                <a:sym typeface="+mn-ea"/>
              </a:rPr>
              <a:t>谢谢</a:t>
            </a:r>
            <a:r>
              <a:rPr lang="zh-CN" altLang="en-US">
                <a:sym typeface="+mn-ea"/>
              </a:rPr>
              <a:t>各位老师抽出宝贵的时间</a:t>
            </a:r>
            <a:r>
              <a:rPr lang="zh-CN" altLang="en-US">
                <a:sym typeface="+mn-ea"/>
              </a:rPr>
              <a:t>倾听本次汇报，</a:t>
            </a:r>
            <a:r>
              <a:rPr lang="en-US">
                <a:solidFill>
                  <a:srgbClr val="000000"/>
                </a:solidFill>
                <a:sym typeface="+mn-ea"/>
              </a:rPr>
              <a:t>恳请各位老师批评指正！</a:t>
            </a:r>
            <a:endParaRPr lang="en-US" b="0" i="0" u="none" strike="noStrike">
              <a:solidFill>
                <a:srgbClr val="000000"/>
              </a:solidFill>
            </a:endParaRPr>
          </a:p>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B098AF9F-2D75-4F26-BD1B-A5ACD20A7B0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F36FF16-D2A7-4508-B6F0-177A2BE6065A}" type="slidenum">
              <a:rPr lang="zh-CN" altLang="en-US" smtClean="0"/>
            </a:fld>
            <a:endParaRPr lang="zh-CN" alt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标题和内容">
    <p:spTree>
      <p:nvGrpSpPr>
        <p:cNvPr id="7" name=""/>
        <p:cNvGrpSpPr/>
        <p:nvPr/>
      </p:nvGrpSpPr>
      <p:grpSpPr>
        <a:xfrm>
          <a:off x="0" y="0"/>
          <a:ext cx="0" cy="0"/>
          <a:chOff x="0" y="0"/>
          <a:chExt cx="0" cy="0"/>
        </a:xfrm>
      </p:grpSpPr>
      <p:sp>
        <p:nvSpPr>
          <p:cNvPr id="8" name="标题 1"/>
          <p:cNvSpPr>
            <a:spLocks noGrp="1"/>
          </p:cNvSpPr>
          <p:nvPr>
            <p:ph type="title"/>
          </p:nvPr>
        </p:nvSpPr>
        <p:spPr/>
        <p:txBody>
          <a:bodyPr/>
          <a:lstStyle/>
          <a:p>
            <a:r>
              <a:rPr lang="zh-CN" altLang="en-US"/>
              <a:t>单击此处编辑母版标题样式</a:t>
            </a:r>
            <a:endParaRPr lang="zh-CN" altLang="en-US"/>
          </a:p>
        </p:txBody>
      </p:sp>
      <p:sp>
        <p:nvSpPr>
          <p:cNvPr id="9"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 name="日期占位符 3"/>
          <p:cNvSpPr>
            <a:spLocks noGrp="1"/>
          </p:cNvSpPr>
          <p:nvPr>
            <p:ph type="dt" sz="half" idx="10"/>
          </p:nvPr>
        </p:nvSpPr>
        <p:spPr/>
        <p:txBody>
          <a:bodyPr/>
          <a:lstStyle/>
          <a:p>
            <a:fld id="{B098AF9F-2D75-4F26-BD1B-A5ACD20A7B01}" type="datetimeFigureOut">
              <a:rPr lang="zh-CN" altLang="en-US" smtClean="0"/>
            </a:fld>
            <a:endParaRPr lang="zh-CN" altLang="en-US"/>
          </a:p>
        </p:txBody>
      </p:sp>
      <p:sp>
        <p:nvSpPr>
          <p:cNvPr id="11" name="页脚占位符 4"/>
          <p:cNvSpPr>
            <a:spLocks noGrp="1"/>
          </p:cNvSpPr>
          <p:nvPr>
            <p:ph type="ftr" sz="quarter" idx="11"/>
          </p:nvPr>
        </p:nvSpPr>
        <p:spPr/>
        <p:txBody>
          <a:bodyPr/>
          <a:lstStyle/>
          <a:p>
            <a:endParaRPr lang="zh-CN" altLang="en-US"/>
          </a:p>
        </p:txBody>
      </p:sp>
      <p:sp>
        <p:nvSpPr>
          <p:cNvPr id="12" name="灯片编号占位符 5"/>
          <p:cNvSpPr>
            <a:spLocks noGrp="1"/>
          </p:cNvSpPr>
          <p:nvPr>
            <p:ph type="sldNum" sz="quarter" idx="12"/>
          </p:nvPr>
        </p:nvSpPr>
        <p:spPr/>
        <p:txBody>
          <a:bodyPr/>
          <a:lstStyle/>
          <a:p>
            <a:fld id="{AF36FF16-D2A7-4508-B6F0-177A2BE6065A}" type="slidenum">
              <a:rPr lang="zh-CN" altLang="en-US" smtClean="0"/>
            </a:fld>
            <a:endParaRPr lang="zh-CN" alt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节标题">
    <p:spTree>
      <p:nvGrpSpPr>
        <p:cNvPr id="19" name=""/>
        <p:cNvGrpSpPr/>
        <p:nvPr/>
      </p:nvGrpSpPr>
      <p:grpSpPr>
        <a:xfrm>
          <a:off x="0" y="0"/>
          <a:ext cx="0" cy="0"/>
          <a:chOff x="0" y="0"/>
          <a:chExt cx="0" cy="0"/>
        </a:xfrm>
      </p:grpSpPr>
      <p:sp>
        <p:nvSpPr>
          <p:cNvPr id="20"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21"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22" name="日期占位符 3"/>
          <p:cNvSpPr>
            <a:spLocks noGrp="1"/>
          </p:cNvSpPr>
          <p:nvPr>
            <p:ph type="dt" sz="half" idx="10"/>
          </p:nvPr>
        </p:nvSpPr>
        <p:spPr/>
        <p:txBody>
          <a:bodyPr/>
          <a:lstStyle/>
          <a:p>
            <a:fld id="{B098AF9F-2D75-4F26-BD1B-A5ACD20A7B01}" type="datetimeFigureOut">
              <a:rPr lang="zh-CN" altLang="en-US" smtClean="0"/>
            </a:fld>
            <a:endParaRPr lang="zh-CN" altLang="en-US"/>
          </a:p>
        </p:txBody>
      </p:sp>
      <p:sp>
        <p:nvSpPr>
          <p:cNvPr id="23" name="页脚占位符 4"/>
          <p:cNvSpPr>
            <a:spLocks noGrp="1"/>
          </p:cNvSpPr>
          <p:nvPr>
            <p:ph type="ftr" sz="quarter" idx="11"/>
          </p:nvPr>
        </p:nvSpPr>
        <p:spPr/>
        <p:txBody>
          <a:bodyPr/>
          <a:lstStyle/>
          <a:p>
            <a:endParaRPr lang="zh-CN" altLang="en-US"/>
          </a:p>
        </p:txBody>
      </p:sp>
      <p:sp>
        <p:nvSpPr>
          <p:cNvPr id="24" name="灯片编号占位符 5"/>
          <p:cNvSpPr>
            <a:spLocks noGrp="1"/>
          </p:cNvSpPr>
          <p:nvPr>
            <p:ph type="sldNum" sz="quarter" idx="12"/>
          </p:nvPr>
        </p:nvSpPr>
        <p:spPr/>
        <p:txBody>
          <a:bodyPr/>
          <a:lstStyle/>
          <a:p>
            <a:fld id="{AF36FF16-D2A7-4508-B6F0-177A2BE6065A}" type="slidenum">
              <a:rPr lang="zh-CN" altLang="en-US" smtClean="0"/>
            </a:fld>
            <a:endParaRPr lang="zh-CN" alt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两栏内容">
    <p:spTree>
      <p:nvGrpSpPr>
        <p:cNvPr id="25" name=""/>
        <p:cNvGrpSpPr/>
        <p:nvPr/>
      </p:nvGrpSpPr>
      <p:grpSpPr>
        <a:xfrm>
          <a:off x="0" y="0"/>
          <a:ext cx="0" cy="0"/>
          <a:chOff x="0" y="0"/>
          <a:chExt cx="0" cy="0"/>
        </a:xfrm>
      </p:grpSpPr>
      <p:sp>
        <p:nvSpPr>
          <p:cNvPr id="26" name="标题 1"/>
          <p:cNvSpPr>
            <a:spLocks noGrp="1"/>
          </p:cNvSpPr>
          <p:nvPr>
            <p:ph type="title"/>
          </p:nvPr>
        </p:nvSpPr>
        <p:spPr/>
        <p:txBody>
          <a:bodyPr/>
          <a:lstStyle/>
          <a:p>
            <a:r>
              <a:rPr lang="zh-CN" altLang="en-US"/>
              <a:t>单击此处编辑母版标题样式</a:t>
            </a:r>
            <a:endParaRPr lang="zh-CN" altLang="en-US"/>
          </a:p>
        </p:txBody>
      </p:sp>
      <p:sp>
        <p:nvSpPr>
          <p:cNvPr id="27"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28"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29" name="日期占位符 4"/>
          <p:cNvSpPr>
            <a:spLocks noGrp="1"/>
          </p:cNvSpPr>
          <p:nvPr>
            <p:ph type="dt" sz="half" idx="10"/>
          </p:nvPr>
        </p:nvSpPr>
        <p:spPr/>
        <p:txBody>
          <a:bodyPr/>
          <a:lstStyle/>
          <a:p>
            <a:fld id="{B098AF9F-2D75-4F26-BD1B-A5ACD20A7B01}" type="datetimeFigureOut">
              <a:rPr lang="zh-CN" altLang="en-US" smtClean="0"/>
            </a:fld>
            <a:endParaRPr lang="zh-CN" altLang="en-US"/>
          </a:p>
        </p:txBody>
      </p:sp>
      <p:sp>
        <p:nvSpPr>
          <p:cNvPr id="30" name="页脚占位符 5"/>
          <p:cNvSpPr>
            <a:spLocks noGrp="1"/>
          </p:cNvSpPr>
          <p:nvPr>
            <p:ph type="ftr" sz="quarter" idx="11"/>
          </p:nvPr>
        </p:nvSpPr>
        <p:spPr/>
        <p:txBody>
          <a:bodyPr/>
          <a:lstStyle/>
          <a:p>
            <a:endParaRPr lang="zh-CN" altLang="en-US"/>
          </a:p>
        </p:txBody>
      </p:sp>
      <p:sp>
        <p:nvSpPr>
          <p:cNvPr id="31" name="灯片编号占位符 6"/>
          <p:cNvSpPr>
            <a:spLocks noGrp="1"/>
          </p:cNvSpPr>
          <p:nvPr>
            <p:ph type="sldNum" sz="quarter" idx="12"/>
          </p:nvPr>
        </p:nvSpPr>
        <p:spPr/>
        <p:txBody>
          <a:bodyPr/>
          <a:lstStyle/>
          <a:p>
            <a:fld id="{AF36FF16-D2A7-4508-B6F0-177A2BE6065A}" type="slidenum">
              <a:rPr lang="zh-CN" altLang="en-US" smtClean="0"/>
            </a:fld>
            <a:endParaRPr lang="zh-CN" alt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比较">
    <p:spTree>
      <p:nvGrpSpPr>
        <p:cNvPr id="32" name=""/>
        <p:cNvGrpSpPr/>
        <p:nvPr/>
      </p:nvGrpSpPr>
      <p:grpSpPr>
        <a:xfrm>
          <a:off x="0" y="0"/>
          <a:ext cx="0" cy="0"/>
          <a:chOff x="0" y="0"/>
          <a:chExt cx="0" cy="0"/>
        </a:xfrm>
      </p:grpSpPr>
      <p:sp>
        <p:nvSpPr>
          <p:cNvPr id="33"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4"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35"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36"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37"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38" name="日期占位符 6"/>
          <p:cNvSpPr>
            <a:spLocks noGrp="1"/>
          </p:cNvSpPr>
          <p:nvPr>
            <p:ph type="dt" sz="half" idx="10"/>
          </p:nvPr>
        </p:nvSpPr>
        <p:spPr/>
        <p:txBody>
          <a:bodyPr/>
          <a:lstStyle/>
          <a:p>
            <a:fld id="{B098AF9F-2D75-4F26-BD1B-A5ACD20A7B01}" type="datetimeFigureOut">
              <a:rPr lang="zh-CN" altLang="en-US" smtClean="0"/>
            </a:fld>
            <a:endParaRPr lang="zh-CN" altLang="en-US"/>
          </a:p>
        </p:txBody>
      </p:sp>
      <p:sp>
        <p:nvSpPr>
          <p:cNvPr id="39" name="页脚占位符 7"/>
          <p:cNvSpPr>
            <a:spLocks noGrp="1"/>
          </p:cNvSpPr>
          <p:nvPr>
            <p:ph type="ftr" sz="quarter" idx="11"/>
          </p:nvPr>
        </p:nvSpPr>
        <p:spPr/>
        <p:txBody>
          <a:bodyPr/>
          <a:lstStyle/>
          <a:p>
            <a:endParaRPr lang="zh-CN" altLang="en-US"/>
          </a:p>
        </p:txBody>
      </p:sp>
      <p:sp>
        <p:nvSpPr>
          <p:cNvPr id="40" name="灯片编号占位符 8"/>
          <p:cNvSpPr>
            <a:spLocks noGrp="1"/>
          </p:cNvSpPr>
          <p:nvPr>
            <p:ph type="sldNum" sz="quarter" idx="12"/>
          </p:nvPr>
        </p:nvSpPr>
        <p:spPr/>
        <p:txBody>
          <a:bodyPr/>
          <a:lstStyle/>
          <a:p>
            <a:fld id="{AF36FF16-D2A7-4508-B6F0-177A2BE6065A}" type="slidenum">
              <a:rPr lang="zh-CN" altLang="en-US" smtClean="0"/>
            </a:fld>
            <a:endParaRPr lang="zh-CN" alt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仅标题">
    <p:spTree>
      <p:nvGrpSpPr>
        <p:cNvPr id="41" name=""/>
        <p:cNvGrpSpPr/>
        <p:nvPr/>
      </p:nvGrpSpPr>
      <p:grpSpPr>
        <a:xfrm>
          <a:off x="0" y="0"/>
          <a:ext cx="0" cy="0"/>
          <a:chOff x="0" y="0"/>
          <a:chExt cx="0" cy="0"/>
        </a:xfrm>
      </p:grpSpPr>
      <p:sp>
        <p:nvSpPr>
          <p:cNvPr id="42" name="标题 1"/>
          <p:cNvSpPr>
            <a:spLocks noGrp="1"/>
          </p:cNvSpPr>
          <p:nvPr>
            <p:ph type="title"/>
          </p:nvPr>
        </p:nvSpPr>
        <p:spPr/>
        <p:txBody>
          <a:bodyPr/>
          <a:lstStyle/>
          <a:p>
            <a:r>
              <a:rPr lang="zh-CN" altLang="en-US"/>
              <a:t>单击此处编辑母版标题样式</a:t>
            </a:r>
            <a:endParaRPr lang="zh-CN" altLang="en-US"/>
          </a:p>
        </p:txBody>
      </p:sp>
      <p:sp>
        <p:nvSpPr>
          <p:cNvPr id="43" name="日期占位符 2"/>
          <p:cNvSpPr>
            <a:spLocks noGrp="1"/>
          </p:cNvSpPr>
          <p:nvPr>
            <p:ph type="dt" sz="half" idx="10"/>
          </p:nvPr>
        </p:nvSpPr>
        <p:spPr/>
        <p:txBody>
          <a:bodyPr/>
          <a:lstStyle/>
          <a:p>
            <a:fld id="{B098AF9F-2D75-4F26-BD1B-A5ACD20A7B01}" type="datetimeFigureOut">
              <a:rPr lang="zh-CN" altLang="en-US" smtClean="0"/>
            </a:fld>
            <a:endParaRPr lang="zh-CN" altLang="en-US"/>
          </a:p>
        </p:txBody>
      </p:sp>
      <p:sp>
        <p:nvSpPr>
          <p:cNvPr id="44" name="页脚占位符 3"/>
          <p:cNvSpPr>
            <a:spLocks noGrp="1"/>
          </p:cNvSpPr>
          <p:nvPr>
            <p:ph type="ftr" sz="quarter" idx="11"/>
          </p:nvPr>
        </p:nvSpPr>
        <p:spPr/>
        <p:txBody>
          <a:bodyPr/>
          <a:lstStyle/>
          <a:p>
            <a:endParaRPr lang="zh-CN" altLang="en-US"/>
          </a:p>
        </p:txBody>
      </p:sp>
      <p:sp>
        <p:nvSpPr>
          <p:cNvPr id="45" name="灯片编号占位符 4"/>
          <p:cNvSpPr>
            <a:spLocks noGrp="1"/>
          </p:cNvSpPr>
          <p:nvPr>
            <p:ph type="sldNum" sz="quarter" idx="12"/>
          </p:nvPr>
        </p:nvSpPr>
        <p:spPr/>
        <p:txBody>
          <a:bodyPr/>
          <a:lstStyle/>
          <a:p>
            <a:fld id="{AF36FF16-D2A7-4508-B6F0-177A2BE6065A}" type="slidenum">
              <a:rPr lang="zh-CN" altLang="en-US" smtClean="0"/>
            </a:fld>
            <a:endParaRPr lang="zh-CN" alt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46" name=""/>
        <p:cNvGrpSpPr/>
        <p:nvPr/>
      </p:nvGrpSpPr>
      <p:grpSpPr>
        <a:xfrm>
          <a:off x="0" y="0"/>
          <a:ext cx="0" cy="0"/>
          <a:chOff x="0" y="0"/>
          <a:chExt cx="0" cy="0"/>
        </a:xfrm>
      </p:grpSpPr>
      <p:sp>
        <p:nvSpPr>
          <p:cNvPr id="47" name="日期占位符 1"/>
          <p:cNvSpPr>
            <a:spLocks noGrp="1"/>
          </p:cNvSpPr>
          <p:nvPr>
            <p:ph type="dt" sz="half" idx="10"/>
          </p:nvPr>
        </p:nvSpPr>
        <p:spPr/>
        <p:txBody>
          <a:bodyPr/>
          <a:lstStyle/>
          <a:p>
            <a:fld id="{B098AF9F-2D75-4F26-BD1B-A5ACD20A7B01}" type="datetimeFigureOut">
              <a:rPr lang="zh-CN" altLang="en-US" smtClean="0"/>
            </a:fld>
            <a:endParaRPr lang="zh-CN" altLang="en-US"/>
          </a:p>
        </p:txBody>
      </p:sp>
      <p:sp>
        <p:nvSpPr>
          <p:cNvPr id="48" name="页脚占位符 2"/>
          <p:cNvSpPr>
            <a:spLocks noGrp="1"/>
          </p:cNvSpPr>
          <p:nvPr>
            <p:ph type="ftr" sz="quarter" idx="11"/>
          </p:nvPr>
        </p:nvSpPr>
        <p:spPr/>
        <p:txBody>
          <a:bodyPr/>
          <a:lstStyle/>
          <a:p>
            <a:endParaRPr lang="zh-CN" altLang="en-US"/>
          </a:p>
        </p:txBody>
      </p:sp>
      <p:sp>
        <p:nvSpPr>
          <p:cNvPr id="49" name="灯片编号占位符 3"/>
          <p:cNvSpPr>
            <a:spLocks noGrp="1"/>
          </p:cNvSpPr>
          <p:nvPr>
            <p:ph type="sldNum" sz="quarter" idx="12"/>
          </p:nvPr>
        </p:nvSpPr>
        <p:spPr/>
        <p:txBody>
          <a:bodyPr/>
          <a:lstStyle/>
          <a:p>
            <a:fld id="{AF36FF16-D2A7-4508-B6F0-177A2BE6065A}" type="slidenum">
              <a:rPr lang="zh-CN" altLang="en-US" smtClean="0"/>
            </a:fld>
            <a:endParaRPr lang="zh-CN" alt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内容与标题">
    <p:spTree>
      <p:nvGrpSpPr>
        <p:cNvPr id="50" name=""/>
        <p:cNvGrpSpPr/>
        <p:nvPr/>
      </p:nvGrpSpPr>
      <p:grpSpPr>
        <a:xfrm>
          <a:off x="0" y="0"/>
          <a:ext cx="0" cy="0"/>
          <a:chOff x="0" y="0"/>
          <a:chExt cx="0" cy="0"/>
        </a:xfrm>
      </p:grpSpPr>
      <p:sp>
        <p:nvSpPr>
          <p:cNvPr id="51"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52"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3"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4" name="日期占位符 4"/>
          <p:cNvSpPr>
            <a:spLocks noGrp="1"/>
          </p:cNvSpPr>
          <p:nvPr>
            <p:ph type="dt" sz="half" idx="10"/>
          </p:nvPr>
        </p:nvSpPr>
        <p:spPr/>
        <p:txBody>
          <a:bodyPr/>
          <a:lstStyle/>
          <a:p>
            <a:fld id="{B098AF9F-2D75-4F26-BD1B-A5ACD20A7B01}" type="datetimeFigureOut">
              <a:rPr lang="zh-CN" altLang="en-US" smtClean="0"/>
            </a:fld>
            <a:endParaRPr lang="zh-CN" altLang="en-US"/>
          </a:p>
        </p:txBody>
      </p:sp>
      <p:sp>
        <p:nvSpPr>
          <p:cNvPr id="55" name="页脚占位符 5"/>
          <p:cNvSpPr>
            <a:spLocks noGrp="1"/>
          </p:cNvSpPr>
          <p:nvPr>
            <p:ph type="ftr" sz="quarter" idx="11"/>
          </p:nvPr>
        </p:nvSpPr>
        <p:spPr/>
        <p:txBody>
          <a:bodyPr/>
          <a:lstStyle/>
          <a:p>
            <a:endParaRPr lang="zh-CN" altLang="en-US"/>
          </a:p>
        </p:txBody>
      </p:sp>
      <p:sp>
        <p:nvSpPr>
          <p:cNvPr id="56" name="灯片编号占位符 6"/>
          <p:cNvSpPr>
            <a:spLocks noGrp="1"/>
          </p:cNvSpPr>
          <p:nvPr>
            <p:ph type="sldNum" sz="quarter" idx="12"/>
          </p:nvPr>
        </p:nvSpPr>
        <p:spPr/>
        <p:txBody>
          <a:bodyPr/>
          <a:lstStyle/>
          <a:p>
            <a:fld id="{AF36FF16-D2A7-4508-B6F0-177A2BE6065A}" type="slidenum">
              <a:rPr lang="zh-CN" altLang="en-US" smtClean="0"/>
            </a:fld>
            <a:endParaRPr lang="zh-CN" alt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图片与标题">
    <p:spTree>
      <p:nvGrpSpPr>
        <p:cNvPr id="57" name=""/>
        <p:cNvGrpSpPr/>
        <p:nvPr/>
      </p:nvGrpSpPr>
      <p:grpSpPr>
        <a:xfrm>
          <a:off x="0" y="0"/>
          <a:ext cx="0" cy="0"/>
          <a:chOff x="0" y="0"/>
          <a:chExt cx="0" cy="0"/>
        </a:xfrm>
      </p:grpSpPr>
      <p:sp>
        <p:nvSpPr>
          <p:cNvPr id="58"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59"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60"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61" name="日期占位符 4"/>
          <p:cNvSpPr>
            <a:spLocks noGrp="1"/>
          </p:cNvSpPr>
          <p:nvPr>
            <p:ph type="dt" sz="half" idx="10"/>
          </p:nvPr>
        </p:nvSpPr>
        <p:spPr/>
        <p:txBody>
          <a:bodyPr/>
          <a:lstStyle/>
          <a:p>
            <a:fld id="{B098AF9F-2D75-4F26-BD1B-A5ACD20A7B01}" type="datetimeFigureOut">
              <a:rPr lang="zh-CN" altLang="en-US" smtClean="0"/>
            </a:fld>
            <a:endParaRPr lang="zh-CN" altLang="en-US"/>
          </a:p>
        </p:txBody>
      </p:sp>
      <p:sp>
        <p:nvSpPr>
          <p:cNvPr id="62" name="页脚占位符 5"/>
          <p:cNvSpPr>
            <a:spLocks noGrp="1"/>
          </p:cNvSpPr>
          <p:nvPr>
            <p:ph type="ftr" sz="quarter" idx="11"/>
          </p:nvPr>
        </p:nvSpPr>
        <p:spPr/>
        <p:txBody>
          <a:bodyPr/>
          <a:lstStyle/>
          <a:p>
            <a:endParaRPr lang="zh-CN" altLang="en-US"/>
          </a:p>
        </p:txBody>
      </p:sp>
      <p:sp>
        <p:nvSpPr>
          <p:cNvPr id="63" name="灯片编号占位符 6"/>
          <p:cNvSpPr>
            <a:spLocks noGrp="1"/>
          </p:cNvSpPr>
          <p:nvPr>
            <p:ph type="sldNum" sz="quarter" idx="12"/>
          </p:nvPr>
        </p:nvSpPr>
        <p:spPr/>
        <p:txBody>
          <a:bodyPr/>
          <a:lstStyle/>
          <a:p>
            <a:fld id="{AF36FF16-D2A7-4508-B6F0-177A2BE6065A}" type="slidenum">
              <a:rPr lang="zh-CN" altLang="en-US" smtClean="0"/>
            </a:fld>
            <a:endParaRPr lang="zh-CN" alt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标题和竖排文字">
    <p:spTree>
      <p:nvGrpSpPr>
        <p:cNvPr id="64" name=""/>
        <p:cNvGrpSpPr/>
        <p:nvPr/>
      </p:nvGrpSpPr>
      <p:grpSpPr>
        <a:xfrm>
          <a:off x="0" y="0"/>
          <a:ext cx="0" cy="0"/>
          <a:chOff x="0" y="0"/>
          <a:chExt cx="0" cy="0"/>
        </a:xfrm>
      </p:grpSpPr>
      <p:sp>
        <p:nvSpPr>
          <p:cNvPr id="65" name="标题 1"/>
          <p:cNvSpPr>
            <a:spLocks noGrp="1"/>
          </p:cNvSpPr>
          <p:nvPr>
            <p:ph type="title"/>
          </p:nvPr>
        </p:nvSpPr>
        <p:spPr/>
        <p:txBody>
          <a:bodyPr/>
          <a:lstStyle/>
          <a:p>
            <a:r>
              <a:rPr lang="zh-CN" altLang="en-US"/>
              <a:t>单击此处编辑母版标题样式</a:t>
            </a:r>
            <a:endParaRPr lang="zh-CN" altLang="en-US"/>
          </a:p>
        </p:txBody>
      </p:sp>
      <p:sp>
        <p:nvSpPr>
          <p:cNvPr id="66"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7" name="日期占位符 3"/>
          <p:cNvSpPr>
            <a:spLocks noGrp="1"/>
          </p:cNvSpPr>
          <p:nvPr>
            <p:ph type="dt" sz="half" idx="10"/>
          </p:nvPr>
        </p:nvSpPr>
        <p:spPr/>
        <p:txBody>
          <a:bodyPr/>
          <a:lstStyle/>
          <a:p>
            <a:fld id="{B098AF9F-2D75-4F26-BD1B-A5ACD20A7B01}" type="datetimeFigureOut">
              <a:rPr lang="zh-CN" altLang="en-US" smtClean="0"/>
            </a:fld>
            <a:endParaRPr lang="zh-CN" altLang="en-US"/>
          </a:p>
        </p:txBody>
      </p:sp>
      <p:sp>
        <p:nvSpPr>
          <p:cNvPr id="68" name="页脚占位符 4"/>
          <p:cNvSpPr>
            <a:spLocks noGrp="1"/>
          </p:cNvSpPr>
          <p:nvPr>
            <p:ph type="ftr" sz="quarter" idx="11"/>
          </p:nvPr>
        </p:nvSpPr>
        <p:spPr/>
        <p:txBody>
          <a:bodyPr/>
          <a:lstStyle/>
          <a:p>
            <a:endParaRPr lang="zh-CN" altLang="en-US"/>
          </a:p>
        </p:txBody>
      </p:sp>
      <p:sp>
        <p:nvSpPr>
          <p:cNvPr id="69" name="灯片编号占位符 5"/>
          <p:cNvSpPr>
            <a:spLocks noGrp="1"/>
          </p:cNvSpPr>
          <p:nvPr>
            <p:ph type="sldNum" sz="quarter" idx="12"/>
          </p:nvPr>
        </p:nvSpPr>
        <p:spPr/>
        <p:txBody>
          <a:bodyPr/>
          <a:lstStyle/>
          <a:p>
            <a:fld id="{AF36FF16-D2A7-4508-B6F0-177A2BE6065A}" type="slidenum">
              <a:rPr lang="zh-CN" altLang="en-US" smtClean="0"/>
            </a:fld>
            <a:endParaRPr lang="zh-CN" alt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竖排标题与文本">
    <p:spTree>
      <p:nvGrpSpPr>
        <p:cNvPr id="13" name=""/>
        <p:cNvGrpSpPr/>
        <p:nvPr/>
      </p:nvGrpSpPr>
      <p:grpSpPr>
        <a:xfrm>
          <a:off x="0" y="0"/>
          <a:ext cx="0" cy="0"/>
          <a:chOff x="0" y="0"/>
          <a:chExt cx="0" cy="0"/>
        </a:xfrm>
      </p:grpSpPr>
      <p:sp>
        <p:nvSpPr>
          <p:cNvPr id="14"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15"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6" name="日期占位符 3"/>
          <p:cNvSpPr>
            <a:spLocks noGrp="1"/>
          </p:cNvSpPr>
          <p:nvPr>
            <p:ph type="dt" sz="half" idx="10"/>
          </p:nvPr>
        </p:nvSpPr>
        <p:spPr/>
        <p:txBody>
          <a:bodyPr/>
          <a:lstStyle/>
          <a:p>
            <a:fld id="{B098AF9F-2D75-4F26-BD1B-A5ACD20A7B01}" type="datetimeFigureOut">
              <a:rPr lang="zh-CN" altLang="en-US" smtClean="0"/>
            </a:fld>
            <a:endParaRPr lang="zh-CN" altLang="en-US"/>
          </a:p>
        </p:txBody>
      </p:sp>
      <p:sp>
        <p:nvSpPr>
          <p:cNvPr id="17" name="页脚占位符 4"/>
          <p:cNvSpPr>
            <a:spLocks noGrp="1"/>
          </p:cNvSpPr>
          <p:nvPr>
            <p:ph type="ftr" sz="quarter" idx="11"/>
          </p:nvPr>
        </p:nvSpPr>
        <p:spPr/>
        <p:txBody>
          <a:bodyPr/>
          <a:lstStyle/>
          <a:p>
            <a:endParaRPr lang="zh-CN" altLang="en-US"/>
          </a:p>
        </p:txBody>
      </p:sp>
      <p:sp>
        <p:nvSpPr>
          <p:cNvPr id="18" name="灯片编号占位符 5"/>
          <p:cNvSpPr>
            <a:spLocks noGrp="1"/>
          </p:cNvSpPr>
          <p:nvPr>
            <p:ph type="sldNum" sz="quarter" idx="12"/>
          </p:nvPr>
        </p:nvSpPr>
        <p:spPr/>
        <p:txBody>
          <a:bodyPr/>
          <a:lstStyle/>
          <a:p>
            <a:fld id="{AF36FF16-D2A7-4508-B6F0-177A2BE6065A}" type="slidenum">
              <a:rPr lang="zh-CN" altLang="en-US" smtClean="0"/>
            </a:fld>
            <a:endParaRPr lang="zh-CN" alt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98AF9F-2D75-4F26-BD1B-A5ACD20A7B01}"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36FF16-D2A7-4508-B6F0-177A2BE6065A}"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microsoft.com/office/2007/relationships/hdphoto" Target="../media/image2.wdp"/><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2" Type="http://schemas.openxmlformats.org/officeDocument/2006/relationships/notesSlide" Target="../notesSlides/notesSlide2.xml"/><Relationship Id="rId21" Type="http://schemas.openxmlformats.org/officeDocument/2006/relationships/slideLayout" Target="../slideLayouts/slideLayout1.xml"/><Relationship Id="rId20" Type="http://schemas.openxmlformats.org/officeDocument/2006/relationships/tags" Target="../tags/tag16.xml"/><Relationship Id="rId2" Type="http://schemas.openxmlformats.org/officeDocument/2006/relationships/tags" Target="../tags/tag1.xml"/><Relationship Id="rId19" Type="http://schemas.openxmlformats.org/officeDocument/2006/relationships/image" Target="../media/image4.png"/><Relationship Id="rId18" Type="http://schemas.openxmlformats.org/officeDocument/2006/relationships/image" Target="../media/image3.png"/><Relationship Id="rId17" Type="http://schemas.openxmlformats.org/officeDocument/2006/relationships/image" Target="../media/image5.png"/><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6.jpe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9" Type="http://schemas.openxmlformats.org/officeDocument/2006/relationships/tags" Target="../tags/tag20.xml"/><Relationship Id="rId8" Type="http://schemas.openxmlformats.org/officeDocument/2006/relationships/tags" Target="../tags/tag19.xml"/><Relationship Id="rId7" Type="http://schemas.openxmlformats.org/officeDocument/2006/relationships/image" Target="../media/image11.svg"/><Relationship Id="rId6" Type="http://schemas.openxmlformats.org/officeDocument/2006/relationships/image" Target="../media/image10.png"/><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image" Target="../media/image4.png"/><Relationship Id="rId23" Type="http://schemas.openxmlformats.org/officeDocument/2006/relationships/notesSlide" Target="../notesSlides/notesSlide5.xml"/><Relationship Id="rId22" Type="http://schemas.openxmlformats.org/officeDocument/2006/relationships/slideLayout" Target="../slideLayouts/slideLayout2.xml"/><Relationship Id="rId21" Type="http://schemas.openxmlformats.org/officeDocument/2006/relationships/tags" Target="../tags/tag28.xml"/><Relationship Id="rId20" Type="http://schemas.openxmlformats.org/officeDocument/2006/relationships/tags" Target="../tags/tag27.xml"/><Relationship Id="rId2" Type="http://schemas.openxmlformats.org/officeDocument/2006/relationships/image" Target="../media/image3.png"/><Relationship Id="rId19" Type="http://schemas.openxmlformats.org/officeDocument/2006/relationships/image" Target="../media/image15.svg"/><Relationship Id="rId18" Type="http://schemas.openxmlformats.org/officeDocument/2006/relationships/image" Target="../media/image14.png"/><Relationship Id="rId17" Type="http://schemas.openxmlformats.org/officeDocument/2006/relationships/tags" Target="../tags/tag26.xml"/><Relationship Id="rId16" Type="http://schemas.openxmlformats.org/officeDocument/2006/relationships/tags" Target="../tags/tag25.xml"/><Relationship Id="rId15" Type="http://schemas.openxmlformats.org/officeDocument/2006/relationships/tags" Target="../tags/tag24.xml"/><Relationship Id="rId14" Type="http://schemas.openxmlformats.org/officeDocument/2006/relationships/tags" Target="../tags/tag23.xml"/><Relationship Id="rId13" Type="http://schemas.openxmlformats.org/officeDocument/2006/relationships/image" Target="../media/image13.svg"/><Relationship Id="rId12" Type="http://schemas.openxmlformats.org/officeDocument/2006/relationships/image" Target="../media/image12.png"/><Relationship Id="rId11" Type="http://schemas.openxmlformats.org/officeDocument/2006/relationships/tags" Target="../tags/tag22.xml"/><Relationship Id="rId10" Type="http://schemas.openxmlformats.org/officeDocument/2006/relationships/tags" Target="../tags/tag21.xml"/><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9" Type="http://schemas.openxmlformats.org/officeDocument/2006/relationships/notesSlide" Target="../notesSlides/notesSlide6.xml"/><Relationship Id="rId8" Type="http://schemas.openxmlformats.org/officeDocument/2006/relationships/slideLayout" Target="../slideLayouts/slideLayout2.xml"/><Relationship Id="rId7" Type="http://schemas.openxmlformats.org/officeDocument/2006/relationships/image" Target="../media/image19.svg"/><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image" Target="../media/image20.png"/></Relationships>
</file>

<file path=ppt/slides/_rels/slide9.xml.rels><?xml version="1.0" encoding="UTF-8" standalone="yes"?>
<Relationships xmlns="http://schemas.openxmlformats.org/package/2006/relationships"><Relationship Id="rId9" Type="http://schemas.openxmlformats.org/officeDocument/2006/relationships/tags" Target="../tags/tag31.xml"/><Relationship Id="rId8" Type="http://schemas.openxmlformats.org/officeDocument/2006/relationships/tags" Target="../tags/tag30.xml"/><Relationship Id="rId7" Type="http://schemas.openxmlformats.org/officeDocument/2006/relationships/image" Target="../media/image23.svg"/><Relationship Id="rId6" Type="http://schemas.openxmlformats.org/officeDocument/2006/relationships/image" Target="../media/image22.png"/><Relationship Id="rId5" Type="http://schemas.openxmlformats.org/officeDocument/2006/relationships/tags" Target="../tags/tag29.xml"/><Relationship Id="rId4" Type="http://schemas.openxmlformats.org/officeDocument/2006/relationships/image" Target="../media/image21.png"/><Relationship Id="rId3" Type="http://schemas.openxmlformats.org/officeDocument/2006/relationships/image" Target="../media/image4.png"/><Relationship Id="rId2" Type="http://schemas.openxmlformats.org/officeDocument/2006/relationships/image" Target="../media/image3.png"/><Relationship Id="rId18" Type="http://schemas.openxmlformats.org/officeDocument/2006/relationships/notesSlide" Target="../notesSlides/notesSlide9.xml"/><Relationship Id="rId17" Type="http://schemas.openxmlformats.org/officeDocument/2006/relationships/slideLayout" Target="../slideLayouts/slideLayout2.xml"/><Relationship Id="rId16" Type="http://schemas.openxmlformats.org/officeDocument/2006/relationships/image" Target="../media/image27.svg"/><Relationship Id="rId15" Type="http://schemas.openxmlformats.org/officeDocument/2006/relationships/image" Target="../media/image26.png"/><Relationship Id="rId14" Type="http://schemas.openxmlformats.org/officeDocument/2006/relationships/tags" Target="../tags/tag34.xml"/><Relationship Id="rId13" Type="http://schemas.openxmlformats.org/officeDocument/2006/relationships/image" Target="../media/image25.svg"/><Relationship Id="rId12" Type="http://schemas.openxmlformats.org/officeDocument/2006/relationships/image" Target="../media/image24.png"/><Relationship Id="rId11" Type="http://schemas.openxmlformats.org/officeDocument/2006/relationships/tags" Target="../tags/tag33.xml"/><Relationship Id="rId10" Type="http://schemas.openxmlformats.org/officeDocument/2006/relationships/tags" Target="../tags/tag32.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9" Type="http://schemas.openxmlformats.org/officeDocument/2006/relationships/image" Target="../media/image33.png"/><Relationship Id="rId8" Type="http://schemas.openxmlformats.org/officeDocument/2006/relationships/image" Target="../media/image32.svg"/><Relationship Id="rId7" Type="http://schemas.openxmlformats.org/officeDocument/2006/relationships/image" Target="../media/image31.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png"/><Relationship Id="rId3" Type="http://schemas.openxmlformats.org/officeDocument/2006/relationships/image" Target="../media/image4.png"/><Relationship Id="rId2" Type="http://schemas.openxmlformats.org/officeDocument/2006/relationships/image" Target="../media/image3.png"/><Relationship Id="rId12" Type="http://schemas.openxmlformats.org/officeDocument/2006/relationships/notesSlide" Target="../notesSlides/notesSlide10.xml"/><Relationship Id="rId11" Type="http://schemas.openxmlformats.org/officeDocument/2006/relationships/slideLayout" Target="../slideLayouts/slideLayout2.xml"/><Relationship Id="rId10" Type="http://schemas.openxmlformats.org/officeDocument/2006/relationships/image" Target="../media/image34.svg"/><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39.svg"/><Relationship Id="rId7" Type="http://schemas.openxmlformats.org/officeDocument/2006/relationships/image" Target="../media/image38.png"/><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png"/><Relationship Id="rId3" Type="http://schemas.openxmlformats.org/officeDocument/2006/relationships/image" Target="../media/image4.png"/><Relationship Id="rId2" Type="http://schemas.openxmlformats.org/officeDocument/2006/relationships/image" Target="../media/image3.png"/><Relationship Id="rId10" Type="http://schemas.openxmlformats.org/officeDocument/2006/relationships/notesSlide" Target="../notesSlides/notesSlide11.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9" Type="http://schemas.openxmlformats.org/officeDocument/2006/relationships/image" Target="../media/image43.png"/><Relationship Id="rId8" Type="http://schemas.openxmlformats.org/officeDocument/2006/relationships/image" Target="../media/image39.svg"/><Relationship Id="rId7" Type="http://schemas.openxmlformats.org/officeDocument/2006/relationships/image" Target="../media/image38.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7.png"/><Relationship Id="rId12" Type="http://schemas.openxmlformats.org/officeDocument/2006/relationships/notesSlide" Target="../notesSlides/notesSlide12.xml"/><Relationship Id="rId11" Type="http://schemas.openxmlformats.org/officeDocument/2006/relationships/slideLayout" Target="../slideLayouts/slideLayout2.xml"/><Relationship Id="rId10" Type="http://schemas.openxmlformats.org/officeDocument/2006/relationships/image" Target="../media/image44.svg"/><Relationship Id="rId1" Type="http://schemas.openxmlformats.org/officeDocument/2006/relationships/image" Target="../media/image40.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image" Target="../media/image45.png"/></Relationships>
</file>

<file path=ppt/slides/_rels/slide14.xml.rels><?xml version="1.0" encoding="UTF-8" standalone="yes"?>
<Relationships xmlns="http://schemas.openxmlformats.org/package/2006/relationships"><Relationship Id="rId9" Type="http://schemas.openxmlformats.org/officeDocument/2006/relationships/image" Target="../media/image51.svg"/><Relationship Id="rId8" Type="http://schemas.openxmlformats.org/officeDocument/2006/relationships/image" Target="../media/image50.png"/><Relationship Id="rId7" Type="http://schemas.openxmlformats.org/officeDocument/2006/relationships/image" Target="../media/image49.svg"/><Relationship Id="rId6" Type="http://schemas.openxmlformats.org/officeDocument/2006/relationships/image" Target="../media/image48.png"/><Relationship Id="rId5" Type="http://schemas.openxmlformats.org/officeDocument/2006/relationships/image" Target="../media/image47.svg"/><Relationship Id="rId4" Type="http://schemas.openxmlformats.org/officeDocument/2006/relationships/image" Target="../media/image46.png"/><Relationship Id="rId3" Type="http://schemas.openxmlformats.org/officeDocument/2006/relationships/image" Target="../media/image4.png"/><Relationship Id="rId2" Type="http://schemas.openxmlformats.org/officeDocument/2006/relationships/image" Target="../media/image3.png"/><Relationship Id="rId11" Type="http://schemas.openxmlformats.org/officeDocument/2006/relationships/notesSlide" Target="../notesSlides/notesSlide14.xml"/><Relationship Id="rId10" Type="http://schemas.openxmlformats.org/officeDocument/2006/relationships/slideLayout" Target="../slideLayouts/slideLayout2.xml"/><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2.xml"/><Relationship Id="rId4" Type="http://schemas.openxmlformats.org/officeDocument/2006/relationships/tags" Target="../tags/tag35.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56.png"/><Relationship Id="rId7" Type="http://schemas.openxmlformats.org/officeDocument/2006/relationships/image" Target="../media/image55.png"/><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 Id="rId3" Type="http://schemas.openxmlformats.org/officeDocument/2006/relationships/image" Target="../media/image4.png"/><Relationship Id="rId2" Type="http://schemas.openxmlformats.org/officeDocument/2006/relationships/image" Target="../media/image3.png"/><Relationship Id="rId10" Type="http://schemas.openxmlformats.org/officeDocument/2006/relationships/notesSlide" Target="../notesSlides/notesSlide17.xml"/><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9" Type="http://schemas.openxmlformats.org/officeDocument/2006/relationships/notesSlide" Target="../notesSlides/notesSlide18.xml"/><Relationship Id="rId8" Type="http://schemas.openxmlformats.org/officeDocument/2006/relationships/slideLayout" Target="../slideLayouts/slideLayout2.xml"/><Relationship Id="rId7" Type="http://schemas.openxmlformats.org/officeDocument/2006/relationships/image" Target="../media/image60.png"/><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7" Type="http://schemas.openxmlformats.org/officeDocument/2006/relationships/notesSlide" Target="../notesSlides/notesSlide19.xml"/><Relationship Id="rId6" Type="http://schemas.openxmlformats.org/officeDocument/2006/relationships/slideLayout" Target="../slideLayouts/slideLayout2.xml"/><Relationship Id="rId5" Type="http://schemas.openxmlformats.org/officeDocument/2006/relationships/image" Target="../media/image62.png"/><Relationship Id="rId4" Type="http://schemas.openxmlformats.org/officeDocument/2006/relationships/image" Target="../media/image61.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image" Target="../media/image63.png"/></Relationships>
</file>

<file path=ppt/slides/_rels/slide21.xml.rels><?xml version="1.0" encoding="UTF-8" standalone="yes"?>
<Relationships xmlns="http://schemas.openxmlformats.org/package/2006/relationships"><Relationship Id="rId9" Type="http://schemas.openxmlformats.org/officeDocument/2006/relationships/tags" Target="../tags/tag40.xml"/><Relationship Id="rId8" Type="http://schemas.openxmlformats.org/officeDocument/2006/relationships/tags" Target="../tags/tag39.xml"/><Relationship Id="rId7" Type="http://schemas.openxmlformats.org/officeDocument/2006/relationships/tags" Target="../tags/tag38.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7.png"/><Relationship Id="rId3" Type="http://schemas.openxmlformats.org/officeDocument/2006/relationships/image" Target="../media/image64.png"/><Relationship Id="rId2" Type="http://schemas.openxmlformats.org/officeDocument/2006/relationships/tags" Target="../tags/tag37.xml"/><Relationship Id="rId15" Type="http://schemas.openxmlformats.org/officeDocument/2006/relationships/notesSlide" Target="../notesSlides/notesSlide21.xml"/><Relationship Id="rId14" Type="http://schemas.openxmlformats.org/officeDocument/2006/relationships/slideLayout" Target="../slideLayouts/slideLayout2.xml"/><Relationship Id="rId13" Type="http://schemas.openxmlformats.org/officeDocument/2006/relationships/tags" Target="../tags/tag43.xml"/><Relationship Id="rId12" Type="http://schemas.openxmlformats.org/officeDocument/2006/relationships/tags" Target="../tags/tag42.xml"/><Relationship Id="rId11" Type="http://schemas.openxmlformats.org/officeDocument/2006/relationships/tags" Target="../tags/tag41.xml"/><Relationship Id="rId10" Type="http://schemas.openxmlformats.org/officeDocument/2006/relationships/image" Target="../media/image65.png"/><Relationship Id="rId1" Type="http://schemas.openxmlformats.org/officeDocument/2006/relationships/tags" Target="../tags/tag36.xml"/></Relationships>
</file>

<file path=ppt/slides/_rels/slide22.xml.rels><?xml version="1.0" encoding="UTF-8" standalone="yes"?>
<Relationships xmlns="http://schemas.openxmlformats.org/package/2006/relationships"><Relationship Id="rId9" Type="http://schemas.openxmlformats.org/officeDocument/2006/relationships/tags" Target="../tags/tag47.xml"/><Relationship Id="rId8" Type="http://schemas.openxmlformats.org/officeDocument/2006/relationships/tags" Target="../tags/tag46.xml"/><Relationship Id="rId7" Type="http://schemas.openxmlformats.org/officeDocument/2006/relationships/tags" Target="../tags/tag45.xml"/><Relationship Id="rId6" Type="http://schemas.openxmlformats.org/officeDocument/2006/relationships/tags" Target="../tags/tag44.xml"/><Relationship Id="rId5" Type="http://schemas.openxmlformats.org/officeDocument/2006/relationships/image" Target="../media/image67.svg"/><Relationship Id="rId4" Type="http://schemas.openxmlformats.org/officeDocument/2006/relationships/image" Target="../media/image66.png"/><Relationship Id="rId3" Type="http://schemas.openxmlformats.org/officeDocument/2006/relationships/image" Target="../media/image4.png"/><Relationship Id="rId27" Type="http://schemas.openxmlformats.org/officeDocument/2006/relationships/notesSlide" Target="../notesSlides/notesSlide22.xml"/><Relationship Id="rId26" Type="http://schemas.openxmlformats.org/officeDocument/2006/relationships/slideLayout" Target="../slideLayouts/slideLayout2.xml"/><Relationship Id="rId25" Type="http://schemas.openxmlformats.org/officeDocument/2006/relationships/image" Target="../media/image75.png"/><Relationship Id="rId24" Type="http://schemas.openxmlformats.org/officeDocument/2006/relationships/image" Target="../media/image13.svg"/><Relationship Id="rId23" Type="http://schemas.openxmlformats.org/officeDocument/2006/relationships/image" Target="../media/image74.png"/><Relationship Id="rId22" Type="http://schemas.openxmlformats.org/officeDocument/2006/relationships/tags" Target="../tags/tag54.xml"/><Relationship Id="rId21" Type="http://schemas.openxmlformats.org/officeDocument/2006/relationships/image" Target="../media/image73.svg"/><Relationship Id="rId20" Type="http://schemas.openxmlformats.org/officeDocument/2006/relationships/image" Target="../media/image72.png"/><Relationship Id="rId2" Type="http://schemas.openxmlformats.org/officeDocument/2006/relationships/image" Target="../media/image3.png"/><Relationship Id="rId19" Type="http://schemas.openxmlformats.org/officeDocument/2006/relationships/image" Target="../media/image71.svg"/><Relationship Id="rId18" Type="http://schemas.openxmlformats.org/officeDocument/2006/relationships/image" Target="../media/image70.png"/><Relationship Id="rId17" Type="http://schemas.openxmlformats.org/officeDocument/2006/relationships/tags" Target="../tags/tag53.xml"/><Relationship Id="rId16" Type="http://schemas.openxmlformats.org/officeDocument/2006/relationships/image" Target="../media/image69.svg"/><Relationship Id="rId15" Type="http://schemas.openxmlformats.org/officeDocument/2006/relationships/image" Target="../media/image68.png"/><Relationship Id="rId14" Type="http://schemas.openxmlformats.org/officeDocument/2006/relationships/tags" Target="../tags/tag52.xml"/><Relationship Id="rId13" Type="http://schemas.openxmlformats.org/officeDocument/2006/relationships/tags" Target="../tags/tag51.xml"/><Relationship Id="rId12" Type="http://schemas.openxmlformats.org/officeDocument/2006/relationships/tags" Target="../tags/tag50.xml"/><Relationship Id="rId11" Type="http://schemas.openxmlformats.org/officeDocument/2006/relationships/tags" Target="../tags/tag49.xml"/><Relationship Id="rId10" Type="http://schemas.openxmlformats.org/officeDocument/2006/relationships/tags" Target="../tags/tag48.xml"/><Relationship Id="rId1" Type="http://schemas.openxmlformats.org/officeDocument/2006/relationships/image" Target="../media/image7.png"/></Relationships>
</file>

<file path=ppt/slides/_rels/slide23.xml.rels><?xml version="1.0" encoding="UTF-8" standalone="yes"?>
<Relationships xmlns="http://schemas.openxmlformats.org/package/2006/relationships"><Relationship Id="rId8" Type="http://schemas.openxmlformats.org/officeDocument/2006/relationships/notesSlide" Target="../notesSlides/notesSlide23.xml"/><Relationship Id="rId7" Type="http://schemas.openxmlformats.org/officeDocument/2006/relationships/slideLayout" Target="../slideLayouts/slideLayout2.xml"/><Relationship Id="rId6" Type="http://schemas.openxmlformats.org/officeDocument/2006/relationships/image" Target="../media/image78.svg"/><Relationship Id="rId5" Type="http://schemas.openxmlformats.org/officeDocument/2006/relationships/image" Target="../media/image77.png"/><Relationship Id="rId4" Type="http://schemas.openxmlformats.org/officeDocument/2006/relationships/image" Target="../media/image76.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7.png"/></Relationships>
</file>

<file path=ppt/slides/_rels/slide24.xml.rels><?xml version="1.0" encoding="UTF-8" standalone="yes"?>
<Relationships xmlns="http://schemas.openxmlformats.org/package/2006/relationships"><Relationship Id="rId6" Type="http://schemas.openxmlformats.org/officeDocument/2006/relationships/notesSlide" Target="../notesSlides/notesSlide24.xml"/><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image" Target="../media/image79.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26.xml.rels><?xml version="1.0" encoding="UTF-8" standalone="yes"?>
<Relationships xmlns="http://schemas.openxmlformats.org/package/2006/relationships"><Relationship Id="rId9" Type="http://schemas.openxmlformats.org/officeDocument/2006/relationships/tags" Target="../tags/tag60.xml"/><Relationship Id="rId8" Type="http://schemas.openxmlformats.org/officeDocument/2006/relationships/tags" Target="../tags/tag59.xml"/><Relationship Id="rId7" Type="http://schemas.openxmlformats.org/officeDocument/2006/relationships/tags" Target="../tags/tag58.xml"/><Relationship Id="rId6" Type="http://schemas.openxmlformats.org/officeDocument/2006/relationships/tags" Target="../tags/tag57.xml"/><Relationship Id="rId5" Type="http://schemas.openxmlformats.org/officeDocument/2006/relationships/tags" Target="../tags/tag56.xml"/><Relationship Id="rId4" Type="http://schemas.openxmlformats.org/officeDocument/2006/relationships/tags" Target="../tags/tag55.xml"/><Relationship Id="rId3" Type="http://schemas.openxmlformats.org/officeDocument/2006/relationships/image" Target="../media/image4.png"/><Relationship Id="rId2" Type="http://schemas.openxmlformats.org/officeDocument/2006/relationships/image" Target="../media/image3.png"/><Relationship Id="rId11" Type="http://schemas.openxmlformats.org/officeDocument/2006/relationships/notesSlide" Target="../notesSlides/notesSlide26.xml"/><Relationship Id="rId10" Type="http://schemas.openxmlformats.org/officeDocument/2006/relationships/slideLayout" Target="../slideLayouts/slideLayout2.xml"/><Relationship Id="rId1" Type="http://schemas.openxmlformats.org/officeDocument/2006/relationships/image" Target="../media/image7.png"/></Relationships>
</file>

<file path=ppt/slides/_rels/slide27.xml.rels><?xml version="1.0" encoding="UTF-8" standalone="yes"?>
<Relationships xmlns="http://schemas.openxmlformats.org/package/2006/relationships"><Relationship Id="rId7" Type="http://schemas.openxmlformats.org/officeDocument/2006/relationships/notesSlide" Target="../notesSlides/notesSlide27.xml"/><Relationship Id="rId6"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microsoft.com/office/2007/relationships/hdphoto" Target="../media/image2.wdp"/><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07" name=""/>
        <p:cNvGrpSpPr/>
        <p:nvPr/>
      </p:nvGrpSpPr>
      <p:grpSpPr>
        <a:xfrm>
          <a:off x="0" y="0"/>
          <a:ext cx="0" cy="0"/>
          <a:chOff x="0" y="0"/>
          <a:chExt cx="0" cy="0"/>
        </a:xfrm>
      </p:grpSpPr>
      <p:pic>
        <p:nvPicPr>
          <p:cNvPr id="108" name="Picture 2"/>
          <p:cNvPicPr>
            <a:picLocks noChangeAspect="1" noChangeArrowheads="1"/>
          </p:cNvPicPr>
          <p:nvPr/>
        </p:nvPicPr>
        <p:blipFill rotWithShape="1">
          <a:blip r:embed="rId1">
            <a:extLst>
              <a:ext uri="{BEBA8EAE-BF5A-486C-A8C5-ECC9F3942E4B}">
                <a14:imgProps xmlns:a14="http://schemas.microsoft.com/office/drawing/2010/main">
                  <a14:imgLayer r:embed="rId2">
                    <a14:imgEffect>
                      <a14:brightnessContrast bright="20000" contrast="40000"/>
                    </a14:imgEffect>
                  </a14:imgLayer>
                </a14:imgProps>
              </a:ext>
            </a:extLst>
          </a:blip>
          <a:srcRect b="25979"/>
          <a:stretch>
            <a:fillRect/>
          </a:stretch>
        </p:blipFill>
        <p:spPr bwMode="auto">
          <a:xfrm>
            <a:off x="1" y="1592036"/>
            <a:ext cx="12191998" cy="3023421"/>
          </a:xfrm>
          <a:prstGeom prst="rect">
            <a:avLst/>
          </a:prstGeom>
          <a:noFill/>
        </p:spPr>
      </p:pic>
      <p:sp>
        <p:nvSpPr>
          <p:cNvPr id="109" name="矩形 4"/>
          <p:cNvSpPr/>
          <p:nvPr/>
        </p:nvSpPr>
        <p:spPr>
          <a:xfrm>
            <a:off x="0" y="1591945"/>
            <a:ext cx="12192000" cy="3020695"/>
          </a:xfrm>
          <a:prstGeom prst="rect">
            <a:avLst/>
          </a:prstGeom>
          <a:solidFill>
            <a:srgbClr val="014B30">
              <a:alpha val="82000"/>
            </a:srgbClr>
          </a:solidFill>
          <a:ln w="12700" cap="flat" cmpd="sng" algn="ctr">
            <a:noFill/>
            <a:prstDash val="solid"/>
            <a:miter lim="800000"/>
          </a:ln>
          <a:effectLst/>
        </p:spPr>
        <p:txBody>
          <a:bodyPr rtlCol="0" anchor="ctr"/>
          <a:lstStyle/>
          <a:p>
            <a:pPr algn="ctr">
              <a:defRPr/>
            </a:pPr>
            <a:endParaRPr lang="zh-CN" altLang="en-US" kern="0" dirty="0">
              <a:solidFill>
                <a:srgbClr val="FFFFFF"/>
              </a:solidFill>
              <a:latin typeface="Arial" panose="020B0604020202020204"/>
              <a:ea typeface="微软雅黑" panose="020B0503020204020204" pitchFamily="34" charset="-122"/>
              <a:cs typeface="+mn-ea"/>
              <a:sym typeface="+mn-lt"/>
            </a:endParaRPr>
          </a:p>
        </p:txBody>
      </p:sp>
      <p:grpSp>
        <p:nvGrpSpPr>
          <p:cNvPr id="110" name="组合 5"/>
          <p:cNvGrpSpPr>
            <a:grpSpLocks noChangeAspect="1"/>
          </p:cNvGrpSpPr>
          <p:nvPr/>
        </p:nvGrpSpPr>
        <p:grpSpPr>
          <a:xfrm rot="0">
            <a:off x="4342130" y="285115"/>
            <a:ext cx="3373120" cy="1060450"/>
            <a:chOff x="3985415" y="208718"/>
            <a:chExt cx="4288716" cy="1348022"/>
          </a:xfrm>
        </p:grpSpPr>
        <p:grpSp>
          <p:nvGrpSpPr>
            <p:cNvPr id="111" name="组合 6"/>
            <p:cNvGrpSpPr/>
            <p:nvPr/>
          </p:nvGrpSpPr>
          <p:grpSpPr>
            <a:xfrm>
              <a:off x="3985415" y="208718"/>
              <a:ext cx="4288716" cy="1348022"/>
              <a:chOff x="6212289" y="1237107"/>
              <a:chExt cx="5517703" cy="1734319"/>
            </a:xfrm>
          </p:grpSpPr>
          <p:pic>
            <p:nvPicPr>
              <p:cNvPr id="112" name="图片 8"/>
              <p:cNvPicPr>
                <a:picLocks noChangeAspect="1"/>
              </p:cNvPicPr>
              <p:nvPr/>
            </p:nvPicPr>
            <p:blipFill>
              <a:blip r:embed="rId3"/>
              <a:srcRect/>
              <a:stretch>
                <a:fillRect/>
              </a:stretch>
            </p:blipFill>
            <p:spPr>
              <a:xfrm>
                <a:off x="6212289" y="1237107"/>
                <a:ext cx="1760862" cy="1734319"/>
              </a:xfrm>
              <a:prstGeom prst="rect">
                <a:avLst/>
              </a:prstGeom>
            </p:spPr>
          </p:pic>
          <p:pic>
            <p:nvPicPr>
              <p:cNvPr id="113" name="图片 9"/>
              <p:cNvPicPr>
                <a:picLocks noChangeAspect="1"/>
              </p:cNvPicPr>
              <p:nvPr/>
            </p:nvPicPr>
            <p:blipFill>
              <a:blip r:embed="rId4"/>
              <a:srcRect/>
              <a:stretch>
                <a:fillRect/>
              </a:stretch>
            </p:blipFill>
            <p:spPr>
              <a:xfrm>
                <a:off x="8069580" y="1413307"/>
                <a:ext cx="3660412" cy="1006616"/>
              </a:xfrm>
              <a:prstGeom prst="rect">
                <a:avLst/>
              </a:prstGeom>
            </p:spPr>
          </p:pic>
        </p:grpSp>
        <p:sp>
          <p:nvSpPr>
            <p:cNvPr id="114" name="矩形 7"/>
            <p:cNvSpPr/>
            <p:nvPr/>
          </p:nvSpPr>
          <p:spPr>
            <a:xfrm>
              <a:off x="5399041" y="1126776"/>
              <a:ext cx="2845109" cy="389877"/>
            </a:xfrm>
            <a:prstGeom prst="rect">
              <a:avLst/>
            </a:prstGeom>
          </p:spPr>
          <p:txBody>
            <a:bodyPr wrap="square">
              <a:spAutoFit/>
            </a:bodyPr>
            <a:lstStyle/>
            <a:p>
              <a:pPr algn="dist">
                <a:defRPr/>
              </a:pPr>
              <a:r>
                <a:rPr lang="en-US" altLang="zh-CN" sz="1400" b="1" dirty="0">
                  <a:solidFill>
                    <a:prstClr val="black"/>
                  </a:solidFill>
                  <a:latin typeface="Calibri" panose="020F0502020204030204"/>
                  <a:ea typeface="微软雅黑" panose="020B0503020204020204" pitchFamily="34" charset="-122"/>
                </a:rPr>
                <a:t>WUHAN UNIVERSITY</a:t>
              </a:r>
              <a:endParaRPr lang="en-US" altLang="zh-CN" sz="1400" b="1" dirty="0">
                <a:solidFill>
                  <a:prstClr val="black"/>
                </a:solidFill>
                <a:latin typeface="Calibri" panose="020F0502020204030204"/>
                <a:ea typeface="微软雅黑" panose="020B0503020204020204" pitchFamily="34" charset="-122"/>
              </a:endParaRPr>
            </a:p>
          </p:txBody>
        </p:sp>
      </p:grpSp>
      <p:sp>
        <p:nvSpPr>
          <p:cNvPr id="115" name="TextBox 14"/>
          <p:cNvSpPr txBox="1"/>
          <p:nvPr/>
        </p:nvSpPr>
        <p:spPr>
          <a:xfrm>
            <a:off x="7876541" y="5445050"/>
            <a:ext cx="3062605" cy="829945"/>
          </a:xfrm>
          <a:prstGeom prst="rect">
            <a:avLst/>
          </a:prstGeom>
          <a:noFill/>
        </p:spPr>
        <p:txBody>
          <a:bodyPr wrap="none" rtlCol="0">
            <a:spAutoFit/>
          </a:bodyPr>
          <a:lstStyle/>
          <a:p>
            <a:pPr algn="l"/>
            <a:r>
              <a:rPr lang="zh-CN" sz="2400" b="1">
                <a:solidFill>
                  <a:srgbClr val="014B30">
                    <a:alpha val="100000"/>
                  </a:srgbClr>
                </a:solidFill>
                <a:latin typeface="Arial" panose="020B0604020202020204"/>
                <a:ea typeface="微软雅黑" panose="020B0503020204020204" pitchFamily="34" charset="-122"/>
                <a:cs typeface="等线" panose="02010600030101010101" pitchFamily="2" charset="-122"/>
              </a:rPr>
              <a:t>答辩人：匡怡</a:t>
            </a:r>
            <a:r>
              <a:rPr lang="zh-CN" sz="2400" b="1">
                <a:solidFill>
                  <a:srgbClr val="014B30">
                    <a:alpha val="100000"/>
                  </a:srgbClr>
                </a:solidFill>
                <a:latin typeface="Arial" panose="020B0604020202020204"/>
                <a:ea typeface="微软雅黑" panose="020B0503020204020204" pitchFamily="34" charset="-122"/>
                <a:cs typeface="等线" panose="02010600030101010101" pitchFamily="2" charset="-122"/>
              </a:rPr>
              <a:t>琳</a:t>
            </a:r>
            <a:endParaRPr lang="zh-CN" sz="2400" b="1">
              <a:solidFill>
                <a:srgbClr val="014B30">
                  <a:alpha val="100000"/>
                </a:srgbClr>
              </a:solidFill>
              <a:latin typeface="Arial" panose="020B0604020202020204"/>
              <a:ea typeface="微软雅黑" panose="020B0503020204020204" pitchFamily="34" charset="-122"/>
              <a:cs typeface="等线" panose="02010600030101010101" pitchFamily="2" charset="-122"/>
            </a:endParaRPr>
          </a:p>
          <a:p>
            <a:pPr algn="l"/>
            <a:r>
              <a:rPr lang="zh-CN" sz="2400" b="1">
                <a:solidFill>
                  <a:srgbClr val="014B30">
                    <a:alpha val="100000"/>
                  </a:srgbClr>
                </a:solidFill>
                <a:latin typeface="Arial" panose="020B0604020202020204"/>
                <a:ea typeface="微软雅黑" panose="020B0503020204020204" pitchFamily="34" charset="-122"/>
                <a:cs typeface="等线" panose="02010600030101010101" pitchFamily="2" charset="-122"/>
              </a:rPr>
              <a:t>答辩时间：</a:t>
            </a:r>
            <a:r>
              <a:rPr lang="en-US" altLang="zh-CN" sz="2400" b="1">
                <a:solidFill>
                  <a:srgbClr val="014B30">
                    <a:alpha val="100000"/>
                  </a:srgbClr>
                </a:solidFill>
                <a:latin typeface="Arial" panose="020B0604020202020204"/>
                <a:ea typeface="微软雅黑" panose="020B0503020204020204" pitchFamily="34" charset="-122"/>
                <a:cs typeface="等线" panose="02010600030101010101" pitchFamily="2" charset="-122"/>
              </a:rPr>
              <a:t>2026.3.14</a:t>
            </a:r>
            <a:endParaRPr lang="en-US" altLang="zh-CN" sz="2400" b="1">
              <a:solidFill>
                <a:srgbClr val="014B30">
                  <a:alpha val="100000"/>
                </a:srgbClr>
              </a:solidFill>
              <a:latin typeface="Arial" panose="020B0604020202020204"/>
              <a:ea typeface="微软雅黑" panose="020B0503020204020204" pitchFamily="34" charset="-122"/>
              <a:cs typeface="等线" panose="02010600030101010101" pitchFamily="2" charset="-122"/>
            </a:endParaRPr>
          </a:p>
        </p:txBody>
      </p:sp>
      <p:grpSp>
        <p:nvGrpSpPr>
          <p:cNvPr id="116" name="Group 15"/>
          <p:cNvGrpSpPr/>
          <p:nvPr/>
        </p:nvGrpSpPr>
        <p:grpSpPr>
          <a:xfrm rot="0">
            <a:off x="-23495" y="2464435"/>
            <a:ext cx="12215495" cy="2584450"/>
            <a:chOff x="-1376350" y="3346304"/>
            <a:chExt cx="10824150" cy="2331582"/>
          </a:xfrm>
        </p:grpSpPr>
        <p:sp>
          <p:nvSpPr>
            <p:cNvPr id="117" name="Rectangle 9"/>
            <p:cNvSpPr/>
            <p:nvPr/>
          </p:nvSpPr>
          <p:spPr>
            <a:xfrm>
              <a:off x="-120463" y="3346304"/>
              <a:ext cx="8028788" cy="2331582"/>
            </a:xfrm>
            <a:prstGeom prst="rect">
              <a:avLst/>
            </a:prstGeom>
          </p:spPr>
          <p:txBody>
            <a:bodyPr wrap="square">
              <a:spAutoFit/>
            </a:bodyPr>
            <a:lstStyle/>
            <a:p>
              <a:pPr algn="ctr"/>
              <a:r>
                <a:rPr lang="zh-CN" altLang="en-US" sz="5400" b="1" dirty="0">
                  <a:solidFill>
                    <a:schemeClr val="bg1"/>
                  </a:solidFill>
                  <a:latin typeface="Calibri" panose="020F0502020204030204" pitchFamily="34" charset="0"/>
                  <a:ea typeface="微软雅黑" panose="020B0503020204020204" pitchFamily="34" charset="-122"/>
                  <a:cs typeface="+mj-cs"/>
                </a:rPr>
                <a:t>集成大语言模型与知识图谱的在线地图制图智能体研发</a:t>
              </a:r>
              <a:endParaRPr lang="zh-CN" altLang="en-US" sz="5400" b="1" dirty="0">
                <a:solidFill>
                  <a:schemeClr val="bg1"/>
                </a:solidFill>
                <a:latin typeface="Calibri" panose="020F0502020204030204" pitchFamily="34" charset="0"/>
                <a:ea typeface="微软雅黑" panose="020B0503020204020204" pitchFamily="34" charset="-122"/>
                <a:cs typeface="+mj-cs"/>
              </a:endParaRPr>
            </a:p>
            <a:p>
              <a:pPr algn="ctr"/>
              <a:endParaRPr lang="zh-CN" altLang="en-US" sz="5400" b="1" dirty="0">
                <a:solidFill>
                  <a:schemeClr val="bg1"/>
                </a:solidFill>
                <a:latin typeface="Calibri" panose="020F0502020204030204" pitchFamily="34" charset="0"/>
                <a:ea typeface="微软雅黑" panose="020B0503020204020204" pitchFamily="34" charset="-122"/>
                <a:cs typeface="+mj-cs"/>
              </a:endParaRPr>
            </a:p>
          </p:txBody>
        </p:sp>
        <p:sp>
          <p:nvSpPr>
            <p:cNvPr id="118" name="Rectangle 10"/>
            <p:cNvSpPr/>
            <p:nvPr/>
          </p:nvSpPr>
          <p:spPr>
            <a:xfrm>
              <a:off x="-1376350" y="4690906"/>
              <a:ext cx="10824150" cy="400110"/>
            </a:xfrm>
            <a:prstGeom prst="rect">
              <a:avLst/>
            </a:prstGeom>
          </p:spPr>
          <p:txBody>
            <a:bodyPr wrap="square">
              <a:spAutoFit/>
            </a:bodyPr>
            <a:lstStyle/>
            <a:p>
              <a:pPr algn="ctr"/>
              <a:endParaRPr lang="zh-CN" altLang="en-US" sz="2000" b="1" dirty="0">
                <a:solidFill>
                  <a:prstClr val="white"/>
                </a:solidFill>
                <a:latin typeface="微软雅黑 Light" panose="020B0502040204020203" pitchFamily="34" charset="-122"/>
                <a:ea typeface="微软雅黑 Light" panose="020B0502040204020203" pitchFamily="34" charset="-122"/>
              </a:endParaRPr>
            </a:p>
          </p:txBody>
        </p:sp>
      </p:grpSp>
      <p:cxnSp>
        <p:nvCxnSpPr>
          <p:cNvPr id="119" name="直接连接符 17"/>
          <p:cNvCxnSpPr/>
          <p:nvPr/>
        </p:nvCxnSpPr>
        <p:spPr>
          <a:xfrm>
            <a:off x="-249638" y="4893485"/>
            <a:ext cx="5256126" cy="0"/>
          </a:xfrm>
          <a:prstGeom prst="line">
            <a:avLst/>
          </a:prstGeom>
          <a:noFill/>
          <a:ln w="38100" cap="flat" cmpd="sng" algn="ctr">
            <a:solidFill>
              <a:srgbClr val="014B30"/>
            </a:solidFill>
            <a:prstDash val="solid"/>
            <a:miter lim="800000"/>
          </a:ln>
          <a:effectLst/>
        </p:spPr>
      </p:cxnSp>
      <p:cxnSp>
        <p:nvCxnSpPr>
          <p:cNvPr id="121" name="直接连接符 18"/>
          <p:cNvCxnSpPr>
            <a:stCxn id="120" idx="3"/>
          </p:cNvCxnSpPr>
          <p:nvPr/>
        </p:nvCxnSpPr>
        <p:spPr>
          <a:xfrm flipV="1">
            <a:off x="7238852" y="4889574"/>
            <a:ext cx="5386041" cy="4546"/>
          </a:xfrm>
          <a:prstGeom prst="line">
            <a:avLst/>
          </a:prstGeom>
          <a:noFill/>
          <a:ln w="38100" cap="flat" cmpd="sng" algn="ctr">
            <a:solidFill>
              <a:srgbClr val="014B30"/>
            </a:solidFill>
            <a:prstDash val="solid"/>
            <a:miter lim="800000"/>
          </a:ln>
          <a:effectLst/>
        </p:spPr>
      </p:cxnSp>
      <p:pic>
        <p:nvPicPr>
          <p:cNvPr id="120" name="图片 19"/>
          <p:cNvPicPr>
            <a:picLocks noChangeAspect="1"/>
          </p:cNvPicPr>
          <p:nvPr/>
        </p:nvPicPr>
        <p:blipFill>
          <a:blip r:embed="rId5"/>
          <a:srcRect/>
          <a:stretch>
            <a:fillRect/>
          </a:stretch>
        </p:blipFill>
        <p:spPr>
          <a:xfrm>
            <a:off x="4959498" y="4735775"/>
            <a:ext cx="2279354" cy="315419"/>
          </a:xfrm>
          <a:prstGeom prst="rect">
            <a:avLst/>
          </a:prstGeom>
        </p:spPr>
      </p:pic>
      <p:sp>
        <p:nvSpPr>
          <p:cNvPr id="122" name="文本框 1"/>
          <p:cNvSpPr txBox="1"/>
          <p:nvPr/>
        </p:nvSpPr>
        <p:spPr>
          <a:xfrm>
            <a:off x="2889250" y="1824355"/>
            <a:ext cx="7164705" cy="579755"/>
          </a:xfrm>
          <a:prstGeom prst="rect">
            <a:avLst/>
          </a:prstGeom>
        </p:spPr>
        <p:txBody>
          <a:bodyPr>
            <a:noAutofit/>
          </a:bodyPr>
          <a:p>
            <a:r>
              <a:rPr lang="en-US" sz="2800" b="1">
                <a:solidFill>
                  <a:schemeClr val="bg1">
                    <a:alpha val="100000"/>
                  </a:schemeClr>
                </a:solidFill>
                <a:latin typeface="华文行楷" panose="02010800040101010101" charset="-122"/>
                <a:ea typeface="华文行楷" panose="02010800040101010101" charset="-122"/>
                <a:cs typeface="华文行楷" panose="02010800040101010101" charset="-122"/>
              </a:rPr>
              <a:t>2026</a:t>
            </a:r>
            <a:r>
              <a:rPr lang="zh-CN" sz="2800" b="1">
                <a:solidFill>
                  <a:schemeClr val="bg1">
                    <a:alpha val="100000"/>
                  </a:schemeClr>
                </a:solidFill>
                <a:latin typeface="华文行楷" panose="02010800040101010101" charset="-122"/>
                <a:ea typeface="华文行楷" panose="02010800040101010101" charset="-122"/>
                <a:cs typeface="华文行楷" panose="02010800040101010101" charset="-122"/>
              </a:rPr>
              <a:t>年武汉大学大学生创新训练计划项目</a:t>
            </a:r>
            <a:endParaRPr lang="zh-CN" sz="2800" b="1">
              <a:solidFill>
                <a:schemeClr val="bg1">
                  <a:alpha val="100000"/>
                </a:schemeClr>
              </a:solidFill>
              <a:latin typeface="华文行楷" panose="02010800040101010101" charset="-122"/>
              <a:ea typeface="华文行楷" panose="02010800040101010101" charset="-122"/>
              <a:cs typeface="华文行楷" panose="02010800040101010101" charset="-122"/>
            </a:endParaRPr>
          </a:p>
        </p:txBody>
      </p:sp>
      <p:sp>
        <p:nvSpPr>
          <p:cNvPr id="124" name="TextBox 14"/>
          <p:cNvSpPr txBox="1"/>
          <p:nvPr/>
        </p:nvSpPr>
        <p:spPr>
          <a:xfrm>
            <a:off x="1139540" y="5445050"/>
            <a:ext cx="4652010" cy="829945"/>
          </a:xfrm>
          <a:prstGeom prst="rect">
            <a:avLst/>
          </a:prstGeom>
          <a:noFill/>
        </p:spPr>
        <p:txBody>
          <a:bodyPr wrap="none" rtlCol="0">
            <a:spAutoFit/>
          </a:bodyPr>
          <a:lstStyle/>
          <a:p>
            <a:pPr algn="ctr"/>
            <a:r>
              <a:rPr lang="zh-CN" sz="2400" b="1">
                <a:solidFill>
                  <a:srgbClr val="014B30">
                    <a:alpha val="100000"/>
                  </a:srgbClr>
                </a:solidFill>
                <a:latin typeface="Arial" panose="020B0604020202020204"/>
                <a:ea typeface="微软雅黑" panose="020B0503020204020204" pitchFamily="34" charset="-122"/>
                <a:cs typeface="等线" panose="02010600030101010101" pitchFamily="2" charset="-122"/>
              </a:rPr>
              <a:t>项目成员：匡怡琳</a:t>
            </a:r>
            <a:r>
              <a:rPr lang="en-US" altLang="zh-CN" sz="2400" b="1">
                <a:solidFill>
                  <a:srgbClr val="014B30">
                    <a:alpha val="100000"/>
                  </a:srgbClr>
                </a:solidFill>
                <a:latin typeface="Arial" panose="020B0604020202020204"/>
                <a:ea typeface="微软雅黑" panose="020B0503020204020204" pitchFamily="34" charset="-122"/>
                <a:cs typeface="等线" panose="02010600030101010101" pitchFamily="2" charset="-122"/>
              </a:rPr>
              <a:t>  </a:t>
            </a:r>
            <a:r>
              <a:rPr lang="zh-CN" altLang="en-US" sz="2400" b="1">
                <a:solidFill>
                  <a:srgbClr val="014B30">
                    <a:alpha val="100000"/>
                  </a:srgbClr>
                </a:solidFill>
                <a:latin typeface="Arial" panose="020B0604020202020204"/>
                <a:ea typeface="微软雅黑" panose="020B0503020204020204" pitchFamily="34" charset="-122"/>
                <a:cs typeface="等线" panose="02010600030101010101" pitchFamily="2" charset="-122"/>
              </a:rPr>
              <a:t>秦潞杰</a:t>
            </a:r>
            <a:r>
              <a:rPr lang="en-US" altLang="zh-CN" sz="2400" b="1">
                <a:solidFill>
                  <a:srgbClr val="014B30">
                    <a:alpha val="100000"/>
                  </a:srgbClr>
                </a:solidFill>
                <a:latin typeface="Arial" panose="020B0604020202020204"/>
                <a:ea typeface="微软雅黑" panose="020B0503020204020204" pitchFamily="34" charset="-122"/>
                <a:cs typeface="等线" panose="02010600030101010101" pitchFamily="2" charset="-122"/>
              </a:rPr>
              <a:t>  </a:t>
            </a:r>
            <a:r>
              <a:rPr lang="zh-CN" altLang="en-US" sz="2400" b="1">
                <a:solidFill>
                  <a:srgbClr val="014B30">
                    <a:alpha val="100000"/>
                  </a:srgbClr>
                </a:solidFill>
                <a:latin typeface="Arial" panose="020B0604020202020204"/>
                <a:ea typeface="微软雅黑" panose="020B0503020204020204" pitchFamily="34" charset="-122"/>
                <a:cs typeface="等线" panose="02010600030101010101" pitchFamily="2" charset="-122"/>
              </a:rPr>
              <a:t>徐欣</a:t>
            </a:r>
            <a:endParaRPr lang="zh-CN" altLang="en-US" sz="2400" b="1">
              <a:solidFill>
                <a:srgbClr val="014B30">
                  <a:alpha val="100000"/>
                </a:srgbClr>
              </a:solidFill>
              <a:latin typeface="Arial" panose="020B0604020202020204"/>
              <a:ea typeface="微软雅黑" panose="020B0503020204020204" pitchFamily="34" charset="-122"/>
              <a:cs typeface="等线" panose="02010600030101010101" pitchFamily="2" charset="-122"/>
            </a:endParaRPr>
          </a:p>
          <a:p>
            <a:pPr algn="l"/>
            <a:r>
              <a:rPr lang="en-US" altLang="zh-CN" sz="2400" b="1">
                <a:solidFill>
                  <a:srgbClr val="014B30">
                    <a:alpha val="100000"/>
                  </a:srgbClr>
                </a:solidFill>
                <a:latin typeface="Arial" panose="020B0604020202020204"/>
                <a:ea typeface="微软雅黑" panose="020B0503020204020204" pitchFamily="34" charset="-122"/>
                <a:cs typeface="等线" panose="02010600030101010101" pitchFamily="2" charset="-122"/>
              </a:rPr>
              <a:t> </a:t>
            </a:r>
            <a:r>
              <a:rPr lang="zh-CN" altLang="en-US" sz="2400" b="1">
                <a:solidFill>
                  <a:srgbClr val="014B30">
                    <a:alpha val="100000"/>
                  </a:srgbClr>
                </a:solidFill>
                <a:latin typeface="Arial" panose="020B0604020202020204"/>
                <a:ea typeface="微软雅黑" panose="020B0503020204020204" pitchFamily="34" charset="-122"/>
                <a:cs typeface="等线" panose="02010600030101010101" pitchFamily="2" charset="-122"/>
              </a:rPr>
              <a:t>指导老师：蔡忠亮</a:t>
            </a:r>
            <a:r>
              <a:rPr lang="en-US" altLang="zh-CN" sz="2400" b="1">
                <a:solidFill>
                  <a:srgbClr val="014B30">
                    <a:alpha val="100000"/>
                  </a:srgbClr>
                </a:solidFill>
                <a:latin typeface="Arial" panose="020B0604020202020204"/>
                <a:ea typeface="微软雅黑" panose="020B0503020204020204" pitchFamily="34" charset="-122"/>
                <a:cs typeface="等线" panose="02010600030101010101" pitchFamily="2" charset="-122"/>
              </a:rPr>
              <a:t> </a:t>
            </a:r>
            <a:r>
              <a:rPr lang="zh-CN" altLang="en-US" sz="2400" b="1">
                <a:solidFill>
                  <a:srgbClr val="014B30">
                    <a:alpha val="100000"/>
                  </a:srgbClr>
                </a:solidFill>
                <a:latin typeface="Arial" panose="020B0604020202020204"/>
                <a:ea typeface="微软雅黑" panose="020B0503020204020204" pitchFamily="34" charset="-122"/>
                <a:cs typeface="等线" panose="02010600030101010101" pitchFamily="2" charset="-122"/>
              </a:rPr>
              <a:t>教授</a:t>
            </a:r>
            <a:endParaRPr lang="zh-CN" altLang="en-US" sz="2400" b="1">
              <a:solidFill>
                <a:srgbClr val="014B30">
                  <a:alpha val="100000"/>
                </a:srgbClr>
              </a:solidFill>
              <a:latin typeface="Arial" panose="020B0604020202020204"/>
              <a:ea typeface="微软雅黑" panose="020B0503020204020204" pitchFamily="34" charset="-122"/>
              <a:cs typeface="等线"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27" name=""/>
        <p:cNvGrpSpPr/>
        <p:nvPr/>
      </p:nvGrpSpPr>
      <p:grpSpPr>
        <a:xfrm>
          <a:off x="0" y="0"/>
          <a:ext cx="0" cy="0"/>
          <a:chOff x="0" y="0"/>
          <a:chExt cx="0" cy="0"/>
        </a:xfrm>
      </p:grpSpPr>
      <p:pic>
        <p:nvPicPr>
          <p:cNvPr id="128" name="图片 1"/>
          <p:cNvPicPr>
            <a:picLocks noChangeAspect="1"/>
          </p:cNvPicPr>
          <p:nvPr/>
        </p:nvPicPr>
        <p:blipFill rotWithShape="1">
          <a:blip r:embed="rId1"/>
          <a:srcRect l="24514" r="24232"/>
          <a:stretch>
            <a:fillRect/>
          </a:stretch>
        </p:blipFill>
        <p:spPr>
          <a:xfrm>
            <a:off x="1" y="0"/>
            <a:ext cx="5194368" cy="6858000"/>
          </a:xfrm>
          <a:custGeom>
            <a:avLst/>
            <a:gdLst>
              <a:gd name="connsiteX0" fmla="*/ 0 w 5204840"/>
              <a:gd name="connsiteY0" fmla="*/ 0 h 6858000"/>
              <a:gd name="connsiteX1" fmla="*/ 5204840 w 5204840"/>
              <a:gd name="connsiteY1" fmla="*/ 0 h 6858000"/>
              <a:gd name="connsiteX2" fmla="*/ 5204840 w 5204840"/>
              <a:gd name="connsiteY2" fmla="*/ 6858000 h 6858000"/>
              <a:gd name="connsiteX3" fmla="*/ 0 w 520484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204840" h="6858000">
                <a:moveTo>
                  <a:pt x="0" y="0"/>
                </a:moveTo>
                <a:lnTo>
                  <a:pt x="5204840" y="0"/>
                </a:lnTo>
                <a:lnTo>
                  <a:pt x="5204840" y="6858000"/>
                </a:lnTo>
                <a:lnTo>
                  <a:pt x="0" y="6858000"/>
                </a:lnTo>
                <a:close/>
              </a:path>
            </a:pathLst>
          </a:custGeom>
        </p:spPr>
      </p:pic>
      <p:sp>
        <p:nvSpPr>
          <p:cNvPr id="129" name="PA-矩形 8"/>
          <p:cNvSpPr/>
          <p:nvPr/>
        </p:nvSpPr>
        <p:spPr>
          <a:xfrm>
            <a:off x="0" y="0"/>
            <a:ext cx="5194369" cy="6872990"/>
          </a:xfrm>
          <a:prstGeom prst="rect">
            <a:avLst/>
          </a:prstGeom>
          <a:gradFill flip="none" rotWithShape="1">
            <a:gsLst>
              <a:gs pos="0">
                <a:srgbClr val="014B30"/>
              </a:gs>
              <a:gs pos="100000">
                <a:srgbClr val="014B30">
                  <a:alpha val="62000"/>
                </a:srgbClr>
              </a:gs>
            </a:gsLst>
            <a:lin ang="0" scaled="1"/>
            <a:tileRect/>
          </a:gradFill>
          <a:ln w="12700" cap="flat" cmpd="sng" algn="ctr">
            <a:noFill/>
            <a:prstDash val="solid"/>
            <a:miter lim="800000"/>
          </a:ln>
          <a:effectLst/>
        </p:spPr>
        <p:txBody>
          <a:bodyPr rtlCol="0" anchor="ctr"/>
          <a:lstStyle/>
          <a:p>
            <a:pPr algn="ctr">
              <a:defRPr/>
            </a:pPr>
            <a:endParaRPr lang="zh-CN" altLang="en-US" kern="0">
              <a:solidFill>
                <a:srgbClr val="FFFFFF"/>
              </a:solidFill>
              <a:latin typeface="Arial" panose="020B0604020202020204"/>
              <a:ea typeface="微软雅黑" panose="020B0503020204020204" pitchFamily="34" charset="-122"/>
              <a:cs typeface="+mn-ea"/>
              <a:sym typeface="+mn-lt"/>
            </a:endParaRPr>
          </a:p>
        </p:txBody>
      </p:sp>
      <p:grpSp>
        <p:nvGrpSpPr>
          <p:cNvPr id="130" name="PA-组合 20"/>
          <p:cNvGrpSpPr/>
          <p:nvPr>
            <p:custDataLst>
              <p:tags r:id="rId2"/>
            </p:custDataLst>
          </p:nvPr>
        </p:nvGrpSpPr>
        <p:grpSpPr>
          <a:xfrm>
            <a:off x="6503258" y="1506205"/>
            <a:ext cx="672405" cy="923330"/>
            <a:chOff x="7138670" y="1012807"/>
            <a:chExt cx="672405" cy="923330"/>
          </a:xfrm>
        </p:grpSpPr>
        <p:sp>
          <p:nvSpPr>
            <p:cNvPr id="131" name="PA-任意多边形 9"/>
            <p:cNvSpPr/>
            <p:nvPr>
              <p:custDataLst>
                <p:tags r:id="rId3"/>
              </p:custDataLst>
            </p:nvPr>
          </p:nvSpPr>
          <p:spPr>
            <a:xfrm>
              <a:off x="7138670" y="1555752"/>
              <a:ext cx="360050" cy="202528"/>
            </a:xfrm>
            <a:custGeom>
              <a:avLst/>
              <a:gdLst>
                <a:gd name="connsiteX0" fmla="*/ 0 w 12192000"/>
                <a:gd name="connsiteY0" fmla="*/ 0 h 6858000"/>
                <a:gd name="connsiteX1" fmla="*/ 12192000 w 12192000"/>
                <a:gd name="connsiteY1" fmla="*/ 0 h 6858000"/>
                <a:gd name="connsiteX2" fmla="*/ 12192000 w 12192000"/>
                <a:gd name="connsiteY2" fmla="*/ 1 h 6858000"/>
                <a:gd name="connsiteX3" fmla="*/ 8438627 w 12192000"/>
                <a:gd name="connsiteY3" fmla="*/ 1 h 6858000"/>
                <a:gd name="connsiteX4" fmla="*/ 12192000 w 12192000"/>
                <a:gd name="connsiteY4" fmla="*/ 5623285 h 6858000"/>
                <a:gd name="connsiteX5" fmla="*/ 12192000 w 12192000"/>
                <a:gd name="connsiteY5" fmla="*/ 6858000 h 6858000"/>
                <a:gd name="connsiteX6" fmla="*/ 0 w 121920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0" y="0"/>
                  </a:moveTo>
                  <a:lnTo>
                    <a:pt x="12192000" y="0"/>
                  </a:lnTo>
                  <a:lnTo>
                    <a:pt x="12192000" y="1"/>
                  </a:lnTo>
                  <a:lnTo>
                    <a:pt x="8438627" y="1"/>
                  </a:lnTo>
                  <a:lnTo>
                    <a:pt x="12192000" y="5623285"/>
                  </a:lnTo>
                  <a:lnTo>
                    <a:pt x="12192000" y="6858000"/>
                  </a:lnTo>
                  <a:lnTo>
                    <a:pt x="0" y="6858000"/>
                  </a:lnTo>
                  <a:close/>
                </a:path>
              </a:pathLst>
            </a:custGeom>
            <a:gradFill flip="none" rotWithShape="1">
              <a:gsLst>
                <a:gs pos="2000">
                  <a:srgbClr val="014B30">
                    <a:alpha val="80000"/>
                  </a:srgbClr>
                </a:gs>
                <a:gs pos="72000">
                  <a:srgbClr val="014B30">
                    <a:alpha val="40000"/>
                  </a:srgbClr>
                </a:gs>
                <a:gs pos="100000">
                  <a:srgbClr val="014B30">
                    <a:alpha val="0"/>
                  </a:srgbClr>
                </a:gs>
              </a:gsLst>
              <a:lin ang="8400000" scaled="0"/>
              <a:tileRect/>
            </a:gradFill>
            <a:ln w="12700" cap="flat" cmpd="sng" algn="ctr">
              <a:noFill/>
              <a:prstDash val="solid"/>
              <a:miter lim="800000"/>
            </a:ln>
            <a:effectLst>
              <a:outerShdw blurRad="50800" dist="38100" dir="13500000" algn="b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ea"/>
                <a:sym typeface="+mn-lt"/>
              </a:endParaRPr>
            </a:p>
          </p:txBody>
        </p:sp>
        <p:sp>
          <p:nvSpPr>
            <p:cNvPr id="132" name="PA-文本框 13"/>
            <p:cNvSpPr txBox="1"/>
            <p:nvPr>
              <p:custDataLst>
                <p:tags r:id="rId4"/>
              </p:custDataLst>
            </p:nvPr>
          </p:nvSpPr>
          <p:spPr>
            <a:xfrm>
              <a:off x="7186365" y="1012807"/>
              <a:ext cx="624710" cy="92333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5400" b="1" i="1" u="none" strike="noStrike" kern="0" cap="none" spc="0" normalizeH="0" baseline="0" noProof="0" dirty="0">
                  <a:ln>
                    <a:noFill/>
                  </a:ln>
                  <a:solidFill>
                    <a:srgbClr val="014B30"/>
                  </a:solidFill>
                  <a:effectLst/>
                  <a:uLnTx/>
                  <a:uFillTx/>
                  <a:latin typeface="Arial" panose="020B0604020202020204"/>
                  <a:ea typeface="微软雅黑" panose="020B0503020204020204" pitchFamily="34" charset="-122"/>
                  <a:cs typeface="+mn-ea"/>
                  <a:sym typeface="+mn-lt"/>
                </a:rPr>
                <a:t>1</a:t>
              </a:r>
              <a:endParaRPr kumimoji="0" lang="zh-CN" altLang="en-US" sz="5400" b="1" i="1" u="none" strike="noStrike" kern="0" cap="none" spc="0" normalizeH="0" baseline="0" noProof="0" dirty="0">
                <a:ln>
                  <a:noFill/>
                </a:ln>
                <a:solidFill>
                  <a:srgbClr val="014B30"/>
                </a:solidFill>
                <a:effectLst/>
                <a:uLnTx/>
                <a:uFillTx/>
                <a:latin typeface="Arial" panose="020B0604020202020204"/>
                <a:ea typeface="微软雅黑" panose="020B0503020204020204" pitchFamily="34" charset="-122"/>
                <a:cs typeface="+mn-ea"/>
                <a:sym typeface="+mn-lt"/>
              </a:endParaRPr>
            </a:p>
          </p:txBody>
        </p:sp>
      </p:grpSp>
      <p:grpSp>
        <p:nvGrpSpPr>
          <p:cNvPr id="133" name="PA-组合 19"/>
          <p:cNvGrpSpPr/>
          <p:nvPr>
            <p:custDataLst>
              <p:tags r:id="rId5"/>
            </p:custDataLst>
          </p:nvPr>
        </p:nvGrpSpPr>
        <p:grpSpPr>
          <a:xfrm>
            <a:off x="6503258" y="2617813"/>
            <a:ext cx="672405" cy="830997"/>
            <a:chOff x="7138670" y="2490624"/>
            <a:chExt cx="672405" cy="830997"/>
          </a:xfrm>
        </p:grpSpPr>
        <p:sp>
          <p:nvSpPr>
            <p:cNvPr id="134" name="PA-任意多边形 10"/>
            <p:cNvSpPr/>
            <p:nvPr>
              <p:custDataLst>
                <p:tags r:id="rId6"/>
              </p:custDataLst>
            </p:nvPr>
          </p:nvSpPr>
          <p:spPr>
            <a:xfrm>
              <a:off x="7138670" y="2967858"/>
              <a:ext cx="360050" cy="202528"/>
            </a:xfrm>
            <a:custGeom>
              <a:avLst/>
              <a:gdLst>
                <a:gd name="connsiteX0" fmla="*/ 0 w 12192000"/>
                <a:gd name="connsiteY0" fmla="*/ 0 h 6858000"/>
                <a:gd name="connsiteX1" fmla="*/ 12192000 w 12192000"/>
                <a:gd name="connsiteY1" fmla="*/ 0 h 6858000"/>
                <a:gd name="connsiteX2" fmla="*/ 12192000 w 12192000"/>
                <a:gd name="connsiteY2" fmla="*/ 1 h 6858000"/>
                <a:gd name="connsiteX3" fmla="*/ 8438627 w 12192000"/>
                <a:gd name="connsiteY3" fmla="*/ 1 h 6858000"/>
                <a:gd name="connsiteX4" fmla="*/ 12192000 w 12192000"/>
                <a:gd name="connsiteY4" fmla="*/ 5623285 h 6858000"/>
                <a:gd name="connsiteX5" fmla="*/ 12192000 w 12192000"/>
                <a:gd name="connsiteY5" fmla="*/ 6858000 h 6858000"/>
                <a:gd name="connsiteX6" fmla="*/ 0 w 121920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0" y="0"/>
                  </a:moveTo>
                  <a:lnTo>
                    <a:pt x="12192000" y="0"/>
                  </a:lnTo>
                  <a:lnTo>
                    <a:pt x="12192000" y="1"/>
                  </a:lnTo>
                  <a:lnTo>
                    <a:pt x="8438627" y="1"/>
                  </a:lnTo>
                  <a:lnTo>
                    <a:pt x="12192000" y="5623285"/>
                  </a:lnTo>
                  <a:lnTo>
                    <a:pt x="12192000" y="6858000"/>
                  </a:lnTo>
                  <a:lnTo>
                    <a:pt x="0" y="6858000"/>
                  </a:lnTo>
                  <a:close/>
                </a:path>
              </a:pathLst>
            </a:custGeom>
            <a:gradFill flip="none" rotWithShape="1">
              <a:gsLst>
                <a:gs pos="2000">
                  <a:srgbClr val="014B30"/>
                </a:gs>
                <a:gs pos="72000">
                  <a:srgbClr val="014B30">
                    <a:alpha val="40000"/>
                  </a:srgbClr>
                </a:gs>
                <a:gs pos="100000">
                  <a:srgbClr val="014B30">
                    <a:alpha val="0"/>
                  </a:srgbClr>
                </a:gs>
              </a:gsLst>
              <a:lin ang="8400000" scaled="0"/>
              <a:tileRect/>
            </a:gradFill>
            <a:ln w="12700" cap="flat" cmpd="sng" algn="ctr">
              <a:noFill/>
              <a:prstDash val="solid"/>
              <a:miter lim="800000"/>
            </a:ln>
            <a:effectLst>
              <a:outerShdw blurRad="50800" dist="38100" dir="13500000" algn="b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ea"/>
                <a:sym typeface="+mn-lt"/>
              </a:endParaRPr>
            </a:p>
          </p:txBody>
        </p:sp>
        <p:sp>
          <p:nvSpPr>
            <p:cNvPr id="135" name="PA-文本框 14"/>
            <p:cNvSpPr txBox="1"/>
            <p:nvPr>
              <p:custDataLst>
                <p:tags r:id="rId7"/>
              </p:custDataLst>
            </p:nvPr>
          </p:nvSpPr>
          <p:spPr>
            <a:xfrm>
              <a:off x="7186365" y="2490624"/>
              <a:ext cx="624710" cy="83099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800" b="1" i="1" u="none" strike="noStrike" kern="0" cap="none" spc="0" normalizeH="0" baseline="0" noProof="0" dirty="0">
                  <a:ln>
                    <a:noFill/>
                  </a:ln>
                  <a:solidFill>
                    <a:srgbClr val="014B30"/>
                  </a:solidFill>
                  <a:effectLst/>
                  <a:uLnTx/>
                  <a:uFillTx/>
                  <a:latin typeface="Arial" panose="020B0604020202020204"/>
                  <a:ea typeface="微软雅黑" panose="020B0503020204020204" pitchFamily="34" charset="-122"/>
                  <a:cs typeface="+mn-ea"/>
                  <a:sym typeface="+mn-lt"/>
                </a:rPr>
                <a:t>2</a:t>
              </a:r>
              <a:endParaRPr kumimoji="0" lang="zh-CN" altLang="en-US" sz="4800" b="1" i="1" u="none" strike="noStrike" kern="0" cap="none" spc="0" normalizeH="0" baseline="0" noProof="0" dirty="0">
                <a:ln>
                  <a:noFill/>
                </a:ln>
                <a:solidFill>
                  <a:srgbClr val="014B30"/>
                </a:solidFill>
                <a:effectLst/>
                <a:uLnTx/>
                <a:uFillTx/>
                <a:latin typeface="Arial" panose="020B0604020202020204"/>
                <a:ea typeface="微软雅黑" panose="020B0503020204020204" pitchFamily="34" charset="-122"/>
                <a:cs typeface="+mn-ea"/>
                <a:sym typeface="+mn-lt"/>
              </a:endParaRPr>
            </a:p>
          </p:txBody>
        </p:sp>
      </p:grpSp>
      <p:sp>
        <p:nvSpPr>
          <p:cNvPr id="136" name="PA-任意多边形 11"/>
          <p:cNvSpPr/>
          <p:nvPr>
            <p:custDataLst>
              <p:tags r:id="rId8"/>
            </p:custDataLst>
          </p:nvPr>
        </p:nvSpPr>
        <p:spPr>
          <a:xfrm>
            <a:off x="6503258" y="4131791"/>
            <a:ext cx="360050" cy="202528"/>
          </a:xfrm>
          <a:custGeom>
            <a:avLst/>
            <a:gdLst>
              <a:gd name="connsiteX0" fmla="*/ 0 w 12192000"/>
              <a:gd name="connsiteY0" fmla="*/ 0 h 6858000"/>
              <a:gd name="connsiteX1" fmla="*/ 12192000 w 12192000"/>
              <a:gd name="connsiteY1" fmla="*/ 0 h 6858000"/>
              <a:gd name="connsiteX2" fmla="*/ 12192000 w 12192000"/>
              <a:gd name="connsiteY2" fmla="*/ 1 h 6858000"/>
              <a:gd name="connsiteX3" fmla="*/ 8438627 w 12192000"/>
              <a:gd name="connsiteY3" fmla="*/ 1 h 6858000"/>
              <a:gd name="connsiteX4" fmla="*/ 12192000 w 12192000"/>
              <a:gd name="connsiteY4" fmla="*/ 5623285 h 6858000"/>
              <a:gd name="connsiteX5" fmla="*/ 12192000 w 12192000"/>
              <a:gd name="connsiteY5" fmla="*/ 6858000 h 6858000"/>
              <a:gd name="connsiteX6" fmla="*/ 0 w 121920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0" y="0"/>
                </a:moveTo>
                <a:lnTo>
                  <a:pt x="12192000" y="0"/>
                </a:lnTo>
                <a:lnTo>
                  <a:pt x="12192000" y="1"/>
                </a:lnTo>
                <a:lnTo>
                  <a:pt x="8438627" y="1"/>
                </a:lnTo>
                <a:lnTo>
                  <a:pt x="12192000" y="5623285"/>
                </a:lnTo>
                <a:lnTo>
                  <a:pt x="12192000" y="6858000"/>
                </a:lnTo>
                <a:lnTo>
                  <a:pt x="0" y="6858000"/>
                </a:lnTo>
                <a:close/>
              </a:path>
            </a:pathLst>
          </a:custGeom>
          <a:gradFill flip="none" rotWithShape="1">
            <a:gsLst>
              <a:gs pos="2000">
                <a:srgbClr val="014B30"/>
              </a:gs>
              <a:gs pos="72000">
                <a:srgbClr val="014B30">
                  <a:alpha val="40000"/>
                </a:srgbClr>
              </a:gs>
              <a:gs pos="100000">
                <a:srgbClr val="014B30">
                  <a:alpha val="0"/>
                </a:srgbClr>
              </a:gs>
            </a:gsLst>
            <a:lin ang="8400000" scaled="0"/>
            <a:tileRect/>
          </a:gradFill>
          <a:ln w="12700" cap="flat" cmpd="sng" algn="ctr">
            <a:noFill/>
            <a:prstDash val="solid"/>
            <a:miter lim="800000"/>
          </a:ln>
          <a:effectLst>
            <a:outerShdw blurRad="50800" dist="38100" dir="13500000" algn="b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ea"/>
              <a:sym typeface="+mn-lt"/>
            </a:endParaRPr>
          </a:p>
        </p:txBody>
      </p:sp>
      <p:sp>
        <p:nvSpPr>
          <p:cNvPr id="137" name="PA-文本框 15"/>
          <p:cNvSpPr txBox="1"/>
          <p:nvPr>
            <p:custDataLst>
              <p:tags r:id="rId9"/>
            </p:custDataLst>
          </p:nvPr>
        </p:nvSpPr>
        <p:spPr>
          <a:xfrm>
            <a:off x="6550953" y="3637087"/>
            <a:ext cx="624710" cy="830997"/>
          </a:xfrm>
          <a:prstGeom prst="rect">
            <a:avLst/>
          </a:prstGeom>
          <a:noFill/>
        </p:spPr>
        <p:txBody>
          <a:bodyPr wrap="square" rtlCol="0">
            <a:spAutoFit/>
          </a:bodyPr>
          <a:lstStyle/>
          <a:p>
            <a:r>
              <a:rPr lang="en-US" altLang="zh-CN" sz="4800" b="1" i="1" dirty="0">
                <a:solidFill>
                  <a:srgbClr val="014B30"/>
                </a:solidFill>
                <a:latin typeface="Arial" panose="020B0604020202020204"/>
                <a:ea typeface="微软雅黑" panose="020B0503020204020204" pitchFamily="34" charset="-122"/>
                <a:cs typeface="+mn-ea"/>
                <a:sym typeface="+mn-lt"/>
              </a:rPr>
              <a:t>3</a:t>
            </a:r>
            <a:endParaRPr lang="zh-CN" altLang="en-US" sz="4800" b="1" i="1" dirty="0">
              <a:solidFill>
                <a:srgbClr val="014B30"/>
              </a:solidFill>
              <a:latin typeface="Arial" panose="020B0604020202020204"/>
              <a:ea typeface="微软雅黑" panose="020B0503020204020204" pitchFamily="34" charset="-122"/>
              <a:cs typeface="+mn-ea"/>
              <a:sym typeface="+mn-lt"/>
            </a:endParaRPr>
          </a:p>
        </p:txBody>
      </p:sp>
      <p:grpSp>
        <p:nvGrpSpPr>
          <p:cNvPr id="138" name="PA-组合 17"/>
          <p:cNvGrpSpPr/>
          <p:nvPr>
            <p:custDataLst>
              <p:tags r:id="rId10"/>
            </p:custDataLst>
          </p:nvPr>
        </p:nvGrpSpPr>
        <p:grpSpPr>
          <a:xfrm>
            <a:off x="6503258" y="4656362"/>
            <a:ext cx="672405" cy="830997"/>
            <a:chOff x="7138670" y="5303103"/>
            <a:chExt cx="672405" cy="830997"/>
          </a:xfrm>
        </p:grpSpPr>
        <p:sp>
          <p:nvSpPr>
            <p:cNvPr id="139" name="PA-任意多边形 12"/>
            <p:cNvSpPr/>
            <p:nvPr>
              <p:custDataLst>
                <p:tags r:id="rId11"/>
              </p:custDataLst>
            </p:nvPr>
          </p:nvSpPr>
          <p:spPr>
            <a:xfrm>
              <a:off x="7138670" y="5792070"/>
              <a:ext cx="360050" cy="202528"/>
            </a:xfrm>
            <a:custGeom>
              <a:avLst/>
              <a:gdLst>
                <a:gd name="connsiteX0" fmla="*/ 0 w 12192000"/>
                <a:gd name="connsiteY0" fmla="*/ 0 h 6858000"/>
                <a:gd name="connsiteX1" fmla="*/ 12192000 w 12192000"/>
                <a:gd name="connsiteY1" fmla="*/ 0 h 6858000"/>
                <a:gd name="connsiteX2" fmla="*/ 12192000 w 12192000"/>
                <a:gd name="connsiteY2" fmla="*/ 1 h 6858000"/>
                <a:gd name="connsiteX3" fmla="*/ 8438627 w 12192000"/>
                <a:gd name="connsiteY3" fmla="*/ 1 h 6858000"/>
                <a:gd name="connsiteX4" fmla="*/ 12192000 w 12192000"/>
                <a:gd name="connsiteY4" fmla="*/ 5623285 h 6858000"/>
                <a:gd name="connsiteX5" fmla="*/ 12192000 w 12192000"/>
                <a:gd name="connsiteY5" fmla="*/ 6858000 h 6858000"/>
                <a:gd name="connsiteX6" fmla="*/ 0 w 121920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0" y="0"/>
                  </a:moveTo>
                  <a:lnTo>
                    <a:pt x="12192000" y="0"/>
                  </a:lnTo>
                  <a:lnTo>
                    <a:pt x="12192000" y="1"/>
                  </a:lnTo>
                  <a:lnTo>
                    <a:pt x="8438627" y="1"/>
                  </a:lnTo>
                  <a:lnTo>
                    <a:pt x="12192000" y="5623285"/>
                  </a:lnTo>
                  <a:lnTo>
                    <a:pt x="12192000" y="6858000"/>
                  </a:lnTo>
                  <a:lnTo>
                    <a:pt x="0" y="6858000"/>
                  </a:lnTo>
                  <a:close/>
                </a:path>
              </a:pathLst>
            </a:custGeom>
            <a:gradFill flip="none" rotWithShape="1">
              <a:gsLst>
                <a:gs pos="2000">
                  <a:srgbClr val="014B30"/>
                </a:gs>
                <a:gs pos="72000">
                  <a:srgbClr val="014B30">
                    <a:alpha val="40000"/>
                  </a:srgbClr>
                </a:gs>
                <a:gs pos="100000">
                  <a:srgbClr val="014B30">
                    <a:alpha val="0"/>
                  </a:srgbClr>
                </a:gs>
              </a:gsLst>
              <a:lin ang="8400000" scaled="0"/>
              <a:tileRect/>
            </a:gradFill>
            <a:ln w="12700" cap="flat" cmpd="sng" algn="ctr">
              <a:noFill/>
              <a:prstDash val="solid"/>
              <a:miter lim="800000"/>
            </a:ln>
            <a:effectLst>
              <a:outerShdw blurRad="50800" dist="38100" dir="13500000" algn="b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ea"/>
                <a:sym typeface="+mn-lt"/>
              </a:endParaRPr>
            </a:p>
          </p:txBody>
        </p:sp>
        <p:sp>
          <p:nvSpPr>
            <p:cNvPr id="140" name="PA-文本框 16"/>
            <p:cNvSpPr txBox="1"/>
            <p:nvPr>
              <p:custDataLst>
                <p:tags r:id="rId12"/>
              </p:custDataLst>
            </p:nvPr>
          </p:nvSpPr>
          <p:spPr>
            <a:xfrm>
              <a:off x="7186365" y="5303103"/>
              <a:ext cx="624710" cy="83099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800" b="1" i="1" u="none" strike="noStrike" kern="0" cap="none" spc="0" normalizeH="0" baseline="0" noProof="0" dirty="0">
                  <a:ln>
                    <a:noFill/>
                  </a:ln>
                  <a:solidFill>
                    <a:srgbClr val="014B30"/>
                  </a:solidFill>
                  <a:effectLst/>
                  <a:uLnTx/>
                  <a:uFillTx/>
                  <a:latin typeface="Arial" panose="020B0604020202020204"/>
                  <a:ea typeface="微软雅黑" panose="020B0503020204020204" pitchFamily="34" charset="-122"/>
                  <a:cs typeface="+mn-ea"/>
                  <a:sym typeface="+mn-lt"/>
                </a:rPr>
                <a:t>4</a:t>
              </a:r>
              <a:endParaRPr kumimoji="0" lang="zh-CN" altLang="en-US" sz="4800" b="1" i="1" u="none" strike="noStrike" kern="0" cap="none" spc="0" normalizeH="0" baseline="0" noProof="0" dirty="0">
                <a:ln>
                  <a:noFill/>
                </a:ln>
                <a:solidFill>
                  <a:srgbClr val="014B30"/>
                </a:solidFill>
                <a:effectLst/>
                <a:uLnTx/>
                <a:uFillTx/>
                <a:latin typeface="Arial" panose="020B0604020202020204"/>
                <a:ea typeface="微软雅黑" panose="020B0503020204020204" pitchFamily="34" charset="-122"/>
                <a:cs typeface="+mn-ea"/>
                <a:sym typeface="+mn-lt"/>
              </a:endParaRPr>
            </a:p>
          </p:txBody>
        </p:sp>
      </p:grpSp>
      <p:sp>
        <p:nvSpPr>
          <p:cNvPr id="141" name="PA-文本框 21"/>
          <p:cNvSpPr txBox="1"/>
          <p:nvPr>
            <p:custDataLst>
              <p:tags r:id="rId13"/>
            </p:custDataLst>
          </p:nvPr>
        </p:nvSpPr>
        <p:spPr>
          <a:xfrm>
            <a:off x="7173123" y="1817961"/>
            <a:ext cx="3611122" cy="583565"/>
          </a:xfrm>
          <a:prstGeom prst="rect">
            <a:avLst/>
          </a:prstGeom>
          <a:noFill/>
        </p:spPr>
        <p:txBody>
          <a:bodyPr wrap="square" rtlCol="0">
            <a:spAutoFit/>
          </a:bodyPr>
          <a:lstStyle/>
          <a:p>
            <a:r>
              <a:rPr lang="zh-CN" altLang="en-US" sz="3200" dirty="0">
                <a:solidFill>
                  <a:srgbClr val="768394">
                    <a:lumMod val="75000"/>
                  </a:srgbClr>
                </a:solidFill>
                <a:latin typeface="Arial" panose="020B0604020202020204"/>
                <a:ea typeface="微软雅黑" panose="020B0503020204020204" pitchFamily="34" charset="-122"/>
                <a:cs typeface="+mn-ea"/>
                <a:sym typeface="+mn-lt"/>
              </a:rPr>
              <a:t>选题背景</a:t>
            </a:r>
            <a:endParaRPr lang="zh-CN" altLang="en-US" sz="3200" dirty="0">
              <a:solidFill>
                <a:srgbClr val="768394">
                  <a:lumMod val="75000"/>
                </a:srgbClr>
              </a:solidFill>
              <a:latin typeface="Arial" panose="020B0604020202020204"/>
              <a:ea typeface="微软雅黑" panose="020B0503020204020204" pitchFamily="34" charset="-122"/>
              <a:cs typeface="+mn-ea"/>
              <a:sym typeface="+mn-lt"/>
            </a:endParaRPr>
          </a:p>
        </p:txBody>
      </p:sp>
      <p:sp>
        <p:nvSpPr>
          <p:cNvPr id="142" name="PA-文本框 22"/>
          <p:cNvSpPr txBox="1"/>
          <p:nvPr>
            <p:custDataLst>
              <p:tags r:id="rId14"/>
            </p:custDataLst>
          </p:nvPr>
        </p:nvSpPr>
        <p:spPr>
          <a:xfrm>
            <a:off x="7173124" y="2802478"/>
            <a:ext cx="3611122" cy="583565"/>
          </a:xfrm>
          <a:prstGeom prst="rect">
            <a:avLst/>
          </a:prstGeom>
          <a:noFill/>
        </p:spPr>
        <p:txBody>
          <a:bodyPr wrap="square" rtlCol="0">
            <a:spAutoFit/>
          </a:bodyPr>
          <a:lstStyle/>
          <a:p>
            <a:r>
              <a:rPr lang="zh-CN" altLang="en-US" sz="3200" dirty="0">
                <a:solidFill>
                  <a:srgbClr val="768394">
                    <a:lumMod val="75000"/>
                  </a:srgbClr>
                </a:solidFill>
                <a:latin typeface="Arial" panose="020B0604020202020204"/>
                <a:ea typeface="微软雅黑" panose="020B0503020204020204" pitchFamily="34" charset="-122"/>
                <a:cs typeface="+mn-ea"/>
                <a:sym typeface="+mn-lt"/>
              </a:rPr>
              <a:t>项目</a:t>
            </a:r>
            <a:r>
              <a:rPr lang="zh-CN" altLang="en-US" sz="3200" dirty="0">
                <a:solidFill>
                  <a:srgbClr val="768394">
                    <a:lumMod val="75000"/>
                  </a:srgbClr>
                </a:solidFill>
                <a:latin typeface="Arial" panose="020B0604020202020204"/>
                <a:ea typeface="微软雅黑" panose="020B0503020204020204" pitchFamily="34" charset="-122"/>
                <a:cs typeface="+mn-ea"/>
                <a:sym typeface="+mn-lt"/>
              </a:rPr>
              <a:t>方案</a:t>
            </a:r>
            <a:endParaRPr lang="zh-CN" altLang="en-US" sz="3200" dirty="0">
              <a:solidFill>
                <a:srgbClr val="768394">
                  <a:lumMod val="75000"/>
                </a:srgbClr>
              </a:solidFill>
              <a:latin typeface="Arial" panose="020B0604020202020204"/>
              <a:ea typeface="微软雅黑" panose="020B0503020204020204" pitchFamily="34" charset="-122"/>
              <a:cs typeface="+mn-ea"/>
              <a:sym typeface="+mn-lt"/>
            </a:endParaRPr>
          </a:p>
        </p:txBody>
      </p:sp>
      <p:sp>
        <p:nvSpPr>
          <p:cNvPr id="143" name="PA-文本框 23"/>
          <p:cNvSpPr txBox="1"/>
          <p:nvPr>
            <p:custDataLst>
              <p:tags r:id="rId15"/>
            </p:custDataLst>
          </p:nvPr>
        </p:nvSpPr>
        <p:spPr>
          <a:xfrm>
            <a:off x="7173124" y="3825365"/>
            <a:ext cx="3611122" cy="583565"/>
          </a:xfrm>
          <a:prstGeom prst="rect">
            <a:avLst/>
          </a:prstGeom>
          <a:noFill/>
        </p:spPr>
        <p:txBody>
          <a:bodyPr wrap="square" rtlCol="0">
            <a:spAutoFit/>
          </a:bodyPr>
          <a:lstStyle/>
          <a:p>
            <a:r>
              <a:rPr lang="zh-CN" altLang="en-US" sz="3200" dirty="0">
                <a:solidFill>
                  <a:srgbClr val="768394">
                    <a:lumMod val="75000"/>
                  </a:srgbClr>
                </a:solidFill>
                <a:latin typeface="Arial" panose="020B0604020202020204"/>
                <a:ea typeface="微软雅黑" panose="020B0503020204020204" pitchFamily="34" charset="-122"/>
                <a:cs typeface="+mn-ea"/>
                <a:sym typeface="+mn-lt"/>
              </a:rPr>
              <a:t>项目</a:t>
            </a:r>
            <a:r>
              <a:rPr lang="zh-CN" altLang="en-US" sz="3200" dirty="0">
                <a:solidFill>
                  <a:srgbClr val="768394">
                    <a:lumMod val="75000"/>
                  </a:srgbClr>
                </a:solidFill>
                <a:latin typeface="Arial" panose="020B0604020202020204"/>
                <a:ea typeface="微软雅黑" panose="020B0503020204020204" pitchFamily="34" charset="-122"/>
                <a:cs typeface="+mn-ea"/>
                <a:sym typeface="+mn-lt"/>
              </a:rPr>
              <a:t>进展</a:t>
            </a:r>
            <a:endParaRPr lang="zh-CN" altLang="en-US" sz="3200" dirty="0">
              <a:solidFill>
                <a:srgbClr val="768394">
                  <a:lumMod val="75000"/>
                </a:srgbClr>
              </a:solidFill>
              <a:latin typeface="Arial" panose="020B0604020202020204"/>
              <a:ea typeface="微软雅黑" panose="020B0503020204020204" pitchFamily="34" charset="-122"/>
              <a:cs typeface="+mn-ea"/>
              <a:sym typeface="+mn-lt"/>
            </a:endParaRPr>
          </a:p>
        </p:txBody>
      </p:sp>
      <p:cxnSp>
        <p:nvCxnSpPr>
          <p:cNvPr id="144" name="PA-直接连接符 25"/>
          <p:cNvCxnSpPr/>
          <p:nvPr/>
        </p:nvCxnSpPr>
        <p:spPr>
          <a:xfrm flipV="1">
            <a:off x="5565474" y="4867219"/>
            <a:ext cx="628650" cy="358139"/>
          </a:xfrm>
          <a:prstGeom prst="line">
            <a:avLst/>
          </a:prstGeom>
          <a:noFill/>
          <a:ln w="57150" cap="rnd" cmpd="sng" algn="ctr">
            <a:gradFill>
              <a:gsLst>
                <a:gs pos="0">
                  <a:srgbClr val="FFFFFF">
                    <a:alpha val="77000"/>
                  </a:srgbClr>
                </a:gs>
                <a:gs pos="100000">
                  <a:srgbClr val="014B30"/>
                </a:gs>
              </a:gsLst>
              <a:lin ang="5400000" scaled="1"/>
            </a:gradFill>
            <a:prstDash val="solid"/>
            <a:round/>
          </a:ln>
          <a:effectLst/>
        </p:spPr>
      </p:cxnSp>
      <p:cxnSp>
        <p:nvCxnSpPr>
          <p:cNvPr id="145" name="PA-直接连接符 26"/>
          <p:cNvCxnSpPr/>
          <p:nvPr/>
        </p:nvCxnSpPr>
        <p:spPr>
          <a:xfrm flipV="1">
            <a:off x="6108366" y="5945110"/>
            <a:ext cx="1149834" cy="616027"/>
          </a:xfrm>
          <a:prstGeom prst="line">
            <a:avLst/>
          </a:prstGeom>
          <a:noFill/>
          <a:ln w="63500" cap="rnd" cmpd="sng" algn="ctr">
            <a:gradFill>
              <a:gsLst>
                <a:gs pos="0">
                  <a:srgbClr val="FFFFFF">
                    <a:alpha val="0"/>
                  </a:srgbClr>
                </a:gs>
                <a:gs pos="70000">
                  <a:srgbClr val="014B30"/>
                </a:gs>
              </a:gsLst>
              <a:lin ang="5400000" scaled="1"/>
            </a:gradFill>
            <a:prstDash val="solid"/>
            <a:round/>
          </a:ln>
          <a:effectLst/>
        </p:spPr>
      </p:cxnSp>
      <p:cxnSp>
        <p:nvCxnSpPr>
          <p:cNvPr id="146" name="PA-直接连接符 31"/>
          <p:cNvCxnSpPr/>
          <p:nvPr>
            <p:custDataLst>
              <p:tags r:id="rId16"/>
            </p:custDataLst>
          </p:nvPr>
        </p:nvCxnSpPr>
        <p:spPr>
          <a:xfrm flipV="1">
            <a:off x="7646099" y="4596709"/>
            <a:ext cx="315585" cy="179789"/>
          </a:xfrm>
          <a:prstGeom prst="line">
            <a:avLst/>
          </a:prstGeom>
          <a:noFill/>
          <a:ln w="69850" cap="rnd" cmpd="sng" algn="ctr">
            <a:gradFill>
              <a:gsLst>
                <a:gs pos="0">
                  <a:srgbClr val="FFFFFF">
                    <a:alpha val="77000"/>
                  </a:srgbClr>
                </a:gs>
                <a:gs pos="100000">
                  <a:srgbClr val="014B30"/>
                </a:gs>
              </a:gsLst>
              <a:lin ang="5400000" scaled="1"/>
            </a:gradFill>
            <a:prstDash val="solid"/>
            <a:round/>
          </a:ln>
          <a:effectLst/>
        </p:spPr>
      </p:cxnSp>
      <p:cxnSp>
        <p:nvCxnSpPr>
          <p:cNvPr id="147" name="PA-直接连接符 33"/>
          <p:cNvCxnSpPr/>
          <p:nvPr/>
        </p:nvCxnSpPr>
        <p:spPr>
          <a:xfrm flipV="1">
            <a:off x="6970741" y="5579561"/>
            <a:ext cx="574917" cy="277128"/>
          </a:xfrm>
          <a:prstGeom prst="line">
            <a:avLst/>
          </a:prstGeom>
          <a:noFill/>
          <a:ln w="47625" cap="rnd" cmpd="sng" algn="ctr">
            <a:gradFill>
              <a:gsLst>
                <a:gs pos="0">
                  <a:srgbClr val="FFFFFF">
                    <a:alpha val="0"/>
                  </a:srgbClr>
                </a:gs>
                <a:gs pos="100000">
                  <a:srgbClr val="014B30"/>
                </a:gs>
              </a:gsLst>
              <a:lin ang="5400000" scaled="1"/>
            </a:gradFill>
            <a:prstDash val="solid"/>
            <a:round/>
          </a:ln>
          <a:effectLst/>
        </p:spPr>
      </p:cxnSp>
      <p:cxnSp>
        <p:nvCxnSpPr>
          <p:cNvPr id="148" name="PA-直接连接符 36"/>
          <p:cNvCxnSpPr/>
          <p:nvPr/>
        </p:nvCxnSpPr>
        <p:spPr>
          <a:xfrm flipH="1">
            <a:off x="9035548" y="2496875"/>
            <a:ext cx="301333" cy="171668"/>
          </a:xfrm>
          <a:prstGeom prst="line">
            <a:avLst/>
          </a:prstGeom>
          <a:noFill/>
          <a:ln w="47625" cap="rnd" cmpd="sng" algn="ctr">
            <a:gradFill>
              <a:gsLst>
                <a:gs pos="0">
                  <a:srgbClr val="FFFFFF">
                    <a:alpha val="74000"/>
                  </a:srgbClr>
                </a:gs>
                <a:gs pos="100000">
                  <a:srgbClr val="014B30"/>
                </a:gs>
              </a:gsLst>
              <a:lin ang="5400000" scaled="1"/>
            </a:gradFill>
            <a:prstDash val="solid"/>
            <a:round/>
          </a:ln>
          <a:effectLst/>
        </p:spPr>
      </p:cxnSp>
      <p:grpSp>
        <p:nvGrpSpPr>
          <p:cNvPr id="149" name="组合 23"/>
          <p:cNvGrpSpPr/>
          <p:nvPr/>
        </p:nvGrpSpPr>
        <p:grpSpPr>
          <a:xfrm>
            <a:off x="357611" y="1592658"/>
            <a:ext cx="4378398" cy="3207306"/>
            <a:chOff x="1043940" y="2140627"/>
            <a:chExt cx="4000500" cy="2930484"/>
          </a:xfrm>
        </p:grpSpPr>
        <p:sp>
          <p:nvSpPr>
            <p:cNvPr id="150" name="PA-右中括号 1"/>
            <p:cNvSpPr/>
            <p:nvPr/>
          </p:nvSpPr>
          <p:spPr>
            <a:xfrm rot="16200000">
              <a:off x="2712720" y="1310047"/>
              <a:ext cx="662940" cy="2324100"/>
            </a:xfrm>
            <a:prstGeom prst="rightBracket">
              <a:avLst>
                <a:gd name="adj" fmla="val 0"/>
              </a:avLst>
            </a:prstGeom>
            <a:noFill/>
            <a:ln w="38100" cap="flat" cmpd="sng" algn="ctr">
              <a:solidFill>
                <a:srgbClr val="FFFFFF"/>
              </a:solidFill>
              <a:prstDash val="solid"/>
              <a:miter lim="800000"/>
            </a:ln>
            <a:effectLst/>
          </p:spPr>
          <p:txBody>
            <a:bodyPr rtlCol="0" anchor="ctr"/>
            <a:lstStyle/>
            <a:p>
              <a:pPr algn="ctr">
                <a:defRPr/>
              </a:pPr>
              <a:endParaRPr lang="zh-CN" altLang="en-US" kern="0" dirty="0">
                <a:solidFill>
                  <a:srgbClr val="000000"/>
                </a:solidFill>
                <a:latin typeface="Arial" panose="020B0604020202020204"/>
                <a:ea typeface="微软雅黑" panose="020B0503020204020204" pitchFamily="34" charset="-122"/>
                <a:cs typeface="+mn-ea"/>
                <a:sym typeface="+mn-lt"/>
              </a:endParaRPr>
            </a:p>
          </p:txBody>
        </p:sp>
        <p:sp>
          <p:nvSpPr>
            <p:cNvPr id="151" name="PA-右中括号 3"/>
            <p:cNvSpPr/>
            <p:nvPr/>
          </p:nvSpPr>
          <p:spPr>
            <a:xfrm rot="5400000" flipV="1">
              <a:off x="2712720" y="3577591"/>
              <a:ext cx="662940" cy="2324100"/>
            </a:xfrm>
            <a:prstGeom prst="rightBracket">
              <a:avLst>
                <a:gd name="adj" fmla="val 0"/>
              </a:avLst>
            </a:prstGeom>
            <a:noFill/>
            <a:ln w="38100" cap="flat" cmpd="sng" algn="ctr">
              <a:solidFill>
                <a:srgbClr val="FFFFFF"/>
              </a:solidFill>
              <a:prstDash val="solid"/>
              <a:miter lim="800000"/>
            </a:ln>
            <a:effectLst/>
          </p:spPr>
          <p:txBody>
            <a:bodyPr rtlCol="0" anchor="ctr"/>
            <a:lstStyle/>
            <a:p>
              <a:pPr algn="ctr">
                <a:defRPr/>
              </a:pPr>
              <a:endParaRPr lang="zh-CN" altLang="en-US" kern="0">
                <a:solidFill>
                  <a:srgbClr val="000000"/>
                </a:solidFill>
                <a:latin typeface="Arial" panose="020B0604020202020204"/>
                <a:ea typeface="微软雅黑" panose="020B0503020204020204" pitchFamily="34" charset="-122"/>
                <a:cs typeface="+mn-ea"/>
                <a:sym typeface="+mn-lt"/>
              </a:endParaRPr>
            </a:p>
          </p:txBody>
        </p:sp>
        <p:sp>
          <p:nvSpPr>
            <p:cNvPr id="152" name="PA-矩形 4"/>
            <p:cNvSpPr/>
            <p:nvPr/>
          </p:nvSpPr>
          <p:spPr>
            <a:xfrm>
              <a:off x="1043940" y="2951479"/>
              <a:ext cx="4000500" cy="1087120"/>
            </a:xfrm>
            <a:prstGeom prst="rect">
              <a:avLst/>
            </a:prstGeom>
            <a:solidFill>
              <a:srgbClr val="FFFFFF">
                <a:alpha val="35000"/>
              </a:srgbClr>
            </a:solidFill>
            <a:ln w="12700" cap="flat" cmpd="sng" algn="ctr">
              <a:gradFill>
                <a:gsLst>
                  <a:gs pos="0">
                    <a:srgbClr val="00723E">
                      <a:lumMod val="5000"/>
                      <a:lumOff val="95000"/>
                    </a:srgbClr>
                  </a:gs>
                  <a:gs pos="69400">
                    <a:srgbClr val="FAFFFD">
                      <a:alpha val="33000"/>
                    </a:srgbClr>
                  </a:gs>
                  <a:gs pos="32000">
                    <a:srgbClr val="F3FFFA">
                      <a:alpha val="0"/>
                    </a:srgbClr>
                  </a:gs>
                  <a:gs pos="100000">
                    <a:srgbClr val="FFFFFF">
                      <a:alpha val="94000"/>
                    </a:srgbClr>
                  </a:gs>
                </a:gsLst>
                <a:lin ang="5400000" scaled="1"/>
              </a:gradFill>
              <a:prstDash val="solid"/>
              <a:miter lim="800000"/>
            </a:ln>
            <a:effectLst/>
          </p:spPr>
          <p:txBody>
            <a:bodyPr rtlCol="0" anchor="ctr"/>
            <a:lstStyle/>
            <a:p>
              <a:pPr algn="ctr">
                <a:defRPr/>
              </a:pPr>
              <a:endParaRPr lang="zh-CN" altLang="en-US" kern="0">
                <a:solidFill>
                  <a:srgbClr val="FFFFFF"/>
                </a:solidFill>
                <a:latin typeface="Arial" panose="020B0604020202020204"/>
                <a:ea typeface="微软雅黑" panose="020B0503020204020204" pitchFamily="34" charset="-122"/>
                <a:cs typeface="+mn-ea"/>
                <a:sym typeface="+mn-lt"/>
              </a:endParaRPr>
            </a:p>
          </p:txBody>
        </p:sp>
        <p:sp>
          <p:nvSpPr>
            <p:cNvPr id="153" name="PA-文本框 5"/>
            <p:cNvSpPr txBox="1"/>
            <p:nvPr/>
          </p:nvSpPr>
          <p:spPr>
            <a:xfrm>
              <a:off x="1993900" y="2986360"/>
              <a:ext cx="2100580" cy="1168466"/>
            </a:xfrm>
            <a:prstGeom prst="rect">
              <a:avLst/>
            </a:prstGeom>
            <a:noFill/>
          </p:spPr>
          <p:txBody>
            <a:bodyPr wrap="square" rtlCol="0">
              <a:spAutoFit/>
            </a:bodyPr>
            <a:lstStyle/>
            <a:p>
              <a:pPr algn="dist">
                <a:defRPr/>
              </a:pPr>
              <a:r>
                <a:rPr lang="zh-CN" altLang="en-US" sz="6600" b="1" kern="0" dirty="0">
                  <a:solidFill>
                    <a:srgbClr val="FFFFFF"/>
                  </a:solidFill>
                  <a:latin typeface="Arial" panose="020B0604020202020204"/>
                  <a:ea typeface="微软雅黑" panose="020B0503020204020204" pitchFamily="34" charset="-122"/>
                  <a:cs typeface="+mn-ea"/>
                  <a:sym typeface="+mn-lt"/>
                </a:rPr>
                <a:t>目录</a:t>
              </a:r>
              <a:endParaRPr lang="zh-CN" altLang="en-US" sz="6600" b="1" kern="0" dirty="0">
                <a:solidFill>
                  <a:srgbClr val="FFFFFF"/>
                </a:solidFill>
                <a:latin typeface="Arial" panose="020B0604020202020204"/>
                <a:ea typeface="微软雅黑" panose="020B0503020204020204" pitchFamily="34" charset="-122"/>
                <a:cs typeface="+mn-ea"/>
                <a:sym typeface="+mn-lt"/>
              </a:endParaRPr>
            </a:p>
          </p:txBody>
        </p:sp>
        <p:sp>
          <p:nvSpPr>
            <p:cNvPr id="154" name="PA-文本框 6"/>
            <p:cNvSpPr txBox="1"/>
            <p:nvPr/>
          </p:nvSpPr>
          <p:spPr>
            <a:xfrm>
              <a:off x="2094230" y="4223504"/>
              <a:ext cx="1899920" cy="369332"/>
            </a:xfrm>
            <a:prstGeom prst="rect">
              <a:avLst/>
            </a:prstGeom>
            <a:noFill/>
          </p:spPr>
          <p:txBody>
            <a:bodyPr wrap="square" rtlCol="0">
              <a:spAutoFit/>
            </a:bodyPr>
            <a:lstStyle/>
            <a:p>
              <a:pPr algn="dist">
                <a:defRPr/>
              </a:pPr>
              <a:r>
                <a:rPr lang="en-US" altLang="zh-CN" kern="0" dirty="0">
                  <a:solidFill>
                    <a:srgbClr val="FFFFFF"/>
                  </a:solidFill>
                  <a:latin typeface="Arial" panose="020B0604020202020204"/>
                  <a:ea typeface="微软雅黑" panose="020B0503020204020204" pitchFamily="34" charset="-122"/>
                  <a:cs typeface="+mn-ea"/>
                  <a:sym typeface="+mn-lt"/>
                </a:rPr>
                <a:t>CONTEXT</a:t>
              </a:r>
              <a:endParaRPr lang="zh-CN" altLang="en-US" kern="0" dirty="0">
                <a:solidFill>
                  <a:srgbClr val="FFFFFF"/>
                </a:solidFill>
                <a:latin typeface="Arial" panose="020B0604020202020204"/>
                <a:ea typeface="微软雅黑" panose="020B0503020204020204" pitchFamily="34" charset="-122"/>
                <a:cs typeface="+mn-ea"/>
                <a:sym typeface="+mn-lt"/>
              </a:endParaRPr>
            </a:p>
          </p:txBody>
        </p:sp>
        <p:cxnSp>
          <p:nvCxnSpPr>
            <p:cNvPr id="155" name="PA-直接连接符 42"/>
            <p:cNvCxnSpPr/>
            <p:nvPr/>
          </p:nvCxnSpPr>
          <p:spPr>
            <a:xfrm>
              <a:off x="2170176" y="4174352"/>
              <a:ext cx="1737360" cy="0"/>
            </a:xfrm>
            <a:prstGeom prst="line">
              <a:avLst/>
            </a:prstGeom>
            <a:noFill/>
            <a:ln w="9525" cap="flat" cmpd="sng" algn="ctr">
              <a:solidFill>
                <a:srgbClr val="FFFFFF"/>
              </a:solidFill>
              <a:prstDash val="solid"/>
              <a:miter lim="800000"/>
            </a:ln>
            <a:effectLst/>
          </p:spPr>
        </p:cxnSp>
        <p:grpSp>
          <p:nvGrpSpPr>
            <p:cNvPr id="156" name="PA-组合 54"/>
            <p:cNvGrpSpPr/>
            <p:nvPr/>
          </p:nvGrpSpPr>
          <p:grpSpPr>
            <a:xfrm>
              <a:off x="4200650" y="3381742"/>
              <a:ext cx="221996" cy="292636"/>
              <a:chOff x="4206240" y="3385284"/>
              <a:chExt cx="221996" cy="292636"/>
            </a:xfrm>
          </p:grpSpPr>
          <p:cxnSp>
            <p:nvCxnSpPr>
              <p:cNvPr id="157" name="PA-直接连接符 47"/>
              <p:cNvCxnSpPr/>
              <p:nvPr/>
            </p:nvCxnSpPr>
            <p:spPr>
              <a:xfrm>
                <a:off x="4206240" y="3385284"/>
                <a:ext cx="0" cy="292636"/>
              </a:xfrm>
              <a:prstGeom prst="line">
                <a:avLst/>
              </a:prstGeom>
              <a:noFill/>
              <a:ln w="22225" cap="rnd" cmpd="sng" algn="ctr">
                <a:solidFill>
                  <a:srgbClr val="FFFFFF"/>
                </a:solidFill>
                <a:prstDash val="solid"/>
                <a:miter lim="800000"/>
              </a:ln>
              <a:effectLst/>
            </p:spPr>
          </p:cxnSp>
          <p:cxnSp>
            <p:nvCxnSpPr>
              <p:cNvPr id="158" name="PA-直接连接符 48"/>
              <p:cNvCxnSpPr/>
              <p:nvPr/>
            </p:nvCxnSpPr>
            <p:spPr>
              <a:xfrm>
                <a:off x="4322064" y="3429000"/>
                <a:ext cx="0" cy="198120"/>
              </a:xfrm>
              <a:prstGeom prst="line">
                <a:avLst/>
              </a:prstGeom>
              <a:noFill/>
              <a:ln w="22225" cap="rnd" cmpd="sng" algn="ctr">
                <a:solidFill>
                  <a:srgbClr val="FFFFFF"/>
                </a:solidFill>
                <a:prstDash val="solid"/>
                <a:miter lim="800000"/>
              </a:ln>
              <a:effectLst/>
            </p:spPr>
          </p:cxnSp>
          <p:cxnSp>
            <p:nvCxnSpPr>
              <p:cNvPr id="159" name="PA-直接连接符 49"/>
              <p:cNvCxnSpPr/>
              <p:nvPr/>
            </p:nvCxnSpPr>
            <p:spPr>
              <a:xfrm>
                <a:off x="4428236" y="3459480"/>
                <a:ext cx="0" cy="144561"/>
              </a:xfrm>
              <a:prstGeom prst="line">
                <a:avLst/>
              </a:prstGeom>
              <a:noFill/>
              <a:ln w="22225" cap="rnd" cmpd="sng" algn="ctr">
                <a:solidFill>
                  <a:srgbClr val="FFFFFF"/>
                </a:solidFill>
                <a:prstDash val="solid"/>
                <a:miter lim="800000"/>
              </a:ln>
              <a:effectLst/>
            </p:spPr>
          </p:cxnSp>
        </p:grpSp>
        <p:grpSp>
          <p:nvGrpSpPr>
            <p:cNvPr id="160" name="PA-组合 55"/>
            <p:cNvGrpSpPr/>
            <p:nvPr/>
          </p:nvGrpSpPr>
          <p:grpSpPr>
            <a:xfrm flipH="1">
              <a:off x="1665733" y="3381742"/>
              <a:ext cx="221996" cy="292636"/>
              <a:chOff x="4206240" y="3385284"/>
              <a:chExt cx="221996" cy="292636"/>
            </a:xfrm>
          </p:grpSpPr>
          <p:cxnSp>
            <p:nvCxnSpPr>
              <p:cNvPr id="161" name="PA-直接连接符 56"/>
              <p:cNvCxnSpPr/>
              <p:nvPr/>
            </p:nvCxnSpPr>
            <p:spPr>
              <a:xfrm>
                <a:off x="4206240" y="3385284"/>
                <a:ext cx="0" cy="292636"/>
              </a:xfrm>
              <a:prstGeom prst="line">
                <a:avLst/>
              </a:prstGeom>
              <a:noFill/>
              <a:ln w="22225" cap="rnd" cmpd="sng" algn="ctr">
                <a:solidFill>
                  <a:srgbClr val="FFFFFF"/>
                </a:solidFill>
                <a:prstDash val="solid"/>
                <a:miter lim="800000"/>
              </a:ln>
              <a:effectLst/>
            </p:spPr>
          </p:cxnSp>
          <p:cxnSp>
            <p:nvCxnSpPr>
              <p:cNvPr id="162" name="PA-直接连接符 57"/>
              <p:cNvCxnSpPr/>
              <p:nvPr/>
            </p:nvCxnSpPr>
            <p:spPr>
              <a:xfrm>
                <a:off x="4322064" y="3429000"/>
                <a:ext cx="0" cy="198120"/>
              </a:xfrm>
              <a:prstGeom prst="line">
                <a:avLst/>
              </a:prstGeom>
              <a:noFill/>
              <a:ln w="22225" cap="rnd" cmpd="sng" algn="ctr">
                <a:solidFill>
                  <a:srgbClr val="FFFFFF"/>
                </a:solidFill>
                <a:prstDash val="solid"/>
                <a:miter lim="800000"/>
              </a:ln>
              <a:effectLst/>
            </p:spPr>
          </p:cxnSp>
          <p:cxnSp>
            <p:nvCxnSpPr>
              <p:cNvPr id="163" name="PA-直接连接符 58"/>
              <p:cNvCxnSpPr/>
              <p:nvPr/>
            </p:nvCxnSpPr>
            <p:spPr>
              <a:xfrm>
                <a:off x="4428236" y="3459480"/>
                <a:ext cx="0" cy="144561"/>
              </a:xfrm>
              <a:prstGeom prst="line">
                <a:avLst/>
              </a:prstGeom>
              <a:noFill/>
              <a:ln w="22225" cap="rnd" cmpd="sng" algn="ctr">
                <a:solidFill>
                  <a:srgbClr val="FFFFFF"/>
                </a:solidFill>
                <a:prstDash val="solid"/>
                <a:miter lim="800000"/>
              </a:ln>
              <a:effectLst/>
            </p:spPr>
          </p:cxnSp>
        </p:grpSp>
      </p:grpSp>
      <p:pic>
        <p:nvPicPr>
          <p:cNvPr id="164" name="图片 38"/>
          <p:cNvPicPr>
            <a:picLocks noChangeAspect="1"/>
          </p:cNvPicPr>
          <p:nvPr/>
        </p:nvPicPr>
        <p:blipFill>
          <a:blip r:embed="rId17"/>
          <a:srcRect/>
          <a:stretch>
            <a:fillRect/>
          </a:stretch>
        </p:blipFill>
        <p:spPr>
          <a:xfrm>
            <a:off x="9627257" y="6396953"/>
            <a:ext cx="2293308" cy="317350"/>
          </a:xfrm>
          <a:prstGeom prst="rect">
            <a:avLst/>
          </a:prstGeom>
        </p:spPr>
      </p:pic>
      <p:grpSp>
        <p:nvGrpSpPr>
          <p:cNvPr id="165" name="组合 39"/>
          <p:cNvGrpSpPr/>
          <p:nvPr/>
        </p:nvGrpSpPr>
        <p:grpSpPr>
          <a:xfrm>
            <a:off x="9479461" y="192898"/>
            <a:ext cx="2487599" cy="771929"/>
            <a:chOff x="4077923" y="171807"/>
            <a:chExt cx="4420435" cy="1371709"/>
          </a:xfrm>
        </p:grpSpPr>
        <p:grpSp>
          <p:nvGrpSpPr>
            <p:cNvPr id="166" name="组合 40"/>
            <p:cNvGrpSpPr/>
            <p:nvPr/>
          </p:nvGrpSpPr>
          <p:grpSpPr>
            <a:xfrm>
              <a:off x="4077923" y="171807"/>
              <a:ext cx="4260493" cy="1371709"/>
              <a:chOff x="6331308" y="1189619"/>
              <a:chExt cx="5481392" cy="1764794"/>
            </a:xfrm>
          </p:grpSpPr>
          <p:pic>
            <p:nvPicPr>
              <p:cNvPr id="167" name="图片 42"/>
              <p:cNvPicPr>
                <a:picLocks noChangeAspect="1"/>
              </p:cNvPicPr>
              <p:nvPr/>
            </p:nvPicPr>
            <p:blipFill>
              <a:blip r:embed="rId18"/>
              <a:srcRect/>
              <a:stretch>
                <a:fillRect/>
              </a:stretch>
            </p:blipFill>
            <p:spPr>
              <a:xfrm>
                <a:off x="6331308" y="1189619"/>
                <a:ext cx="1791803" cy="1764794"/>
              </a:xfrm>
              <a:prstGeom prst="rect">
                <a:avLst/>
              </a:prstGeom>
            </p:spPr>
          </p:pic>
          <p:pic>
            <p:nvPicPr>
              <p:cNvPr id="168" name="图片 43"/>
              <p:cNvPicPr>
                <a:picLocks noChangeAspect="1"/>
              </p:cNvPicPr>
              <p:nvPr/>
            </p:nvPicPr>
            <p:blipFill>
              <a:blip r:embed="rId19"/>
              <a:srcRect/>
              <a:stretch>
                <a:fillRect/>
              </a:stretch>
            </p:blipFill>
            <p:spPr>
              <a:xfrm>
                <a:off x="8302517" y="1422328"/>
                <a:ext cx="3510183" cy="965303"/>
              </a:xfrm>
              <a:prstGeom prst="rect">
                <a:avLst/>
              </a:prstGeom>
            </p:spPr>
          </p:pic>
        </p:grpSp>
        <p:sp>
          <p:nvSpPr>
            <p:cNvPr id="169" name="矩形 41"/>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sp>
        <p:nvSpPr>
          <p:cNvPr id="170" name="PA-文本框 23"/>
          <p:cNvSpPr txBox="1"/>
          <p:nvPr>
            <p:custDataLst>
              <p:tags r:id="rId20"/>
            </p:custDataLst>
          </p:nvPr>
        </p:nvSpPr>
        <p:spPr>
          <a:xfrm>
            <a:off x="7173123" y="4800473"/>
            <a:ext cx="3611122" cy="583565"/>
          </a:xfrm>
          <a:prstGeom prst="rect">
            <a:avLst/>
          </a:prstGeom>
          <a:noFill/>
        </p:spPr>
        <p:txBody>
          <a:bodyPr wrap="square" rtlCol="0">
            <a:spAutoFit/>
          </a:bodyPr>
          <a:lstStyle/>
          <a:p>
            <a:r>
              <a:rPr lang="zh-CN" altLang="en-US" sz="3200" dirty="0">
                <a:solidFill>
                  <a:srgbClr val="768394">
                    <a:lumMod val="75000"/>
                  </a:srgbClr>
                </a:solidFill>
                <a:latin typeface="Arial" panose="020B0604020202020204"/>
                <a:ea typeface="微软雅黑" panose="020B0503020204020204" pitchFamily="34" charset="-122"/>
                <a:cs typeface="+mn-ea"/>
                <a:sym typeface="+mn-lt"/>
              </a:rPr>
              <a:t>总结</a:t>
            </a:r>
            <a:r>
              <a:rPr lang="zh-CN" altLang="en-US" sz="3200" dirty="0">
                <a:solidFill>
                  <a:srgbClr val="768394">
                    <a:lumMod val="75000"/>
                  </a:srgbClr>
                </a:solidFill>
                <a:latin typeface="Arial" panose="020B0604020202020204"/>
                <a:ea typeface="微软雅黑" panose="020B0503020204020204" pitchFamily="34" charset="-122"/>
                <a:cs typeface="+mn-ea"/>
                <a:sym typeface="+mn-lt"/>
              </a:rPr>
              <a:t>展望</a:t>
            </a:r>
            <a:endParaRPr lang="zh-CN" altLang="en-US" sz="3200" dirty="0">
              <a:solidFill>
                <a:srgbClr val="768394">
                  <a:lumMod val="75000"/>
                </a:srgbClr>
              </a:solidFill>
              <a:latin typeface="Arial" panose="020B0604020202020204"/>
              <a:ea typeface="微软雅黑" panose="020B0503020204020204" pitchFamily="34" charset="-122"/>
              <a:cs typeface="+mn-ea"/>
              <a:sym typeface="+mn-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任意多边形 9"/>
          <p:cNvSpPr/>
          <p:nvPr/>
        </p:nvSpPr>
        <p:spPr>
          <a:xfrm rot="19740000">
            <a:off x="-2280399" y="-122827"/>
            <a:ext cx="4768982" cy="7335937"/>
          </a:xfrm>
          <a:custGeom>
            <a:avLst/>
            <a:gdLst/>
            <a:ahLst/>
            <a:cxnLst>
              <a:cxn ang="3">
                <a:pos x="hc" y="t"/>
              </a:cxn>
              <a:cxn ang="cd2">
                <a:pos x="l" y="vc"/>
              </a:cxn>
              <a:cxn ang="cd4">
                <a:pos x="hc" y="b"/>
              </a:cxn>
              <a:cxn ang="0">
                <a:pos x="r" y="vc"/>
              </a:cxn>
            </a:cxnLst>
            <a:rect l="l" t="t" r="r" b="b"/>
            <a:pathLst>
              <a:path w="7510" h="11553">
                <a:moveTo>
                  <a:pt x="6301" y="0"/>
                </a:moveTo>
                <a:lnTo>
                  <a:pt x="7510" y="0"/>
                </a:lnTo>
                <a:lnTo>
                  <a:pt x="7510" y="7861"/>
                </a:lnTo>
                <a:lnTo>
                  <a:pt x="7510" y="7861"/>
                </a:lnTo>
                <a:lnTo>
                  <a:pt x="7510" y="7861"/>
                </a:lnTo>
                <a:lnTo>
                  <a:pt x="7510" y="7863"/>
                </a:lnTo>
                <a:lnTo>
                  <a:pt x="7507" y="7863"/>
                </a:lnTo>
                <a:lnTo>
                  <a:pt x="568" y="11553"/>
                </a:lnTo>
                <a:lnTo>
                  <a:pt x="0" y="10485"/>
                </a:lnTo>
                <a:lnTo>
                  <a:pt x="6301" y="7135"/>
                </a:lnTo>
                <a:lnTo>
                  <a:pt x="6301" y="0"/>
                </a:lnTo>
                <a:close/>
              </a:path>
            </a:pathLst>
          </a:custGeom>
          <a:solidFill>
            <a:srgbClr val="00481C">
              <a:alpha val="5000"/>
            </a:srgbClr>
          </a:solidFill>
          <a:ln>
            <a:solidFill>
              <a:srgbClr val="00481C">
                <a:alpha val="8000"/>
              </a:srgb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1" name="任意多边形 10"/>
          <p:cNvSpPr/>
          <p:nvPr/>
        </p:nvSpPr>
        <p:spPr>
          <a:xfrm rot="19740000">
            <a:off x="-1351394" y="-122827"/>
            <a:ext cx="4768982" cy="7335937"/>
          </a:xfrm>
          <a:custGeom>
            <a:avLst/>
            <a:gdLst/>
            <a:ahLst/>
            <a:cxnLst>
              <a:cxn ang="3">
                <a:pos x="hc" y="t"/>
              </a:cxn>
              <a:cxn ang="cd2">
                <a:pos x="l" y="vc"/>
              </a:cxn>
              <a:cxn ang="cd4">
                <a:pos x="hc" y="b"/>
              </a:cxn>
              <a:cxn ang="0">
                <a:pos x="r" y="vc"/>
              </a:cxn>
            </a:cxnLst>
            <a:rect l="l" t="t" r="r" b="b"/>
            <a:pathLst>
              <a:path w="7510" h="11553">
                <a:moveTo>
                  <a:pt x="6301" y="0"/>
                </a:moveTo>
                <a:lnTo>
                  <a:pt x="7510" y="0"/>
                </a:lnTo>
                <a:lnTo>
                  <a:pt x="7510" y="7861"/>
                </a:lnTo>
                <a:lnTo>
                  <a:pt x="7510" y="7861"/>
                </a:lnTo>
                <a:lnTo>
                  <a:pt x="7510" y="7861"/>
                </a:lnTo>
                <a:lnTo>
                  <a:pt x="7510" y="7863"/>
                </a:lnTo>
                <a:lnTo>
                  <a:pt x="7507" y="7863"/>
                </a:lnTo>
                <a:lnTo>
                  <a:pt x="568" y="11553"/>
                </a:lnTo>
                <a:lnTo>
                  <a:pt x="0" y="10485"/>
                </a:lnTo>
                <a:lnTo>
                  <a:pt x="6301" y="7135"/>
                </a:lnTo>
                <a:lnTo>
                  <a:pt x="6301" y="0"/>
                </a:lnTo>
                <a:close/>
              </a:path>
            </a:pathLst>
          </a:custGeom>
          <a:gradFill>
            <a:gsLst>
              <a:gs pos="0">
                <a:schemeClr val="bg1"/>
              </a:gs>
              <a:gs pos="100000">
                <a:srgbClr val="00481C"/>
              </a:gs>
            </a:gsLst>
            <a:lin ang="22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2" name="标题 1"/>
          <p:cNvSpPr>
            <a:spLocks noGrp="1"/>
          </p:cNvSpPr>
          <p:nvPr>
            <p:ph type="title"/>
          </p:nvPr>
        </p:nvSpPr>
        <p:spPr>
          <a:xfrm>
            <a:off x="5147945" y="1499235"/>
            <a:ext cx="4362450" cy="1325880"/>
          </a:xfrm>
        </p:spPr>
        <p:txBody>
          <a:bodyPr>
            <a:normAutofit fontScale="90000"/>
          </a:bodyPr>
          <a:p>
            <a:r>
              <a:rPr lang="en-US" altLang="zh-CN" sz="8000" b="1">
                <a:solidFill>
                  <a:srgbClr val="00481C"/>
                </a:solidFill>
                <a:latin typeface="Arial" panose="020B0604020202020204" pitchFamily="34" charset="0"/>
                <a:cs typeface="Arial" panose="020B0604020202020204" pitchFamily="34" charset="0"/>
              </a:rPr>
              <a:t>PART </a:t>
            </a:r>
            <a:r>
              <a:rPr lang="en-US" altLang="zh-CN" sz="13335" b="1" i="1">
                <a:solidFill>
                  <a:srgbClr val="00481C"/>
                </a:solidFill>
                <a:latin typeface="Arial" panose="020B0604020202020204" pitchFamily="34" charset="0"/>
                <a:cs typeface="Arial" panose="020B0604020202020204" pitchFamily="34" charset="0"/>
              </a:rPr>
              <a:t>1</a:t>
            </a:r>
            <a:endParaRPr lang="en-US" altLang="zh-CN" sz="13335" b="1" i="1">
              <a:solidFill>
                <a:srgbClr val="00481C"/>
              </a:solidFill>
              <a:latin typeface="Arial" panose="020B0604020202020204" pitchFamily="34" charset="0"/>
              <a:cs typeface="Arial" panose="020B0604020202020204" pitchFamily="34" charset="0"/>
            </a:endParaRPr>
          </a:p>
        </p:txBody>
      </p:sp>
      <p:sp>
        <p:nvSpPr>
          <p:cNvPr id="6" name="任意多边形 5"/>
          <p:cNvSpPr/>
          <p:nvPr/>
        </p:nvSpPr>
        <p:spPr>
          <a:xfrm rot="19740000">
            <a:off x="-3067685" y="-1120140"/>
            <a:ext cx="6064885" cy="9330055"/>
          </a:xfrm>
          <a:custGeom>
            <a:avLst/>
            <a:gdLst/>
            <a:ahLst/>
            <a:cxnLst>
              <a:cxn ang="3">
                <a:pos x="hc" y="t"/>
              </a:cxn>
              <a:cxn ang="cd2">
                <a:pos x="l" y="vc"/>
              </a:cxn>
              <a:cxn ang="cd4">
                <a:pos x="hc" y="b"/>
              </a:cxn>
              <a:cxn ang="0">
                <a:pos x="r" y="vc"/>
              </a:cxn>
            </a:cxnLst>
            <a:rect l="l" t="t" r="r" b="b"/>
            <a:pathLst>
              <a:path w="7510" h="11553">
                <a:moveTo>
                  <a:pt x="6301" y="0"/>
                </a:moveTo>
                <a:lnTo>
                  <a:pt x="7510" y="0"/>
                </a:lnTo>
                <a:lnTo>
                  <a:pt x="7510" y="7861"/>
                </a:lnTo>
                <a:lnTo>
                  <a:pt x="7510" y="7861"/>
                </a:lnTo>
                <a:lnTo>
                  <a:pt x="7510" y="7861"/>
                </a:lnTo>
                <a:lnTo>
                  <a:pt x="7510" y="7863"/>
                </a:lnTo>
                <a:lnTo>
                  <a:pt x="7507" y="7863"/>
                </a:lnTo>
                <a:lnTo>
                  <a:pt x="568" y="11553"/>
                </a:lnTo>
                <a:lnTo>
                  <a:pt x="0" y="10485"/>
                </a:lnTo>
                <a:lnTo>
                  <a:pt x="6301" y="7135"/>
                </a:lnTo>
                <a:lnTo>
                  <a:pt x="6301" y="0"/>
                </a:lnTo>
                <a:close/>
              </a:path>
            </a:pathLst>
          </a:custGeom>
          <a:solidFill>
            <a:srgbClr val="00481C"/>
          </a:solidFill>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cxnSp>
        <p:nvCxnSpPr>
          <p:cNvPr id="12" name="直接连接符 11"/>
          <p:cNvCxnSpPr/>
          <p:nvPr/>
        </p:nvCxnSpPr>
        <p:spPr>
          <a:xfrm flipV="1">
            <a:off x="4452620" y="2860675"/>
            <a:ext cx="5057775" cy="19050"/>
          </a:xfrm>
          <a:prstGeom prst="line">
            <a:avLst/>
          </a:prstGeom>
          <a:ln>
            <a:solidFill>
              <a:srgbClr val="00481C"/>
            </a:solidFill>
          </a:ln>
        </p:spPr>
        <p:style>
          <a:lnRef idx="2">
            <a:schemeClr val="accent1"/>
          </a:lnRef>
          <a:fillRef idx="0">
            <a:srgbClr val="FFFFFF"/>
          </a:fillRef>
          <a:effectRef idx="0">
            <a:srgbClr val="FFFFFF"/>
          </a:effectRef>
          <a:fontRef idx="minor">
            <a:schemeClr val="tx1"/>
          </a:fontRef>
        </p:style>
      </p:cxnSp>
      <p:sp>
        <p:nvSpPr>
          <p:cNvPr id="13" name="文本框 12"/>
          <p:cNvSpPr txBox="1"/>
          <p:nvPr/>
        </p:nvSpPr>
        <p:spPr>
          <a:xfrm>
            <a:off x="5071745" y="3528695"/>
            <a:ext cx="4324350" cy="1198880"/>
          </a:xfrm>
          <a:prstGeom prst="rect">
            <a:avLst/>
          </a:prstGeom>
          <a:noFill/>
        </p:spPr>
        <p:txBody>
          <a:bodyPr wrap="square" rtlCol="0">
            <a:spAutoFit/>
          </a:bodyPr>
          <a:p>
            <a:r>
              <a:rPr lang="zh-CN" altLang="en-US" sz="7200">
                <a:solidFill>
                  <a:srgbClr val="00481C"/>
                </a:solidFill>
                <a:latin typeface="微软雅黑" panose="020B0503020204020204" pitchFamily="34" charset="-122"/>
                <a:ea typeface="微软雅黑" panose="020B0503020204020204" pitchFamily="34" charset="-122"/>
              </a:rPr>
              <a:t>选题背景</a:t>
            </a:r>
            <a:endParaRPr lang="zh-CN" altLang="en-US" sz="7200">
              <a:solidFill>
                <a:srgbClr val="00481C"/>
              </a:solidFill>
              <a:latin typeface="微软雅黑" panose="020B0503020204020204" pitchFamily="34" charset="-122"/>
              <a:ea typeface="微软雅黑" panose="020B0503020204020204" pitchFamily="34" charset="-122"/>
            </a:endParaRPr>
          </a:p>
        </p:txBody>
      </p:sp>
      <p:grpSp>
        <p:nvGrpSpPr>
          <p:cNvPr id="165" name="组合 39"/>
          <p:cNvGrpSpPr/>
          <p:nvPr/>
        </p:nvGrpSpPr>
        <p:grpSpPr>
          <a:xfrm>
            <a:off x="9480096" y="160513"/>
            <a:ext cx="2487599" cy="771929"/>
            <a:chOff x="4077923" y="171807"/>
            <a:chExt cx="4420435" cy="1371709"/>
          </a:xfrm>
        </p:grpSpPr>
        <p:grpSp>
          <p:nvGrpSpPr>
            <p:cNvPr id="166" name="组合 40"/>
            <p:cNvGrpSpPr/>
            <p:nvPr/>
          </p:nvGrpSpPr>
          <p:grpSpPr>
            <a:xfrm>
              <a:off x="4077923" y="171807"/>
              <a:ext cx="4260493" cy="1371709"/>
              <a:chOff x="6331308" y="1189619"/>
              <a:chExt cx="5481392" cy="1764794"/>
            </a:xfrm>
          </p:grpSpPr>
          <p:pic>
            <p:nvPicPr>
              <p:cNvPr id="167" name="图片 42"/>
              <p:cNvPicPr>
                <a:picLocks noChangeAspect="1"/>
              </p:cNvPicPr>
              <p:nvPr/>
            </p:nvPicPr>
            <p:blipFill>
              <a:blip r:embed="rId1"/>
              <a:srcRect/>
              <a:stretch>
                <a:fillRect/>
              </a:stretch>
            </p:blipFill>
            <p:spPr>
              <a:xfrm>
                <a:off x="6331308" y="1189619"/>
                <a:ext cx="1791803" cy="1764794"/>
              </a:xfrm>
              <a:prstGeom prst="rect">
                <a:avLst/>
              </a:prstGeom>
            </p:spPr>
          </p:pic>
          <p:pic>
            <p:nvPicPr>
              <p:cNvPr id="168" name="图片 43"/>
              <p:cNvPicPr>
                <a:picLocks noChangeAspect="1"/>
              </p:cNvPicPr>
              <p:nvPr/>
            </p:nvPicPr>
            <p:blipFill>
              <a:blip r:embed="rId2"/>
              <a:srcRect/>
              <a:stretch>
                <a:fillRect/>
              </a:stretch>
            </p:blipFill>
            <p:spPr>
              <a:xfrm>
                <a:off x="8302517" y="1422328"/>
                <a:ext cx="3510183" cy="965303"/>
              </a:xfrm>
              <a:prstGeom prst="rect">
                <a:avLst/>
              </a:prstGeom>
            </p:spPr>
          </p:pic>
        </p:grpSp>
        <p:sp>
          <p:nvSpPr>
            <p:cNvPr id="169" name="矩形 41"/>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grpSp>
        <p:nvGrpSpPr>
          <p:cNvPr id="20" name="组合 19"/>
          <p:cNvGrpSpPr/>
          <p:nvPr/>
        </p:nvGrpSpPr>
        <p:grpSpPr>
          <a:xfrm>
            <a:off x="10212705" y="5683885"/>
            <a:ext cx="1419225" cy="768350"/>
            <a:chOff x="15240" y="8543"/>
            <a:chExt cx="2235" cy="1210"/>
          </a:xfrm>
        </p:grpSpPr>
        <p:sp>
          <p:nvSpPr>
            <p:cNvPr id="14" name="矩形 13"/>
            <p:cNvSpPr/>
            <p:nvPr/>
          </p:nvSpPr>
          <p:spPr>
            <a:xfrm>
              <a:off x="16458" y="8543"/>
              <a:ext cx="409" cy="408"/>
            </a:xfrm>
            <a:prstGeom prst="rect">
              <a:avLst/>
            </a:prstGeom>
            <a:solidFill>
              <a:srgbClr val="00481C">
                <a:alpha val="5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5" name="矩形 14"/>
            <p:cNvSpPr/>
            <p:nvPr/>
          </p:nvSpPr>
          <p:spPr>
            <a:xfrm>
              <a:off x="17067" y="8543"/>
              <a:ext cx="409" cy="408"/>
            </a:xfrm>
            <a:prstGeom prst="rect">
              <a:avLst/>
            </a:prstGeom>
            <a:solidFill>
              <a:srgbClr val="00481C">
                <a:alpha val="36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6" name="矩形 15"/>
            <p:cNvSpPr/>
            <p:nvPr/>
          </p:nvSpPr>
          <p:spPr>
            <a:xfrm>
              <a:off x="17067" y="9345"/>
              <a:ext cx="409" cy="408"/>
            </a:xfrm>
            <a:prstGeom prst="rect">
              <a:avLst/>
            </a:prstGeom>
            <a:solidFill>
              <a:srgbClr val="00481C">
                <a:alpha val="89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7" name="矩形 16"/>
            <p:cNvSpPr/>
            <p:nvPr/>
          </p:nvSpPr>
          <p:spPr>
            <a:xfrm>
              <a:off x="16458" y="9345"/>
              <a:ext cx="409" cy="408"/>
            </a:xfrm>
            <a:prstGeom prst="rect">
              <a:avLst/>
            </a:prstGeom>
            <a:solidFill>
              <a:srgbClr val="00481C">
                <a:alpha val="64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8" name="矩形 17"/>
            <p:cNvSpPr/>
            <p:nvPr/>
          </p:nvSpPr>
          <p:spPr>
            <a:xfrm>
              <a:off x="15849" y="9345"/>
              <a:ext cx="409" cy="408"/>
            </a:xfrm>
            <a:prstGeom prst="rect">
              <a:avLst/>
            </a:prstGeom>
            <a:solidFill>
              <a:srgbClr val="00481C">
                <a:alpha val="7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9" name="矩形 18"/>
            <p:cNvSpPr/>
            <p:nvPr/>
          </p:nvSpPr>
          <p:spPr>
            <a:xfrm>
              <a:off x="15240" y="9345"/>
              <a:ext cx="409" cy="408"/>
            </a:xfrm>
            <a:prstGeom prst="rect">
              <a:avLst/>
            </a:prstGeom>
            <a:solidFill>
              <a:srgbClr val="00481C">
                <a:alpha val="2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3859"/>
            <a:ext cx="12219295" cy="1013221"/>
            <a:chOff x="-128871" y="-71960"/>
            <a:chExt cx="12219295" cy="1013221"/>
          </a:xfrm>
        </p:grpSpPr>
        <p:grpSp>
          <p:nvGrpSpPr>
            <p:cNvPr id="586" name="组合 67"/>
            <p:cNvGrpSpPr/>
            <p:nvPr/>
          </p:nvGrpSpPr>
          <p:grpSpPr>
            <a:xfrm>
              <a:off x="-128871" y="-71960"/>
              <a:ext cx="12219295" cy="1013221"/>
              <a:chOff x="-128871" y="-71960"/>
              <a:chExt cx="12219295" cy="1013221"/>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2326353" y="-71960"/>
                <a:ext cx="2203382" cy="773252"/>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852069" y="48055"/>
                <a:ext cx="1771650"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a:t>
                </a:r>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进展</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sp>
        <p:nvSpPr>
          <p:cNvPr id="2" name="ïṣ1ïḑê"/>
          <p:cNvSpPr>
            <a:spLocks noGrp="1"/>
          </p:cNvSpPr>
          <p:nvPr/>
        </p:nvSpPr>
        <p:spPr>
          <a:xfrm>
            <a:off x="308610" y="862330"/>
            <a:ext cx="6560185" cy="58737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b="1" kern="1200">
                <a:solidFill>
                  <a:srgbClr val="000000"/>
                </a:solidFill>
                <a:latin typeface="Arial" panose="020B0604020202020204" pitchFamily="34" charset="0"/>
                <a:ea typeface="微软雅黑" panose="020B0503020204020204" pitchFamily="34" charset="-122"/>
                <a:cs typeface="+mn-ea"/>
              </a:defRPr>
            </a:lvl1pPr>
          </a:lstStyle>
          <a:p>
            <a:r>
              <a:rPr lang="en-US" altLang="zh-CN" sz="2700" dirty="0">
                <a:solidFill>
                  <a:srgbClr val="005825"/>
                </a:solidFill>
              </a:rPr>
              <a:t>1.1</a:t>
            </a:r>
            <a:r>
              <a:rPr lang="zh-CN" altLang="en-US" sz="2700" dirty="0">
                <a:solidFill>
                  <a:srgbClr val="005825"/>
                </a:solidFill>
              </a:rPr>
              <a:t>研究背景与现状</a:t>
            </a:r>
            <a:r>
              <a:rPr lang="en-US" altLang="zh-CN" sz="2700" dirty="0">
                <a:solidFill>
                  <a:srgbClr val="005825"/>
                </a:solidFill>
              </a:rPr>
              <a:t>|</a:t>
            </a:r>
            <a:r>
              <a:rPr lang="en-US" sz="2400">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传统地图制图的</a:t>
            </a:r>
            <a:r>
              <a:rPr lang="zh-CN" altLang="en-US" sz="2400">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困境</a:t>
            </a:r>
            <a:endParaRPr lang="zh-CN" altLang="en-US" sz="2400">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nvGrpSpPr>
          <p:cNvPr id="14" name="组合 13"/>
          <p:cNvGrpSpPr/>
          <p:nvPr/>
        </p:nvGrpSpPr>
        <p:grpSpPr>
          <a:xfrm>
            <a:off x="355600" y="1254760"/>
            <a:ext cx="11022330" cy="1080770"/>
            <a:chOff x="710" y="1975"/>
            <a:chExt cx="17358" cy="1702"/>
          </a:xfrm>
        </p:grpSpPr>
        <p:pic>
          <p:nvPicPr>
            <p:cNvPr id="7" name="图形 6" descr="前引号"/>
            <p:cNvPicPr>
              <a:picLocks noChangeAspect="1"/>
            </p:cNvPicPr>
            <p:nvPr/>
          </p:nvPicPr>
          <p:blipFill>
            <a:blip r:embed="rId4" cstate="print">
              <a:extLst>
                <a:ext uri="{96DAC541-7B7A-43D3-8B79-37D633B846F1}">
                  <asvg:svgBlip xmlns:asvg="http://schemas.microsoft.com/office/drawing/2016/SVG/main" r:embed="rId5"/>
                </a:ext>
              </a:extLst>
            </a:blip>
            <a:stretch>
              <a:fillRect/>
            </a:stretch>
          </p:blipFill>
          <p:spPr>
            <a:xfrm>
              <a:off x="710" y="1975"/>
              <a:ext cx="1440" cy="1440"/>
            </a:xfrm>
            <a:prstGeom prst="rect">
              <a:avLst/>
            </a:prstGeom>
          </p:spPr>
        </p:pic>
        <p:sp>
          <p:nvSpPr>
            <p:cNvPr id="3" name="Title"/>
            <p:cNvSpPr/>
            <p:nvPr/>
          </p:nvSpPr>
          <p:spPr>
            <a:xfrm>
              <a:off x="2236" y="2283"/>
              <a:ext cx="15832" cy="1395"/>
            </a:xfrm>
            <a:prstGeom prst="rect">
              <a:avLst/>
            </a:prstGeom>
            <a:noFill/>
            <a:ln>
              <a:noFill/>
            </a:ln>
          </p:spPr>
          <p:style>
            <a:lnRef idx="2">
              <a:srgbClr val="111A51">
                <a:shade val="50000"/>
              </a:srgbClr>
            </a:lnRef>
            <a:fillRef idx="1">
              <a:srgbClr val="111A51"/>
            </a:fillRef>
            <a:effectRef idx="0">
              <a:srgbClr val="111A51"/>
            </a:effectRef>
            <a:fontRef idx="minor">
              <a:srgbClr val="FFFFFF"/>
            </a:fontRef>
          </p:style>
          <p:txBody>
            <a:bodyPr wrap="square" lIns="91440" tIns="45720" rIns="91440" bIns="45720" rtlCol="0" anchor="b" anchorCtr="0">
              <a:normAutofit fontScale="70000"/>
            </a:bodyPr>
            <a:lstStyle/>
            <a:p>
              <a:pPr indent="431800" fontAlgn="auto">
                <a:lnSpc>
                  <a:spcPct val="150000"/>
                </a:lnSpc>
                <a:extLst>
                  <a:ext uri="{35155182-B16C-46BC-9424-99874614C6A1}">
                    <wpsdc:indentchars xmlns:wpsdc="http://www.wps.cn/officeDocument/2017/drawingmlCustomData" val="200" checksum="3588746719"/>
                  </a:ext>
                </a:extLst>
              </a:pPr>
              <a:r>
                <a:rPr kumimoji="1" lang="zh-CN" altLang="en-US" sz="2400" b="1" dirty="0">
                  <a:solidFill>
                    <a:srgbClr val="00000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随着信息技术的飞速发展，地图已转变为社会公众日常生活的必备品；然而，传统的地图制图过程依然高度专业化。</a:t>
              </a:r>
              <a:endParaRPr kumimoji="1" lang="zh-CN" altLang="en-US" sz="2400" b="1" dirty="0">
                <a:solidFill>
                  <a:srgbClr val="00000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endParaRPr>
            </a:p>
          </p:txBody>
        </p:sp>
      </p:grpSp>
      <p:grpSp>
        <p:nvGrpSpPr>
          <p:cNvPr id="13" name="组合 12"/>
          <p:cNvGrpSpPr/>
          <p:nvPr/>
        </p:nvGrpSpPr>
        <p:grpSpPr>
          <a:xfrm>
            <a:off x="790575" y="5282565"/>
            <a:ext cx="10638155" cy="1074420"/>
            <a:chOff x="1315" y="3619"/>
            <a:chExt cx="16753" cy="1692"/>
          </a:xfrm>
        </p:grpSpPr>
        <p:sp>
          <p:nvSpPr>
            <p:cNvPr id="1" name="Title"/>
            <p:cNvSpPr/>
            <p:nvPr/>
          </p:nvSpPr>
          <p:spPr>
            <a:xfrm>
              <a:off x="1315" y="3619"/>
              <a:ext cx="15214" cy="1692"/>
            </a:xfrm>
            <a:prstGeom prst="rect">
              <a:avLst/>
            </a:prstGeom>
            <a:noFill/>
            <a:ln>
              <a:noFill/>
            </a:ln>
          </p:spPr>
          <p:style>
            <a:lnRef idx="2">
              <a:srgbClr val="111A51">
                <a:shade val="50000"/>
              </a:srgbClr>
            </a:lnRef>
            <a:fillRef idx="1">
              <a:srgbClr val="111A51"/>
            </a:fillRef>
            <a:effectRef idx="0">
              <a:srgbClr val="111A51"/>
            </a:effectRef>
            <a:fontRef idx="minor">
              <a:srgbClr val="FFFFFF"/>
            </a:fontRef>
          </p:style>
          <p:txBody>
            <a:bodyPr wrap="square" lIns="91440" tIns="45720" rIns="91440" bIns="45720" rtlCol="0" anchor="b" anchorCtr="0">
              <a:normAutofit fontScale="80000"/>
            </a:bodyPr>
            <a:p>
              <a:pPr indent="482600" fontAlgn="auto">
                <a:lnSpc>
                  <a:spcPct val="150000"/>
                </a:lnSpc>
                <a:extLst>
                  <a:ext uri="{35155182-B16C-46BC-9424-99874614C6A1}">
                    <wpsdc:indentchars xmlns:wpsdc="http://www.wps.cn/officeDocument/2017/drawingmlCustomData" val="200" checksum="2980959856"/>
                  </a:ext>
                </a:extLst>
              </a:pPr>
              <a:r>
                <a:rPr kumimoji="1" lang="zh-CN" altLang="en-US" sz="2400" b="1" dirty="0">
                  <a:solidFill>
                    <a:srgbClr val="00000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与此同时，人工智能技术取得了突破性进展。</a:t>
              </a:r>
              <a:r>
                <a:rPr kumimoji="1" lang="zh-CN" altLang="en-US" sz="2400" b="1" dirty="0">
                  <a:solidFill>
                    <a:srgbClr val="00000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大语言模型LLM展现的强大性能为革新传统人机交互模式提供了可能，而知识图谱在管理和应用专业知识方面也</a:t>
              </a:r>
              <a:r>
                <a:rPr kumimoji="1" lang="zh-CN" altLang="en-US" sz="2400" b="1" dirty="0">
                  <a:solidFill>
                    <a:srgbClr val="00000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展现出巨大价值。</a:t>
              </a:r>
              <a:endParaRPr kumimoji="1" lang="zh-CN" altLang="en-US" sz="2400" b="1" dirty="0">
                <a:solidFill>
                  <a:srgbClr val="00000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endParaRPr>
            </a:p>
          </p:txBody>
        </p:sp>
        <p:pic>
          <p:nvPicPr>
            <p:cNvPr id="4" name="图形 6" descr="前引号"/>
            <p:cNvPicPr>
              <a:picLocks noChangeAspect="1"/>
            </p:cNvPicPr>
            <p:nvPr/>
          </p:nvPicPr>
          <p:blipFill>
            <a:blip r:embed="rId4" cstate="print">
              <a:extLst>
                <a:ext uri="{96DAC541-7B7A-43D3-8B79-37D633B846F1}">
                  <asvg:svgBlip xmlns:asvg="http://schemas.microsoft.com/office/drawing/2016/SVG/main" r:embed="rId5"/>
                </a:ext>
              </a:extLst>
            </a:blip>
            <a:stretch>
              <a:fillRect/>
            </a:stretch>
          </p:blipFill>
          <p:spPr>
            <a:xfrm rot="10800000">
              <a:off x="16628" y="3678"/>
              <a:ext cx="1440" cy="1440"/>
            </a:xfrm>
            <a:prstGeom prst="rect">
              <a:avLst/>
            </a:prstGeom>
          </p:spPr>
        </p:pic>
      </p:grpSp>
      <p:grpSp>
        <p:nvGrpSpPr>
          <p:cNvPr id="10" name="组合 9"/>
          <p:cNvGrpSpPr/>
          <p:nvPr/>
        </p:nvGrpSpPr>
        <p:grpSpPr>
          <a:xfrm>
            <a:off x="953135" y="2471420"/>
            <a:ext cx="10000615" cy="2377440"/>
            <a:chOff x="1500" y="6103"/>
            <a:chExt cx="15749" cy="3744"/>
          </a:xfrm>
        </p:grpSpPr>
        <p:grpSp>
          <p:nvGrpSpPr>
            <p:cNvPr id="12" name="组合 11"/>
            <p:cNvGrpSpPr/>
            <p:nvPr/>
          </p:nvGrpSpPr>
          <p:grpSpPr>
            <a:xfrm>
              <a:off x="1857" y="7011"/>
              <a:ext cx="15393" cy="2836"/>
              <a:chOff x="1662" y="6398"/>
              <a:chExt cx="12620" cy="2325"/>
            </a:xfrm>
          </p:grpSpPr>
          <p:sp>
            <p:nvSpPr>
              <p:cNvPr id="5" name="文本框 4"/>
              <p:cNvSpPr txBox="1"/>
              <p:nvPr/>
            </p:nvSpPr>
            <p:spPr>
              <a:xfrm>
                <a:off x="1662" y="6402"/>
                <a:ext cx="3648" cy="2309"/>
              </a:xfrm>
              <a:prstGeom prst="rect">
                <a:avLst/>
              </a:prstGeom>
              <a:noFill/>
              <a:ln w="57150">
                <a:gradFill>
                  <a:gsLst>
                    <a:gs pos="50000">
                      <a:schemeClr val="accent6"/>
                    </a:gs>
                    <a:gs pos="0">
                      <a:schemeClr val="accent6">
                        <a:lumMod val="25000"/>
                        <a:lumOff val="75000"/>
                      </a:schemeClr>
                    </a:gs>
                    <a:gs pos="100000">
                      <a:schemeClr val="accent6">
                        <a:lumMod val="85000"/>
                      </a:schemeClr>
                    </a:gs>
                  </a:gsLst>
                  <a:lin ang="5400000" scaled="0"/>
                </a:gradFill>
              </a:ln>
            </p:spPr>
            <p:txBody>
              <a:bodyPr wrap="square" rtlCol="0">
                <a:noAutofit/>
              </a:bodyPr>
              <a:p>
                <a:pPr indent="0" algn="ctr">
                  <a:lnSpc>
                    <a:spcPct val="150000"/>
                  </a:lnSpc>
                  <a:buFont typeface="Wingdings" panose="05000000000000000000" charset="0"/>
                  <a:buNone/>
                </a:pPr>
                <a:r>
                  <a:rPr lang="zh-CN" altLang="en-US">
                    <a:latin typeface="微软雅黑" panose="020B0503020204020204" pitchFamily="34" charset="-122"/>
                    <a:ea typeface="微软雅黑" panose="020B0503020204020204" pitchFamily="34" charset="-122"/>
                  </a:rPr>
                  <a:t>目前研究聚焦于空间语义理解，直接面向制图生成的研究尚在起步中，不</a:t>
                </a:r>
                <a:r>
                  <a:rPr lang="zh-CN" altLang="en-US">
                    <a:latin typeface="微软雅黑" panose="020B0503020204020204" pitchFamily="34" charset="-122"/>
                    <a:ea typeface="微软雅黑" panose="020B0503020204020204" pitchFamily="34" charset="-122"/>
                  </a:rPr>
                  <a:t>够成熟。</a:t>
                </a:r>
                <a:endParaRPr lang="zh-CN" altLang="en-US">
                  <a:latin typeface="微软雅黑" panose="020B0503020204020204" pitchFamily="34" charset="-122"/>
                  <a:ea typeface="微软雅黑" panose="020B0503020204020204" pitchFamily="34" charset="-122"/>
                </a:endParaRPr>
              </a:p>
            </p:txBody>
          </p:sp>
          <p:sp>
            <p:nvSpPr>
              <p:cNvPr id="6" name="文本框 5"/>
              <p:cNvSpPr txBox="1"/>
              <p:nvPr/>
            </p:nvSpPr>
            <p:spPr>
              <a:xfrm>
                <a:off x="6042" y="6402"/>
                <a:ext cx="3648" cy="2321"/>
              </a:xfrm>
              <a:prstGeom prst="rect">
                <a:avLst/>
              </a:prstGeom>
              <a:noFill/>
              <a:ln w="57150">
                <a:gradFill>
                  <a:gsLst>
                    <a:gs pos="50000">
                      <a:schemeClr val="accent6"/>
                    </a:gs>
                    <a:gs pos="0">
                      <a:schemeClr val="accent6">
                        <a:lumMod val="25000"/>
                        <a:lumOff val="75000"/>
                      </a:schemeClr>
                    </a:gs>
                    <a:gs pos="100000">
                      <a:schemeClr val="accent6">
                        <a:lumMod val="85000"/>
                      </a:schemeClr>
                    </a:gs>
                  </a:gsLst>
                  <a:lin ang="5400000" scaled="0"/>
                </a:gradFill>
              </a:ln>
            </p:spPr>
            <p:txBody>
              <a:bodyPr wrap="square" rtlCol="0">
                <a:noAutofit/>
              </a:bodyPr>
              <a:p>
                <a:pPr lvl="0" indent="0" algn="ctr">
                  <a:lnSpc>
                    <a:spcPct val="150000"/>
                  </a:lnSpc>
                  <a:buClrTx/>
                  <a:buSzTx/>
                  <a:buFont typeface="Wingdings" panose="05000000000000000000" charset="0"/>
                  <a:buNone/>
                </a:pPr>
                <a:endParaRPr lang="zh-CN" altLang="en-US">
                  <a:latin typeface="微软雅黑" panose="020B0503020204020204" pitchFamily="34" charset="-122"/>
                  <a:ea typeface="微软雅黑" panose="020B0503020204020204" pitchFamily="34" charset="-122"/>
                  <a:sym typeface="+mn-ea"/>
                </a:endParaRPr>
              </a:p>
              <a:p>
                <a:pPr lvl="0" indent="0" algn="ctr">
                  <a:lnSpc>
                    <a:spcPct val="150000"/>
                  </a:lnSpc>
                  <a:buClrTx/>
                  <a:buSzTx/>
                  <a:buFont typeface="Wingdings" panose="05000000000000000000" charset="0"/>
                  <a:buNone/>
                </a:pPr>
                <a:r>
                  <a:rPr lang="zh-CN" altLang="en-US">
                    <a:latin typeface="微软雅黑" panose="020B0503020204020204" pitchFamily="34" charset="-122"/>
                    <a:ea typeface="微软雅黑" panose="020B0503020204020204" pitchFamily="34" charset="-122"/>
                    <a:sym typeface="+mn-ea"/>
                  </a:rPr>
                  <a:t>通用LLM专业度不够，</a:t>
                </a:r>
                <a:endParaRPr lang="zh-CN" altLang="en-US">
                  <a:latin typeface="微软雅黑" panose="020B0503020204020204" pitchFamily="34" charset="-122"/>
                  <a:ea typeface="微软雅黑" panose="020B0503020204020204" pitchFamily="34" charset="-122"/>
                  <a:sym typeface="+mn-ea"/>
                </a:endParaRPr>
              </a:p>
              <a:p>
                <a:pPr lvl="0" indent="0" algn="ctr">
                  <a:lnSpc>
                    <a:spcPct val="150000"/>
                  </a:lnSpc>
                  <a:buClrTx/>
                  <a:buSzTx/>
                  <a:buFont typeface="Wingdings" panose="05000000000000000000" charset="0"/>
                  <a:buNone/>
                </a:pPr>
                <a:r>
                  <a:rPr lang="zh-CN" altLang="en-US">
                    <a:latin typeface="微软雅黑" panose="020B0503020204020204" pitchFamily="34" charset="-122"/>
                    <a:ea typeface="微软雅黑" panose="020B0503020204020204" pitchFamily="34" charset="-122"/>
                    <a:sym typeface="+mn-ea"/>
                  </a:rPr>
                  <a:t>存在“</a:t>
                </a:r>
                <a:r>
                  <a:rPr lang="zh-CN" altLang="en-US">
                    <a:latin typeface="微软雅黑" panose="020B0503020204020204" pitchFamily="34" charset="-122"/>
                    <a:ea typeface="微软雅黑" panose="020B0503020204020204" pitchFamily="34" charset="-122"/>
                    <a:sym typeface="+mn-ea"/>
                  </a:rPr>
                  <a:t>幻觉</a:t>
                </a:r>
                <a:r>
                  <a:rPr lang="zh-CN" altLang="en-US">
                    <a:latin typeface="微软雅黑" panose="020B0503020204020204" pitchFamily="34" charset="-122"/>
                    <a:ea typeface="微软雅黑" panose="020B0503020204020204" pitchFamily="34" charset="-122"/>
                    <a:sym typeface="+mn-ea"/>
                  </a:rPr>
                  <a:t>”</a:t>
                </a:r>
                <a:r>
                  <a:rPr lang="zh-CN" altLang="en-US">
                    <a:latin typeface="微软雅黑" panose="020B0503020204020204" pitchFamily="34" charset="-122"/>
                    <a:ea typeface="微软雅黑" panose="020B0503020204020204" pitchFamily="34" charset="-122"/>
                    <a:sym typeface="+mn-ea"/>
                  </a:rPr>
                  <a:t>问题。</a:t>
                </a:r>
                <a:endParaRPr lang="zh-CN" altLang="en-US">
                  <a:latin typeface="微软雅黑" panose="020B0503020204020204" pitchFamily="34" charset="-122"/>
                  <a:ea typeface="微软雅黑" panose="020B0503020204020204" pitchFamily="34" charset="-122"/>
                  <a:sym typeface="+mn-ea"/>
                </a:endParaRPr>
              </a:p>
            </p:txBody>
          </p:sp>
          <p:sp>
            <p:nvSpPr>
              <p:cNvPr id="9" name="文本框 8"/>
              <p:cNvSpPr txBox="1"/>
              <p:nvPr/>
            </p:nvSpPr>
            <p:spPr>
              <a:xfrm>
                <a:off x="10634" y="6398"/>
                <a:ext cx="3648" cy="2313"/>
              </a:xfrm>
              <a:prstGeom prst="rect">
                <a:avLst/>
              </a:prstGeom>
              <a:noFill/>
              <a:ln w="57150">
                <a:gradFill>
                  <a:gsLst>
                    <a:gs pos="50000">
                      <a:schemeClr val="accent6"/>
                    </a:gs>
                    <a:gs pos="0">
                      <a:schemeClr val="accent6">
                        <a:lumMod val="25000"/>
                        <a:lumOff val="75000"/>
                      </a:schemeClr>
                    </a:gs>
                    <a:gs pos="100000">
                      <a:schemeClr val="accent6">
                        <a:lumMod val="85000"/>
                      </a:schemeClr>
                    </a:gs>
                  </a:gsLst>
                  <a:lin ang="5400000" scaled="0"/>
                </a:gradFill>
              </a:ln>
            </p:spPr>
            <p:txBody>
              <a:bodyPr wrap="square" rtlCol="0">
                <a:noAutofit/>
              </a:bodyPr>
              <a:p>
                <a:pPr lvl="0" indent="0" algn="ctr">
                  <a:lnSpc>
                    <a:spcPct val="150000"/>
                  </a:lnSpc>
                  <a:buClrTx/>
                  <a:buSzTx/>
                  <a:buFont typeface="Wingdings" panose="05000000000000000000" charset="0"/>
                  <a:buNone/>
                </a:pPr>
                <a:r>
                  <a:rPr lang="zh-CN" altLang="en-US">
                    <a:latin typeface="微软雅黑" panose="020B0503020204020204" pitchFamily="34" charset="-122"/>
                    <a:ea typeface="微软雅黑" panose="020B0503020204020204" pitchFamily="34" charset="-122"/>
                    <a:sym typeface="+mn-ea"/>
                  </a:rPr>
                  <a:t>各技术孤立发展，未形成</a:t>
                </a:r>
                <a:r>
                  <a:rPr lang="zh-CN" altLang="en-US">
                    <a:latin typeface="微软雅黑" panose="020B0503020204020204" pitchFamily="34" charset="-122"/>
                    <a:ea typeface="微软雅黑" panose="020B0503020204020204" pitchFamily="34" charset="-122"/>
                    <a:sym typeface="+mn-ea"/>
                  </a:rPr>
                  <a:t>“</a:t>
                </a:r>
                <a:r>
                  <a:rPr lang="zh-CN" altLang="en-US">
                    <a:latin typeface="微软雅黑" panose="020B0503020204020204" pitchFamily="34" charset="-122"/>
                    <a:ea typeface="微软雅黑" panose="020B0503020204020204" pitchFamily="34" charset="-122"/>
                    <a:sym typeface="+mn-ea"/>
                  </a:rPr>
                  <a:t>需求理解</a:t>
                </a:r>
                <a:r>
                  <a:rPr lang="zh-CN" altLang="en-US">
                    <a:latin typeface="微软雅黑" panose="020B0503020204020204" pitchFamily="34" charset="-122"/>
                    <a:ea typeface="微软雅黑" panose="020B0503020204020204" pitchFamily="34" charset="-122"/>
                    <a:sym typeface="+mn-ea"/>
                  </a:rPr>
                  <a:t>-</a:t>
                </a:r>
                <a:r>
                  <a:rPr lang="zh-CN" altLang="en-US">
                    <a:latin typeface="微软雅黑" panose="020B0503020204020204" pitchFamily="34" charset="-122"/>
                    <a:ea typeface="微软雅黑" panose="020B0503020204020204" pitchFamily="34" charset="-122"/>
                    <a:sym typeface="+mn-ea"/>
                  </a:rPr>
                  <a:t>专业知识供给</a:t>
                </a:r>
                <a:r>
                  <a:rPr lang="zh-CN" altLang="en-US">
                    <a:latin typeface="微软雅黑" panose="020B0503020204020204" pitchFamily="34" charset="-122"/>
                    <a:ea typeface="微软雅黑" panose="020B0503020204020204" pitchFamily="34" charset="-122"/>
                    <a:sym typeface="+mn-ea"/>
                  </a:rPr>
                  <a:t>-</a:t>
                </a:r>
                <a:r>
                  <a:rPr lang="zh-CN" altLang="en-US">
                    <a:latin typeface="微软雅黑" panose="020B0503020204020204" pitchFamily="34" charset="-122"/>
                    <a:ea typeface="微软雅黑" panose="020B0503020204020204" pitchFamily="34" charset="-122"/>
                    <a:sym typeface="+mn-ea"/>
                  </a:rPr>
                  <a:t>任务执行</a:t>
                </a:r>
                <a:r>
                  <a:rPr lang="zh-CN" altLang="en-US">
                    <a:latin typeface="微软雅黑" panose="020B0503020204020204" pitchFamily="34" charset="-122"/>
                    <a:ea typeface="微软雅黑" panose="020B0503020204020204" pitchFamily="34" charset="-122"/>
                    <a:sym typeface="+mn-ea"/>
                  </a:rPr>
                  <a:t>-</a:t>
                </a:r>
                <a:r>
                  <a:rPr lang="zh-CN" altLang="en-US">
                    <a:latin typeface="微软雅黑" panose="020B0503020204020204" pitchFamily="34" charset="-122"/>
                    <a:ea typeface="微软雅黑" panose="020B0503020204020204" pitchFamily="34" charset="-122"/>
                    <a:sym typeface="+mn-ea"/>
                  </a:rPr>
                  <a:t>成果输出</a:t>
                </a:r>
                <a:r>
                  <a:rPr lang="zh-CN" altLang="en-US">
                    <a:latin typeface="微软雅黑" panose="020B0503020204020204" pitchFamily="34" charset="-122"/>
                    <a:ea typeface="微软雅黑" panose="020B0503020204020204" pitchFamily="34" charset="-122"/>
                    <a:sym typeface="+mn-ea"/>
                  </a:rPr>
                  <a:t>”</a:t>
                </a:r>
                <a:r>
                  <a:rPr lang="zh-CN" altLang="en-US">
                    <a:latin typeface="微软雅黑" panose="020B0503020204020204" pitchFamily="34" charset="-122"/>
                    <a:ea typeface="微软雅黑" panose="020B0503020204020204" pitchFamily="34" charset="-122"/>
                    <a:sym typeface="+mn-ea"/>
                  </a:rPr>
                  <a:t>全链路协同体系。</a:t>
                </a:r>
                <a:endParaRPr lang="zh-CN" altLang="en-US">
                  <a:latin typeface="微软雅黑" panose="020B0503020204020204" pitchFamily="34" charset="-122"/>
                  <a:ea typeface="微软雅黑" panose="020B0503020204020204" pitchFamily="34" charset="-122"/>
                  <a:sym typeface="+mn-ea"/>
                </a:endParaRPr>
              </a:p>
            </p:txBody>
          </p:sp>
        </p:grpSp>
        <p:sp>
          <p:nvSpPr>
            <p:cNvPr id="15" name="文本框 14"/>
            <p:cNvSpPr txBox="1"/>
            <p:nvPr/>
          </p:nvSpPr>
          <p:spPr>
            <a:xfrm>
              <a:off x="1500" y="6103"/>
              <a:ext cx="2366" cy="725"/>
            </a:xfrm>
            <a:prstGeom prst="rect">
              <a:avLst/>
            </a:prstGeom>
            <a:noFill/>
          </p:spPr>
          <p:txBody>
            <a:bodyPr wrap="square" rtlCol="0">
              <a:spAutoFit/>
            </a:bodyPr>
            <a:p>
              <a:r>
                <a:rPr lang="zh-CN" altLang="en-US" sz="2400" b="1">
                  <a:solidFill>
                    <a:schemeClr val="accent6">
                      <a:lumMod val="75000"/>
                    </a:schemeClr>
                  </a:solidFill>
                  <a:latin typeface="微软雅黑" panose="020B0503020204020204" pitchFamily="34" charset="-122"/>
                  <a:ea typeface="微软雅黑" panose="020B0503020204020204" pitchFamily="34" charset="-122"/>
                </a:rPr>
                <a:t>研究现状</a:t>
              </a:r>
              <a:endParaRPr lang="zh-CN" altLang="en-US" sz="2400" b="1">
                <a:solidFill>
                  <a:schemeClr val="accent6">
                    <a:lumMod val="75000"/>
                  </a:schemeClr>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3859"/>
            <a:ext cx="12219295" cy="1013221"/>
            <a:chOff x="-128871" y="-71960"/>
            <a:chExt cx="12219295" cy="1013221"/>
          </a:xfrm>
        </p:grpSpPr>
        <p:grpSp>
          <p:nvGrpSpPr>
            <p:cNvPr id="586" name="组合 67"/>
            <p:cNvGrpSpPr/>
            <p:nvPr/>
          </p:nvGrpSpPr>
          <p:grpSpPr>
            <a:xfrm>
              <a:off x="-128871" y="-71960"/>
              <a:ext cx="12219295" cy="1013221"/>
              <a:chOff x="-128871" y="-71960"/>
              <a:chExt cx="12219295" cy="1013221"/>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2326353" y="-71960"/>
                <a:ext cx="2203382" cy="773252"/>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852069" y="48055"/>
                <a:ext cx="1771650"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a:t>
                </a:r>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进展</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sp>
        <p:nvSpPr>
          <p:cNvPr id="4" name="ïṣ1ïḑê"/>
          <p:cNvSpPr>
            <a:spLocks noGrp="1"/>
          </p:cNvSpPr>
          <p:nvPr/>
        </p:nvSpPr>
        <p:spPr>
          <a:xfrm>
            <a:off x="308610" y="862330"/>
            <a:ext cx="6560185" cy="58737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b="1" kern="1200">
                <a:solidFill>
                  <a:srgbClr val="000000"/>
                </a:solidFill>
                <a:latin typeface="Arial" panose="020B0604020202020204" pitchFamily="34" charset="0"/>
                <a:ea typeface="微软雅黑" panose="020B0503020204020204" pitchFamily="34" charset="-122"/>
                <a:cs typeface="+mn-ea"/>
              </a:defRPr>
            </a:lvl1pPr>
          </a:lstStyle>
          <a:p>
            <a:r>
              <a:rPr lang="en-US" altLang="zh-CN" sz="2700" dirty="0">
                <a:solidFill>
                  <a:srgbClr val="005825"/>
                </a:solidFill>
              </a:rPr>
              <a:t>1.1</a:t>
            </a:r>
            <a:r>
              <a:rPr lang="zh-CN" altLang="en-US" sz="2700" dirty="0">
                <a:solidFill>
                  <a:srgbClr val="005825"/>
                </a:solidFill>
              </a:rPr>
              <a:t>研究背景与现状</a:t>
            </a:r>
            <a:r>
              <a:rPr lang="en-US" altLang="zh-CN" sz="2700" dirty="0">
                <a:solidFill>
                  <a:srgbClr val="005825"/>
                </a:solidFill>
              </a:rPr>
              <a:t>|</a:t>
            </a:r>
            <a:r>
              <a:rPr lang="en-US" sz="2400">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AI</a:t>
            </a:r>
            <a:r>
              <a:rPr lang="zh-CN" altLang="en-US" sz="2400">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技术带来的新</a:t>
            </a:r>
            <a:r>
              <a:rPr lang="zh-CN" altLang="en-US" sz="2400">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机遇</a:t>
            </a:r>
            <a:endParaRPr lang="zh-CN" altLang="en-US" sz="2400">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nvGrpSpPr>
          <p:cNvPr id="3" name="组合 2"/>
          <p:cNvGrpSpPr/>
          <p:nvPr/>
        </p:nvGrpSpPr>
        <p:grpSpPr>
          <a:xfrm>
            <a:off x="762000" y="1778000"/>
            <a:ext cx="3302000" cy="3302000"/>
            <a:chOff x="7000" y="2800"/>
            <a:chExt cx="5200" cy="5200"/>
          </a:xfrm>
        </p:grpSpPr>
        <p:sp>
          <p:nvSpPr>
            <p:cNvPr id="10" name="AutoShape 9"/>
            <p:cNvSpPr/>
            <p:nvPr>
              <p:custDataLst>
                <p:tags r:id="rId4"/>
              </p:custDataLst>
            </p:nvPr>
          </p:nvSpPr>
          <p:spPr>
            <a:xfrm>
              <a:off x="7000" y="2800"/>
              <a:ext cx="5200" cy="5200"/>
            </a:xfrm>
            <a:prstGeom prst="roundRect">
              <a:avLst>
                <a:gd name="adj" fmla="val 3846"/>
              </a:avLst>
            </a:prstGeom>
            <a:solidFill>
              <a:srgbClr val="FFFFFF">
                <a:alpha val="8000"/>
              </a:srgbClr>
            </a:solidFill>
            <a:ln w="28575" cap="flat" cmpd="sng">
              <a:solidFill>
                <a:srgbClr val="00481C">
                  <a:alpha val="30000"/>
                </a:srgbClr>
              </a:solidFill>
              <a:prstDash val="solid"/>
              <a:round/>
            </a:ln>
          </p:spPr>
          <p:txBody>
            <a:bodyPr vert="horz" wrap="square" lIns="63500" tIns="63500" rIns="63500" bIns="63500" rtlCol="0" anchor="ctr">
              <a:noAutofit/>
            </a:bodyPr>
            <a:p>
              <a:pPr lvl="0" algn="ctr">
                <a:buClrTx/>
                <a:buSzTx/>
                <a:buFontTx/>
                <a:defRPr/>
              </a:pPr>
              <a:endParaRPr>
                <a:sym typeface="+mn-ea"/>
              </a:endParaRPr>
            </a:p>
          </p:txBody>
        </p:sp>
        <p:grpSp>
          <p:nvGrpSpPr>
            <p:cNvPr id="1" name="组合 0"/>
            <p:cNvGrpSpPr/>
            <p:nvPr/>
          </p:nvGrpSpPr>
          <p:grpSpPr>
            <a:xfrm>
              <a:off x="7480" y="3280"/>
              <a:ext cx="4240" cy="3820"/>
              <a:chOff x="7480" y="3280"/>
              <a:chExt cx="4240" cy="3820"/>
            </a:xfrm>
          </p:grpSpPr>
          <p:pic>
            <p:nvPicPr>
              <p:cNvPr id="11" name="Picture 10"/>
              <p:cNvPicPr>
                <a:picLocks noChangeAspect="1"/>
              </p:cNvPicPr>
              <p:nvPr>
                <p:custDataLst>
                  <p:tags r:id="rId5"/>
                </p:custDataLst>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480" y="3280"/>
                <a:ext cx="960" cy="960"/>
              </a:xfrm>
              <a:prstGeom prst="rect">
                <a:avLst/>
              </a:prstGeom>
            </p:spPr>
          </p:pic>
          <p:sp>
            <p:nvSpPr>
              <p:cNvPr id="12" name="AutoShape 11"/>
              <p:cNvSpPr/>
              <p:nvPr>
                <p:custDataLst>
                  <p:tags r:id="rId8"/>
                </p:custDataLst>
              </p:nvPr>
            </p:nvSpPr>
            <p:spPr>
              <a:xfrm>
                <a:off x="7480" y="4400"/>
                <a:ext cx="4240" cy="600"/>
              </a:xfrm>
              <a:prstGeom prst="rect">
                <a:avLst/>
              </a:prstGeom>
              <a:noFill/>
              <a:ln w="12700" cap="flat" cmpd="sng">
                <a:noFill/>
                <a:prstDash val="solid"/>
                <a:round/>
              </a:ln>
            </p:spPr>
            <p:txBody>
              <a:bodyPr vert="horz" wrap="square" lIns="0" tIns="0" rIns="0" bIns="0" rtlCol="0" anchor="ctr" anchorCtr="0"/>
              <a:p>
                <a:pPr indent="0" algn="l">
                  <a:lnSpc>
                    <a:spcPct val="125000"/>
                  </a:lnSpc>
                  <a:defRPr/>
                </a:pPr>
                <a:r>
                  <a:rPr lang="en-US" sz="2400" b="1"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知识图谱 (KG)</a:t>
                </a:r>
                <a:endParaRPr lang="en-US" sz="2400" b="1"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sp>
            <p:nvSpPr>
              <p:cNvPr id="13" name="AutoShape 12"/>
              <p:cNvSpPr/>
              <p:nvPr>
                <p:custDataLst>
                  <p:tags r:id="rId9"/>
                </p:custDataLst>
              </p:nvPr>
            </p:nvSpPr>
            <p:spPr>
              <a:xfrm>
                <a:off x="7480" y="5100"/>
                <a:ext cx="4240" cy="2000"/>
              </a:xfrm>
              <a:prstGeom prst="rect">
                <a:avLst/>
              </a:prstGeom>
              <a:noFill/>
              <a:ln w="12700" cap="flat" cmpd="sng">
                <a:noFill/>
                <a:prstDash val="solid"/>
                <a:round/>
              </a:ln>
            </p:spPr>
            <p:txBody>
              <a:bodyPr vert="horz" wrap="square" lIns="0" tIns="0" rIns="0" bIns="0" rtlCol="0" anchor="ctr" anchorCtr="0">
                <a:noAutofit/>
              </a:bodyPr>
              <a:p>
                <a:pPr lvl="0" indent="0" algn="l" fontAlgn="auto">
                  <a:lnSpc>
                    <a:spcPct val="150000"/>
                  </a:lnSpc>
                  <a:buClrTx/>
                  <a:buSzTx/>
                  <a:buFontTx/>
                  <a:defRPr/>
                </a:pPr>
                <a:r>
                  <a:rPr lang="en-US" sz="1600">
                    <a:latin typeface="微软雅黑" panose="020B0503020204020204" pitchFamily="34" charset="-122"/>
                    <a:ea typeface="微软雅黑" panose="020B0503020204020204" pitchFamily="34" charset="-122"/>
                    <a:cs typeface="Noto Sans SC" panose="020B0200000000000000" charset="-122"/>
                    <a:sym typeface="+mn-ea"/>
                  </a:rPr>
                  <a:t>作为</a:t>
                </a:r>
                <a:r>
                  <a:rPr lang="en-US" sz="1600">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结构化知识的表示方式，能够提供可推理、可计算的专业知识底座。</a:t>
                </a:r>
                <a:endParaRPr lang="en-US" sz="1600">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grpSp>
      </p:grpSp>
      <p:sp>
        <p:nvSpPr>
          <p:cNvPr id="14" name="AutoShape 13"/>
          <p:cNvSpPr/>
          <p:nvPr>
            <p:custDataLst>
              <p:tags r:id="rId10"/>
            </p:custDataLst>
          </p:nvPr>
        </p:nvSpPr>
        <p:spPr>
          <a:xfrm>
            <a:off x="8128000" y="1778000"/>
            <a:ext cx="3302000" cy="3302000"/>
          </a:xfrm>
          <a:prstGeom prst="roundRect">
            <a:avLst>
              <a:gd name="adj" fmla="val 3846"/>
            </a:avLst>
          </a:prstGeom>
          <a:solidFill>
            <a:srgbClr val="FFFFFF">
              <a:alpha val="8000"/>
            </a:srgbClr>
          </a:solidFill>
          <a:ln w="28575" cap="flat" cmpd="sng">
            <a:solidFill>
              <a:srgbClr val="00481C">
                <a:alpha val="30000"/>
              </a:srgbClr>
            </a:solidFill>
            <a:prstDash val="solid"/>
            <a:round/>
          </a:ln>
        </p:spPr>
        <p:txBody>
          <a:bodyPr vert="horz" wrap="square" lIns="63500" tIns="63500" rIns="63500" bIns="63500" rtlCol="0" anchor="ctr">
            <a:noAutofit/>
          </a:bodyPr>
          <a:p>
            <a:pPr lvl="0" algn="ctr">
              <a:buClrTx/>
              <a:buSzTx/>
              <a:buFontTx/>
              <a:defRPr/>
            </a:pPr>
            <a:endParaRPr>
              <a:sym typeface="+mn-ea"/>
            </a:endParaRPr>
          </a:p>
        </p:txBody>
      </p:sp>
      <p:pic>
        <p:nvPicPr>
          <p:cNvPr id="15" name="Picture 14"/>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432800" y="2082800"/>
            <a:ext cx="609600" cy="609600"/>
          </a:xfrm>
          <a:prstGeom prst="rect">
            <a:avLst/>
          </a:prstGeom>
        </p:spPr>
      </p:pic>
      <p:sp>
        <p:nvSpPr>
          <p:cNvPr id="16" name="AutoShape 15"/>
          <p:cNvSpPr/>
          <p:nvPr>
            <p:custDataLst>
              <p:tags r:id="rId14"/>
            </p:custDataLst>
          </p:nvPr>
        </p:nvSpPr>
        <p:spPr>
          <a:xfrm>
            <a:off x="8432800" y="2794000"/>
            <a:ext cx="2692400" cy="381000"/>
          </a:xfrm>
          <a:prstGeom prst="rect">
            <a:avLst/>
          </a:prstGeom>
          <a:noFill/>
          <a:ln w="12700" cap="flat" cmpd="sng">
            <a:noFill/>
            <a:prstDash val="solid"/>
            <a:round/>
          </a:ln>
        </p:spPr>
        <p:txBody>
          <a:bodyPr vert="horz" wrap="square" lIns="0" tIns="0" rIns="0" bIns="0" rtlCol="0" anchor="ctr" anchorCtr="0"/>
          <a:p>
            <a:pPr algn="l">
              <a:lnSpc>
                <a:spcPct val="125000"/>
              </a:lnSpc>
              <a:buClrTx/>
              <a:buSzTx/>
              <a:buFontTx/>
              <a:defRPr/>
            </a:pPr>
            <a:r>
              <a:rPr lang="en-US" sz="2400" b="1"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智能体 (Agent)</a:t>
            </a:r>
            <a:endParaRPr lang="en-US" sz="2400" b="1"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sp>
        <p:nvSpPr>
          <p:cNvPr id="17" name="AutoShape 16"/>
          <p:cNvSpPr/>
          <p:nvPr>
            <p:custDataLst>
              <p:tags r:id="rId15"/>
            </p:custDataLst>
          </p:nvPr>
        </p:nvSpPr>
        <p:spPr>
          <a:xfrm>
            <a:off x="8432800" y="3238500"/>
            <a:ext cx="2692400" cy="1270000"/>
          </a:xfrm>
          <a:prstGeom prst="rect">
            <a:avLst/>
          </a:prstGeom>
          <a:noFill/>
          <a:ln w="12700" cap="flat" cmpd="sng">
            <a:noFill/>
            <a:prstDash val="solid"/>
            <a:round/>
          </a:ln>
        </p:spPr>
        <p:txBody>
          <a:bodyPr vert="horz" wrap="square" lIns="0" tIns="0" rIns="0" bIns="0" rtlCol="0" anchor="ctr" anchorCtr="0">
            <a:noAutofit/>
          </a:bodyPr>
          <a:p>
            <a:pPr lvl="0" algn="l">
              <a:lnSpc>
                <a:spcPct val="150000"/>
              </a:lnSpc>
              <a:buClrTx/>
              <a:buSzTx/>
              <a:buFontTx/>
              <a:defRPr/>
            </a:pPr>
            <a:r>
              <a:rPr lang="en-US" sz="1600">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能够自主理解任务、规划步骤并调用工具执行，实现复杂流程的自动化。</a:t>
            </a:r>
            <a:endParaRPr lang="en-US" sz="1600">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19" name="AutoShape 17"/>
          <p:cNvSpPr/>
          <p:nvPr/>
        </p:nvSpPr>
        <p:spPr>
          <a:xfrm>
            <a:off x="762000" y="5334000"/>
            <a:ext cx="10668000" cy="762000"/>
          </a:xfrm>
          <a:prstGeom prst="roundRect">
            <a:avLst>
              <a:gd name="adj" fmla="val 16666"/>
            </a:avLst>
          </a:prstGeom>
          <a:solidFill>
            <a:schemeClr val="accent6">
              <a:lumMod val="50000"/>
            </a:schemeClr>
          </a:solidFill>
          <a:ln w="28575" cap="flat" cmpd="sng">
            <a:solidFill>
              <a:srgbClr val="00481C">
                <a:alpha val="50000"/>
              </a:srgbClr>
            </a:solidFill>
            <a:prstDash val="solid"/>
            <a:round/>
          </a:ln>
        </p:spPr>
        <p:txBody>
          <a:bodyPr vert="horz" wrap="square" lIns="63500" tIns="63500" rIns="63500" bIns="63500" rtlCol="0" anchor="ctr"/>
          <a:p>
            <a:pPr algn="ctr">
              <a:defRPr/>
            </a:pPr>
          </a:p>
        </p:txBody>
      </p:sp>
      <p:sp>
        <p:nvSpPr>
          <p:cNvPr id="21" name="AutoShape 19"/>
          <p:cNvSpPr/>
          <p:nvPr/>
        </p:nvSpPr>
        <p:spPr>
          <a:xfrm>
            <a:off x="1447800" y="5524500"/>
            <a:ext cx="9652000" cy="381000"/>
          </a:xfrm>
          <a:prstGeom prst="rect">
            <a:avLst/>
          </a:prstGeom>
          <a:noFill/>
          <a:ln w="12700" cap="flat" cmpd="sng">
            <a:noFill/>
            <a:prstDash val="solid"/>
            <a:round/>
          </a:ln>
        </p:spPr>
        <p:txBody>
          <a:bodyPr vert="horz" wrap="square" lIns="0" tIns="0" rIns="0" bIns="0" rtlCol="0" anchor="ctr" anchorCtr="0"/>
          <a:p>
            <a:pPr indent="0" algn="l">
              <a:lnSpc>
                <a:spcPct val="125000"/>
              </a:lnSpc>
              <a:defRPr/>
            </a:pPr>
            <a:r>
              <a:rPr lang="en-US" sz="2000" i="0" u="none" strike="noStrike">
                <a:solidFill>
                  <a:schemeClr val="bg1">
                    <a:alpha val="78000"/>
                  </a:schemeClr>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我们的愿景：</a:t>
            </a:r>
            <a:r>
              <a:rPr lang="en-US" sz="2000" i="0" u="none" strike="noStrike">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将这三项技术深度融合，构建一个</a:t>
            </a:r>
            <a:r>
              <a:rPr lang="en-US" sz="2000" b="1" i="0" u="none" strike="noStrike">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“人人皆可制图”</a:t>
            </a:r>
            <a:r>
              <a:rPr lang="en-US" sz="2000" i="0" u="none" strike="noStrike">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的智能</a:t>
            </a:r>
            <a:r>
              <a:rPr lang="zh-CN" altLang="en-US" sz="2000" i="0" u="none" strike="noStrike">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制图</a:t>
            </a:r>
            <a:r>
              <a:rPr lang="en-US" sz="2000" i="0" u="none" strike="noStrike">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系统</a:t>
            </a:r>
            <a:r>
              <a:rPr lang="en-US" sz="1600" i="0" u="none" strike="noStrike">
                <a:solidFill>
                  <a:schemeClr val="bg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600" i="0" u="none" strike="noStrike">
              <a:solidFill>
                <a:schemeClr val="bg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2" name="椭圆 21"/>
          <p:cNvSpPr/>
          <p:nvPr/>
        </p:nvSpPr>
        <p:spPr>
          <a:xfrm>
            <a:off x="968375" y="5546725"/>
            <a:ext cx="370205" cy="358775"/>
          </a:xfrm>
          <a:prstGeom prst="ellipse">
            <a:avLst/>
          </a:prstGeom>
          <a:solidFill>
            <a:schemeClr val="bg2"/>
          </a:solidFill>
          <a:ln>
            <a:solidFill>
              <a:srgbClr val="00481C"/>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18" name="组合 17"/>
          <p:cNvGrpSpPr/>
          <p:nvPr/>
        </p:nvGrpSpPr>
        <p:grpSpPr>
          <a:xfrm>
            <a:off x="4445000" y="1769745"/>
            <a:ext cx="3302000" cy="3302000"/>
            <a:chOff x="1200" y="2800"/>
            <a:chExt cx="5200" cy="5200"/>
          </a:xfrm>
        </p:grpSpPr>
        <p:sp>
          <p:nvSpPr>
            <p:cNvPr id="20" name="AutoShape 5"/>
            <p:cNvSpPr/>
            <p:nvPr>
              <p:custDataLst>
                <p:tags r:id="rId16"/>
              </p:custDataLst>
            </p:nvPr>
          </p:nvSpPr>
          <p:spPr>
            <a:xfrm>
              <a:off x="1200" y="2800"/>
              <a:ext cx="5200" cy="5200"/>
            </a:xfrm>
            <a:prstGeom prst="roundRect">
              <a:avLst>
                <a:gd name="adj" fmla="val 3846"/>
              </a:avLst>
            </a:prstGeom>
            <a:solidFill>
              <a:srgbClr val="FFFFFF">
                <a:alpha val="8000"/>
              </a:srgbClr>
            </a:solidFill>
            <a:ln w="28575" cap="flat" cmpd="sng">
              <a:solidFill>
                <a:srgbClr val="00481C">
                  <a:alpha val="30000"/>
                </a:srgbClr>
              </a:solidFill>
              <a:prstDash val="solid"/>
              <a:round/>
            </a:ln>
          </p:spPr>
          <p:txBody>
            <a:bodyPr vert="horz" wrap="square" lIns="63500" tIns="63500" rIns="63500" bIns="63500" rtlCol="0" anchor="ctr"/>
            <a:p>
              <a:pPr algn="ctr">
                <a:defRPr/>
              </a:pPr>
            </a:p>
          </p:txBody>
        </p:sp>
        <p:grpSp>
          <p:nvGrpSpPr>
            <p:cNvPr id="23" name="组合 22"/>
            <p:cNvGrpSpPr/>
            <p:nvPr/>
          </p:nvGrpSpPr>
          <p:grpSpPr>
            <a:xfrm>
              <a:off x="1680" y="3280"/>
              <a:ext cx="4240" cy="3820"/>
              <a:chOff x="1680" y="3280"/>
              <a:chExt cx="4240" cy="3820"/>
            </a:xfrm>
          </p:grpSpPr>
          <p:pic>
            <p:nvPicPr>
              <p:cNvPr id="24" name="Picture 6"/>
              <p:cNvPicPr>
                <a:picLocks noChangeAspect="1"/>
              </p:cNvPicPr>
              <p:nvPr>
                <p:custDataLst>
                  <p:tags r:id="rId17"/>
                </p:custDataLst>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680" y="3280"/>
                <a:ext cx="960" cy="960"/>
              </a:xfrm>
              <a:prstGeom prst="rect">
                <a:avLst/>
              </a:prstGeom>
            </p:spPr>
          </p:pic>
          <p:sp>
            <p:nvSpPr>
              <p:cNvPr id="25" name="AutoShape 7"/>
              <p:cNvSpPr/>
              <p:nvPr>
                <p:custDataLst>
                  <p:tags r:id="rId20"/>
                </p:custDataLst>
              </p:nvPr>
            </p:nvSpPr>
            <p:spPr>
              <a:xfrm>
                <a:off x="1680" y="4400"/>
                <a:ext cx="4240" cy="600"/>
              </a:xfrm>
              <a:prstGeom prst="rect">
                <a:avLst/>
              </a:prstGeom>
              <a:noFill/>
              <a:ln w="12700" cap="flat" cmpd="sng">
                <a:noFill/>
                <a:prstDash val="solid"/>
                <a:round/>
              </a:ln>
            </p:spPr>
            <p:txBody>
              <a:bodyPr vert="horz" wrap="square" lIns="0" tIns="0" rIns="0" bIns="0" rtlCol="0" anchor="ctr" anchorCtr="0"/>
              <a:p>
                <a:pPr indent="0" algn="l">
                  <a:lnSpc>
                    <a:spcPct val="125000"/>
                  </a:lnSpc>
                  <a:defRPr/>
                </a:pPr>
                <a:r>
                  <a:rPr lang="zh-CN" altLang="en-US" sz="2400" b="1"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大</a:t>
                </a:r>
                <a:r>
                  <a:rPr lang="en-US" sz="2400" b="1"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语言模型 (LLM)</a:t>
                </a:r>
                <a:endParaRPr lang="en-US" sz="2400" b="1"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sp>
            <p:nvSpPr>
              <p:cNvPr id="26" name="AutoShape 8"/>
              <p:cNvSpPr/>
              <p:nvPr>
                <p:custDataLst>
                  <p:tags r:id="rId21"/>
                </p:custDataLst>
              </p:nvPr>
            </p:nvSpPr>
            <p:spPr>
              <a:xfrm>
                <a:off x="1680" y="5100"/>
                <a:ext cx="4240" cy="2000"/>
              </a:xfrm>
              <a:prstGeom prst="rect">
                <a:avLst/>
              </a:prstGeom>
              <a:noFill/>
              <a:ln w="12700" cap="flat" cmpd="sng">
                <a:noFill/>
                <a:prstDash val="solid"/>
                <a:round/>
              </a:ln>
            </p:spPr>
            <p:txBody>
              <a:bodyPr vert="horz" wrap="square" lIns="0" tIns="0" rIns="0" bIns="0" rtlCol="0" anchor="ctr" anchorCtr="0"/>
              <a:p>
                <a:pPr indent="0" algn="l">
                  <a:lnSpc>
                    <a:spcPct val="150000"/>
                  </a:lnSpc>
                  <a:defRPr/>
                </a:pPr>
                <a:r>
                  <a:rPr lang="en-US" sz="1600" b="0"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具备强大的自然语言理解与生成能力，为革新人机交互模式带来了可能。</a:t>
                </a:r>
                <a:endParaRPr lang="en-US" sz="1600" b="0"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gr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3859"/>
            <a:ext cx="12219295" cy="1013221"/>
            <a:chOff x="-128871" y="-71960"/>
            <a:chExt cx="12219295" cy="1013221"/>
          </a:xfrm>
        </p:grpSpPr>
        <p:grpSp>
          <p:nvGrpSpPr>
            <p:cNvPr id="586" name="组合 67"/>
            <p:cNvGrpSpPr/>
            <p:nvPr/>
          </p:nvGrpSpPr>
          <p:grpSpPr>
            <a:xfrm>
              <a:off x="-128871" y="-71960"/>
              <a:ext cx="12219295" cy="1013221"/>
              <a:chOff x="-128871" y="-71960"/>
              <a:chExt cx="12219295" cy="1013221"/>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2326353" y="-71960"/>
                <a:ext cx="2203382" cy="773252"/>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852069" y="48055"/>
                <a:ext cx="1771650"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a:t>
                </a:r>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进展</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sp>
        <p:nvSpPr>
          <p:cNvPr id="4" name="ïṣ1ïḑê"/>
          <p:cNvSpPr>
            <a:spLocks noGrp="1"/>
          </p:cNvSpPr>
          <p:nvPr/>
        </p:nvSpPr>
        <p:spPr>
          <a:xfrm>
            <a:off x="308610" y="862330"/>
            <a:ext cx="6560185" cy="58737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b="1" kern="1200">
                <a:solidFill>
                  <a:srgbClr val="000000"/>
                </a:solidFill>
                <a:latin typeface="Arial" panose="020B0604020202020204" pitchFamily="34" charset="0"/>
                <a:ea typeface="微软雅黑" panose="020B0503020204020204" pitchFamily="34" charset="-122"/>
                <a:cs typeface="+mn-ea"/>
              </a:defRPr>
            </a:lvl1pPr>
          </a:lstStyle>
          <a:p>
            <a:r>
              <a:rPr lang="en-US" altLang="zh-CN" sz="2700" dirty="0">
                <a:solidFill>
                  <a:srgbClr val="005825"/>
                </a:solidFill>
              </a:rPr>
              <a:t>1.2</a:t>
            </a:r>
            <a:r>
              <a:rPr lang="zh-CN" altLang="en-US" sz="2700" dirty="0">
                <a:solidFill>
                  <a:srgbClr val="005825"/>
                </a:solidFill>
              </a:rPr>
              <a:t>研究意义</a:t>
            </a:r>
            <a:endParaRPr lang="zh-CN" altLang="en-US" sz="2400">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 name="AutoShape 3"/>
          <p:cNvSpPr txBox="1"/>
          <p:nvPr/>
        </p:nvSpPr>
        <p:spPr>
          <a:xfrm>
            <a:off x="762000" y="1651000"/>
            <a:ext cx="5143500" cy="4318000"/>
          </a:xfrm>
          <a:prstGeom prst="roundRect">
            <a:avLst>
              <a:gd name="adj" fmla="val 2941"/>
            </a:avLst>
          </a:prstGeom>
          <a:noFill/>
          <a:ln w="57150">
            <a:gradFill>
              <a:gsLst>
                <a:gs pos="50000">
                  <a:schemeClr val="accent6"/>
                </a:gs>
                <a:gs pos="0">
                  <a:schemeClr val="accent6">
                    <a:lumMod val="25000"/>
                    <a:lumOff val="75000"/>
                  </a:schemeClr>
                </a:gs>
                <a:gs pos="100000">
                  <a:schemeClr val="accent6">
                    <a:lumMod val="85000"/>
                  </a:schemeClr>
                </a:gs>
              </a:gsLst>
              <a:lin ang="5400000" scaled="0"/>
            </a:gradFill>
          </a:ln>
        </p:spPr>
        <p:txBody>
          <a:bodyPr vert="horz" wrap="square" lIns="91440" tIns="45720" rIns="91440" bIns="45720" rtlCol="0" anchor="t">
            <a:noAutofit/>
          </a:bodyPr>
          <a:p>
            <a:pPr marL="285750" lvl="0" indent="-285750" algn="l">
              <a:buClrTx/>
              <a:buSzTx/>
              <a:buFont typeface="Wingdings" panose="05000000000000000000" charset="0"/>
              <a:buChar char="Ø"/>
            </a:pPr>
            <a:endParaRPr lang="zh-CN" altLang="en-US">
              <a:latin typeface="微软雅黑" panose="020B0503020204020204" pitchFamily="34" charset="-122"/>
              <a:ea typeface="微软雅黑" panose="020B0503020204020204" pitchFamily="34" charset="-122"/>
              <a:sym typeface="+mn-ea"/>
            </a:endParaRPr>
          </a:p>
        </p:txBody>
      </p:sp>
      <p:pic>
        <p:nvPicPr>
          <p:cNvPr id="5" name="Picture 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6800" y="1955800"/>
            <a:ext cx="406400" cy="406400"/>
          </a:xfrm>
          <a:prstGeom prst="rect">
            <a:avLst/>
          </a:prstGeom>
        </p:spPr>
      </p:pic>
      <p:sp>
        <p:nvSpPr>
          <p:cNvPr id="2" name="AutoShape 5"/>
          <p:cNvSpPr/>
          <p:nvPr/>
        </p:nvSpPr>
        <p:spPr>
          <a:xfrm>
            <a:off x="1574800" y="1930400"/>
            <a:ext cx="3810000" cy="457200"/>
          </a:xfrm>
          <a:prstGeom prst="rect">
            <a:avLst/>
          </a:prstGeom>
          <a:noFill/>
          <a:ln w="12700" cap="flat" cmpd="sng">
            <a:noFill/>
            <a:prstDash val="solid"/>
            <a:round/>
          </a:ln>
        </p:spPr>
        <p:txBody>
          <a:bodyPr vert="horz" wrap="square" lIns="0" tIns="0" rIns="0" bIns="0" rtlCol="0" anchor="ctr" anchorCtr="0"/>
          <a:p>
            <a:pPr indent="0" algn="l">
              <a:lnSpc>
                <a:spcPct val="125000"/>
              </a:lnSpc>
              <a:defRPr/>
            </a:pPr>
            <a:r>
              <a:rPr lang="en-US" sz="2400" b="1"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理论意义</a:t>
            </a:r>
            <a:endParaRPr lang="en-US" sz="2400" b="1"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9" name="AutoShape 8"/>
          <p:cNvSpPr/>
          <p:nvPr/>
        </p:nvSpPr>
        <p:spPr>
          <a:xfrm>
            <a:off x="1397000" y="2692400"/>
            <a:ext cx="4191000" cy="635000"/>
          </a:xfrm>
          <a:prstGeom prst="rect">
            <a:avLst/>
          </a:prstGeom>
          <a:noFill/>
          <a:ln w="12700" cap="flat" cmpd="sng">
            <a:noFill/>
            <a:prstDash val="solid"/>
            <a:round/>
          </a:ln>
        </p:spPr>
        <p:txBody>
          <a:bodyPr vert="horz" wrap="square" lIns="0" tIns="0" rIns="0" bIns="0" rtlCol="0" anchor="ctr" anchorCtr="0"/>
          <a:p>
            <a:pPr marL="285750" indent="-285750" algn="l">
              <a:lnSpc>
                <a:spcPct val="150000"/>
              </a:lnSpc>
              <a:buFont typeface="Wingdings" panose="05000000000000000000" charset="0"/>
              <a:buChar char="Ø"/>
              <a:defRPr/>
            </a:pPr>
            <a:r>
              <a:rPr lang="en-US" b="0"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推动地图学与人工智能的交叉融合研究，拓展学科边界。</a:t>
            </a:r>
            <a:endParaRPr lang="en-US" b="0"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18" name="AutoShape 10"/>
          <p:cNvSpPr/>
          <p:nvPr/>
        </p:nvSpPr>
        <p:spPr>
          <a:xfrm>
            <a:off x="1397000" y="3759200"/>
            <a:ext cx="4191000" cy="635000"/>
          </a:xfrm>
          <a:prstGeom prst="rect">
            <a:avLst/>
          </a:prstGeom>
          <a:noFill/>
          <a:ln w="12700" cap="flat" cmpd="sng">
            <a:noFill/>
            <a:prstDash val="solid"/>
            <a:round/>
          </a:ln>
        </p:spPr>
        <p:txBody>
          <a:bodyPr vert="horz" wrap="square" lIns="0" tIns="0" rIns="0" bIns="0" rtlCol="0" anchor="ctr" anchorCtr="0">
            <a:noAutofit/>
          </a:bodyPr>
          <a:p>
            <a:pPr marL="285750" lvl="0" indent="-285750" algn="l">
              <a:lnSpc>
                <a:spcPct val="150000"/>
              </a:lnSpc>
              <a:buClrTx/>
              <a:buSzTx/>
              <a:buFont typeface="Wingdings" panose="05000000000000000000" charset="0"/>
              <a:buChar char="Ø"/>
              <a:defRPr/>
            </a:pPr>
            <a:r>
              <a:rPr lang="en-US">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探索大语言模型在地图学领域的垂直应用与优化方案。</a:t>
            </a:r>
            <a:endParaRPr lang="en-US">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22" name="AutoShape 12"/>
          <p:cNvSpPr/>
          <p:nvPr/>
        </p:nvSpPr>
        <p:spPr>
          <a:xfrm>
            <a:off x="1397000" y="4826000"/>
            <a:ext cx="4191000" cy="635000"/>
          </a:xfrm>
          <a:prstGeom prst="rect">
            <a:avLst/>
          </a:prstGeom>
          <a:noFill/>
          <a:ln w="12700" cap="flat" cmpd="sng">
            <a:noFill/>
            <a:prstDash val="solid"/>
            <a:round/>
          </a:ln>
        </p:spPr>
        <p:txBody>
          <a:bodyPr vert="horz" wrap="square" lIns="0" tIns="0" rIns="0" bIns="0" rtlCol="0" anchor="ctr" anchorCtr="0">
            <a:noAutofit/>
          </a:bodyPr>
          <a:p>
            <a:pPr marL="285750" lvl="0" indent="-285750" algn="l">
              <a:lnSpc>
                <a:spcPct val="150000"/>
              </a:lnSpc>
              <a:buClrTx/>
              <a:buSzTx/>
              <a:buFont typeface="Wingdings" panose="05000000000000000000" charset="0"/>
              <a:buChar char="Ø"/>
              <a:defRPr/>
            </a:pPr>
            <a:r>
              <a:rPr lang="en-US">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构建面向智能制图的领域知识图谱理论框架。</a:t>
            </a:r>
            <a:endParaRPr lang="en-US">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23" name="AutoShape 13"/>
          <p:cNvSpPr txBox="1"/>
          <p:nvPr/>
        </p:nvSpPr>
        <p:spPr>
          <a:xfrm>
            <a:off x="6286500" y="1651000"/>
            <a:ext cx="5143500" cy="4318000"/>
          </a:xfrm>
          <a:prstGeom prst="roundRect">
            <a:avLst>
              <a:gd name="adj" fmla="val 2941"/>
            </a:avLst>
          </a:prstGeom>
          <a:noFill/>
          <a:ln w="57150">
            <a:gradFill>
              <a:gsLst>
                <a:gs pos="50000">
                  <a:schemeClr val="accent6"/>
                </a:gs>
                <a:gs pos="0">
                  <a:schemeClr val="accent6">
                    <a:lumMod val="25000"/>
                    <a:lumOff val="75000"/>
                  </a:schemeClr>
                </a:gs>
                <a:gs pos="100000">
                  <a:schemeClr val="accent6">
                    <a:lumMod val="85000"/>
                  </a:schemeClr>
                </a:gs>
              </a:gsLst>
              <a:lin ang="5400000" scaled="0"/>
            </a:gradFill>
          </a:ln>
        </p:spPr>
        <p:txBody>
          <a:bodyPr vert="horz" wrap="square" lIns="91440" tIns="45720" rIns="91440" bIns="45720" rtlCol="0" anchor="t">
            <a:noAutofit/>
          </a:bodyPr>
          <a:p>
            <a:pPr marL="285750" lvl="0" indent="-285750" algn="l">
              <a:buClrTx/>
              <a:buSzTx/>
              <a:buFont typeface="Wingdings" panose="05000000000000000000" charset="0"/>
              <a:buChar char="Ø"/>
            </a:pPr>
            <a:endParaRPr lang="zh-CN" altLang="en-US">
              <a:latin typeface="微软雅黑" panose="020B0503020204020204" pitchFamily="34" charset="-122"/>
              <a:ea typeface="微软雅黑" panose="020B0503020204020204" pitchFamily="34" charset="-122"/>
              <a:sym typeface="+mn-ea"/>
            </a:endParaRPr>
          </a:p>
        </p:txBody>
      </p:sp>
      <p:pic>
        <p:nvPicPr>
          <p:cNvPr id="2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91300" y="1955800"/>
            <a:ext cx="406400" cy="406400"/>
          </a:xfrm>
          <a:prstGeom prst="rect">
            <a:avLst/>
          </a:prstGeom>
        </p:spPr>
      </p:pic>
      <p:sp>
        <p:nvSpPr>
          <p:cNvPr id="25" name="AutoShape 15"/>
          <p:cNvSpPr/>
          <p:nvPr/>
        </p:nvSpPr>
        <p:spPr>
          <a:xfrm>
            <a:off x="7099300" y="1930400"/>
            <a:ext cx="3810000" cy="457200"/>
          </a:xfrm>
          <a:prstGeom prst="rect">
            <a:avLst/>
          </a:prstGeom>
          <a:noFill/>
          <a:ln w="12700" cap="flat" cmpd="sng">
            <a:noFill/>
            <a:prstDash val="solid"/>
            <a:round/>
          </a:ln>
        </p:spPr>
        <p:txBody>
          <a:bodyPr vert="horz" wrap="square" lIns="0" tIns="0" rIns="0" bIns="0" rtlCol="0" anchor="ctr" anchorCtr="0"/>
          <a:p>
            <a:pPr indent="0" algn="l">
              <a:lnSpc>
                <a:spcPct val="125000"/>
              </a:lnSpc>
              <a:defRPr/>
            </a:pPr>
            <a:r>
              <a:rPr lang="en-US" sz="2400" b="1"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实践意义</a:t>
            </a:r>
            <a:endParaRPr lang="en-US" sz="2400" b="1"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26" name="AutoShape 18"/>
          <p:cNvSpPr/>
          <p:nvPr/>
        </p:nvSpPr>
        <p:spPr>
          <a:xfrm>
            <a:off x="6921500" y="2692400"/>
            <a:ext cx="4191000" cy="635000"/>
          </a:xfrm>
          <a:prstGeom prst="rect">
            <a:avLst/>
          </a:prstGeom>
          <a:noFill/>
          <a:ln w="12700" cap="flat" cmpd="sng">
            <a:noFill/>
            <a:prstDash val="solid"/>
            <a:round/>
          </a:ln>
        </p:spPr>
        <p:txBody>
          <a:bodyPr vert="horz" wrap="square" lIns="0" tIns="0" rIns="0" bIns="0" rtlCol="0" anchor="ctr" anchorCtr="0">
            <a:noAutofit/>
          </a:bodyPr>
          <a:p>
            <a:pPr marL="285750" lvl="0" indent="-285750" algn="l">
              <a:lnSpc>
                <a:spcPct val="150000"/>
              </a:lnSpc>
              <a:buClrTx/>
              <a:buSzTx/>
              <a:buFont typeface="Wingdings" panose="05000000000000000000" charset="0"/>
              <a:buChar char="Ø"/>
              <a:defRPr/>
            </a:pPr>
            <a:r>
              <a:rPr lang="en-US">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显著降低地图制作门槛，满足教育、旅游等多场景的个性化需求</a:t>
            </a:r>
            <a:r>
              <a:rPr lang="en-US">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a:t>
            </a:r>
            <a:endParaRPr lang="en-US">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27" name="AutoShape 20"/>
          <p:cNvSpPr/>
          <p:nvPr/>
        </p:nvSpPr>
        <p:spPr>
          <a:xfrm>
            <a:off x="6921500" y="3759200"/>
            <a:ext cx="4191000" cy="635000"/>
          </a:xfrm>
          <a:prstGeom prst="rect">
            <a:avLst/>
          </a:prstGeom>
          <a:noFill/>
          <a:ln w="12700" cap="flat" cmpd="sng">
            <a:noFill/>
            <a:prstDash val="solid"/>
            <a:round/>
          </a:ln>
        </p:spPr>
        <p:txBody>
          <a:bodyPr vert="horz" wrap="square" lIns="0" tIns="0" rIns="0" bIns="0" rtlCol="0" anchor="ctr" anchorCtr="0">
            <a:noAutofit/>
          </a:bodyPr>
          <a:p>
            <a:pPr marL="285750" lvl="0" indent="-285750" algn="l">
              <a:lnSpc>
                <a:spcPct val="150000"/>
              </a:lnSpc>
              <a:buClrTx/>
              <a:buSzTx/>
              <a:buFont typeface="Wingdings" panose="05000000000000000000" charset="0"/>
              <a:buChar char="Ø"/>
              <a:defRPr/>
            </a:pPr>
            <a:r>
              <a:rPr lang="en-US">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成为专业制图人员的智能助手，自动化处理重复任务，提升效率</a:t>
            </a:r>
            <a:r>
              <a:rPr lang="en-US">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a:t>
            </a:r>
            <a:endParaRPr lang="en-US">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28" name="AutoShape 22"/>
          <p:cNvSpPr/>
          <p:nvPr/>
        </p:nvSpPr>
        <p:spPr>
          <a:xfrm>
            <a:off x="6921500" y="4826000"/>
            <a:ext cx="4191000" cy="635000"/>
          </a:xfrm>
          <a:prstGeom prst="rect">
            <a:avLst/>
          </a:prstGeom>
          <a:noFill/>
          <a:ln w="12700" cap="flat" cmpd="sng">
            <a:noFill/>
            <a:prstDash val="solid"/>
            <a:round/>
          </a:ln>
        </p:spPr>
        <p:txBody>
          <a:bodyPr vert="horz" wrap="square" lIns="0" tIns="0" rIns="0" bIns="0" rtlCol="0" anchor="ctr" anchorCtr="0">
            <a:noAutofit/>
          </a:bodyPr>
          <a:p>
            <a:pPr marL="285750" lvl="0" indent="-285750" algn="l">
              <a:lnSpc>
                <a:spcPct val="150000"/>
              </a:lnSpc>
              <a:buClrTx/>
              <a:buSzTx/>
              <a:buFont typeface="Wingdings" panose="05000000000000000000" charset="0"/>
              <a:buChar char="Ø"/>
              <a:defRPr/>
            </a:pPr>
            <a:r>
              <a:rPr lang="en-US">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释放公众的地图想象力，促进空间信息的民主化与普及。</a:t>
            </a:r>
            <a:endParaRPr lang="en-US">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任意多边形 9"/>
          <p:cNvSpPr/>
          <p:nvPr/>
        </p:nvSpPr>
        <p:spPr>
          <a:xfrm rot="19740000">
            <a:off x="-2280399" y="-122827"/>
            <a:ext cx="4768982" cy="7335937"/>
          </a:xfrm>
          <a:custGeom>
            <a:avLst/>
            <a:gdLst/>
            <a:ahLst/>
            <a:cxnLst>
              <a:cxn ang="3">
                <a:pos x="hc" y="t"/>
              </a:cxn>
              <a:cxn ang="cd2">
                <a:pos x="l" y="vc"/>
              </a:cxn>
              <a:cxn ang="cd4">
                <a:pos x="hc" y="b"/>
              </a:cxn>
              <a:cxn ang="0">
                <a:pos x="r" y="vc"/>
              </a:cxn>
            </a:cxnLst>
            <a:rect l="l" t="t" r="r" b="b"/>
            <a:pathLst>
              <a:path w="7510" h="11553">
                <a:moveTo>
                  <a:pt x="6301" y="0"/>
                </a:moveTo>
                <a:lnTo>
                  <a:pt x="7510" y="0"/>
                </a:lnTo>
                <a:lnTo>
                  <a:pt x="7510" y="7861"/>
                </a:lnTo>
                <a:lnTo>
                  <a:pt x="7510" y="7861"/>
                </a:lnTo>
                <a:lnTo>
                  <a:pt x="7510" y="7861"/>
                </a:lnTo>
                <a:lnTo>
                  <a:pt x="7510" y="7863"/>
                </a:lnTo>
                <a:lnTo>
                  <a:pt x="7507" y="7863"/>
                </a:lnTo>
                <a:lnTo>
                  <a:pt x="568" y="11553"/>
                </a:lnTo>
                <a:lnTo>
                  <a:pt x="0" y="10485"/>
                </a:lnTo>
                <a:lnTo>
                  <a:pt x="6301" y="7135"/>
                </a:lnTo>
                <a:lnTo>
                  <a:pt x="6301" y="0"/>
                </a:lnTo>
                <a:close/>
              </a:path>
            </a:pathLst>
          </a:custGeom>
          <a:solidFill>
            <a:srgbClr val="00481C">
              <a:alpha val="5000"/>
            </a:srgbClr>
          </a:solidFill>
          <a:ln>
            <a:solidFill>
              <a:srgbClr val="00481C">
                <a:alpha val="8000"/>
              </a:srgb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1" name="任意多边形 10"/>
          <p:cNvSpPr/>
          <p:nvPr/>
        </p:nvSpPr>
        <p:spPr>
          <a:xfrm rot="19740000">
            <a:off x="-1351394" y="-122827"/>
            <a:ext cx="4768982" cy="7335937"/>
          </a:xfrm>
          <a:custGeom>
            <a:avLst/>
            <a:gdLst/>
            <a:ahLst/>
            <a:cxnLst>
              <a:cxn ang="3">
                <a:pos x="hc" y="t"/>
              </a:cxn>
              <a:cxn ang="cd2">
                <a:pos x="l" y="vc"/>
              </a:cxn>
              <a:cxn ang="cd4">
                <a:pos x="hc" y="b"/>
              </a:cxn>
              <a:cxn ang="0">
                <a:pos x="r" y="vc"/>
              </a:cxn>
            </a:cxnLst>
            <a:rect l="l" t="t" r="r" b="b"/>
            <a:pathLst>
              <a:path w="7510" h="11553">
                <a:moveTo>
                  <a:pt x="6301" y="0"/>
                </a:moveTo>
                <a:lnTo>
                  <a:pt x="7510" y="0"/>
                </a:lnTo>
                <a:lnTo>
                  <a:pt x="7510" y="7861"/>
                </a:lnTo>
                <a:lnTo>
                  <a:pt x="7510" y="7861"/>
                </a:lnTo>
                <a:lnTo>
                  <a:pt x="7510" y="7861"/>
                </a:lnTo>
                <a:lnTo>
                  <a:pt x="7510" y="7863"/>
                </a:lnTo>
                <a:lnTo>
                  <a:pt x="7507" y="7863"/>
                </a:lnTo>
                <a:lnTo>
                  <a:pt x="568" y="11553"/>
                </a:lnTo>
                <a:lnTo>
                  <a:pt x="0" y="10485"/>
                </a:lnTo>
                <a:lnTo>
                  <a:pt x="6301" y="7135"/>
                </a:lnTo>
                <a:lnTo>
                  <a:pt x="6301" y="0"/>
                </a:lnTo>
                <a:close/>
              </a:path>
            </a:pathLst>
          </a:custGeom>
          <a:gradFill>
            <a:gsLst>
              <a:gs pos="0">
                <a:schemeClr val="bg1"/>
              </a:gs>
              <a:gs pos="100000">
                <a:srgbClr val="00481C"/>
              </a:gs>
            </a:gsLst>
            <a:lin ang="22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2" name="标题 1"/>
          <p:cNvSpPr>
            <a:spLocks noGrp="1"/>
          </p:cNvSpPr>
          <p:nvPr>
            <p:ph type="title"/>
          </p:nvPr>
        </p:nvSpPr>
        <p:spPr>
          <a:xfrm>
            <a:off x="5147945" y="1499235"/>
            <a:ext cx="4362450" cy="1325880"/>
          </a:xfrm>
        </p:spPr>
        <p:txBody>
          <a:bodyPr>
            <a:normAutofit fontScale="90000"/>
          </a:bodyPr>
          <a:p>
            <a:r>
              <a:rPr lang="en-US" altLang="zh-CN" sz="8000" b="1">
                <a:solidFill>
                  <a:srgbClr val="00481C"/>
                </a:solidFill>
                <a:latin typeface="Arial" panose="020B0604020202020204" pitchFamily="34" charset="0"/>
                <a:cs typeface="Arial" panose="020B0604020202020204" pitchFamily="34" charset="0"/>
              </a:rPr>
              <a:t>PART </a:t>
            </a:r>
            <a:r>
              <a:rPr lang="en-US" altLang="zh-CN" sz="13335" b="1" i="1">
                <a:solidFill>
                  <a:srgbClr val="00481C"/>
                </a:solidFill>
                <a:latin typeface="Arial" panose="020B0604020202020204" pitchFamily="34" charset="0"/>
                <a:cs typeface="Arial" panose="020B0604020202020204" pitchFamily="34" charset="0"/>
              </a:rPr>
              <a:t>2</a:t>
            </a:r>
            <a:endParaRPr lang="en-US" altLang="zh-CN" sz="13335" b="1" i="1">
              <a:solidFill>
                <a:srgbClr val="00481C"/>
              </a:solidFill>
              <a:latin typeface="Arial" panose="020B0604020202020204" pitchFamily="34" charset="0"/>
              <a:cs typeface="Arial" panose="020B0604020202020204" pitchFamily="34" charset="0"/>
            </a:endParaRPr>
          </a:p>
        </p:txBody>
      </p:sp>
      <p:sp>
        <p:nvSpPr>
          <p:cNvPr id="6" name="任意多边形 5"/>
          <p:cNvSpPr/>
          <p:nvPr/>
        </p:nvSpPr>
        <p:spPr>
          <a:xfrm rot="19740000">
            <a:off x="-3067685" y="-1120140"/>
            <a:ext cx="6064885" cy="9330055"/>
          </a:xfrm>
          <a:custGeom>
            <a:avLst/>
            <a:gdLst/>
            <a:ahLst/>
            <a:cxnLst>
              <a:cxn ang="3">
                <a:pos x="hc" y="t"/>
              </a:cxn>
              <a:cxn ang="cd2">
                <a:pos x="l" y="vc"/>
              </a:cxn>
              <a:cxn ang="cd4">
                <a:pos x="hc" y="b"/>
              </a:cxn>
              <a:cxn ang="0">
                <a:pos x="r" y="vc"/>
              </a:cxn>
            </a:cxnLst>
            <a:rect l="l" t="t" r="r" b="b"/>
            <a:pathLst>
              <a:path w="7510" h="11553">
                <a:moveTo>
                  <a:pt x="6301" y="0"/>
                </a:moveTo>
                <a:lnTo>
                  <a:pt x="7510" y="0"/>
                </a:lnTo>
                <a:lnTo>
                  <a:pt x="7510" y="7861"/>
                </a:lnTo>
                <a:lnTo>
                  <a:pt x="7510" y="7861"/>
                </a:lnTo>
                <a:lnTo>
                  <a:pt x="7510" y="7861"/>
                </a:lnTo>
                <a:lnTo>
                  <a:pt x="7510" y="7863"/>
                </a:lnTo>
                <a:lnTo>
                  <a:pt x="7507" y="7863"/>
                </a:lnTo>
                <a:lnTo>
                  <a:pt x="568" y="11553"/>
                </a:lnTo>
                <a:lnTo>
                  <a:pt x="0" y="10485"/>
                </a:lnTo>
                <a:lnTo>
                  <a:pt x="6301" y="7135"/>
                </a:lnTo>
                <a:lnTo>
                  <a:pt x="6301" y="0"/>
                </a:lnTo>
                <a:close/>
              </a:path>
            </a:pathLst>
          </a:custGeom>
          <a:solidFill>
            <a:srgbClr val="00481C"/>
          </a:solidFill>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cxnSp>
        <p:nvCxnSpPr>
          <p:cNvPr id="12" name="直接连接符 11"/>
          <p:cNvCxnSpPr/>
          <p:nvPr/>
        </p:nvCxnSpPr>
        <p:spPr>
          <a:xfrm flipV="1">
            <a:off x="4452620" y="2860675"/>
            <a:ext cx="5057775" cy="19050"/>
          </a:xfrm>
          <a:prstGeom prst="line">
            <a:avLst/>
          </a:prstGeom>
          <a:ln>
            <a:solidFill>
              <a:srgbClr val="00481C"/>
            </a:solidFill>
          </a:ln>
        </p:spPr>
        <p:style>
          <a:lnRef idx="2">
            <a:schemeClr val="accent1"/>
          </a:lnRef>
          <a:fillRef idx="0">
            <a:srgbClr val="FFFFFF"/>
          </a:fillRef>
          <a:effectRef idx="0">
            <a:srgbClr val="FFFFFF"/>
          </a:effectRef>
          <a:fontRef idx="minor">
            <a:schemeClr val="tx1"/>
          </a:fontRef>
        </p:style>
      </p:cxnSp>
      <p:sp>
        <p:nvSpPr>
          <p:cNvPr id="13" name="文本框 12"/>
          <p:cNvSpPr txBox="1"/>
          <p:nvPr/>
        </p:nvSpPr>
        <p:spPr>
          <a:xfrm>
            <a:off x="5071745" y="3528695"/>
            <a:ext cx="4324350" cy="1198880"/>
          </a:xfrm>
          <a:prstGeom prst="rect">
            <a:avLst/>
          </a:prstGeom>
          <a:noFill/>
        </p:spPr>
        <p:txBody>
          <a:bodyPr wrap="square" rtlCol="0">
            <a:spAutoFit/>
          </a:bodyPr>
          <a:p>
            <a:r>
              <a:rPr lang="zh-CN" altLang="en-US" sz="7200">
                <a:solidFill>
                  <a:srgbClr val="00481C"/>
                </a:solidFill>
                <a:latin typeface="微软雅黑" panose="020B0503020204020204" pitchFamily="34" charset="-122"/>
                <a:ea typeface="微软雅黑" panose="020B0503020204020204" pitchFamily="34" charset="-122"/>
              </a:rPr>
              <a:t>项目</a:t>
            </a:r>
            <a:r>
              <a:rPr lang="zh-CN" altLang="en-US" sz="7200">
                <a:solidFill>
                  <a:srgbClr val="00481C"/>
                </a:solidFill>
                <a:latin typeface="微软雅黑" panose="020B0503020204020204" pitchFamily="34" charset="-122"/>
                <a:ea typeface="微软雅黑" panose="020B0503020204020204" pitchFamily="34" charset="-122"/>
              </a:rPr>
              <a:t>方案</a:t>
            </a:r>
            <a:endParaRPr lang="zh-CN" altLang="en-US" sz="7200">
              <a:solidFill>
                <a:srgbClr val="00481C"/>
              </a:solidFill>
              <a:latin typeface="微软雅黑" panose="020B0503020204020204" pitchFamily="34" charset="-122"/>
              <a:ea typeface="微软雅黑" panose="020B0503020204020204" pitchFamily="34" charset="-122"/>
            </a:endParaRPr>
          </a:p>
        </p:txBody>
      </p:sp>
      <p:grpSp>
        <p:nvGrpSpPr>
          <p:cNvPr id="165" name="组合 39"/>
          <p:cNvGrpSpPr/>
          <p:nvPr/>
        </p:nvGrpSpPr>
        <p:grpSpPr>
          <a:xfrm>
            <a:off x="9480096" y="160513"/>
            <a:ext cx="2487599" cy="771929"/>
            <a:chOff x="4077923" y="171807"/>
            <a:chExt cx="4420435" cy="1371709"/>
          </a:xfrm>
        </p:grpSpPr>
        <p:grpSp>
          <p:nvGrpSpPr>
            <p:cNvPr id="166" name="组合 40"/>
            <p:cNvGrpSpPr/>
            <p:nvPr/>
          </p:nvGrpSpPr>
          <p:grpSpPr>
            <a:xfrm>
              <a:off x="4077923" y="171807"/>
              <a:ext cx="4260493" cy="1371709"/>
              <a:chOff x="6331308" y="1189619"/>
              <a:chExt cx="5481392" cy="1764794"/>
            </a:xfrm>
          </p:grpSpPr>
          <p:pic>
            <p:nvPicPr>
              <p:cNvPr id="167" name="图片 42"/>
              <p:cNvPicPr>
                <a:picLocks noChangeAspect="1"/>
              </p:cNvPicPr>
              <p:nvPr/>
            </p:nvPicPr>
            <p:blipFill>
              <a:blip r:embed="rId1"/>
              <a:srcRect/>
              <a:stretch>
                <a:fillRect/>
              </a:stretch>
            </p:blipFill>
            <p:spPr>
              <a:xfrm>
                <a:off x="6331308" y="1189619"/>
                <a:ext cx="1791803" cy="1764794"/>
              </a:xfrm>
              <a:prstGeom prst="rect">
                <a:avLst/>
              </a:prstGeom>
            </p:spPr>
          </p:pic>
          <p:pic>
            <p:nvPicPr>
              <p:cNvPr id="168" name="图片 43"/>
              <p:cNvPicPr>
                <a:picLocks noChangeAspect="1"/>
              </p:cNvPicPr>
              <p:nvPr/>
            </p:nvPicPr>
            <p:blipFill>
              <a:blip r:embed="rId2"/>
              <a:srcRect/>
              <a:stretch>
                <a:fillRect/>
              </a:stretch>
            </p:blipFill>
            <p:spPr>
              <a:xfrm>
                <a:off x="8302517" y="1422328"/>
                <a:ext cx="3510183" cy="965303"/>
              </a:xfrm>
              <a:prstGeom prst="rect">
                <a:avLst/>
              </a:prstGeom>
            </p:spPr>
          </p:pic>
        </p:grpSp>
        <p:sp>
          <p:nvSpPr>
            <p:cNvPr id="169" name="矩形 41"/>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grpSp>
        <p:nvGrpSpPr>
          <p:cNvPr id="20" name="组合 19"/>
          <p:cNvGrpSpPr/>
          <p:nvPr/>
        </p:nvGrpSpPr>
        <p:grpSpPr>
          <a:xfrm>
            <a:off x="10212705" y="5683885"/>
            <a:ext cx="1419225" cy="768350"/>
            <a:chOff x="15240" y="8543"/>
            <a:chExt cx="2235" cy="1210"/>
          </a:xfrm>
        </p:grpSpPr>
        <p:sp>
          <p:nvSpPr>
            <p:cNvPr id="14" name="矩形 13"/>
            <p:cNvSpPr/>
            <p:nvPr/>
          </p:nvSpPr>
          <p:spPr>
            <a:xfrm>
              <a:off x="16458" y="8543"/>
              <a:ext cx="409" cy="408"/>
            </a:xfrm>
            <a:prstGeom prst="rect">
              <a:avLst/>
            </a:prstGeom>
            <a:solidFill>
              <a:srgbClr val="00481C">
                <a:alpha val="5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5" name="矩形 14"/>
            <p:cNvSpPr/>
            <p:nvPr/>
          </p:nvSpPr>
          <p:spPr>
            <a:xfrm>
              <a:off x="17067" y="8543"/>
              <a:ext cx="409" cy="408"/>
            </a:xfrm>
            <a:prstGeom prst="rect">
              <a:avLst/>
            </a:prstGeom>
            <a:solidFill>
              <a:srgbClr val="00481C">
                <a:alpha val="36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6" name="矩形 15"/>
            <p:cNvSpPr/>
            <p:nvPr/>
          </p:nvSpPr>
          <p:spPr>
            <a:xfrm>
              <a:off x="17067" y="9345"/>
              <a:ext cx="409" cy="408"/>
            </a:xfrm>
            <a:prstGeom prst="rect">
              <a:avLst/>
            </a:prstGeom>
            <a:solidFill>
              <a:srgbClr val="00481C">
                <a:alpha val="89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7" name="矩形 16"/>
            <p:cNvSpPr/>
            <p:nvPr/>
          </p:nvSpPr>
          <p:spPr>
            <a:xfrm>
              <a:off x="16458" y="9345"/>
              <a:ext cx="409" cy="408"/>
            </a:xfrm>
            <a:prstGeom prst="rect">
              <a:avLst/>
            </a:prstGeom>
            <a:solidFill>
              <a:srgbClr val="00481C">
                <a:alpha val="64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8" name="矩形 17"/>
            <p:cNvSpPr/>
            <p:nvPr/>
          </p:nvSpPr>
          <p:spPr>
            <a:xfrm>
              <a:off x="15849" y="9345"/>
              <a:ext cx="409" cy="408"/>
            </a:xfrm>
            <a:prstGeom prst="rect">
              <a:avLst/>
            </a:prstGeom>
            <a:solidFill>
              <a:srgbClr val="00481C">
                <a:alpha val="7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9" name="矩形 18"/>
            <p:cNvSpPr/>
            <p:nvPr/>
          </p:nvSpPr>
          <p:spPr>
            <a:xfrm>
              <a:off x="15240" y="9345"/>
              <a:ext cx="409" cy="408"/>
            </a:xfrm>
            <a:prstGeom prst="rect">
              <a:avLst/>
            </a:prstGeom>
            <a:solidFill>
              <a:srgbClr val="00481C">
                <a:alpha val="2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pic>
        <p:nvPicPr>
          <p:cNvPr id="2" name="图片 13"/>
          <p:cNvPicPr>
            <a:picLocks noChangeAspect="1"/>
          </p:cNvPicPr>
          <p:nvPr/>
        </p:nvPicPr>
        <p:blipFill>
          <a:blip r:embed="rId1"/>
          <a:stretch>
            <a:fillRect/>
          </a:stretch>
        </p:blipFill>
        <p:spPr>
          <a:xfrm>
            <a:off x="1598295" y="918845"/>
            <a:ext cx="9168765" cy="5681980"/>
          </a:xfrm>
          <a:prstGeom prst="rect">
            <a:avLst/>
          </a:prstGeom>
          <a:noFill/>
          <a:ln w="9525">
            <a:noFill/>
          </a:ln>
        </p:spPr>
      </p:pic>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2"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4529489" y="-59933"/>
                <a:ext cx="242760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984149" y="50595"/>
                <a:ext cx="1771650"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a:t>
                </a:r>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进展</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3"/>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4"/>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sp>
        <p:nvSpPr>
          <p:cNvPr id="107" name="文本框 106"/>
          <p:cNvSpPr txBox="1"/>
          <p:nvPr/>
        </p:nvSpPr>
        <p:spPr>
          <a:xfrm>
            <a:off x="205105" y="843280"/>
            <a:ext cx="3215640" cy="521970"/>
          </a:xfrm>
          <a:prstGeom prst="rect">
            <a:avLst/>
          </a:prstGeom>
          <a:noFill/>
        </p:spPr>
        <p:txBody>
          <a:bodyPr wrap="square" rtlCol="0" anchor="t">
            <a:spAutoFit/>
          </a:bodyPr>
          <a:p>
            <a:r>
              <a:rPr lang="en-US" altLang="zh-CN"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2.2</a:t>
            </a:r>
            <a:r>
              <a:rPr lang="zh-CN" altLang="en-US"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总体</a:t>
            </a:r>
            <a:r>
              <a:rPr lang="zh-CN" altLang="en-US"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框架</a:t>
            </a:r>
            <a:endParaRPr lang="zh-CN" altLang="en-US"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4529489" y="-59933"/>
                <a:ext cx="242760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984149" y="50595"/>
                <a:ext cx="1771650"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a:t>
                </a:r>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进展</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sp>
        <p:nvSpPr>
          <p:cNvPr id="107" name="文本框 106"/>
          <p:cNvSpPr txBox="1"/>
          <p:nvPr/>
        </p:nvSpPr>
        <p:spPr>
          <a:xfrm>
            <a:off x="205105" y="843280"/>
            <a:ext cx="5324475" cy="521970"/>
          </a:xfrm>
          <a:prstGeom prst="rect">
            <a:avLst/>
          </a:prstGeom>
          <a:noFill/>
        </p:spPr>
        <p:txBody>
          <a:bodyPr wrap="square" rtlCol="0" anchor="t">
            <a:spAutoFit/>
          </a:bodyPr>
          <a:p>
            <a:r>
              <a:rPr lang="en-US" altLang="zh-CN"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2.2.1 </a:t>
            </a:r>
            <a:r>
              <a:rPr lang="zh-CN" altLang="en-US"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知识驱动</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800" b="1">
                <a:solidFill>
                  <a:srgbClr val="000000"/>
                </a:solidFill>
                <a:latin typeface="微软雅黑" panose="020B0503020204020204" pitchFamily="34" charset="-122"/>
                <a:ea typeface="微软雅黑" panose="020B0503020204020204" pitchFamily="34" charset="-122"/>
                <a:sym typeface="+mn-ea"/>
              </a:rPr>
              <a:t>构建知识图谱</a:t>
            </a:r>
            <a:endParaRPr lang="zh-CN" altLang="en-US" sz="28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图片 -2147482615"/>
          <p:cNvPicPr>
            <a:picLocks noChangeAspect="1"/>
          </p:cNvPicPr>
          <p:nvPr/>
        </p:nvPicPr>
        <p:blipFill>
          <a:blip r:embed="rId4"/>
          <a:stretch>
            <a:fillRect/>
          </a:stretch>
        </p:blipFill>
        <p:spPr>
          <a:xfrm>
            <a:off x="4780280" y="1307465"/>
            <a:ext cx="7270115" cy="4848225"/>
          </a:xfrm>
          <a:prstGeom prst="rect">
            <a:avLst/>
          </a:prstGeom>
          <a:noFill/>
          <a:ln w="9525">
            <a:noFill/>
          </a:ln>
        </p:spPr>
      </p:pic>
      <p:grpSp>
        <p:nvGrpSpPr>
          <p:cNvPr id="4" name="组合 3"/>
          <p:cNvGrpSpPr/>
          <p:nvPr/>
        </p:nvGrpSpPr>
        <p:grpSpPr>
          <a:xfrm>
            <a:off x="509270" y="1391920"/>
            <a:ext cx="4585335" cy="460375"/>
            <a:chOff x="846" y="2840"/>
            <a:chExt cx="7221" cy="725"/>
          </a:xfrm>
        </p:grpSpPr>
        <p:pic>
          <p:nvPicPr>
            <p:cNvPr id="11" name="图片 10" descr="1"/>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846" y="2849"/>
              <a:ext cx="703" cy="703"/>
            </a:xfrm>
            <a:prstGeom prst="rect">
              <a:avLst/>
            </a:prstGeom>
          </p:spPr>
        </p:pic>
        <p:sp>
          <p:nvSpPr>
            <p:cNvPr id="9" name="文本框 8"/>
            <p:cNvSpPr txBox="1"/>
            <p:nvPr>
              <p:custDataLst>
                <p:tags r:id="rId8"/>
              </p:custDataLst>
            </p:nvPr>
          </p:nvSpPr>
          <p:spPr>
            <a:xfrm>
              <a:off x="1667" y="2840"/>
              <a:ext cx="6400" cy="725"/>
            </a:xfrm>
            <a:prstGeom prst="rect">
              <a:avLst/>
            </a:prstGeom>
            <a:noFill/>
          </p:spPr>
          <p:txBody>
            <a:bodyPr wrap="square" rtlCol="0">
              <a:spAutoFit/>
            </a:bodyPr>
            <a:p>
              <a:r>
                <a:rPr lang="zh-CN" altLang="en-US" sz="2400" b="1">
                  <a:latin typeface="微软雅黑" panose="020B0503020204020204" pitchFamily="34" charset="-122"/>
                  <a:ea typeface="微软雅黑" panose="020B0503020204020204" pitchFamily="34" charset="-122"/>
                </a:rPr>
                <a:t>研究目的</a:t>
              </a:r>
              <a:endParaRPr lang="zh-CN" altLang="en-US" sz="2400" b="1">
                <a:latin typeface="微软雅黑" panose="020B0503020204020204" pitchFamily="34" charset="-122"/>
                <a:ea typeface="微软雅黑" panose="020B0503020204020204" pitchFamily="34" charset="-122"/>
              </a:endParaRPr>
            </a:p>
          </p:txBody>
        </p:sp>
      </p:grpSp>
      <p:sp>
        <p:nvSpPr>
          <p:cNvPr id="17" name="AutoShape 9"/>
          <p:cNvSpPr/>
          <p:nvPr>
            <p:custDataLst>
              <p:tags r:id="rId9"/>
            </p:custDataLst>
          </p:nvPr>
        </p:nvSpPr>
        <p:spPr>
          <a:xfrm>
            <a:off x="983615" y="1837690"/>
            <a:ext cx="4003040" cy="901700"/>
          </a:xfrm>
          <a:prstGeom prst="rect">
            <a:avLst/>
          </a:prstGeom>
          <a:noFill/>
          <a:ln w="12700" cap="flat" cmpd="sng">
            <a:noFill/>
            <a:prstDash val="solid"/>
            <a:round/>
          </a:ln>
        </p:spPr>
        <p:txBody>
          <a:bodyPr vert="horz" wrap="square" lIns="0" tIns="0" rIns="0" bIns="0" rtlCol="0" anchor="ctr" anchorCtr="0"/>
          <a:p>
            <a:pPr indent="0" algn="l">
              <a:lnSpc>
                <a:spcPct val="150000"/>
              </a:lnSpc>
              <a:defRPr/>
            </a:pPr>
            <a:r>
              <a:rPr lang="en-US" sz="14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构建专业知识底座</a:t>
            </a:r>
            <a:endParaRPr lang="en-US" sz="1100">
              <a:solidFill>
                <a:schemeClr val="tx1"/>
              </a:solidFill>
            </a:endParaRPr>
          </a:p>
          <a:p>
            <a:pPr indent="0" algn="l">
              <a:lnSpc>
                <a:spcPct val="150000"/>
              </a:lnSpc>
            </a:pPr>
            <a:r>
              <a:rPr lang="en-US" sz="13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构建结构化、可查询、可推理的地图学知识图谱，支</a:t>
            </a:r>
            <a:endParaRPr lang="en-US" sz="13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50000"/>
              </a:lnSpc>
            </a:pPr>
            <a:r>
              <a:rPr lang="en-US" sz="13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撑智能制图系统。</a:t>
            </a:r>
            <a:endParaRPr lang="en-US" sz="13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0"/>
          <p:cNvSpPr/>
          <p:nvPr>
            <p:custDataLst>
              <p:tags r:id="rId10"/>
            </p:custDataLst>
          </p:nvPr>
        </p:nvSpPr>
        <p:spPr>
          <a:xfrm>
            <a:off x="983615" y="2761615"/>
            <a:ext cx="4003040" cy="1111250"/>
          </a:xfrm>
          <a:prstGeom prst="rect">
            <a:avLst/>
          </a:prstGeom>
          <a:noFill/>
          <a:ln w="12700" cap="flat" cmpd="sng">
            <a:noFill/>
            <a:prstDash val="solid"/>
            <a:round/>
          </a:ln>
        </p:spPr>
        <p:txBody>
          <a:bodyPr vert="horz" wrap="square" lIns="0" tIns="0" rIns="0" bIns="0" rtlCol="0" anchor="ctr" anchorCtr="0">
            <a:noAutofit/>
          </a:bodyPr>
          <a:p>
            <a:pPr lvl="0" algn="l">
              <a:lnSpc>
                <a:spcPct val="150000"/>
              </a:lnSpc>
              <a:buClrTx/>
              <a:buSzTx/>
              <a:buFontTx/>
              <a:defRPr/>
            </a:pPr>
            <a:r>
              <a:rPr lang="en-US" sz="1400" b="1">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抑制大模型幻觉</a:t>
            </a:r>
            <a:endParaRPr lang="en-US" sz="14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a:lnSpc>
                <a:spcPct val="150000"/>
              </a:lnSpc>
              <a:buClrTx/>
              <a:buSzTx/>
              <a:buFontTx/>
              <a:defRPr/>
            </a:pPr>
            <a:r>
              <a:rPr lang="en-US" sz="1300">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提供精确的制图规则约束，确保AI生成结果的规范性和专业性。</a:t>
            </a:r>
            <a:endParaRPr lang="en-US" sz="1300">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grpSp>
        <p:nvGrpSpPr>
          <p:cNvPr id="3" name="组合 2"/>
          <p:cNvGrpSpPr/>
          <p:nvPr/>
        </p:nvGrpSpPr>
        <p:grpSpPr>
          <a:xfrm>
            <a:off x="509270" y="3942715"/>
            <a:ext cx="4585335" cy="521335"/>
            <a:chOff x="802" y="6465"/>
            <a:chExt cx="7221" cy="821"/>
          </a:xfrm>
        </p:grpSpPr>
        <p:pic>
          <p:nvPicPr>
            <p:cNvPr id="16" name="图片 15" descr="2"/>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802" y="6465"/>
              <a:ext cx="821" cy="821"/>
            </a:xfrm>
            <a:prstGeom prst="rect">
              <a:avLst/>
            </a:prstGeom>
          </p:spPr>
        </p:pic>
        <p:sp>
          <p:nvSpPr>
            <p:cNvPr id="21" name="文本框 20"/>
            <p:cNvSpPr txBox="1"/>
            <p:nvPr>
              <p:custDataLst>
                <p:tags r:id="rId14"/>
              </p:custDataLst>
            </p:nvPr>
          </p:nvSpPr>
          <p:spPr>
            <a:xfrm>
              <a:off x="1623" y="6490"/>
              <a:ext cx="6400" cy="725"/>
            </a:xfrm>
            <a:prstGeom prst="rect">
              <a:avLst/>
            </a:prstGeom>
            <a:noFill/>
          </p:spPr>
          <p:txBody>
            <a:bodyPr wrap="square" rtlCol="0">
              <a:spAutoFit/>
            </a:bodyPr>
            <a:p>
              <a:r>
                <a:rPr lang="zh-CN" altLang="en-US" sz="2400" b="1">
                  <a:latin typeface="微软雅黑" panose="020B0503020204020204" pitchFamily="34" charset="-122"/>
                  <a:ea typeface="微软雅黑" panose="020B0503020204020204" pitchFamily="34" charset="-122"/>
                </a:rPr>
                <a:t>研究</a:t>
              </a:r>
              <a:r>
                <a:rPr lang="zh-CN" altLang="en-US" sz="2400" b="1">
                  <a:latin typeface="微软雅黑" panose="020B0503020204020204" pitchFamily="34" charset="-122"/>
                  <a:ea typeface="微软雅黑" panose="020B0503020204020204" pitchFamily="34" charset="-122"/>
                </a:rPr>
                <a:t>方法</a:t>
              </a:r>
              <a:endParaRPr lang="zh-CN" altLang="en-US" sz="2400" b="1">
                <a:latin typeface="微软雅黑" panose="020B0503020204020204" pitchFamily="34" charset="-122"/>
                <a:ea typeface="微软雅黑" panose="020B0503020204020204" pitchFamily="34" charset="-122"/>
              </a:endParaRPr>
            </a:p>
          </p:txBody>
        </p:sp>
      </p:grpSp>
      <p:sp>
        <p:nvSpPr>
          <p:cNvPr id="24" name="文本框 23"/>
          <p:cNvSpPr txBox="1"/>
          <p:nvPr/>
        </p:nvSpPr>
        <p:spPr>
          <a:xfrm>
            <a:off x="983615" y="4441825"/>
            <a:ext cx="4064000" cy="691515"/>
          </a:xfrm>
          <a:prstGeom prst="rect">
            <a:avLst/>
          </a:prstGeom>
          <a:noFill/>
        </p:spPr>
        <p:txBody>
          <a:bodyPr wrap="square" rtlCol="0">
            <a:spAutoFit/>
          </a:bodyPr>
          <a:p>
            <a:pPr marL="285750" indent="-285750">
              <a:lnSpc>
                <a:spcPct val="150000"/>
              </a:lnSpc>
              <a:buFont typeface="Wingdings" panose="05000000000000000000" charset="0"/>
              <a:buChar char="Ø"/>
            </a:pPr>
            <a:r>
              <a:rPr lang="en-US" sz="1300">
                <a:latin typeface="微软雅黑" panose="020B0503020204020204" pitchFamily="34" charset="-122"/>
                <a:ea typeface="微软雅黑" panose="020B0503020204020204" pitchFamily="34" charset="-122"/>
                <a:cs typeface="微软雅黑" panose="020B0503020204020204" pitchFamily="34" charset="-122"/>
              </a:rPr>
              <a:t>知识体系梳理                   本体程序设计</a:t>
            </a:r>
            <a:endParaRPr lang="en-US" sz="130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Font typeface="Wingdings" panose="05000000000000000000" charset="0"/>
              <a:buChar char="Ø"/>
            </a:pPr>
            <a:r>
              <a:rPr lang="en-US" sz="1300">
                <a:latin typeface="微软雅黑" panose="020B0503020204020204" pitchFamily="34" charset="-122"/>
                <a:ea typeface="微软雅黑" panose="020B0503020204020204" pitchFamily="34" charset="-122"/>
                <a:cs typeface="微软雅黑" panose="020B0503020204020204" pitchFamily="34" charset="-122"/>
              </a:rPr>
              <a:t>多源知识抽取                   知识存储与应用</a:t>
            </a:r>
            <a:endParaRPr lang="en-US" sz="130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5" name="图片 24" descr="3"/>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09905" y="5269230"/>
            <a:ext cx="539115" cy="539115"/>
          </a:xfrm>
          <a:prstGeom prst="rect">
            <a:avLst/>
          </a:prstGeom>
        </p:spPr>
      </p:pic>
      <p:sp>
        <p:nvSpPr>
          <p:cNvPr id="26" name="文本框 25"/>
          <p:cNvSpPr txBox="1"/>
          <p:nvPr/>
        </p:nvSpPr>
        <p:spPr>
          <a:xfrm>
            <a:off x="1030605" y="5350510"/>
            <a:ext cx="4064000" cy="460375"/>
          </a:xfrm>
          <a:prstGeom prst="rect">
            <a:avLst/>
          </a:prstGeom>
          <a:noFill/>
        </p:spPr>
        <p:txBody>
          <a:bodyPr wrap="square" rtlCol="0">
            <a:spAutoFit/>
          </a:bodyPr>
          <a:p>
            <a:pPr algn="l">
              <a:buClrTx/>
              <a:buSzTx/>
              <a:buFontTx/>
            </a:pPr>
            <a:r>
              <a:rPr lang="zh-CN" altLang="en-US" sz="2400" b="1">
                <a:latin typeface="微软雅黑" panose="020B0503020204020204" pitchFamily="34" charset="-122"/>
                <a:ea typeface="微软雅黑" panose="020B0503020204020204" pitchFamily="34" charset="-122"/>
              </a:rPr>
              <a:t>预期成果</a:t>
            </a:r>
            <a:endParaRPr lang="zh-CN" altLang="en-US" sz="2400" b="1">
              <a:latin typeface="微软雅黑" panose="020B0503020204020204" pitchFamily="34" charset="-122"/>
              <a:ea typeface="微软雅黑" panose="020B0503020204020204" pitchFamily="34" charset="-122"/>
            </a:endParaRPr>
          </a:p>
        </p:txBody>
      </p:sp>
      <p:sp>
        <p:nvSpPr>
          <p:cNvPr id="28" name="AutoShape 28"/>
          <p:cNvSpPr/>
          <p:nvPr/>
        </p:nvSpPr>
        <p:spPr>
          <a:xfrm>
            <a:off x="1049020" y="5944235"/>
            <a:ext cx="4355465" cy="709930"/>
          </a:xfrm>
          <a:prstGeom prst="rect">
            <a:avLst/>
          </a:prstGeom>
          <a:noFill/>
          <a:ln w="12700" cap="flat" cmpd="sng">
            <a:noFill/>
            <a:prstDash val="solid"/>
            <a:round/>
          </a:ln>
        </p:spPr>
        <p:txBody>
          <a:bodyPr vert="horz" wrap="square" lIns="0" tIns="0" rIns="0" bIns="0" rtlCol="0" anchor="ctr" anchorCtr="0"/>
          <a:p>
            <a:pPr indent="0" algn="l">
              <a:lnSpc>
                <a:spcPct val="150000"/>
              </a:lnSpc>
              <a:defRPr/>
            </a:pPr>
            <a:r>
              <a:rPr lang="zh-CN" altLang="en-US" sz="1300" b="0"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获取</a:t>
            </a:r>
            <a:r>
              <a:rPr lang="en-US" sz="1300" b="1"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一套完整的地图学知识图谱本体模型</a:t>
            </a:r>
            <a:r>
              <a:rPr lang="en-US" sz="1300" b="0"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a:t>
            </a:r>
            <a:r>
              <a:rPr lang="en-US" sz="1300">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包含核心地图学知识的结构化数据库。支持知识查询与推理的编程接口。</a:t>
            </a:r>
            <a:endParaRPr lang="en-US" sz="1300" b="0"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a:p>
            <a:pPr indent="0" algn="l">
              <a:lnSpc>
                <a:spcPct val="125000"/>
              </a:lnSpc>
              <a:defRPr/>
            </a:pPr>
            <a:endParaRPr lang="en-US" sz="1300" b="0"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4529489" y="-59933"/>
                <a:ext cx="242760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984149" y="50595"/>
                <a:ext cx="1771650"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a:t>
                </a:r>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进展</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sp>
        <p:nvSpPr>
          <p:cNvPr id="107" name="文本框 106"/>
          <p:cNvSpPr txBox="1"/>
          <p:nvPr/>
        </p:nvSpPr>
        <p:spPr>
          <a:xfrm>
            <a:off x="205105" y="843280"/>
            <a:ext cx="7379335" cy="521970"/>
          </a:xfrm>
          <a:prstGeom prst="rect">
            <a:avLst/>
          </a:prstGeom>
          <a:noFill/>
        </p:spPr>
        <p:txBody>
          <a:bodyPr wrap="square" rtlCol="0" anchor="t">
            <a:spAutoFit/>
          </a:bodyPr>
          <a:p>
            <a:r>
              <a:rPr lang="en-US" altLang="zh-CN"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2.2.2 </a:t>
            </a:r>
            <a:r>
              <a:rPr lang="zh-CN" altLang="en-US"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执行驱动</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基于</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sym typeface="+mn-ea"/>
              </a:rPr>
              <a:t>ReAct</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范式的智能体研发</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 name="文本框 1"/>
          <p:cNvSpPr txBox="1"/>
          <p:nvPr/>
        </p:nvSpPr>
        <p:spPr>
          <a:xfrm>
            <a:off x="6096000" y="1903095"/>
            <a:ext cx="5848350" cy="1612265"/>
          </a:xfrm>
          <a:prstGeom prst="rect">
            <a:avLst/>
          </a:prstGeom>
          <a:noFill/>
        </p:spPr>
        <p:txBody>
          <a:bodyPr wrap="square" rtlCol="0" anchor="t">
            <a:noAutofit/>
          </a:bodyPr>
          <a:p>
            <a:pPr lvl="0" algn="l">
              <a:lnSpc>
                <a:spcPct val="150000"/>
              </a:lnSpc>
              <a:buClrTx/>
              <a:buSzTx/>
              <a:buFontTx/>
            </a:pPr>
            <a:r>
              <a:rPr lang="en-US" altLang="zh-CN" sz="1600">
                <a:solidFill>
                  <a:srgbClr val="000000"/>
                </a:solidFill>
                <a:latin typeface="微软雅黑" panose="020B0503020204020204" pitchFamily="34" charset="-122"/>
                <a:ea typeface="微软雅黑" panose="020B0503020204020204" pitchFamily="34" charset="-122"/>
                <a:sym typeface="+mn-ea"/>
              </a:rPr>
              <a:t>       </a:t>
            </a:r>
            <a:r>
              <a:rPr lang="zh-CN" altLang="en-US" sz="1600">
                <a:solidFill>
                  <a:srgbClr val="000000"/>
                </a:solidFill>
                <a:latin typeface="微软雅黑" panose="020B0503020204020204" pitchFamily="34" charset="-122"/>
                <a:ea typeface="微软雅黑" panose="020B0503020204020204" pitchFamily="34" charset="-122"/>
                <a:sym typeface="+mn-ea"/>
              </a:rPr>
              <a:t>封装标准化地图</a:t>
            </a:r>
            <a:r>
              <a:rPr lang="zh-CN" altLang="en-US" sz="1600">
                <a:solidFill>
                  <a:srgbClr val="000000"/>
                </a:solidFill>
                <a:latin typeface="微软雅黑" panose="020B0503020204020204" pitchFamily="34" charset="-122"/>
                <a:ea typeface="微软雅黑" panose="020B0503020204020204" pitchFamily="34" charset="-122"/>
                <a:sym typeface="+mn-ea"/>
              </a:rPr>
              <a:t>API</a:t>
            </a:r>
            <a:r>
              <a:rPr lang="zh-CN" altLang="en-US" sz="1600">
                <a:solidFill>
                  <a:srgbClr val="000000"/>
                </a:solidFill>
                <a:latin typeface="微软雅黑" panose="020B0503020204020204" pitchFamily="34" charset="-122"/>
                <a:ea typeface="微软雅黑" panose="020B0503020204020204" pitchFamily="34" charset="-122"/>
                <a:sym typeface="+mn-ea"/>
              </a:rPr>
              <a:t>工具集，实现数据检索、样式配置等功能的模块化调用；构建多维度状态管控与智能容错体系，通过实时追踪任务执行链路、动态响应异常场景，强化系统对复杂制图流程的适应性与稳定性。</a:t>
            </a:r>
            <a:endParaRPr lang="zh-CN" altLang="en-US" sz="1600">
              <a:solidFill>
                <a:srgbClr val="000000"/>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299085" y="1936115"/>
            <a:ext cx="2147570" cy="1578610"/>
          </a:xfrm>
          <a:prstGeom prst="rect">
            <a:avLst/>
          </a:prstGeom>
          <a:noFill/>
        </p:spPr>
        <p:txBody>
          <a:bodyPr wrap="square" rtlCol="0" anchor="t">
            <a:noAutofit/>
          </a:bodyPr>
          <a:p>
            <a:pPr indent="0">
              <a:lnSpc>
                <a:spcPct val="150000"/>
              </a:lnSpc>
              <a:buFont typeface="Wingdings" panose="05000000000000000000" charset="0"/>
              <a:buNone/>
            </a:pPr>
            <a:r>
              <a:rPr lang="en-US" altLang="zh-CN" sz="1600">
                <a:solidFill>
                  <a:srgbClr val="000000"/>
                </a:solidFill>
                <a:latin typeface="微软雅黑" panose="020B0503020204020204" pitchFamily="34" charset="-122"/>
                <a:ea typeface="微软雅黑" panose="020B0503020204020204" pitchFamily="34" charset="-122"/>
                <a:sym typeface="+mn-ea"/>
              </a:rPr>
              <a:t>       </a:t>
            </a:r>
            <a:r>
              <a:rPr lang="zh-CN" altLang="en-US" sz="1600">
                <a:solidFill>
                  <a:srgbClr val="000000"/>
                </a:solidFill>
                <a:latin typeface="微软雅黑" panose="020B0503020204020204" pitchFamily="34" charset="-122"/>
                <a:ea typeface="微软雅黑" panose="020B0503020204020204" pitchFamily="34" charset="-122"/>
                <a:sym typeface="+mn-ea"/>
              </a:rPr>
              <a:t>以</a:t>
            </a:r>
            <a:r>
              <a:rPr lang="en-US" altLang="zh-CN" sz="1600">
                <a:solidFill>
                  <a:srgbClr val="000000"/>
                </a:solidFill>
                <a:latin typeface="微软雅黑" panose="020B0503020204020204" pitchFamily="34" charset="-122"/>
                <a:ea typeface="微软雅黑" panose="020B0503020204020204" pitchFamily="34" charset="-122"/>
                <a:sym typeface="+mn-ea"/>
              </a:rPr>
              <a:t>LangChain</a:t>
            </a:r>
            <a:r>
              <a:rPr lang="zh-CN" altLang="en-US" sz="1600">
                <a:solidFill>
                  <a:srgbClr val="000000"/>
                </a:solidFill>
                <a:latin typeface="微软雅黑" panose="020B0503020204020204" pitchFamily="34" charset="-122"/>
                <a:ea typeface="微软雅黑" panose="020B0503020204020204" pitchFamily="34" charset="-122"/>
                <a:sym typeface="+mn-ea"/>
              </a:rPr>
              <a:t>框架为基础，设计“思考</a:t>
            </a:r>
            <a:r>
              <a:rPr lang="en-US" altLang="zh-CN" sz="1600">
                <a:solidFill>
                  <a:srgbClr val="000000"/>
                </a:solidFill>
                <a:latin typeface="微软雅黑" panose="020B0503020204020204" pitchFamily="34" charset="-122"/>
                <a:ea typeface="微软雅黑" panose="020B0503020204020204" pitchFamily="34" charset="-122"/>
                <a:sym typeface="+mn-ea"/>
              </a:rPr>
              <a:t>-</a:t>
            </a:r>
            <a:r>
              <a:rPr lang="zh-CN" altLang="en-US" sz="1600">
                <a:solidFill>
                  <a:srgbClr val="000000"/>
                </a:solidFill>
                <a:latin typeface="微软雅黑" panose="020B0503020204020204" pitchFamily="34" charset="-122"/>
                <a:ea typeface="微软雅黑" panose="020B0503020204020204" pitchFamily="34" charset="-122"/>
                <a:sym typeface="+mn-ea"/>
              </a:rPr>
              <a:t>行动</a:t>
            </a:r>
            <a:r>
              <a:rPr lang="en-US" altLang="zh-CN" sz="1600">
                <a:solidFill>
                  <a:srgbClr val="000000"/>
                </a:solidFill>
                <a:latin typeface="微软雅黑" panose="020B0503020204020204" pitchFamily="34" charset="-122"/>
                <a:ea typeface="微软雅黑" panose="020B0503020204020204" pitchFamily="34" charset="-122"/>
                <a:sym typeface="+mn-ea"/>
              </a:rPr>
              <a:t>-</a:t>
            </a:r>
            <a:r>
              <a:rPr lang="zh-CN" altLang="en-US" sz="1600">
                <a:solidFill>
                  <a:srgbClr val="000000"/>
                </a:solidFill>
                <a:latin typeface="微软雅黑" panose="020B0503020204020204" pitchFamily="34" charset="-122"/>
                <a:ea typeface="微软雅黑" panose="020B0503020204020204" pitchFamily="34" charset="-122"/>
                <a:sym typeface="+mn-ea"/>
              </a:rPr>
              <a:t>观察”的决策循环机制</a:t>
            </a:r>
            <a:endParaRPr lang="zh-CN" altLang="en-US" sz="1600">
              <a:solidFill>
                <a:srgbClr val="000000"/>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2461895" y="1907540"/>
            <a:ext cx="3160395" cy="1719580"/>
          </a:xfrm>
          <a:prstGeom prst="rect">
            <a:avLst/>
          </a:prstGeom>
          <a:noFill/>
        </p:spPr>
        <p:txBody>
          <a:bodyPr wrap="square" rtlCol="0" anchor="t">
            <a:noAutofit/>
          </a:bodyPr>
          <a:p>
            <a:pPr lvl="0" algn="l">
              <a:lnSpc>
                <a:spcPct val="150000"/>
              </a:lnSpc>
              <a:buClrTx/>
              <a:buSzTx/>
              <a:buFontTx/>
            </a:pPr>
            <a:r>
              <a:rPr lang="en-US" altLang="zh-CN" sz="1600">
                <a:solidFill>
                  <a:srgbClr val="000000"/>
                </a:solidFill>
                <a:latin typeface="微软雅黑" panose="020B0503020204020204" pitchFamily="34" charset="-122"/>
                <a:ea typeface="微软雅黑" panose="020B0503020204020204" pitchFamily="34" charset="-122"/>
                <a:sym typeface="+mn-ea"/>
              </a:rPr>
              <a:t>       </a:t>
            </a:r>
            <a:r>
              <a:rPr lang="zh-CN" altLang="en-US" sz="1600">
                <a:solidFill>
                  <a:srgbClr val="000000"/>
                </a:solidFill>
                <a:latin typeface="微软雅黑" panose="020B0503020204020204" pitchFamily="34" charset="-122"/>
                <a:ea typeface="微软雅黑" panose="020B0503020204020204" pitchFamily="34" charset="-122"/>
                <a:sym typeface="+mn-ea"/>
              </a:rPr>
              <a:t>通过</a:t>
            </a:r>
            <a:r>
              <a:rPr lang="zh-CN" altLang="en-US" sz="1600">
                <a:solidFill>
                  <a:srgbClr val="000000"/>
                </a:solidFill>
                <a:latin typeface="微软雅黑" panose="020B0503020204020204" pitchFamily="34" charset="-122"/>
                <a:ea typeface="微软雅黑" panose="020B0503020204020204" pitchFamily="34" charset="-122"/>
                <a:sym typeface="+mn-ea"/>
              </a:rPr>
              <a:t>Prompt</a:t>
            </a:r>
            <a:r>
              <a:rPr lang="zh-CN" altLang="en-US" sz="1600">
                <a:solidFill>
                  <a:srgbClr val="000000"/>
                </a:solidFill>
                <a:latin typeface="微软雅黑" panose="020B0503020204020204" pitchFamily="34" charset="-122"/>
                <a:ea typeface="微软雅黑" panose="020B0503020204020204" pitchFamily="34" charset="-122"/>
                <a:sym typeface="+mn-ea"/>
              </a:rPr>
              <a:t>工程引导</a:t>
            </a:r>
            <a:r>
              <a:rPr lang="zh-CN" altLang="en-US" sz="1600">
                <a:solidFill>
                  <a:srgbClr val="000000"/>
                </a:solidFill>
                <a:latin typeface="微软雅黑" panose="020B0503020204020204" pitchFamily="34" charset="-122"/>
                <a:ea typeface="微软雅黑" panose="020B0503020204020204" pitchFamily="34" charset="-122"/>
                <a:sym typeface="+mn-ea"/>
              </a:rPr>
              <a:t>LLM</a:t>
            </a:r>
            <a:r>
              <a:rPr lang="zh-CN" altLang="en-US" sz="1600">
                <a:solidFill>
                  <a:srgbClr val="000000"/>
                </a:solidFill>
                <a:latin typeface="微软雅黑" panose="020B0503020204020204" pitchFamily="34" charset="-122"/>
                <a:ea typeface="微软雅黑" panose="020B0503020204020204" pitchFamily="34" charset="-122"/>
                <a:sym typeface="+mn-ea"/>
              </a:rPr>
              <a:t>生成结构化任务规划，将模糊需求分解为“数据获取</a:t>
            </a:r>
            <a:r>
              <a:rPr lang="zh-CN" altLang="en-US" sz="1600">
                <a:solidFill>
                  <a:srgbClr val="000000"/>
                </a:solidFill>
                <a:latin typeface="微软雅黑" panose="020B0503020204020204" pitchFamily="34" charset="-122"/>
                <a:ea typeface="微软雅黑" panose="020B0503020204020204" pitchFamily="34" charset="-122"/>
                <a:sym typeface="+mn-ea"/>
              </a:rPr>
              <a:t>-</a:t>
            </a:r>
            <a:r>
              <a:rPr lang="zh-CN" altLang="en-US" sz="1600">
                <a:solidFill>
                  <a:srgbClr val="000000"/>
                </a:solidFill>
                <a:latin typeface="微软雅黑" panose="020B0503020204020204" pitchFamily="34" charset="-122"/>
                <a:ea typeface="微软雅黑" panose="020B0503020204020204" pitchFamily="34" charset="-122"/>
                <a:sym typeface="+mn-ea"/>
              </a:rPr>
              <a:t>符号渲染</a:t>
            </a:r>
            <a:r>
              <a:rPr lang="zh-CN" altLang="en-US" sz="1600">
                <a:solidFill>
                  <a:srgbClr val="000000"/>
                </a:solidFill>
                <a:latin typeface="微软雅黑" panose="020B0503020204020204" pitchFamily="34" charset="-122"/>
                <a:ea typeface="微软雅黑" panose="020B0503020204020204" pitchFamily="34" charset="-122"/>
                <a:sym typeface="+mn-ea"/>
              </a:rPr>
              <a:t>-</a:t>
            </a:r>
            <a:r>
              <a:rPr lang="zh-CN" altLang="en-US" sz="1600">
                <a:solidFill>
                  <a:srgbClr val="000000"/>
                </a:solidFill>
                <a:latin typeface="微软雅黑" panose="020B0503020204020204" pitchFamily="34" charset="-122"/>
                <a:ea typeface="微软雅黑" panose="020B0503020204020204" pitchFamily="34" charset="-122"/>
                <a:sym typeface="+mn-ea"/>
              </a:rPr>
              <a:t>注记标注</a:t>
            </a:r>
            <a:r>
              <a:rPr lang="zh-CN" altLang="en-US" sz="1600">
                <a:solidFill>
                  <a:srgbClr val="000000"/>
                </a:solidFill>
                <a:latin typeface="微软雅黑" panose="020B0503020204020204" pitchFamily="34" charset="-122"/>
                <a:ea typeface="微软雅黑" panose="020B0503020204020204" pitchFamily="34" charset="-122"/>
                <a:sym typeface="+mn-ea"/>
              </a:rPr>
              <a:t>-</a:t>
            </a:r>
            <a:r>
              <a:rPr lang="zh-CN" altLang="en-US" sz="1600">
                <a:solidFill>
                  <a:srgbClr val="000000"/>
                </a:solidFill>
                <a:latin typeface="微软雅黑" panose="020B0503020204020204" pitchFamily="34" charset="-122"/>
                <a:ea typeface="微软雅黑" panose="020B0503020204020204" pitchFamily="34" charset="-122"/>
                <a:sym typeface="+mn-ea"/>
              </a:rPr>
              <a:t>地图导出”等原子任务</a:t>
            </a:r>
            <a:endParaRPr lang="zh-CN" altLang="en-US" sz="1600">
              <a:solidFill>
                <a:srgbClr val="000000"/>
              </a:solidFill>
              <a:latin typeface="微软雅黑" panose="020B0503020204020204" pitchFamily="34" charset="-122"/>
              <a:ea typeface="微软雅黑" panose="020B0503020204020204" pitchFamily="34" charset="-122"/>
              <a:sym typeface="+mn-ea"/>
            </a:endParaRPr>
          </a:p>
        </p:txBody>
      </p:sp>
      <p:pic>
        <p:nvPicPr>
          <p:cNvPr id="14" name="图片 -2147482613"/>
          <p:cNvPicPr>
            <a:picLocks noChangeAspect="1"/>
          </p:cNvPicPr>
          <p:nvPr/>
        </p:nvPicPr>
        <p:blipFill>
          <a:blip r:embed="rId4"/>
          <a:stretch>
            <a:fillRect/>
          </a:stretch>
        </p:blipFill>
        <p:spPr>
          <a:xfrm>
            <a:off x="1652905" y="3659505"/>
            <a:ext cx="9392285" cy="3039110"/>
          </a:xfrm>
          <a:prstGeom prst="rect">
            <a:avLst/>
          </a:prstGeom>
          <a:noFill/>
          <a:ln w="9525">
            <a:noFill/>
          </a:ln>
        </p:spPr>
      </p:pic>
      <p:grpSp>
        <p:nvGrpSpPr>
          <p:cNvPr id="10" name="组合 9"/>
          <p:cNvGrpSpPr/>
          <p:nvPr/>
        </p:nvGrpSpPr>
        <p:grpSpPr>
          <a:xfrm>
            <a:off x="357505" y="1452880"/>
            <a:ext cx="5340985" cy="539750"/>
            <a:chOff x="1021" y="2902"/>
            <a:chExt cx="8411" cy="850"/>
          </a:xfrm>
        </p:grpSpPr>
        <p:sp>
          <p:nvSpPr>
            <p:cNvPr id="9" name="圆角矩形 8"/>
            <p:cNvSpPr/>
            <p:nvPr/>
          </p:nvSpPr>
          <p:spPr>
            <a:xfrm>
              <a:off x="1021" y="2937"/>
              <a:ext cx="8103" cy="630"/>
            </a:xfrm>
            <a:prstGeom prst="roundRect">
              <a:avLst/>
            </a:prstGeom>
            <a:solidFill>
              <a:schemeClr val="accent6">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7" name="组合 6"/>
            <p:cNvGrpSpPr/>
            <p:nvPr/>
          </p:nvGrpSpPr>
          <p:grpSpPr>
            <a:xfrm>
              <a:off x="1142" y="2902"/>
              <a:ext cx="8290" cy="850"/>
              <a:chOff x="1600" y="3117"/>
              <a:chExt cx="8290" cy="850"/>
            </a:xfrm>
          </p:grpSpPr>
          <p:sp>
            <p:nvSpPr>
              <p:cNvPr id="3" name="文本框 2"/>
              <p:cNvSpPr txBox="1"/>
              <p:nvPr/>
            </p:nvSpPr>
            <p:spPr>
              <a:xfrm>
                <a:off x="2698" y="3117"/>
                <a:ext cx="7192" cy="850"/>
              </a:xfrm>
              <a:prstGeom prst="rect">
                <a:avLst/>
              </a:prstGeom>
              <a:noFill/>
            </p:spPr>
            <p:txBody>
              <a:bodyPr wrap="square" rtlCol="0" anchor="t">
                <a:noAutofit/>
              </a:bodyPr>
              <a:p>
                <a:r>
                  <a:rPr lang="zh-CN" altLang="en-US"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采用ReAct智能体范式</a:t>
                </a:r>
                <a:r>
                  <a:rPr lang="en-US" altLang="zh-CN"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Picture 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600" y="3148"/>
                <a:ext cx="640" cy="640"/>
              </a:xfrm>
              <a:prstGeom prst="rect">
                <a:avLst/>
              </a:prstGeom>
            </p:spPr>
          </p:pic>
        </p:grpSp>
      </p:grpSp>
      <p:grpSp>
        <p:nvGrpSpPr>
          <p:cNvPr id="13" name="组合 12"/>
          <p:cNvGrpSpPr/>
          <p:nvPr/>
        </p:nvGrpSpPr>
        <p:grpSpPr>
          <a:xfrm>
            <a:off x="5989320" y="1424940"/>
            <a:ext cx="6507480" cy="460375"/>
            <a:chOff x="9638" y="3063"/>
            <a:chExt cx="10248" cy="725"/>
          </a:xfrm>
        </p:grpSpPr>
        <p:sp>
          <p:nvSpPr>
            <p:cNvPr id="12" name="圆角矩形 11"/>
            <p:cNvSpPr/>
            <p:nvPr/>
          </p:nvSpPr>
          <p:spPr>
            <a:xfrm>
              <a:off x="9638" y="3118"/>
              <a:ext cx="9447" cy="659"/>
            </a:xfrm>
            <a:prstGeom prst="roundRect">
              <a:avLst/>
            </a:prstGeom>
            <a:solidFill>
              <a:schemeClr val="accent6">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8" name="组合 7"/>
            <p:cNvGrpSpPr/>
            <p:nvPr/>
          </p:nvGrpSpPr>
          <p:grpSpPr>
            <a:xfrm>
              <a:off x="9806" y="3063"/>
              <a:ext cx="10080" cy="725"/>
              <a:chOff x="9806" y="3063"/>
              <a:chExt cx="10080" cy="725"/>
            </a:xfrm>
          </p:grpSpPr>
          <p:sp>
            <p:nvSpPr>
              <p:cNvPr id="11" name="文本框 10"/>
              <p:cNvSpPr txBox="1"/>
              <p:nvPr/>
            </p:nvSpPr>
            <p:spPr>
              <a:xfrm>
                <a:off x="10286" y="3063"/>
                <a:ext cx="9600" cy="725"/>
              </a:xfrm>
              <a:prstGeom prst="rect">
                <a:avLst/>
              </a:prstGeom>
              <a:noFill/>
            </p:spPr>
            <p:txBody>
              <a:bodyPr wrap="square" rtlCol="0" anchor="t">
                <a:spAutoFit/>
              </a:bodyPr>
              <a:p>
                <a:pPr>
                  <a:buClrTx/>
                  <a:buSzTx/>
                  <a:buFontTx/>
                </a:pPr>
                <a:r>
                  <a:rPr lang="zh-CN" altLang="en-US"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将地图绘制功能封装为标准的API工具集</a:t>
                </a:r>
                <a:endParaRPr lang="zh-CN" altLang="en-US"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4" name="Picture 2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806" y="3204"/>
                <a:ext cx="480" cy="480"/>
              </a:xfrm>
              <a:prstGeom prst="rect">
                <a:avLst/>
              </a:prstGeom>
            </p:spPr>
          </p:pic>
        </p:grpSp>
      </p:grpSp>
      <p:pic>
        <p:nvPicPr>
          <p:cNvPr id="19" name="图片 18" descr="10787455417"/>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605405" y="2039620"/>
            <a:ext cx="311150" cy="311150"/>
          </a:xfrm>
          <a:prstGeom prst="rect">
            <a:avLst/>
          </a:prstGeom>
        </p:spPr>
      </p:pic>
      <p:pic>
        <p:nvPicPr>
          <p:cNvPr id="15" name="图片 14" descr="10787455417"/>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4340" y="2039620"/>
            <a:ext cx="311150" cy="311150"/>
          </a:xfrm>
          <a:prstGeom prst="rect">
            <a:avLst/>
          </a:prstGeom>
        </p:spPr>
      </p:pic>
      <p:sp>
        <p:nvSpPr>
          <p:cNvPr id="16" name="圆角矩形 15"/>
          <p:cNvSpPr/>
          <p:nvPr/>
        </p:nvSpPr>
        <p:spPr>
          <a:xfrm>
            <a:off x="325120" y="1430655"/>
            <a:ext cx="5233035" cy="2096770"/>
          </a:xfrm>
          <a:prstGeom prst="roundRect">
            <a:avLst>
              <a:gd name="adj" fmla="val 3917"/>
            </a:avLst>
          </a:prstGeom>
          <a:noFill/>
          <a:ln>
            <a:solidFill>
              <a:srgbClr val="C5E0B4"/>
            </a:solid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7" name="圆角矩形 16"/>
          <p:cNvSpPr/>
          <p:nvPr/>
        </p:nvSpPr>
        <p:spPr>
          <a:xfrm>
            <a:off x="5941060" y="1419225"/>
            <a:ext cx="6102985" cy="2104390"/>
          </a:xfrm>
          <a:prstGeom prst="roundRect">
            <a:avLst>
              <a:gd name="adj" fmla="val 3917"/>
            </a:avLst>
          </a:prstGeom>
          <a:noFill/>
          <a:ln>
            <a:solidFill>
              <a:srgbClr val="C5E0B4"/>
            </a:solid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10" name="AutoShape 5"/>
          <p:cNvSpPr/>
          <p:nvPr/>
        </p:nvSpPr>
        <p:spPr>
          <a:xfrm>
            <a:off x="262890" y="1616075"/>
            <a:ext cx="4110355" cy="2512695"/>
          </a:xfrm>
          <a:prstGeom prst="roundRect">
            <a:avLst>
              <a:gd name="adj" fmla="val 5555"/>
            </a:avLst>
          </a:prstGeom>
          <a:solidFill>
            <a:srgbClr val="FFFFFF">
              <a:alpha val="8000"/>
            </a:srgbClr>
          </a:solidFill>
          <a:ln w="28575" cap="flat" cmpd="sng">
            <a:solidFill>
              <a:srgbClr val="00481C">
                <a:alpha val="30000"/>
              </a:srgbClr>
            </a:solidFill>
            <a:prstDash val="solid"/>
            <a:round/>
          </a:ln>
        </p:spPr>
        <p:txBody>
          <a:bodyPr vert="horz" wrap="square" lIns="63500" tIns="63500" rIns="63500" bIns="63500" rtlCol="0" anchor="ctr"/>
          <a:p>
            <a:pPr algn="ctr">
              <a:defRPr/>
            </a:pPr>
          </a:p>
        </p:txBody>
      </p:sp>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4529489" y="-59933"/>
                <a:ext cx="242760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984149" y="50595"/>
                <a:ext cx="1771650"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a:t>
                </a:r>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进展</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sp>
        <p:nvSpPr>
          <p:cNvPr id="107" name="文本框 106"/>
          <p:cNvSpPr txBox="1"/>
          <p:nvPr/>
        </p:nvSpPr>
        <p:spPr>
          <a:xfrm>
            <a:off x="205105" y="843280"/>
            <a:ext cx="5942330" cy="521970"/>
          </a:xfrm>
          <a:prstGeom prst="rect">
            <a:avLst/>
          </a:prstGeom>
          <a:noFill/>
        </p:spPr>
        <p:txBody>
          <a:bodyPr wrap="square" rtlCol="0" anchor="t">
            <a:spAutoFit/>
          </a:bodyPr>
          <a:p>
            <a:r>
              <a:rPr lang="en-US" altLang="zh-CN"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2.2.3 </a:t>
            </a:r>
            <a:r>
              <a:rPr lang="zh-CN" altLang="en-US"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智能融合</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8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sz="28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与知识图谱融合</a:t>
            </a:r>
            <a:endParaRPr lang="en-US" altLang="zh-CN" sz="28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文本框 2"/>
          <p:cNvSpPr txBox="1"/>
          <p:nvPr/>
        </p:nvSpPr>
        <p:spPr>
          <a:xfrm>
            <a:off x="566420" y="1682750"/>
            <a:ext cx="6096000" cy="460375"/>
          </a:xfrm>
          <a:prstGeom prst="rect">
            <a:avLst/>
          </a:prstGeom>
          <a:noFill/>
        </p:spPr>
        <p:txBody>
          <a:bodyPr wrap="square" rtlCol="0" anchor="t">
            <a:spAutoFit/>
          </a:bodyPr>
          <a:p>
            <a:r>
              <a:rPr lang="zh-CN" altLang="en-US" sz="2400" b="1">
                <a:solidFill>
                  <a:srgbClr val="C00000"/>
                </a:solidFill>
                <a:latin typeface="微软雅黑" panose="020B0503020204020204" pitchFamily="34" charset="-122"/>
                <a:ea typeface="微软雅黑" panose="020B0503020204020204" pitchFamily="34" charset="-122"/>
                <a:sym typeface="+mn-ea"/>
              </a:rPr>
              <a:t>核心：</a:t>
            </a:r>
            <a:r>
              <a:rPr lang="en-US" sz="24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RAG与结构化</a:t>
            </a:r>
            <a:endParaRPr lang="en-US" altLang="en-US" sz="24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5" name="图片 -2147482614"/>
          <p:cNvPicPr>
            <a:picLocks noChangeAspect="1"/>
          </p:cNvPicPr>
          <p:nvPr/>
        </p:nvPicPr>
        <p:blipFill>
          <a:blip r:embed="rId4"/>
          <a:stretch>
            <a:fillRect/>
          </a:stretch>
        </p:blipFill>
        <p:spPr>
          <a:xfrm>
            <a:off x="4495165" y="1874520"/>
            <a:ext cx="7327265" cy="4054475"/>
          </a:xfrm>
          <a:prstGeom prst="rect">
            <a:avLst/>
          </a:prstGeom>
          <a:noFill/>
          <a:ln w="9525">
            <a:noFill/>
          </a:ln>
        </p:spPr>
      </p:pic>
      <p:sp>
        <p:nvSpPr>
          <p:cNvPr id="2" name="AutoShape 5"/>
          <p:cNvSpPr/>
          <p:nvPr/>
        </p:nvSpPr>
        <p:spPr>
          <a:xfrm>
            <a:off x="262890" y="4378960"/>
            <a:ext cx="4110355" cy="2134870"/>
          </a:xfrm>
          <a:prstGeom prst="roundRect">
            <a:avLst>
              <a:gd name="adj" fmla="val 5555"/>
            </a:avLst>
          </a:prstGeom>
          <a:solidFill>
            <a:srgbClr val="FFFFFF">
              <a:alpha val="8000"/>
            </a:srgbClr>
          </a:solidFill>
          <a:ln w="28575" cap="flat" cmpd="sng">
            <a:solidFill>
              <a:srgbClr val="00481C">
                <a:alpha val="30000"/>
              </a:srgbClr>
            </a:solidFill>
            <a:prstDash val="solid"/>
            <a:round/>
          </a:ln>
        </p:spPr>
        <p:txBody>
          <a:bodyPr vert="horz" wrap="square" lIns="63500" tIns="63500" rIns="63500" bIns="63500" rtlCol="0" anchor="ctr"/>
          <a:p>
            <a:pPr algn="ctr">
              <a:defRPr/>
            </a:pPr>
          </a:p>
        </p:txBody>
      </p:sp>
      <p:pic>
        <p:nvPicPr>
          <p:cNvPr id="4" name="Picture 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19100" y="4549140"/>
            <a:ext cx="304800" cy="304800"/>
          </a:xfrm>
          <a:prstGeom prst="rect">
            <a:avLst/>
          </a:prstGeom>
        </p:spPr>
      </p:pic>
      <p:sp>
        <p:nvSpPr>
          <p:cNvPr id="7" name="AutoShape 7"/>
          <p:cNvSpPr/>
          <p:nvPr/>
        </p:nvSpPr>
        <p:spPr>
          <a:xfrm>
            <a:off x="821690" y="4472940"/>
            <a:ext cx="4318000" cy="381000"/>
          </a:xfrm>
          <a:prstGeom prst="rect">
            <a:avLst/>
          </a:prstGeom>
          <a:noFill/>
          <a:ln w="12700" cap="flat" cmpd="sng">
            <a:noFill/>
            <a:prstDash val="solid"/>
            <a:round/>
          </a:ln>
        </p:spPr>
        <p:txBody>
          <a:bodyPr vert="horz" wrap="square" lIns="0" tIns="0" rIns="0" bIns="0" rtlCol="0" anchor="ctr" anchorCtr="0"/>
          <a:p>
            <a:pPr indent="0" algn="l">
              <a:lnSpc>
                <a:spcPct val="125000"/>
              </a:lnSpc>
              <a:defRPr/>
            </a:pPr>
            <a:r>
              <a:rPr lang="en-US" sz="1800" b="1"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研究目标：构建全链路智能化体系</a:t>
            </a:r>
            <a:endParaRPr lang="en-US" sz="1800" b="1"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9" name="AutoShape 9" descr="7b0a202020202262756c6c6574223a20227b5c2263617465676f727949645c223a5c225c222c5c2274656d706c61746549645c223a32303233313731337d220a7d0a"/>
          <p:cNvSpPr/>
          <p:nvPr/>
        </p:nvSpPr>
        <p:spPr>
          <a:xfrm>
            <a:off x="361950" y="4679315"/>
            <a:ext cx="3864610" cy="1903730"/>
          </a:xfrm>
          <a:prstGeom prst="rect">
            <a:avLst/>
          </a:prstGeom>
          <a:noFill/>
          <a:ln w="12700" cap="flat" cmpd="sng">
            <a:noFill/>
            <a:prstDash val="solid"/>
            <a:round/>
          </a:ln>
        </p:spPr>
        <p:txBody>
          <a:bodyPr vert="horz" wrap="square" lIns="0" tIns="0" rIns="0" bIns="0" rtlCol="0" anchor="ctr" anchorCtr="0"/>
          <a:p>
            <a:pPr marL="285750" indent="-285750" algn="l">
              <a:lnSpc>
                <a:spcPct val="150000"/>
              </a:lnSpc>
              <a:buClr>
                <a:srgbClr val="D1D1D6"/>
              </a:buClr>
              <a:buFont typeface="Wingdings" panose="05000000000000000000" charset="0"/>
              <a:buBlip>
                <a:blip r:embed="rId7">
                  <a:extLst>
                    <a:ext uri="{96DAC541-7B7A-43D3-8B79-37D633B846F1}">
                      <asvg:svgBlip xmlns:asvg="http://schemas.microsoft.com/office/drawing/2016/SVG/main" r:embed="rId8"/>
                    </a:ext>
                  </a:extLst>
                </a:blip>
              </a:buBlip>
              <a:defRPr/>
            </a:pPr>
            <a:r>
              <a:rPr lang="en-US"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探索LLM与知识图谱深度融合路径，形成完整的智能化制图方法体系。</a:t>
            </a:r>
            <a:endParaRPr lang="en-US">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a:lnSpc>
                <a:spcPct val="150000"/>
              </a:lnSpc>
              <a:buClr>
                <a:srgbClr val="D1D1D6"/>
              </a:buClr>
              <a:buFont typeface="Wingdings" panose="05000000000000000000" charset="0"/>
              <a:buBlip>
                <a:blip r:embed="rId7">
                  <a:extLst>
                    <a:ext uri="{96DAC541-7B7A-43D3-8B79-37D633B846F1}">
                      <asvg:svgBlip xmlns:asvg="http://schemas.microsoft.com/office/drawing/2016/SVG/main" r:embed="rId8"/>
                    </a:ext>
                  </a:extLst>
                </a:blip>
              </a:buBlip>
            </a:pPr>
            <a:r>
              <a:rPr lang="en-US"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实现“需求输入→智能规划→工具调度→地图生成”的全链路闭环。</a:t>
            </a:r>
            <a:endParaRPr lang="en-US"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sp>
        <p:nvSpPr>
          <p:cNvPr id="14" name="AutoShape 14" descr="7b0a202020202262756c6c6574223a20227b5c2263617465676f727949645c223a5c225c222c5c2274656d706c61746549645c223a32303233313731337d220a7d0a"/>
          <p:cNvSpPr/>
          <p:nvPr/>
        </p:nvSpPr>
        <p:spPr>
          <a:xfrm>
            <a:off x="361950" y="2202180"/>
            <a:ext cx="3863975" cy="1591945"/>
          </a:xfrm>
          <a:prstGeom prst="rect">
            <a:avLst/>
          </a:prstGeom>
          <a:noFill/>
          <a:ln w="12700" cap="flat" cmpd="sng">
            <a:noFill/>
            <a:prstDash val="solid"/>
            <a:round/>
          </a:ln>
        </p:spPr>
        <p:txBody>
          <a:bodyPr vert="horz" wrap="square" lIns="0" tIns="0" rIns="0" bIns="0" rtlCol="0" anchor="ctr" anchorCtr="0"/>
          <a:p>
            <a:pPr marL="177800" indent="-177800" algn="l">
              <a:lnSpc>
                <a:spcPct val="150000"/>
              </a:lnSpc>
              <a:buClr>
                <a:srgbClr val="0A84FF"/>
              </a:buClr>
              <a:buBlip>
                <a:blip r:embed="rId7">
                  <a:extLst>
                    <a:ext uri="{96DAC541-7B7A-43D3-8B79-37D633B846F1}">
                      <asvg:svgBlip xmlns:asvg="http://schemas.microsoft.com/office/drawing/2016/SVG/main" r:embed="rId8"/>
                    </a:ext>
                  </a:extLst>
                </a:blip>
              </a:buBlip>
              <a:defRPr/>
            </a:pPr>
            <a:r>
              <a:rPr lang="en-US" b="1"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检索增强生成 (RAG)：</a:t>
            </a:r>
            <a:r>
              <a:rPr lang="en-US"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向知识图谱查询专业规则，规范LLM输出。</a:t>
            </a:r>
            <a:endParaRPr lang="en-US">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177800" indent="-177800" algn="l">
              <a:lnSpc>
                <a:spcPct val="150000"/>
              </a:lnSpc>
              <a:buClr>
                <a:srgbClr val="0A84FF"/>
              </a:buClr>
              <a:buBlip>
                <a:blip r:embed="rId7">
                  <a:extLst>
                    <a:ext uri="{96DAC541-7B7A-43D3-8B79-37D633B846F1}">
                      <asvg:svgBlip xmlns:asvg="http://schemas.microsoft.com/office/drawing/2016/SVG/main" r:embed="rId8"/>
                    </a:ext>
                  </a:extLst>
                </a:blip>
              </a:buBlip>
            </a:pPr>
            <a:r>
              <a:rPr lang="en-US" b="1"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方案结构化：</a:t>
            </a:r>
            <a:r>
              <a:rPr lang="en-US"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将自然语言需求转换为机器可执行的结构化方案(JSON)。</a:t>
            </a:r>
            <a:endParaRPr lang="en-US"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pic>
        <p:nvPicPr>
          <p:cNvPr id="3" name="图片 28" descr="/data/weboffice/tmp/webword_1181315664/post_object_image_2186663563"/>
          <p:cNvPicPr>
            <a:picLocks noChangeAspect="1"/>
          </p:cNvPicPr>
          <p:nvPr/>
        </p:nvPicPr>
        <p:blipFill>
          <a:blip r:embed="rId1"/>
          <a:stretch>
            <a:fillRect/>
          </a:stretch>
        </p:blipFill>
        <p:spPr>
          <a:xfrm>
            <a:off x="5342890" y="1256665"/>
            <a:ext cx="6759575" cy="5481955"/>
          </a:xfrm>
          <a:prstGeom prst="rect">
            <a:avLst/>
          </a:prstGeom>
          <a:noFill/>
          <a:ln w="9525">
            <a:noFill/>
          </a:ln>
        </p:spPr>
      </p:pic>
      <p:sp>
        <p:nvSpPr>
          <p:cNvPr id="8" name="矩形 7"/>
          <p:cNvSpPr/>
          <p:nvPr/>
        </p:nvSpPr>
        <p:spPr>
          <a:xfrm>
            <a:off x="483235" y="1430655"/>
            <a:ext cx="4728845" cy="3230880"/>
          </a:xfrm>
          <a:prstGeom prst="rect">
            <a:avLst/>
          </a:prstGeom>
          <a:solidFill>
            <a:schemeClr val="bg1"/>
          </a:solidFill>
          <a:ln w="28575">
            <a:gradFill>
              <a:gsLst>
                <a:gs pos="50000">
                  <a:schemeClr val="accent6"/>
                </a:gs>
                <a:gs pos="0">
                  <a:schemeClr val="accent6">
                    <a:lumMod val="25000"/>
                    <a:lumOff val="75000"/>
                  </a:schemeClr>
                </a:gs>
                <a:gs pos="100000">
                  <a:schemeClr val="accent6">
                    <a:lumMod val="85000"/>
                  </a:schemeClr>
                </a:gs>
              </a:gsLst>
              <a:lin ang="54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矩形 13"/>
          <p:cNvSpPr/>
          <p:nvPr/>
        </p:nvSpPr>
        <p:spPr>
          <a:xfrm>
            <a:off x="483235" y="4765040"/>
            <a:ext cx="4728845" cy="1798320"/>
          </a:xfrm>
          <a:prstGeom prst="rect">
            <a:avLst/>
          </a:prstGeom>
          <a:solidFill>
            <a:schemeClr val="bg1"/>
          </a:solidFill>
          <a:ln w="28575">
            <a:gradFill>
              <a:gsLst>
                <a:gs pos="50000">
                  <a:schemeClr val="accent6"/>
                </a:gs>
                <a:gs pos="0">
                  <a:schemeClr val="accent6">
                    <a:lumMod val="25000"/>
                    <a:lumOff val="75000"/>
                  </a:schemeClr>
                </a:gs>
                <a:gs pos="100000">
                  <a:schemeClr val="accent6">
                    <a:lumMod val="85000"/>
                  </a:schemeClr>
                </a:gs>
              </a:gsLst>
              <a:lin ang="54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2"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4529489" y="-59933"/>
                <a:ext cx="242760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984149" y="50595"/>
                <a:ext cx="1771650"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a:t>
                </a:r>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进展</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3"/>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4"/>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sp>
        <p:nvSpPr>
          <p:cNvPr id="107" name="文本框 106"/>
          <p:cNvSpPr txBox="1"/>
          <p:nvPr/>
        </p:nvSpPr>
        <p:spPr>
          <a:xfrm>
            <a:off x="205105" y="843280"/>
            <a:ext cx="6679565" cy="521970"/>
          </a:xfrm>
          <a:prstGeom prst="rect">
            <a:avLst/>
          </a:prstGeom>
          <a:noFill/>
        </p:spPr>
        <p:txBody>
          <a:bodyPr wrap="square" rtlCol="0" anchor="t">
            <a:spAutoFit/>
          </a:bodyPr>
          <a:p>
            <a:r>
              <a:rPr lang="en-US" altLang="zh-CN"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2.2.4 </a:t>
            </a:r>
            <a:r>
              <a:rPr lang="zh-CN" altLang="en-US"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知识驱动</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800" b="1">
                <a:solidFill>
                  <a:srgbClr val="000000"/>
                </a:solidFill>
                <a:latin typeface="微软雅黑" panose="020B0503020204020204" pitchFamily="34" charset="-122"/>
                <a:ea typeface="微软雅黑" panose="020B0503020204020204" pitchFamily="34" charset="-122"/>
                <a:sym typeface="+mn-ea"/>
              </a:rPr>
              <a:t>原型系统开发与验证方法</a:t>
            </a:r>
            <a:endParaRPr lang="en-US" altLang="zh-CN" sz="28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 name="文本框 1"/>
          <p:cNvSpPr txBox="1"/>
          <p:nvPr/>
        </p:nvSpPr>
        <p:spPr>
          <a:xfrm>
            <a:off x="897890" y="4749165"/>
            <a:ext cx="3005455" cy="431800"/>
          </a:xfrm>
          <a:prstGeom prst="rect">
            <a:avLst/>
          </a:prstGeom>
          <a:noFill/>
          <a:ln w="76200">
            <a:gradFill>
              <a:gsLst>
                <a:gs pos="50000">
                  <a:schemeClr val="accent6"/>
                </a:gs>
                <a:gs pos="0">
                  <a:schemeClr val="accent6">
                    <a:lumMod val="25000"/>
                    <a:lumOff val="75000"/>
                  </a:schemeClr>
                </a:gs>
                <a:gs pos="100000">
                  <a:schemeClr val="accent6">
                    <a:lumMod val="85000"/>
                  </a:schemeClr>
                </a:gs>
              </a:gsLst>
              <a:lin ang="5400000" scaled="0"/>
            </a:gradFill>
          </a:ln>
        </p:spPr>
        <p:txBody>
          <a:bodyPr wrap="square" rtlCol="0">
            <a:noAutofit/>
          </a:bodyPr>
          <a:p>
            <a:pPr>
              <a:buClrTx/>
              <a:buSzTx/>
              <a:buFontTx/>
            </a:pPr>
            <a:r>
              <a:rPr lang="zh-CN" altLang="en-US" sz="2400" b="1">
                <a:solidFill>
                  <a:srgbClr val="00481C"/>
                </a:solidFill>
                <a:latin typeface="微软雅黑" panose="020B0503020204020204" pitchFamily="34" charset="-122"/>
                <a:ea typeface="微软雅黑" panose="020B0503020204020204" pitchFamily="34" charset="-122"/>
                <a:sym typeface="+mn-ea"/>
              </a:rPr>
              <a:t>实验验证与预期成果</a:t>
            </a:r>
            <a:endParaRPr lang="zh-CN" altLang="en-US" sz="2400" b="1">
              <a:solidFill>
                <a:srgbClr val="00481C"/>
              </a:solidFill>
              <a:latin typeface="微软雅黑" panose="020B0503020204020204" pitchFamily="34" charset="-122"/>
              <a:ea typeface="微软雅黑" panose="020B0503020204020204" pitchFamily="34" charset="-122"/>
              <a:sym typeface="+mn-ea"/>
            </a:endParaRPr>
          </a:p>
        </p:txBody>
      </p:sp>
      <p:pic>
        <p:nvPicPr>
          <p:cNvPr id="5" name="Picture 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16890" y="1472565"/>
            <a:ext cx="304800" cy="304800"/>
          </a:xfrm>
          <a:prstGeom prst="rect">
            <a:avLst/>
          </a:prstGeom>
        </p:spPr>
      </p:pic>
      <p:sp>
        <p:nvSpPr>
          <p:cNvPr id="9" name="AutoShape 9"/>
          <p:cNvSpPr/>
          <p:nvPr/>
        </p:nvSpPr>
        <p:spPr>
          <a:xfrm>
            <a:off x="897890" y="1946910"/>
            <a:ext cx="4445000" cy="304800"/>
          </a:xfrm>
          <a:prstGeom prst="rect">
            <a:avLst/>
          </a:prstGeom>
          <a:noFill/>
          <a:ln w="12700" cap="flat" cmpd="sng">
            <a:noFill/>
            <a:prstDash val="solid"/>
            <a:round/>
          </a:ln>
        </p:spPr>
        <p:txBody>
          <a:bodyPr vert="horz" wrap="square" lIns="0" tIns="0" rIns="0" bIns="0" rtlCol="0" anchor="ctr" anchorCtr="0"/>
          <a:p>
            <a:pPr indent="0" algn="l">
              <a:lnSpc>
                <a:spcPct val="125000"/>
              </a:lnSpc>
              <a:defRPr/>
            </a:pPr>
            <a:r>
              <a:rPr lang="en-US" sz="2000" b="1"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前后端分离架构设计</a:t>
            </a:r>
            <a:endParaRPr lang="en-US" sz="2000" b="1"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10" name="AutoShape 10" descr="7b0a202020202262756c6c6574223a20227b5c2263617465676f727949645c223a5c225c222c5c2274656d706c61746549645c223a32303233313731337d220a7d0a"/>
          <p:cNvSpPr/>
          <p:nvPr/>
        </p:nvSpPr>
        <p:spPr>
          <a:xfrm>
            <a:off x="835025" y="2284095"/>
            <a:ext cx="4445000" cy="1016000"/>
          </a:xfrm>
          <a:prstGeom prst="rect">
            <a:avLst/>
          </a:prstGeom>
          <a:noFill/>
          <a:ln w="12700" cap="flat" cmpd="sng">
            <a:noFill/>
            <a:prstDash val="solid"/>
            <a:round/>
          </a:ln>
        </p:spPr>
        <p:txBody>
          <a:bodyPr vert="horz" wrap="square" lIns="0" tIns="0" rIns="0" bIns="0" rtlCol="0" anchor="ctr" anchorCtr="0"/>
          <a:p>
            <a:pPr indent="0" algn="l">
              <a:lnSpc>
                <a:spcPct val="150000"/>
              </a:lnSpc>
              <a:buClr>
                <a:srgbClr val="D1D1D6"/>
              </a:buClr>
              <a:buBlip>
                <a:blip r:embed="rId7">
                  <a:extLst>
                    <a:ext uri="{96DAC541-7B7A-43D3-8B79-37D633B846F1}">
                      <asvg:svgBlip xmlns:asvg="http://schemas.microsoft.com/office/drawing/2016/SVG/main" r:embed="rId8"/>
                    </a:ext>
                  </a:extLst>
                </a:blip>
              </a:buBlip>
              <a:defRPr/>
            </a:pPr>
            <a:r>
              <a:rPr lang="en-US" sz="1400"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前端：Vue.js框架，提供自然语言输入与地图预览</a:t>
            </a:r>
            <a:endParaRPr lang="en-US" sz="140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l">
              <a:lnSpc>
                <a:spcPct val="150000"/>
              </a:lnSpc>
              <a:buClr>
                <a:srgbClr val="D1D1D6"/>
              </a:buClr>
              <a:buBlip>
                <a:blip r:embed="rId7">
                  <a:extLst>
                    <a:ext uri="{96DAC541-7B7A-43D3-8B79-37D633B846F1}">
                      <asvg:svgBlip xmlns:asvg="http://schemas.microsoft.com/office/drawing/2016/SVG/main" r:embed="rId8"/>
                    </a:ext>
                  </a:extLst>
                </a:blip>
              </a:buBlip>
            </a:pPr>
            <a:r>
              <a:rPr lang="en-US" sz="1400"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后端：Flask框架，负责请求分发与智能体调度</a:t>
            </a:r>
            <a:endParaRPr lang="en-US" sz="1400"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a:p>
            <a:pPr indent="0" algn="l">
              <a:lnSpc>
                <a:spcPct val="150000"/>
              </a:lnSpc>
              <a:buClr>
                <a:srgbClr val="D1D1D6"/>
              </a:buClr>
              <a:buBlip>
                <a:blip r:embed="rId7">
                  <a:extLst>
                    <a:ext uri="{96DAC541-7B7A-43D3-8B79-37D633B846F1}">
                      <asvg:svgBlip xmlns:asvg="http://schemas.microsoft.com/office/drawing/2016/SVG/main" r:embed="rId8"/>
                    </a:ext>
                  </a:extLst>
                </a:blip>
              </a:buBlip>
            </a:pPr>
            <a:r>
              <a:rPr lang="en-US" sz="1400"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渲染：集成OpenLayers，实现地图可视化交互</a:t>
            </a:r>
            <a:endParaRPr lang="en-US" sz="1400"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sp>
        <p:nvSpPr>
          <p:cNvPr id="12" name="AutoShape 12"/>
          <p:cNvSpPr/>
          <p:nvPr/>
        </p:nvSpPr>
        <p:spPr>
          <a:xfrm>
            <a:off x="897890" y="3312160"/>
            <a:ext cx="4445000" cy="304800"/>
          </a:xfrm>
          <a:prstGeom prst="rect">
            <a:avLst/>
          </a:prstGeom>
          <a:noFill/>
          <a:ln w="12700" cap="flat" cmpd="sng">
            <a:noFill/>
            <a:prstDash val="solid"/>
            <a:round/>
          </a:ln>
        </p:spPr>
        <p:txBody>
          <a:bodyPr vert="horz" wrap="square" lIns="0" tIns="0" rIns="0" bIns="0" rtlCol="0" anchor="ctr" anchorCtr="0"/>
          <a:p>
            <a:pPr indent="0" algn="l">
              <a:lnSpc>
                <a:spcPct val="125000"/>
              </a:lnSpc>
              <a:defRPr/>
            </a:pPr>
            <a:r>
              <a:rPr lang="en-US" sz="2000" b="1"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核心功能模块集成</a:t>
            </a:r>
            <a:endParaRPr lang="en-US" sz="2000" b="1"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13" name="AutoShape 13" descr="7b0a202020202262756c6c6574223a20227b5c2263617465676f727949645c223a5c225c222c5c2274656d706c61746549645c223a32303233313731337d220a7d0a"/>
          <p:cNvSpPr/>
          <p:nvPr/>
        </p:nvSpPr>
        <p:spPr>
          <a:xfrm>
            <a:off x="835025" y="3550285"/>
            <a:ext cx="4445000" cy="1016000"/>
          </a:xfrm>
          <a:prstGeom prst="rect">
            <a:avLst/>
          </a:prstGeom>
          <a:noFill/>
          <a:ln w="12700" cap="flat" cmpd="sng">
            <a:noFill/>
            <a:prstDash val="solid"/>
            <a:round/>
          </a:ln>
        </p:spPr>
        <p:txBody>
          <a:bodyPr vert="horz" wrap="square" lIns="0" tIns="0" rIns="0" bIns="0" rtlCol="0" anchor="ctr" anchorCtr="0"/>
          <a:p>
            <a:pPr marL="165100" indent="-165100" algn="l">
              <a:lnSpc>
                <a:spcPct val="150000"/>
              </a:lnSpc>
              <a:buClr>
                <a:srgbClr val="D1D1D6"/>
              </a:buClr>
              <a:buBlip>
                <a:blip r:embed="rId7">
                  <a:extLst>
                    <a:ext uri="{96DAC541-7B7A-43D3-8B79-37D633B846F1}">
                      <asvg:svgBlip xmlns:asvg="http://schemas.microsoft.com/office/drawing/2016/SVG/main" r:embed="rId8"/>
                    </a:ext>
                  </a:extLst>
                </a:blip>
              </a:buBlip>
              <a:defRPr/>
            </a:pPr>
            <a:r>
              <a:rPr lang="en-US" sz="1400"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交互模块：LLM驱动的自然语言需求解析</a:t>
            </a:r>
            <a:endParaRPr lang="en-US" sz="140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165100" indent="-165100" algn="l">
              <a:lnSpc>
                <a:spcPct val="150000"/>
              </a:lnSpc>
              <a:buClr>
                <a:srgbClr val="D1D1D6"/>
              </a:buClr>
              <a:buBlip>
                <a:blip r:embed="rId7">
                  <a:extLst>
                    <a:ext uri="{96DAC541-7B7A-43D3-8B79-37D633B846F1}">
                      <asvg:svgBlip xmlns:asvg="http://schemas.microsoft.com/office/drawing/2016/SVG/main" r:embed="rId8"/>
                    </a:ext>
                  </a:extLst>
                </a:blip>
              </a:buBlip>
            </a:pPr>
            <a:r>
              <a:rPr lang="en-US" sz="1400"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服务模块：智能体任务规划与知识图谱推理</a:t>
            </a:r>
            <a:endParaRPr lang="en-US" sz="1400"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a:p>
            <a:pPr marL="165100" indent="-165100" algn="l">
              <a:lnSpc>
                <a:spcPct val="150000"/>
              </a:lnSpc>
              <a:buClr>
                <a:srgbClr val="D1D1D6"/>
              </a:buClr>
              <a:buBlip>
                <a:blip r:embed="rId7">
                  <a:extLst>
                    <a:ext uri="{96DAC541-7B7A-43D3-8B79-37D633B846F1}">
                      <asvg:svgBlip xmlns:asvg="http://schemas.microsoft.com/office/drawing/2016/SVG/main" r:embed="rId8"/>
                    </a:ext>
                  </a:extLst>
                </a:blip>
              </a:buBlip>
            </a:pPr>
            <a:r>
              <a:rPr lang="en-US" sz="1400"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工具模块：地图符号绘制与数据获取API封装</a:t>
            </a:r>
            <a:endParaRPr lang="en-US" sz="1400"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pic>
        <p:nvPicPr>
          <p:cNvPr id="15" name="Picture 15"/>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16890" y="4876165"/>
            <a:ext cx="304800" cy="304800"/>
          </a:xfrm>
          <a:prstGeom prst="rect">
            <a:avLst/>
          </a:prstGeom>
        </p:spPr>
      </p:pic>
      <p:sp>
        <p:nvSpPr>
          <p:cNvPr id="11" name="文本框 10" descr="7b0a202020202262756c6c6574223a20227b5c2263617465676f727949645c223a5c225c222c5c2274656d706c61746549645c223a32303233313731337d220a7d0a"/>
          <p:cNvSpPr txBox="1"/>
          <p:nvPr/>
        </p:nvSpPr>
        <p:spPr>
          <a:xfrm>
            <a:off x="835025" y="5180965"/>
            <a:ext cx="6096000" cy="1198880"/>
          </a:xfrm>
          <a:prstGeom prst="rect">
            <a:avLst/>
          </a:prstGeom>
          <a:noFill/>
        </p:spPr>
        <p:txBody>
          <a:bodyPr wrap="square" rtlCol="0" anchor="t">
            <a:spAutoFit/>
          </a:bodyPr>
          <a:p>
            <a:pPr indent="0" algn="l">
              <a:lnSpc>
                <a:spcPct val="150000"/>
              </a:lnSpc>
              <a:buBlip>
                <a:blip r:embed="rId7">
                  <a:extLst>
                    <a:ext uri="{96DAC541-7B7A-43D3-8B79-37D633B846F1}">
                      <asvg:svgBlip xmlns:asvg="http://schemas.microsoft.com/office/drawing/2016/SVG/main" r:embed="rId8"/>
                    </a:ext>
                  </a:extLst>
                </a:blip>
              </a:buBlip>
              <a:defRPr/>
            </a:pPr>
            <a:r>
              <a:rPr 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典型场景测试</a:t>
            </a:r>
            <a:endParaRPr 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a:p>
            <a:pPr indent="0" algn="l">
              <a:lnSpc>
                <a:spcPct val="150000"/>
              </a:lnSpc>
              <a:buBlip>
                <a:blip r:embed="rId7">
                  <a:extLst>
                    <a:ext uri="{96DAC541-7B7A-43D3-8B79-37D633B846F1}">
                      <asvg:svgBlip xmlns:asvg="http://schemas.microsoft.com/office/drawing/2016/SVG/main" r:embed="rId8"/>
                    </a:ext>
                  </a:extLst>
                </a:blip>
              </a:buBlip>
              <a:defRPr/>
            </a:pPr>
            <a:r>
              <a:rPr 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多维评估指标</a:t>
            </a:r>
            <a:endParaRPr 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l">
              <a:lnSpc>
                <a:spcPct val="150000"/>
              </a:lnSpc>
              <a:buBlip>
                <a:blip r:embed="rId7">
                  <a:extLst>
                    <a:ext uri="{96DAC541-7B7A-43D3-8B79-37D633B846F1}">
                      <asvg:svgBlip xmlns:asvg="http://schemas.microsoft.com/office/drawing/2016/SVG/main" r:embed="rId8"/>
                    </a:ext>
                  </a:extLst>
                </a:blip>
              </a:buBlip>
              <a:defRPr/>
            </a:pPr>
            <a:r>
              <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预期成果产出</a:t>
            </a:r>
            <a:r>
              <a:rPr lang="en-US" altLang="zh-CN"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a:t>
            </a:r>
            <a:r>
              <a:rPr 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可交互的Web端原型系统</a:t>
            </a:r>
            <a:endParaRPr lang="en-US"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sp>
        <p:nvSpPr>
          <p:cNvPr id="6" name="AutoShape 6"/>
          <p:cNvSpPr/>
          <p:nvPr/>
        </p:nvSpPr>
        <p:spPr>
          <a:xfrm>
            <a:off x="897890" y="1419225"/>
            <a:ext cx="3004820" cy="455295"/>
          </a:xfrm>
          <a:prstGeom prst="rect">
            <a:avLst/>
          </a:prstGeom>
          <a:noFill/>
          <a:ln w="57150" cap="flat" cmpd="sng">
            <a:gradFill>
              <a:gsLst>
                <a:gs pos="50000">
                  <a:schemeClr val="accent6"/>
                </a:gs>
                <a:gs pos="0">
                  <a:schemeClr val="accent6">
                    <a:lumMod val="25000"/>
                    <a:lumOff val="75000"/>
                  </a:schemeClr>
                </a:gs>
                <a:gs pos="100000">
                  <a:schemeClr val="accent6">
                    <a:lumMod val="85000"/>
                  </a:schemeClr>
                </a:gs>
              </a:gsLst>
              <a:lin ang="5400000" scaled="0"/>
            </a:gradFill>
            <a:prstDash val="solid"/>
            <a:round/>
          </a:ln>
        </p:spPr>
        <p:txBody>
          <a:bodyPr vert="horz" wrap="square" lIns="0" tIns="0" rIns="0" bIns="0" rtlCol="0" anchor="ctr" anchorCtr="0"/>
          <a:p>
            <a:pPr indent="0" algn="l">
              <a:lnSpc>
                <a:spcPct val="125000"/>
              </a:lnSpc>
              <a:defRPr/>
            </a:pPr>
            <a:r>
              <a:rPr lang="en-US" sz="2400" b="1" i="0" u="none" strike="noStrike">
                <a:solidFill>
                  <a:srgbClr val="00481C"/>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 系统架构与核心功能</a:t>
            </a:r>
            <a:endParaRPr lang="en-US" sz="2400" b="1" i="0" u="none" strike="noStrike">
              <a:solidFill>
                <a:srgbClr val="00481C"/>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pic>
        <p:nvPicPr>
          <p:cNvPr id="2" name="图片 -2147482616"/>
          <p:cNvPicPr>
            <a:picLocks noChangeAspect="1"/>
          </p:cNvPicPr>
          <p:nvPr/>
        </p:nvPicPr>
        <p:blipFill>
          <a:blip r:embed="rId1"/>
          <a:stretch>
            <a:fillRect/>
          </a:stretch>
        </p:blipFill>
        <p:spPr>
          <a:xfrm>
            <a:off x="709295" y="1452245"/>
            <a:ext cx="10800715" cy="4968240"/>
          </a:xfrm>
          <a:prstGeom prst="rect">
            <a:avLst/>
          </a:prstGeom>
          <a:noFill/>
          <a:ln w="9525">
            <a:noFill/>
          </a:ln>
        </p:spPr>
      </p:pic>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2"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4529489" y="-59933"/>
                <a:ext cx="242760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984149" y="50595"/>
                <a:ext cx="1771650"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a:t>
                </a:r>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进展</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3"/>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4"/>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sp>
        <p:nvSpPr>
          <p:cNvPr id="107" name="文本框 106"/>
          <p:cNvSpPr txBox="1"/>
          <p:nvPr/>
        </p:nvSpPr>
        <p:spPr>
          <a:xfrm>
            <a:off x="205105" y="843280"/>
            <a:ext cx="3215640" cy="521970"/>
          </a:xfrm>
          <a:prstGeom prst="rect">
            <a:avLst/>
          </a:prstGeom>
          <a:noFill/>
        </p:spPr>
        <p:txBody>
          <a:bodyPr wrap="square" rtlCol="0" anchor="t">
            <a:spAutoFit/>
          </a:bodyPr>
          <a:p>
            <a:r>
              <a:rPr lang="en-US" altLang="zh-CN"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2.3</a:t>
            </a:r>
            <a:r>
              <a:rPr lang="zh-CN" altLang="en-US"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总体技术路线</a:t>
            </a:r>
            <a:endParaRPr lang="zh-CN" altLang="en-US"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4529489" y="-59933"/>
                <a:ext cx="242760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984149" y="50595"/>
                <a:ext cx="1771650"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a:t>
                </a:r>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进展</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sp>
        <p:nvSpPr>
          <p:cNvPr id="107" name="文本框 106"/>
          <p:cNvSpPr txBox="1"/>
          <p:nvPr/>
        </p:nvSpPr>
        <p:spPr>
          <a:xfrm>
            <a:off x="205105" y="843280"/>
            <a:ext cx="3215640" cy="521970"/>
          </a:xfrm>
          <a:prstGeom prst="rect">
            <a:avLst/>
          </a:prstGeom>
          <a:noFill/>
        </p:spPr>
        <p:txBody>
          <a:bodyPr wrap="square" rtlCol="0" anchor="t">
            <a:spAutoFit/>
          </a:bodyPr>
          <a:p>
            <a:r>
              <a:rPr lang="en-US" altLang="zh-CN"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en-US"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项目</a:t>
            </a:r>
            <a:r>
              <a:rPr lang="zh-CN" altLang="en-US"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创新点</a:t>
            </a:r>
            <a:endParaRPr lang="zh-CN" altLang="en-US"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AutoShape 5"/>
          <p:cNvSpPr/>
          <p:nvPr/>
        </p:nvSpPr>
        <p:spPr>
          <a:xfrm>
            <a:off x="762000" y="1651000"/>
            <a:ext cx="3302000" cy="4572000"/>
          </a:xfrm>
          <a:prstGeom prst="roundRect">
            <a:avLst>
              <a:gd name="adj" fmla="val 3846"/>
            </a:avLst>
          </a:prstGeom>
          <a:solidFill>
            <a:srgbClr val="FFFFFF">
              <a:alpha val="5000"/>
            </a:srgbClr>
          </a:solidFill>
          <a:ln w="101600" cap="flat" cmpd="sng">
            <a:solidFill>
              <a:schemeClr val="accent6">
                <a:lumMod val="75000"/>
                <a:alpha val="90000"/>
              </a:schemeClr>
            </a:solidFill>
            <a:prstDash val="solid"/>
            <a:round/>
          </a:ln>
        </p:spPr>
        <p:txBody>
          <a:bodyPr vert="horz" wrap="square" lIns="63500" tIns="63500" rIns="63500" bIns="63500" rtlCol="0" anchor="ctr"/>
          <a:lstStyle/>
          <a:p>
            <a:pPr algn="ctr">
              <a:defRPr/>
            </a:pPr>
            <a:endParaRPr>
              <a:solidFill>
                <a:schemeClr val="tx1"/>
              </a:solidFill>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905000"/>
            <a:ext cx="406400" cy="406400"/>
          </a:xfrm>
          <a:prstGeom prst="rect">
            <a:avLst/>
          </a:prstGeom>
        </p:spPr>
      </p:pic>
      <p:sp>
        <p:nvSpPr>
          <p:cNvPr id="7" name="AutoShape 7"/>
          <p:cNvSpPr/>
          <p:nvPr/>
        </p:nvSpPr>
        <p:spPr>
          <a:xfrm>
            <a:off x="1016000" y="24130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0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知识体系创新</a:t>
            </a:r>
            <a:endParaRPr lang="zh-CN" altLang="en-US" sz="20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8" name="Connector 8"/>
          <p:cNvCxnSpPr/>
          <p:nvPr/>
        </p:nvCxnSpPr>
        <p:spPr>
          <a:xfrm rot="-15626">
            <a:off x="1016014" y="2851150"/>
            <a:ext cx="2794000" cy="12700"/>
          </a:xfrm>
          <a:prstGeom prst="straightConnector1">
            <a:avLst/>
          </a:prstGeom>
          <a:solidFill>
            <a:srgbClr val="DEE0E3">
              <a:alpha val="100000"/>
            </a:srgbClr>
          </a:solidFill>
          <a:ln w="12700" cap="flat" cmpd="sng">
            <a:solidFill>
              <a:srgbClr val="8892B0">
                <a:alpha val="30000"/>
              </a:srgbClr>
            </a:solidFill>
            <a:prstDash val="solid"/>
            <a:round/>
            <a:headEnd type="none" w="med" len="med"/>
            <a:tailEnd type="none" w="med" len="med"/>
          </a:ln>
        </p:spPr>
      </p:cxnSp>
      <p:sp>
        <p:nvSpPr>
          <p:cNvPr id="9" name="AutoShape 9"/>
          <p:cNvSpPr/>
          <p:nvPr/>
        </p:nvSpPr>
        <p:spPr>
          <a:xfrm>
            <a:off x="1016000" y="29845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核心内容：</a:t>
            </a:r>
            <a:r>
              <a:rPr lang="zh-CN" altLang="en-US" sz="1400">
                <a:latin typeface="Noto Sans SC" panose="020B0200000000000000" charset="-122"/>
                <a:ea typeface="Noto Sans SC" panose="020B0200000000000000" charset="-122"/>
                <a:cs typeface="Noto Sans SC" panose="020B0200000000000000" charset="-122"/>
                <a:sym typeface="Noto Sans SC" panose="020B0200000000000000" charset="-122"/>
              </a:rPr>
              <a:t>融合本体工程与多源数据，构建全维度地图制图知识图谱，打造“知识驱动+智能调度”新底座</a:t>
            </a:r>
            <a:r>
              <a:rPr lang="zh-CN" altLang="en-US"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1016000" y="4413250"/>
            <a:ext cx="2794000" cy="1270000"/>
          </a:xfrm>
          <a:prstGeom prst="rect">
            <a:avLst/>
          </a:prstGeom>
          <a:noFill/>
          <a:ln w="12700" cap="flat" cmpd="sng">
            <a:noFill/>
            <a:prstDash val="solid"/>
            <a:round/>
          </a:ln>
        </p:spPr>
        <p:txBody>
          <a:bodyPr vert="horz" wrap="square" lIns="0" tIns="0" rIns="0" bIns="0" rtlCol="0" anchor="ctr" anchorCtr="0"/>
          <a:lstStyle/>
          <a:p>
            <a:pPr algn="l">
              <a:lnSpc>
                <a:spcPct val="125000"/>
              </a:lnSpc>
              <a:buClrTx/>
              <a:buSzTx/>
              <a:buFontTx/>
              <a:defRPr/>
            </a:pPr>
            <a:r>
              <a:rPr lang="en-US" sz="14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关键突破：</a:t>
            </a:r>
            <a:r>
              <a:rPr lang="en-US" sz="140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突破知识碎片化局限，为LLM提供专业知识约束，从源头规避“知识盲区”，保障制图流程的规范性与科学性。</a:t>
            </a:r>
            <a:endParaRPr lang="en-US" sz="140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algn="l">
              <a:lnSpc>
                <a:spcPct val="125000"/>
              </a:lnSpc>
              <a:buClrTx/>
              <a:buSzTx/>
              <a:buFontTx/>
              <a:defRPr/>
            </a:pPr>
            <a:endParaRPr lang="en-US" sz="140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4445000" y="1651000"/>
            <a:ext cx="3302000" cy="4572000"/>
          </a:xfrm>
          <a:prstGeom prst="roundRect">
            <a:avLst>
              <a:gd name="adj" fmla="val 3846"/>
            </a:avLst>
          </a:prstGeom>
          <a:noFill/>
          <a:ln w="101600" cap="flat" cmpd="sng">
            <a:solidFill>
              <a:schemeClr val="accent6">
                <a:lumMod val="75000"/>
                <a:alpha val="90000"/>
              </a:schemeClr>
            </a:solidFill>
            <a:prstDash val="solid"/>
            <a:round/>
          </a:ln>
          <a:extLst>
            <a:ext uri="{909E8E84-426E-40DD-AFC4-6F175D3DCCD1}">
              <a14:hiddenFill xmlns:a14="http://schemas.microsoft.com/office/drawing/2010/main">
                <a:solidFill>
                  <a:schemeClr val="accent6">
                    <a:lumMod val="75000"/>
                  </a:schemeClr>
                </a:solidFill>
              </a14:hiddenFill>
            </a:ext>
          </a:extLst>
        </p:spPr>
        <p:txBody>
          <a:bodyPr vert="horz" wrap="square" lIns="63500" tIns="63500" rIns="63500" bIns="63500" rtlCol="0" anchor="ctr"/>
          <a:lstStyle/>
          <a:p>
            <a:pPr algn="ctr">
              <a:defRPr/>
            </a:pPr>
            <a:endParaRPr>
              <a:solidFill>
                <a:schemeClr val="accent6">
                  <a:lumMod val="75000"/>
                </a:schemeClr>
              </a:solidFill>
            </a:endParaR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99000" y="1905000"/>
            <a:ext cx="406400" cy="406400"/>
          </a:xfrm>
          <a:prstGeom prst="rect">
            <a:avLst/>
          </a:prstGeom>
        </p:spPr>
      </p:pic>
      <p:sp>
        <p:nvSpPr>
          <p:cNvPr id="13" name="AutoShape 13"/>
          <p:cNvSpPr/>
          <p:nvPr/>
        </p:nvSpPr>
        <p:spPr>
          <a:xfrm>
            <a:off x="4699000" y="24130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0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执行架构创新</a:t>
            </a:r>
            <a:endParaRPr lang="zh-CN" altLang="en-US" sz="20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4" name="Connector 14"/>
          <p:cNvCxnSpPr/>
          <p:nvPr/>
        </p:nvCxnSpPr>
        <p:spPr>
          <a:xfrm rot="-15626">
            <a:off x="4699014" y="2851150"/>
            <a:ext cx="2794000" cy="12700"/>
          </a:xfrm>
          <a:prstGeom prst="straightConnector1">
            <a:avLst/>
          </a:prstGeom>
          <a:solidFill>
            <a:srgbClr val="DEE0E3">
              <a:alpha val="100000"/>
            </a:srgbClr>
          </a:solidFill>
          <a:ln w="12700" cap="flat" cmpd="sng">
            <a:solidFill>
              <a:srgbClr val="8892B0">
                <a:alpha val="30000"/>
              </a:srgbClr>
            </a:solidFill>
            <a:prstDash val="solid"/>
            <a:round/>
            <a:headEnd type="none" w="med" len="med"/>
            <a:tailEnd type="none" w="med" len="med"/>
          </a:ln>
        </p:spPr>
      </p:cxnSp>
      <p:sp>
        <p:nvSpPr>
          <p:cNvPr id="15" name="AutoShape 15"/>
          <p:cNvSpPr/>
          <p:nvPr/>
        </p:nvSpPr>
        <p:spPr>
          <a:xfrm>
            <a:off x="4699000" y="29845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核心内容：</a:t>
            </a:r>
            <a:r>
              <a:rPr lang="zh-CN" altLang="en-US"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融合</a:t>
            </a:r>
            <a:r>
              <a:rPr lang="en-US" altLang="zh-CN"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RAG</a:t>
            </a:r>
            <a:r>
              <a:rPr lang="zh-CN" altLang="en-US"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与图知识库，基于</a:t>
            </a:r>
            <a:r>
              <a:rPr lang="en-US" altLang="zh-CN"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ReAct</a:t>
            </a:r>
            <a:r>
              <a:rPr lang="zh-CN" altLang="en-US"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范式设计</a:t>
            </a:r>
            <a:r>
              <a:rPr lang="en-US" altLang="zh-CN"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思考</a:t>
            </a:r>
            <a:r>
              <a:rPr lang="en-US" altLang="zh-CN"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行动</a:t>
            </a:r>
            <a:r>
              <a:rPr lang="en-US" altLang="zh-CN"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观察</a:t>
            </a:r>
            <a:r>
              <a:rPr lang="en-US" altLang="zh-CN"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闭环，实现</a:t>
            </a:r>
            <a:r>
              <a:rPr lang="en-US" altLang="zh-CN"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LLM</a:t>
            </a:r>
            <a:r>
              <a:rPr lang="zh-CN" altLang="en-US"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与知识图谱的深度协同。</a:t>
            </a:r>
            <a:endParaRPr lang="zh-CN" altLang="en-US"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nvSpPr>
        <p:spPr>
          <a:xfrm>
            <a:off x="4699000" y="42545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关键突破：</a:t>
            </a:r>
            <a:r>
              <a:rPr lang="zh-CN" altLang="en-US"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动态调取专业规则与地理数据，显著提升地理问答与制图方案的专业性，有效克服大模型</a:t>
            </a:r>
            <a:r>
              <a:rPr lang="en-US" altLang="zh-CN"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幻觉</a:t>
            </a:r>
            <a:r>
              <a:rPr lang="en-US" altLang="zh-CN"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a:t>
            </a:r>
            <a:endParaRPr lang="zh-CN" altLang="en-US"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8128000" y="1651000"/>
            <a:ext cx="3302000" cy="4572000"/>
          </a:xfrm>
          <a:prstGeom prst="roundRect">
            <a:avLst>
              <a:gd name="adj" fmla="val 3846"/>
            </a:avLst>
          </a:prstGeom>
          <a:solidFill>
            <a:srgbClr val="FFFFFF">
              <a:alpha val="5000"/>
            </a:srgbClr>
          </a:solidFill>
          <a:ln w="101600" cap="flat" cmpd="sng">
            <a:solidFill>
              <a:schemeClr val="accent6">
                <a:lumMod val="75000"/>
                <a:alpha val="90000"/>
              </a:schemeClr>
            </a:solidFill>
            <a:prstDash val="solid"/>
            <a:round/>
          </a:ln>
        </p:spPr>
        <p:txBody>
          <a:bodyPr vert="horz" wrap="square" lIns="63500" tIns="63500" rIns="63500" bIns="63500" rtlCol="0" anchor="ctr"/>
          <a:lstStyle/>
          <a:p>
            <a:pPr algn="ctr">
              <a:defRPr/>
            </a:pPr>
            <a:endParaRPr>
              <a:solidFill>
                <a:schemeClr val="tx1"/>
              </a:solidFill>
            </a:endParaR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82000" y="1905000"/>
            <a:ext cx="406400" cy="406400"/>
          </a:xfrm>
          <a:prstGeom prst="rect">
            <a:avLst/>
          </a:prstGeom>
        </p:spPr>
      </p:pic>
      <p:sp>
        <p:nvSpPr>
          <p:cNvPr id="19" name="AutoShape 19"/>
          <p:cNvSpPr/>
          <p:nvPr/>
        </p:nvSpPr>
        <p:spPr>
          <a:xfrm>
            <a:off x="8382000" y="24130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0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技术融合创新</a:t>
            </a:r>
            <a:endParaRPr lang="zh-CN" altLang="en-US" sz="20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0" name="Connector 20"/>
          <p:cNvCxnSpPr/>
          <p:nvPr/>
        </p:nvCxnSpPr>
        <p:spPr>
          <a:xfrm rot="-15626">
            <a:off x="8382014" y="2851150"/>
            <a:ext cx="2794000" cy="12700"/>
          </a:xfrm>
          <a:prstGeom prst="straightConnector1">
            <a:avLst/>
          </a:prstGeom>
          <a:solidFill>
            <a:srgbClr val="DEE0E3">
              <a:alpha val="100000"/>
            </a:srgbClr>
          </a:solidFill>
          <a:ln w="12700" cap="flat" cmpd="sng">
            <a:solidFill>
              <a:srgbClr val="8892B0">
                <a:alpha val="30000"/>
              </a:srgbClr>
            </a:solidFill>
            <a:prstDash val="solid"/>
            <a:round/>
            <a:headEnd type="none" w="med" len="med"/>
            <a:tailEnd type="none" w="med" len="med"/>
          </a:ln>
        </p:spPr>
      </p:cxnSp>
      <p:sp>
        <p:nvSpPr>
          <p:cNvPr id="21" name="AutoShape 21"/>
          <p:cNvSpPr/>
          <p:nvPr/>
        </p:nvSpPr>
        <p:spPr>
          <a:xfrm>
            <a:off x="8382000" y="29845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核心内容：</a:t>
            </a:r>
            <a:r>
              <a:rPr lang="zh-CN" altLang="en-US"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打通自然语言交互、知识推理与工具调度全链路，构建</a:t>
            </a:r>
            <a:r>
              <a:rPr lang="en-US" altLang="zh-CN"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“LLM</a:t>
            </a:r>
            <a:r>
              <a:rPr lang="zh-CN" altLang="en-US"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理解</a:t>
            </a:r>
            <a:r>
              <a:rPr lang="en-US" altLang="zh-CN"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智图约束</a:t>
            </a:r>
            <a:r>
              <a:rPr lang="en-US" altLang="zh-CN"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智能体执行</a:t>
            </a:r>
            <a:r>
              <a:rPr lang="en-US" altLang="zh-CN"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体系。</a:t>
            </a:r>
            <a:endParaRPr lang="zh-CN" altLang="en-US"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2" name="AutoShape 22"/>
          <p:cNvSpPr/>
          <p:nvPr/>
        </p:nvSpPr>
        <p:spPr>
          <a:xfrm>
            <a:off x="8382000" y="42545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关键突破：</a:t>
            </a:r>
            <a:r>
              <a:rPr lang="zh-CN" altLang="en-US"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实现从</a:t>
            </a:r>
            <a:r>
              <a:rPr lang="en-US" altLang="zh-CN"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人操作工具</a:t>
            </a:r>
            <a:r>
              <a:rPr lang="en-US" altLang="zh-CN"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到</a:t>
            </a:r>
            <a:r>
              <a:rPr lang="en-US" altLang="zh-CN"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智能体调度工具</a:t>
            </a:r>
            <a:r>
              <a:rPr lang="en-US" altLang="zh-CN"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的范式转变，用户仅需自然语言描述即可自动生成地图，大幅降低门槛。</a:t>
            </a:r>
            <a:endParaRPr lang="zh-CN" altLang="en-US" sz="1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4529489" y="-59933"/>
                <a:ext cx="242760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984149" y="50595"/>
                <a:ext cx="1771650"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a:t>
                </a:r>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进展</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sp>
        <p:nvSpPr>
          <p:cNvPr id="107" name="文本框 106"/>
          <p:cNvSpPr txBox="1"/>
          <p:nvPr/>
        </p:nvSpPr>
        <p:spPr>
          <a:xfrm>
            <a:off x="205105" y="843280"/>
            <a:ext cx="3215640" cy="521970"/>
          </a:xfrm>
          <a:prstGeom prst="rect">
            <a:avLst/>
          </a:prstGeom>
          <a:noFill/>
        </p:spPr>
        <p:txBody>
          <a:bodyPr wrap="square" rtlCol="0" anchor="t">
            <a:spAutoFit/>
          </a:bodyPr>
          <a:p>
            <a:r>
              <a:rPr lang="en-US" altLang="zh-CN"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2.5</a:t>
            </a:r>
            <a:r>
              <a:rPr lang="zh-CN" altLang="en-US"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人员分工</a:t>
            </a:r>
            <a:endParaRPr lang="zh-CN" altLang="en-US"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2" name="表格 1"/>
          <p:cNvGraphicFramePr/>
          <p:nvPr>
            <p:custDataLst>
              <p:tags r:id="rId4"/>
            </p:custDataLst>
          </p:nvPr>
        </p:nvGraphicFramePr>
        <p:xfrm>
          <a:off x="306070" y="1365250"/>
          <a:ext cx="11506835" cy="4958715"/>
        </p:xfrm>
        <a:graphic>
          <a:graphicData uri="http://schemas.openxmlformats.org/drawingml/2006/table">
            <a:tbl>
              <a:tblPr firstRow="1" bandRow="1">
                <a:tableStyleId>{054D6A88-18FC-46BF-8F70-5FD4559684DD}</a:tableStyleId>
              </a:tblPr>
              <a:tblGrid>
                <a:gridCol w="2141220"/>
                <a:gridCol w="2141855"/>
                <a:gridCol w="2141855"/>
                <a:gridCol w="5081905"/>
              </a:tblGrid>
              <a:tr h="412115">
                <a:tc>
                  <a:txBody>
                    <a:bodyPr/>
                    <a:p>
                      <a:pPr algn="ctr">
                        <a:buNone/>
                      </a:pPr>
                      <a:r>
                        <a:rPr lang="zh-CN" altLang="en-US" sz="2000">
                          <a:solidFill>
                            <a:schemeClr val="tx1"/>
                          </a:solidFill>
                          <a:latin typeface="微软雅黑" panose="020B0503020204020204" pitchFamily="34" charset="-122"/>
                          <a:ea typeface="微软雅黑" panose="020B0503020204020204" pitchFamily="34" charset="-122"/>
                        </a:rPr>
                        <a:t>职位</a:t>
                      </a:r>
                      <a:endParaRPr lang="zh-CN" altLang="en-US" sz="2000">
                        <a:solidFill>
                          <a:schemeClr val="tx1"/>
                        </a:solidFill>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2000">
                          <a:solidFill>
                            <a:schemeClr val="tx1"/>
                          </a:solidFill>
                          <a:latin typeface="微软雅黑" panose="020B0503020204020204" pitchFamily="34" charset="-122"/>
                          <a:ea typeface="微软雅黑" panose="020B0503020204020204" pitchFamily="34" charset="-122"/>
                        </a:rPr>
                        <a:t>姓名</a:t>
                      </a:r>
                      <a:endParaRPr lang="zh-CN" altLang="en-US" sz="2000">
                        <a:solidFill>
                          <a:schemeClr val="tx1"/>
                        </a:solidFill>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2000">
                          <a:solidFill>
                            <a:schemeClr val="tx1"/>
                          </a:solidFill>
                          <a:latin typeface="微软雅黑" panose="020B0503020204020204" pitchFamily="34" charset="-122"/>
                          <a:ea typeface="微软雅黑" panose="020B0503020204020204" pitchFamily="34" charset="-122"/>
                        </a:rPr>
                        <a:t>专业</a:t>
                      </a:r>
                      <a:endParaRPr lang="zh-CN" altLang="en-US" sz="2000">
                        <a:solidFill>
                          <a:schemeClr val="tx1"/>
                        </a:solidFill>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2000">
                          <a:solidFill>
                            <a:schemeClr val="tx1"/>
                          </a:solidFill>
                          <a:latin typeface="微软雅黑" panose="020B0503020204020204" pitchFamily="34" charset="-122"/>
                          <a:ea typeface="微软雅黑" panose="020B0503020204020204" pitchFamily="34" charset="-122"/>
                        </a:rPr>
                        <a:t>任务分工</a:t>
                      </a:r>
                      <a:endParaRPr lang="zh-CN" altLang="en-US" sz="2000">
                        <a:solidFill>
                          <a:schemeClr val="tx1"/>
                        </a:solidFill>
                        <a:latin typeface="微软雅黑" panose="020B0503020204020204" pitchFamily="34" charset="-122"/>
                        <a:ea typeface="微软雅黑" panose="020B0503020204020204" pitchFamily="34" charset="-122"/>
                      </a:endParaRPr>
                    </a:p>
                  </a:txBody>
                  <a:tcPr anchor="ctr" anchorCtr="0"/>
                </a:tc>
              </a:tr>
              <a:tr h="1346835">
                <a:tc>
                  <a:txBody>
                    <a:bodyPr/>
                    <a:p>
                      <a:pPr algn="ctr">
                        <a:buNone/>
                      </a:pPr>
                      <a:r>
                        <a:rPr lang="zh-CN" altLang="en-US" sz="1800" b="0">
                          <a:solidFill>
                            <a:schemeClr val="tx1"/>
                          </a:solidFill>
                          <a:latin typeface="微软雅黑" panose="020B0503020204020204" pitchFamily="34" charset="-122"/>
                          <a:ea typeface="微软雅黑" panose="020B0503020204020204" pitchFamily="34" charset="-122"/>
                        </a:rPr>
                        <a:t>指导老师</a:t>
                      </a:r>
                      <a:endParaRPr lang="zh-CN" altLang="en-US" sz="1800" b="0">
                        <a:solidFill>
                          <a:schemeClr val="tx1"/>
                        </a:solidFill>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800" b="0">
                          <a:solidFill>
                            <a:schemeClr val="tx1"/>
                          </a:solidFill>
                          <a:latin typeface="微软雅黑" panose="020B0503020204020204" pitchFamily="34" charset="-122"/>
                          <a:ea typeface="微软雅黑" panose="020B0503020204020204" pitchFamily="34" charset="-122"/>
                        </a:rPr>
                        <a:t>蔡忠亮</a:t>
                      </a:r>
                      <a:endParaRPr lang="zh-CN" altLang="en-US" sz="1800" b="0">
                        <a:solidFill>
                          <a:schemeClr val="tx1"/>
                        </a:solidFill>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8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资环学院</a:t>
                      </a:r>
                      <a:r>
                        <a:rPr lang="en-US" altLang="zh-CN" sz="18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教授</a:t>
                      </a:r>
                      <a:endParaRPr lang="zh-CN" altLang="en-US" sz="18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c>
                  <a:txBody>
                    <a:bodyPr/>
                    <a:p>
                      <a:pPr algn="ctr">
                        <a:lnSpc>
                          <a:spcPct val="150000"/>
                        </a:lnSpc>
                        <a:buNone/>
                      </a:pPr>
                      <a:r>
                        <a:rPr lang="zh-CN" altLang="en-US" sz="1400" b="0">
                          <a:solidFill>
                            <a:schemeClr val="tx1"/>
                          </a:solidFill>
                          <a:latin typeface="微软雅黑" panose="020B0503020204020204" pitchFamily="34" charset="-122"/>
                          <a:ea typeface="微软雅黑" panose="020B0503020204020204" pitchFamily="34" charset="-122"/>
                        </a:rPr>
                        <a:t>为此项目提供高水平指导，包括项目流程，文案撰写与答辩等，提供软硬件支持为项目的开展提供了有利的环境和技术支持</a:t>
                      </a:r>
                      <a:endParaRPr lang="zh-CN" altLang="en-US" sz="1400" b="0">
                        <a:solidFill>
                          <a:schemeClr val="tx1"/>
                        </a:solidFill>
                        <a:latin typeface="微软雅黑" panose="020B0503020204020204" pitchFamily="34" charset="-122"/>
                        <a:ea typeface="微软雅黑" panose="020B0503020204020204" pitchFamily="34" charset="-122"/>
                      </a:endParaRPr>
                    </a:p>
                  </a:txBody>
                  <a:tcPr anchor="ctr" anchorCtr="0"/>
                </a:tc>
              </a:tr>
              <a:tr h="1347470">
                <a:tc>
                  <a:txBody>
                    <a:bodyPr/>
                    <a:p>
                      <a:pPr algn="ctr">
                        <a:buNone/>
                      </a:pPr>
                      <a:r>
                        <a:rPr lang="zh-CN" altLang="en-US" sz="1800" b="0">
                          <a:solidFill>
                            <a:schemeClr val="tx1"/>
                          </a:solidFill>
                          <a:latin typeface="微软雅黑" panose="020B0503020204020204" pitchFamily="34" charset="-122"/>
                          <a:ea typeface="微软雅黑" panose="020B0503020204020204" pitchFamily="34" charset="-122"/>
                        </a:rPr>
                        <a:t>负责人</a:t>
                      </a:r>
                      <a:endParaRPr lang="zh-CN" altLang="en-US" sz="1800" b="0">
                        <a:solidFill>
                          <a:schemeClr val="tx1"/>
                        </a:solidFill>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800" b="0">
                          <a:solidFill>
                            <a:schemeClr val="tx1"/>
                          </a:solidFill>
                          <a:latin typeface="微软雅黑" panose="020B0503020204020204" pitchFamily="34" charset="-122"/>
                          <a:ea typeface="微软雅黑" panose="020B0503020204020204" pitchFamily="34" charset="-122"/>
                        </a:rPr>
                        <a:t>匡怡琳</a:t>
                      </a:r>
                      <a:endParaRPr lang="zh-CN" altLang="en-US" sz="1800" b="0">
                        <a:solidFill>
                          <a:schemeClr val="tx1"/>
                        </a:solidFill>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8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地理科学拔尖班</a:t>
                      </a:r>
                      <a:endParaRPr lang="zh-CN" altLang="en-US" sz="18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c>
                  <a:txBody>
                    <a:bodyPr/>
                    <a:p>
                      <a:pPr algn="ctr">
                        <a:lnSpc>
                          <a:spcPct val="150000"/>
                        </a:lnSpc>
                        <a:buNone/>
                      </a:pPr>
                      <a:r>
                        <a:rPr lang="zh-CN" altLang="en-US" sz="1400" b="0">
                          <a:solidFill>
                            <a:schemeClr val="tx1"/>
                          </a:solidFill>
                          <a:latin typeface="微软雅黑" panose="020B0503020204020204" pitchFamily="34" charset="-122"/>
                          <a:ea typeface="微软雅黑" panose="020B0503020204020204" pitchFamily="34" charset="-122"/>
                          <a:sym typeface="+mn-ea"/>
                        </a:rPr>
                        <a:t>项目组组长，负责工作的统筹规划，进行方法的研究，参与实验，结果分析与表达，参与论文、报告、专利等撰写</a:t>
                      </a:r>
                      <a:endParaRPr lang="zh-CN" altLang="en-US" sz="1400" b="0">
                        <a:solidFill>
                          <a:schemeClr val="tx1"/>
                        </a:solidFill>
                        <a:latin typeface="微软雅黑" panose="020B0503020204020204" pitchFamily="34" charset="-122"/>
                        <a:ea typeface="微软雅黑" panose="020B0503020204020204" pitchFamily="34" charset="-122"/>
                        <a:sym typeface="+mn-ea"/>
                      </a:endParaRPr>
                    </a:p>
                  </a:txBody>
                  <a:tcPr anchor="ctr" anchorCtr="0"/>
                </a:tc>
              </a:tr>
              <a:tr h="925830">
                <a:tc>
                  <a:txBody>
                    <a:bodyPr/>
                    <a:p>
                      <a:pPr algn="ctr">
                        <a:buNone/>
                      </a:pPr>
                      <a:r>
                        <a:rPr lang="zh-CN" altLang="en-US" sz="1800" b="0">
                          <a:solidFill>
                            <a:schemeClr val="tx1"/>
                          </a:solidFill>
                          <a:latin typeface="微软雅黑" panose="020B0503020204020204" pitchFamily="34" charset="-122"/>
                          <a:ea typeface="微软雅黑" panose="020B0503020204020204" pitchFamily="34" charset="-122"/>
                        </a:rPr>
                        <a:t>成员</a:t>
                      </a:r>
                      <a:endParaRPr lang="zh-CN" altLang="en-US" sz="1800" b="0">
                        <a:solidFill>
                          <a:schemeClr val="tx1"/>
                        </a:solidFill>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800" b="0">
                          <a:solidFill>
                            <a:schemeClr val="tx1"/>
                          </a:solidFill>
                          <a:latin typeface="微软雅黑" panose="020B0503020204020204" pitchFamily="34" charset="-122"/>
                          <a:ea typeface="微软雅黑" panose="020B0503020204020204" pitchFamily="34" charset="-122"/>
                        </a:rPr>
                        <a:t>秦潞杰</a:t>
                      </a:r>
                      <a:endParaRPr lang="zh-CN" altLang="en-US" sz="1800" b="0">
                        <a:solidFill>
                          <a:schemeClr val="tx1"/>
                        </a:solidFill>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800" b="0">
                          <a:solidFill>
                            <a:schemeClr val="tx1"/>
                          </a:solidFill>
                          <a:latin typeface="微软雅黑" panose="020B0503020204020204" pitchFamily="34" charset="-122"/>
                          <a:ea typeface="微软雅黑" panose="020B0503020204020204" pitchFamily="34" charset="-122"/>
                        </a:rPr>
                        <a:t>地理信息科学</a:t>
                      </a:r>
                      <a:endParaRPr lang="zh-CN" altLang="en-US" sz="1800" b="0">
                        <a:solidFill>
                          <a:schemeClr val="tx1"/>
                        </a:solidFill>
                        <a:latin typeface="微软雅黑" panose="020B0503020204020204" pitchFamily="34" charset="-122"/>
                        <a:ea typeface="微软雅黑" panose="020B0503020204020204" pitchFamily="34" charset="-122"/>
                      </a:endParaRPr>
                    </a:p>
                    <a:p>
                      <a:pPr algn="ctr">
                        <a:buNone/>
                      </a:pPr>
                      <a:r>
                        <a:rPr lang="zh-CN" altLang="en-US" sz="1800" b="0">
                          <a:solidFill>
                            <a:schemeClr val="tx1"/>
                          </a:solidFill>
                          <a:latin typeface="微软雅黑" panose="020B0503020204020204" pitchFamily="34" charset="-122"/>
                          <a:ea typeface="微软雅黑" panose="020B0503020204020204" pitchFamily="34" charset="-122"/>
                        </a:rPr>
                        <a:t>（制图）</a:t>
                      </a:r>
                      <a:endParaRPr lang="zh-CN" altLang="en-US" sz="1800" b="0">
                        <a:solidFill>
                          <a:schemeClr val="tx1"/>
                        </a:solidFill>
                        <a:latin typeface="微软雅黑" panose="020B0503020204020204" pitchFamily="34" charset="-122"/>
                        <a:ea typeface="微软雅黑" panose="020B0503020204020204" pitchFamily="34" charset="-122"/>
                      </a:endParaRPr>
                    </a:p>
                  </a:txBody>
                  <a:tcPr anchor="ctr" anchorCtr="0"/>
                </a:tc>
                <a:tc>
                  <a:txBody>
                    <a:bodyPr/>
                    <a:p>
                      <a:pPr algn="ctr">
                        <a:lnSpc>
                          <a:spcPct val="150000"/>
                        </a:lnSpc>
                        <a:buNone/>
                      </a:pPr>
                      <a:r>
                        <a:rPr lang="zh-CN" altLang="en-US" sz="14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项目组组员，明确智能体核心逻辑，搭建知识图谱与数据库，负责后端</a:t>
                      </a:r>
                      <a:r>
                        <a:rPr lang="en-US" altLang="zh-CN" sz="14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API</a:t>
                      </a:r>
                      <a:r>
                        <a:rPr lang="zh-CN" altLang="en-US" sz="14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服务开发。</a:t>
                      </a:r>
                      <a:endParaRPr lang="zh-CN" altLang="en-US" sz="14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r>
              <a:tr h="926465">
                <a:tc>
                  <a:txBody>
                    <a:bodyPr/>
                    <a:p>
                      <a:pPr algn="ctr">
                        <a:buNone/>
                      </a:pPr>
                      <a:r>
                        <a:rPr lang="zh-CN" altLang="en-US" sz="1800" b="0">
                          <a:solidFill>
                            <a:schemeClr val="tx1"/>
                          </a:solidFill>
                          <a:latin typeface="微软雅黑" panose="020B0503020204020204" pitchFamily="34" charset="-122"/>
                          <a:ea typeface="微软雅黑" panose="020B0503020204020204" pitchFamily="34" charset="-122"/>
                        </a:rPr>
                        <a:t>成员</a:t>
                      </a:r>
                      <a:endParaRPr lang="zh-CN" altLang="en-US" sz="1800" b="0">
                        <a:solidFill>
                          <a:schemeClr val="tx1"/>
                        </a:solidFill>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800" b="0">
                          <a:solidFill>
                            <a:schemeClr val="tx1"/>
                          </a:solidFill>
                          <a:latin typeface="微软雅黑" panose="020B0503020204020204" pitchFamily="34" charset="-122"/>
                          <a:ea typeface="微软雅黑" panose="020B0503020204020204" pitchFamily="34" charset="-122"/>
                        </a:rPr>
                        <a:t>徐欣</a:t>
                      </a:r>
                      <a:endParaRPr lang="zh-CN" altLang="en-US" sz="1800" b="0">
                        <a:solidFill>
                          <a:schemeClr val="tx1"/>
                        </a:solidFill>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800" b="0">
                          <a:solidFill>
                            <a:schemeClr val="tx1"/>
                          </a:solidFill>
                          <a:latin typeface="微软雅黑" panose="020B0503020204020204" pitchFamily="34" charset="-122"/>
                          <a:ea typeface="微软雅黑" panose="020B0503020204020204" pitchFamily="34" charset="-122"/>
                        </a:rPr>
                        <a:t>地理信息科学</a:t>
                      </a:r>
                      <a:endParaRPr lang="zh-CN" altLang="en-US" sz="1800" b="0">
                        <a:solidFill>
                          <a:schemeClr val="tx1"/>
                        </a:solidFill>
                        <a:latin typeface="微软雅黑" panose="020B0503020204020204" pitchFamily="34" charset="-122"/>
                        <a:ea typeface="微软雅黑" panose="020B0503020204020204" pitchFamily="34" charset="-122"/>
                      </a:endParaRPr>
                    </a:p>
                    <a:p>
                      <a:pPr algn="ctr">
                        <a:buNone/>
                      </a:pPr>
                      <a:r>
                        <a:rPr lang="zh-CN" altLang="en-US" sz="1800" b="0">
                          <a:solidFill>
                            <a:schemeClr val="tx1"/>
                          </a:solidFill>
                          <a:latin typeface="微软雅黑" panose="020B0503020204020204" pitchFamily="34" charset="-122"/>
                          <a:ea typeface="微软雅黑" panose="020B0503020204020204" pitchFamily="34" charset="-122"/>
                        </a:rPr>
                        <a:t>（制图）</a:t>
                      </a:r>
                      <a:endParaRPr lang="zh-CN" altLang="en-US" sz="1800" b="0">
                        <a:solidFill>
                          <a:schemeClr val="tx1"/>
                        </a:solidFill>
                        <a:latin typeface="微软雅黑" panose="020B0503020204020204" pitchFamily="34" charset="-122"/>
                        <a:ea typeface="微软雅黑" panose="020B0503020204020204" pitchFamily="34" charset="-122"/>
                      </a:endParaRPr>
                    </a:p>
                  </a:txBody>
                  <a:tcPr anchor="ctr" anchorCtr="0"/>
                </a:tc>
                <a:tc>
                  <a:txBody>
                    <a:bodyPr/>
                    <a:p>
                      <a:pPr algn="ctr">
                        <a:lnSpc>
                          <a:spcPct val="150000"/>
                        </a:lnSpc>
                        <a:buNone/>
                      </a:pPr>
                      <a:r>
                        <a:rPr lang="zh-CN" altLang="en-US" sz="1400" b="0">
                          <a:solidFill>
                            <a:schemeClr val="tx1"/>
                          </a:solidFill>
                          <a:latin typeface="微软雅黑" panose="020B0503020204020204" pitchFamily="34" charset="-122"/>
                          <a:ea typeface="微软雅黑" panose="020B0503020204020204" pitchFamily="34" charset="-122"/>
                        </a:rPr>
                        <a:t>项目组组员，用户交互界面开发，地图引擎集成，最终结果可视化呈现。</a:t>
                      </a:r>
                      <a:endParaRPr lang="zh-CN" altLang="en-US" sz="1400" b="0">
                        <a:solidFill>
                          <a:schemeClr val="tx1"/>
                        </a:solidFill>
                        <a:latin typeface="微软雅黑" panose="020B0503020204020204" pitchFamily="34" charset="-122"/>
                        <a:ea typeface="微软雅黑" panose="020B0503020204020204" pitchFamily="34" charset="-122"/>
                      </a:endParaRPr>
                    </a:p>
                  </a:txBody>
                  <a:tcPr anchor="ctr" anchorCtr="0"/>
                </a:tc>
              </a:tr>
            </a:tbl>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任意多边形 9"/>
          <p:cNvSpPr/>
          <p:nvPr/>
        </p:nvSpPr>
        <p:spPr>
          <a:xfrm rot="19740000">
            <a:off x="-2280399" y="-122827"/>
            <a:ext cx="4768982" cy="7335937"/>
          </a:xfrm>
          <a:custGeom>
            <a:avLst/>
            <a:gdLst/>
            <a:ahLst/>
            <a:cxnLst>
              <a:cxn ang="3">
                <a:pos x="hc" y="t"/>
              </a:cxn>
              <a:cxn ang="cd2">
                <a:pos x="l" y="vc"/>
              </a:cxn>
              <a:cxn ang="cd4">
                <a:pos x="hc" y="b"/>
              </a:cxn>
              <a:cxn ang="0">
                <a:pos x="r" y="vc"/>
              </a:cxn>
            </a:cxnLst>
            <a:rect l="l" t="t" r="r" b="b"/>
            <a:pathLst>
              <a:path w="7510" h="11553">
                <a:moveTo>
                  <a:pt x="6301" y="0"/>
                </a:moveTo>
                <a:lnTo>
                  <a:pt x="7510" y="0"/>
                </a:lnTo>
                <a:lnTo>
                  <a:pt x="7510" y="7861"/>
                </a:lnTo>
                <a:lnTo>
                  <a:pt x="7510" y="7861"/>
                </a:lnTo>
                <a:lnTo>
                  <a:pt x="7510" y="7861"/>
                </a:lnTo>
                <a:lnTo>
                  <a:pt x="7510" y="7863"/>
                </a:lnTo>
                <a:lnTo>
                  <a:pt x="7507" y="7863"/>
                </a:lnTo>
                <a:lnTo>
                  <a:pt x="568" y="11553"/>
                </a:lnTo>
                <a:lnTo>
                  <a:pt x="0" y="10485"/>
                </a:lnTo>
                <a:lnTo>
                  <a:pt x="6301" y="7135"/>
                </a:lnTo>
                <a:lnTo>
                  <a:pt x="6301" y="0"/>
                </a:lnTo>
                <a:close/>
              </a:path>
            </a:pathLst>
          </a:custGeom>
          <a:solidFill>
            <a:srgbClr val="00481C">
              <a:alpha val="5000"/>
            </a:srgbClr>
          </a:solidFill>
          <a:ln>
            <a:solidFill>
              <a:srgbClr val="00481C">
                <a:alpha val="8000"/>
              </a:srgb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1" name="任意多边形 10"/>
          <p:cNvSpPr/>
          <p:nvPr/>
        </p:nvSpPr>
        <p:spPr>
          <a:xfrm rot="19740000">
            <a:off x="-1351394" y="-122827"/>
            <a:ext cx="4768982" cy="7335937"/>
          </a:xfrm>
          <a:custGeom>
            <a:avLst/>
            <a:gdLst/>
            <a:ahLst/>
            <a:cxnLst>
              <a:cxn ang="3">
                <a:pos x="hc" y="t"/>
              </a:cxn>
              <a:cxn ang="cd2">
                <a:pos x="l" y="vc"/>
              </a:cxn>
              <a:cxn ang="cd4">
                <a:pos x="hc" y="b"/>
              </a:cxn>
              <a:cxn ang="0">
                <a:pos x="r" y="vc"/>
              </a:cxn>
            </a:cxnLst>
            <a:rect l="l" t="t" r="r" b="b"/>
            <a:pathLst>
              <a:path w="7510" h="11553">
                <a:moveTo>
                  <a:pt x="6301" y="0"/>
                </a:moveTo>
                <a:lnTo>
                  <a:pt x="7510" y="0"/>
                </a:lnTo>
                <a:lnTo>
                  <a:pt x="7510" y="7861"/>
                </a:lnTo>
                <a:lnTo>
                  <a:pt x="7510" y="7861"/>
                </a:lnTo>
                <a:lnTo>
                  <a:pt x="7510" y="7861"/>
                </a:lnTo>
                <a:lnTo>
                  <a:pt x="7510" y="7863"/>
                </a:lnTo>
                <a:lnTo>
                  <a:pt x="7507" y="7863"/>
                </a:lnTo>
                <a:lnTo>
                  <a:pt x="568" y="11553"/>
                </a:lnTo>
                <a:lnTo>
                  <a:pt x="0" y="10485"/>
                </a:lnTo>
                <a:lnTo>
                  <a:pt x="6301" y="7135"/>
                </a:lnTo>
                <a:lnTo>
                  <a:pt x="6301" y="0"/>
                </a:lnTo>
                <a:close/>
              </a:path>
            </a:pathLst>
          </a:custGeom>
          <a:gradFill>
            <a:gsLst>
              <a:gs pos="0">
                <a:schemeClr val="bg1"/>
              </a:gs>
              <a:gs pos="100000">
                <a:srgbClr val="00481C"/>
              </a:gs>
            </a:gsLst>
            <a:lin ang="22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2" name="标题 1"/>
          <p:cNvSpPr>
            <a:spLocks noGrp="1"/>
          </p:cNvSpPr>
          <p:nvPr>
            <p:ph type="title"/>
          </p:nvPr>
        </p:nvSpPr>
        <p:spPr>
          <a:xfrm>
            <a:off x="5147945" y="1499235"/>
            <a:ext cx="4362450" cy="1325880"/>
          </a:xfrm>
        </p:spPr>
        <p:txBody>
          <a:bodyPr>
            <a:normAutofit fontScale="90000"/>
          </a:bodyPr>
          <a:p>
            <a:r>
              <a:rPr lang="en-US" altLang="zh-CN" sz="8000" b="1">
                <a:solidFill>
                  <a:srgbClr val="00481C"/>
                </a:solidFill>
                <a:latin typeface="Arial" panose="020B0604020202020204" pitchFamily="34" charset="0"/>
                <a:cs typeface="Arial" panose="020B0604020202020204" pitchFamily="34" charset="0"/>
              </a:rPr>
              <a:t>PART </a:t>
            </a:r>
            <a:r>
              <a:rPr lang="en-US" altLang="zh-CN" sz="13335" b="1" i="1">
                <a:solidFill>
                  <a:srgbClr val="00481C"/>
                </a:solidFill>
                <a:latin typeface="Arial" panose="020B0604020202020204" pitchFamily="34" charset="0"/>
                <a:cs typeface="Arial" panose="020B0604020202020204" pitchFamily="34" charset="0"/>
              </a:rPr>
              <a:t>3</a:t>
            </a:r>
            <a:endParaRPr lang="en-US" altLang="zh-CN" sz="13335" b="1" i="1">
              <a:solidFill>
                <a:srgbClr val="00481C"/>
              </a:solidFill>
              <a:latin typeface="Arial" panose="020B0604020202020204" pitchFamily="34" charset="0"/>
              <a:cs typeface="Arial" panose="020B0604020202020204" pitchFamily="34" charset="0"/>
            </a:endParaRPr>
          </a:p>
        </p:txBody>
      </p:sp>
      <p:sp>
        <p:nvSpPr>
          <p:cNvPr id="6" name="任意多边形 5"/>
          <p:cNvSpPr/>
          <p:nvPr/>
        </p:nvSpPr>
        <p:spPr>
          <a:xfrm rot="19740000">
            <a:off x="-3067685" y="-1120140"/>
            <a:ext cx="6064885" cy="9330055"/>
          </a:xfrm>
          <a:custGeom>
            <a:avLst/>
            <a:gdLst/>
            <a:ahLst/>
            <a:cxnLst>
              <a:cxn ang="3">
                <a:pos x="hc" y="t"/>
              </a:cxn>
              <a:cxn ang="cd2">
                <a:pos x="l" y="vc"/>
              </a:cxn>
              <a:cxn ang="cd4">
                <a:pos x="hc" y="b"/>
              </a:cxn>
              <a:cxn ang="0">
                <a:pos x="r" y="vc"/>
              </a:cxn>
            </a:cxnLst>
            <a:rect l="l" t="t" r="r" b="b"/>
            <a:pathLst>
              <a:path w="7510" h="11553">
                <a:moveTo>
                  <a:pt x="6301" y="0"/>
                </a:moveTo>
                <a:lnTo>
                  <a:pt x="7510" y="0"/>
                </a:lnTo>
                <a:lnTo>
                  <a:pt x="7510" y="7861"/>
                </a:lnTo>
                <a:lnTo>
                  <a:pt x="7510" y="7861"/>
                </a:lnTo>
                <a:lnTo>
                  <a:pt x="7510" y="7861"/>
                </a:lnTo>
                <a:lnTo>
                  <a:pt x="7510" y="7863"/>
                </a:lnTo>
                <a:lnTo>
                  <a:pt x="7507" y="7863"/>
                </a:lnTo>
                <a:lnTo>
                  <a:pt x="568" y="11553"/>
                </a:lnTo>
                <a:lnTo>
                  <a:pt x="0" y="10485"/>
                </a:lnTo>
                <a:lnTo>
                  <a:pt x="6301" y="7135"/>
                </a:lnTo>
                <a:lnTo>
                  <a:pt x="6301" y="0"/>
                </a:lnTo>
                <a:close/>
              </a:path>
            </a:pathLst>
          </a:custGeom>
          <a:solidFill>
            <a:srgbClr val="00481C"/>
          </a:solidFill>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cxnSp>
        <p:nvCxnSpPr>
          <p:cNvPr id="12" name="直接连接符 11"/>
          <p:cNvCxnSpPr/>
          <p:nvPr/>
        </p:nvCxnSpPr>
        <p:spPr>
          <a:xfrm flipV="1">
            <a:off x="4452620" y="2860675"/>
            <a:ext cx="5057775" cy="19050"/>
          </a:xfrm>
          <a:prstGeom prst="line">
            <a:avLst/>
          </a:prstGeom>
          <a:ln>
            <a:solidFill>
              <a:srgbClr val="00481C"/>
            </a:solidFill>
          </a:ln>
        </p:spPr>
        <p:style>
          <a:lnRef idx="2">
            <a:schemeClr val="accent1"/>
          </a:lnRef>
          <a:fillRef idx="0">
            <a:srgbClr val="FFFFFF"/>
          </a:fillRef>
          <a:effectRef idx="0">
            <a:srgbClr val="FFFFFF"/>
          </a:effectRef>
          <a:fontRef idx="minor">
            <a:schemeClr val="tx1"/>
          </a:fontRef>
        </p:style>
      </p:cxnSp>
      <p:sp>
        <p:nvSpPr>
          <p:cNvPr id="13" name="文本框 12"/>
          <p:cNvSpPr txBox="1"/>
          <p:nvPr/>
        </p:nvSpPr>
        <p:spPr>
          <a:xfrm>
            <a:off x="5071745" y="3528695"/>
            <a:ext cx="4324350" cy="1198880"/>
          </a:xfrm>
          <a:prstGeom prst="rect">
            <a:avLst/>
          </a:prstGeom>
          <a:noFill/>
        </p:spPr>
        <p:txBody>
          <a:bodyPr wrap="square" rtlCol="0">
            <a:spAutoFit/>
          </a:bodyPr>
          <a:p>
            <a:r>
              <a:rPr lang="zh-CN" altLang="en-US" sz="7200">
                <a:solidFill>
                  <a:srgbClr val="00481C"/>
                </a:solidFill>
                <a:latin typeface="微软雅黑" panose="020B0503020204020204" pitchFamily="34" charset="-122"/>
                <a:ea typeface="微软雅黑" panose="020B0503020204020204" pitchFamily="34" charset="-122"/>
              </a:rPr>
              <a:t>项目</a:t>
            </a:r>
            <a:r>
              <a:rPr lang="zh-CN" altLang="en-US" sz="7200">
                <a:solidFill>
                  <a:srgbClr val="00481C"/>
                </a:solidFill>
                <a:latin typeface="微软雅黑" panose="020B0503020204020204" pitchFamily="34" charset="-122"/>
                <a:ea typeface="微软雅黑" panose="020B0503020204020204" pitchFamily="34" charset="-122"/>
              </a:rPr>
              <a:t>进展</a:t>
            </a:r>
            <a:endParaRPr lang="zh-CN" altLang="en-US" sz="7200">
              <a:solidFill>
                <a:srgbClr val="00481C"/>
              </a:solidFill>
              <a:latin typeface="微软雅黑" panose="020B0503020204020204" pitchFamily="34" charset="-122"/>
              <a:ea typeface="微软雅黑" panose="020B0503020204020204" pitchFamily="34" charset="-122"/>
            </a:endParaRPr>
          </a:p>
        </p:txBody>
      </p:sp>
      <p:grpSp>
        <p:nvGrpSpPr>
          <p:cNvPr id="165" name="组合 39"/>
          <p:cNvGrpSpPr/>
          <p:nvPr/>
        </p:nvGrpSpPr>
        <p:grpSpPr>
          <a:xfrm>
            <a:off x="9480096" y="160513"/>
            <a:ext cx="2487599" cy="771929"/>
            <a:chOff x="4077923" y="171807"/>
            <a:chExt cx="4420435" cy="1371709"/>
          </a:xfrm>
        </p:grpSpPr>
        <p:grpSp>
          <p:nvGrpSpPr>
            <p:cNvPr id="166" name="组合 40"/>
            <p:cNvGrpSpPr/>
            <p:nvPr/>
          </p:nvGrpSpPr>
          <p:grpSpPr>
            <a:xfrm>
              <a:off x="4077923" y="171807"/>
              <a:ext cx="4260493" cy="1371709"/>
              <a:chOff x="6331308" y="1189619"/>
              <a:chExt cx="5481392" cy="1764794"/>
            </a:xfrm>
          </p:grpSpPr>
          <p:pic>
            <p:nvPicPr>
              <p:cNvPr id="167" name="图片 42"/>
              <p:cNvPicPr>
                <a:picLocks noChangeAspect="1"/>
              </p:cNvPicPr>
              <p:nvPr/>
            </p:nvPicPr>
            <p:blipFill>
              <a:blip r:embed="rId1"/>
              <a:srcRect/>
              <a:stretch>
                <a:fillRect/>
              </a:stretch>
            </p:blipFill>
            <p:spPr>
              <a:xfrm>
                <a:off x="6331308" y="1189619"/>
                <a:ext cx="1791803" cy="1764794"/>
              </a:xfrm>
              <a:prstGeom prst="rect">
                <a:avLst/>
              </a:prstGeom>
            </p:spPr>
          </p:pic>
          <p:pic>
            <p:nvPicPr>
              <p:cNvPr id="168" name="图片 43"/>
              <p:cNvPicPr>
                <a:picLocks noChangeAspect="1"/>
              </p:cNvPicPr>
              <p:nvPr/>
            </p:nvPicPr>
            <p:blipFill>
              <a:blip r:embed="rId2"/>
              <a:srcRect/>
              <a:stretch>
                <a:fillRect/>
              </a:stretch>
            </p:blipFill>
            <p:spPr>
              <a:xfrm>
                <a:off x="8302517" y="1422328"/>
                <a:ext cx="3510183" cy="965303"/>
              </a:xfrm>
              <a:prstGeom prst="rect">
                <a:avLst/>
              </a:prstGeom>
            </p:spPr>
          </p:pic>
        </p:grpSp>
        <p:sp>
          <p:nvSpPr>
            <p:cNvPr id="169" name="矩形 41"/>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grpSp>
        <p:nvGrpSpPr>
          <p:cNvPr id="20" name="组合 19"/>
          <p:cNvGrpSpPr/>
          <p:nvPr/>
        </p:nvGrpSpPr>
        <p:grpSpPr>
          <a:xfrm>
            <a:off x="10212705" y="5683885"/>
            <a:ext cx="1419225" cy="768350"/>
            <a:chOff x="15240" y="8543"/>
            <a:chExt cx="2235" cy="1210"/>
          </a:xfrm>
        </p:grpSpPr>
        <p:sp>
          <p:nvSpPr>
            <p:cNvPr id="14" name="矩形 13"/>
            <p:cNvSpPr/>
            <p:nvPr/>
          </p:nvSpPr>
          <p:spPr>
            <a:xfrm>
              <a:off x="16458" y="8543"/>
              <a:ext cx="409" cy="408"/>
            </a:xfrm>
            <a:prstGeom prst="rect">
              <a:avLst/>
            </a:prstGeom>
            <a:solidFill>
              <a:srgbClr val="00481C">
                <a:alpha val="5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5" name="矩形 14"/>
            <p:cNvSpPr/>
            <p:nvPr/>
          </p:nvSpPr>
          <p:spPr>
            <a:xfrm>
              <a:off x="17067" y="8543"/>
              <a:ext cx="409" cy="408"/>
            </a:xfrm>
            <a:prstGeom prst="rect">
              <a:avLst/>
            </a:prstGeom>
            <a:solidFill>
              <a:srgbClr val="00481C">
                <a:alpha val="36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6" name="矩形 15"/>
            <p:cNvSpPr/>
            <p:nvPr/>
          </p:nvSpPr>
          <p:spPr>
            <a:xfrm>
              <a:off x="17067" y="9345"/>
              <a:ext cx="409" cy="408"/>
            </a:xfrm>
            <a:prstGeom prst="rect">
              <a:avLst/>
            </a:prstGeom>
            <a:solidFill>
              <a:srgbClr val="00481C">
                <a:alpha val="89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7" name="矩形 16"/>
            <p:cNvSpPr/>
            <p:nvPr/>
          </p:nvSpPr>
          <p:spPr>
            <a:xfrm>
              <a:off x="16458" y="9345"/>
              <a:ext cx="409" cy="408"/>
            </a:xfrm>
            <a:prstGeom prst="rect">
              <a:avLst/>
            </a:prstGeom>
            <a:solidFill>
              <a:srgbClr val="00481C">
                <a:alpha val="64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8" name="矩形 17"/>
            <p:cNvSpPr/>
            <p:nvPr/>
          </p:nvSpPr>
          <p:spPr>
            <a:xfrm>
              <a:off x="15849" y="9345"/>
              <a:ext cx="409" cy="408"/>
            </a:xfrm>
            <a:prstGeom prst="rect">
              <a:avLst/>
            </a:prstGeom>
            <a:solidFill>
              <a:srgbClr val="00481C">
                <a:alpha val="7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9" name="矩形 18"/>
            <p:cNvSpPr/>
            <p:nvPr/>
          </p:nvSpPr>
          <p:spPr>
            <a:xfrm>
              <a:off x="15240" y="9345"/>
              <a:ext cx="409" cy="408"/>
            </a:xfrm>
            <a:prstGeom prst="rect">
              <a:avLst/>
            </a:prstGeom>
            <a:solidFill>
              <a:srgbClr val="00481C">
                <a:alpha val="2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6946934" y="-59933"/>
                <a:ext cx="253682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852069" y="48055"/>
                <a:ext cx="1771650"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项目进展</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sp>
        <p:nvSpPr>
          <p:cNvPr id="2" name="ïṣ1ïḑê"/>
          <p:cNvSpPr>
            <a:spLocks noGrp="1"/>
          </p:cNvSpPr>
          <p:nvPr/>
        </p:nvSpPr>
        <p:spPr>
          <a:xfrm>
            <a:off x="205105" y="1087120"/>
            <a:ext cx="10850880" cy="71247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000000"/>
                </a:solidFill>
                <a:latin typeface="Arial" panose="020B0604020202020204" pitchFamily="34" charset="0"/>
                <a:ea typeface="微软雅黑" panose="020B0503020204020204" pitchFamily="34" charset="-122"/>
                <a:cs typeface="+mn-ea"/>
              </a:defRPr>
            </a:lvl1pPr>
          </a:lstStyle>
          <a:p>
            <a:r>
              <a:rPr lang="en-US" altLang="zh-CN" dirty="0">
                <a:solidFill>
                  <a:srgbClr val="005825"/>
                </a:solidFill>
              </a:rPr>
              <a:t>3.1 </a:t>
            </a:r>
            <a:r>
              <a:rPr lang="zh-CN" altLang="en-US" dirty="0">
                <a:solidFill>
                  <a:srgbClr val="00481C"/>
                </a:solidFill>
                <a:latin typeface="Times New Roman" panose="02020603050405020304" pitchFamily="18" charset="0"/>
                <a:cs typeface="Times New Roman" panose="02020603050405020304" pitchFamily="18" charset="0"/>
              </a:rPr>
              <a:t>地图制图知识图谱构建</a:t>
            </a:r>
            <a:endParaRPr lang="zh-CN" altLang="en-US" dirty="0">
              <a:solidFill>
                <a:schemeClr val="tx1"/>
              </a:solidFill>
              <a:latin typeface="Times New Roman" panose="02020603050405020304" pitchFamily="18" charset="0"/>
              <a:cs typeface="Times New Roman" panose="02020603050405020304" pitchFamily="18" charset="0"/>
            </a:endParaRPr>
          </a:p>
          <a:p>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8" name="文本框 7"/>
          <p:cNvSpPr txBox="1"/>
          <p:nvPr/>
        </p:nvSpPr>
        <p:spPr>
          <a:xfrm>
            <a:off x="205105" y="1465580"/>
            <a:ext cx="11675110" cy="544195"/>
          </a:xfrm>
          <a:prstGeom prst="rect">
            <a:avLst/>
          </a:prstGeom>
        </p:spPr>
        <p:txBody>
          <a:bodyPr wrap="square">
            <a:noAutofit/>
          </a:bodyPr>
          <a:p>
            <a:pPr marL="0" indent="304800" algn="just" defTabSz="266700">
              <a:lnSpc>
                <a:spcPct val="150000"/>
              </a:lnSpc>
              <a:spcBef>
                <a:spcPct val="0"/>
              </a:spcBef>
              <a:spcAft>
                <a:spcPct val="0"/>
              </a:spcAft>
            </a:pPr>
            <a:r>
              <a:rPr lang="zh-CN" altLang="en-US" b="1">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完成了</a:t>
            </a:r>
            <a:r>
              <a:rPr lang="en-US" b="1">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地图学核心知识的梳理与预处理</a:t>
            </a:r>
            <a:r>
              <a:rPr lang="zh-CN" altLang="en-US" b="1">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a:t>
            </a:r>
            <a:r>
              <a:rPr lang="en-US" b="1">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定义了地图、图层、符号、规则等核心类及其相互关系</a:t>
            </a:r>
            <a:endParaRPr lang="en-US" altLang="en-US" b="1">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grpSp>
        <p:nvGrpSpPr>
          <p:cNvPr id="26" name="组合 25"/>
          <p:cNvGrpSpPr/>
          <p:nvPr/>
        </p:nvGrpSpPr>
        <p:grpSpPr>
          <a:xfrm>
            <a:off x="281305" y="2536825"/>
            <a:ext cx="11541760" cy="3341370"/>
            <a:chOff x="442" y="3410"/>
            <a:chExt cx="18176" cy="4882"/>
          </a:xfrm>
        </p:grpSpPr>
        <p:grpSp>
          <p:nvGrpSpPr>
            <p:cNvPr id="21" name="组合 20"/>
            <p:cNvGrpSpPr/>
            <p:nvPr/>
          </p:nvGrpSpPr>
          <p:grpSpPr>
            <a:xfrm>
              <a:off x="6702" y="3410"/>
              <a:ext cx="4149" cy="4875"/>
              <a:chOff x="6618" y="5183"/>
              <a:chExt cx="3825" cy="4822"/>
            </a:xfrm>
          </p:grpSpPr>
          <p:pic>
            <p:nvPicPr>
              <p:cNvPr id="5" name="图片 -2147482621"/>
              <p:cNvPicPr>
                <a:picLocks noChangeAspect="1"/>
              </p:cNvPicPr>
              <p:nvPr/>
            </p:nvPicPr>
            <p:blipFill>
              <a:blip r:embed="rId4"/>
              <a:stretch>
                <a:fillRect/>
              </a:stretch>
            </p:blipFill>
            <p:spPr>
              <a:xfrm>
                <a:off x="6962" y="5399"/>
                <a:ext cx="3111" cy="3239"/>
              </a:xfrm>
              <a:prstGeom prst="rect">
                <a:avLst/>
              </a:prstGeom>
              <a:noFill/>
              <a:ln w="9525">
                <a:noFill/>
              </a:ln>
            </p:spPr>
          </p:pic>
          <p:sp>
            <p:nvSpPr>
              <p:cNvPr id="13" name="圆角矩形 12"/>
              <p:cNvSpPr/>
              <p:nvPr/>
            </p:nvSpPr>
            <p:spPr>
              <a:xfrm>
                <a:off x="6961" y="5183"/>
                <a:ext cx="3139" cy="4822"/>
              </a:xfrm>
              <a:prstGeom prst="roundRect">
                <a:avLst/>
              </a:prstGeom>
              <a:noFill/>
              <a:ln w="19050">
                <a:solidFill>
                  <a:srgbClr val="00481C"/>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17" name="文本框 16"/>
              <p:cNvSpPr txBox="1"/>
              <p:nvPr/>
            </p:nvSpPr>
            <p:spPr>
              <a:xfrm>
                <a:off x="6618" y="8894"/>
                <a:ext cx="3825" cy="1016"/>
              </a:xfrm>
              <a:prstGeom prst="rect">
                <a:avLst/>
              </a:prstGeom>
            </p:spPr>
            <p:txBody>
              <a:bodyPr wrap="square">
                <a:noAutofit/>
              </a:bodyPr>
              <a:p>
                <a:pPr lvl="0" indent="304800" algn="just" defTabSz="266700">
                  <a:lnSpc>
                    <a:spcPct val="150000"/>
                  </a:lnSpc>
                  <a:buClrTx/>
                  <a:buSzTx/>
                  <a:buFontTx/>
                </a:pPr>
                <a:r>
                  <a:rPr lang="zh-CN" altLang="en-US" sz="2000">
                    <a:latin typeface="微软雅黑" panose="020B0503020204020204" pitchFamily="34" charset="-122"/>
                    <a:ea typeface="微软雅黑" panose="020B0503020204020204" pitchFamily="34" charset="-122"/>
                    <a:sym typeface="+mn-ea"/>
                  </a:rPr>
                  <a:t>地图类型与产品</a:t>
                </a:r>
                <a:endParaRPr lang="zh-CN" altLang="en-US" sz="2000">
                  <a:latin typeface="微软雅黑" panose="020B0503020204020204" pitchFamily="34" charset="-122"/>
                  <a:ea typeface="微软雅黑" panose="020B0503020204020204" pitchFamily="34" charset="-122"/>
                  <a:sym typeface="+mn-ea"/>
                </a:endParaRPr>
              </a:p>
            </p:txBody>
          </p:sp>
        </p:grpSp>
        <p:grpSp>
          <p:nvGrpSpPr>
            <p:cNvPr id="10" name="组合 9"/>
            <p:cNvGrpSpPr/>
            <p:nvPr/>
          </p:nvGrpSpPr>
          <p:grpSpPr>
            <a:xfrm>
              <a:off x="442" y="3410"/>
              <a:ext cx="3589" cy="4864"/>
              <a:chOff x="323" y="5205"/>
              <a:chExt cx="3589" cy="4822"/>
            </a:xfrm>
          </p:grpSpPr>
          <p:pic>
            <p:nvPicPr>
              <p:cNvPr id="3" name="图片 -2147482623"/>
              <p:cNvPicPr>
                <a:picLocks noChangeAspect="1"/>
              </p:cNvPicPr>
              <p:nvPr/>
            </p:nvPicPr>
            <p:blipFill>
              <a:blip r:embed="rId5"/>
              <a:stretch>
                <a:fillRect/>
              </a:stretch>
            </p:blipFill>
            <p:spPr>
              <a:xfrm>
                <a:off x="757" y="5332"/>
                <a:ext cx="2987" cy="3412"/>
              </a:xfrm>
              <a:prstGeom prst="rect">
                <a:avLst/>
              </a:prstGeom>
              <a:noFill/>
              <a:ln w="9525">
                <a:noFill/>
              </a:ln>
            </p:spPr>
          </p:pic>
          <p:sp>
            <p:nvSpPr>
              <p:cNvPr id="9" name="圆角矩形 8"/>
              <p:cNvSpPr/>
              <p:nvPr/>
            </p:nvSpPr>
            <p:spPr>
              <a:xfrm>
                <a:off x="581" y="5205"/>
                <a:ext cx="3044" cy="4822"/>
              </a:xfrm>
              <a:prstGeom prst="roundRect">
                <a:avLst/>
              </a:prstGeom>
              <a:noFill/>
              <a:ln w="19050">
                <a:solidFill>
                  <a:srgbClr val="00481C"/>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323" y="8893"/>
                <a:ext cx="3589" cy="801"/>
              </a:xfrm>
              <a:prstGeom prst="rect">
                <a:avLst/>
              </a:prstGeom>
            </p:spPr>
            <p:txBody>
              <a:bodyPr wrap="square">
                <a:spAutoFit/>
              </a:bodyPr>
              <a:p>
                <a:pPr marL="0" indent="304800" algn="just" defTabSz="266700">
                  <a:lnSpc>
                    <a:spcPct val="150000"/>
                  </a:lnSpc>
                  <a:spcBef>
                    <a:spcPct val="0"/>
                  </a:spcBef>
                  <a:spcAft>
                    <a:spcPct val="0"/>
                  </a:spcAft>
                </a:pPr>
                <a:r>
                  <a:rPr lang="zh-CN" altLang="en-US" sz="2000">
                    <a:latin typeface="微软雅黑" panose="020B0503020204020204" pitchFamily="34" charset="-122"/>
                    <a:ea typeface="微软雅黑" panose="020B0503020204020204" pitchFamily="34" charset="-122"/>
                  </a:rPr>
                  <a:t>地图数学基础</a:t>
                </a:r>
                <a:endParaRPr lang="zh-CN" altLang="en-US" sz="2000">
                  <a:latin typeface="微软雅黑" panose="020B0503020204020204" pitchFamily="34" charset="-122"/>
                  <a:ea typeface="微软雅黑" panose="020B0503020204020204" pitchFamily="34" charset="-122"/>
                </a:endParaRPr>
              </a:p>
            </p:txBody>
          </p:sp>
        </p:grpSp>
        <p:grpSp>
          <p:nvGrpSpPr>
            <p:cNvPr id="20" name="组合 19"/>
            <p:cNvGrpSpPr/>
            <p:nvPr/>
          </p:nvGrpSpPr>
          <p:grpSpPr>
            <a:xfrm>
              <a:off x="3433" y="3410"/>
              <a:ext cx="3933" cy="4865"/>
              <a:chOff x="3358" y="5204"/>
              <a:chExt cx="3933" cy="4822"/>
            </a:xfrm>
          </p:grpSpPr>
          <p:pic>
            <p:nvPicPr>
              <p:cNvPr id="4" name="图片 -2147482622"/>
              <p:cNvPicPr>
                <a:picLocks noChangeAspect="1"/>
              </p:cNvPicPr>
              <p:nvPr/>
            </p:nvPicPr>
            <p:blipFill>
              <a:blip r:embed="rId6"/>
              <a:stretch>
                <a:fillRect/>
              </a:stretch>
            </p:blipFill>
            <p:spPr>
              <a:xfrm>
                <a:off x="3755" y="5577"/>
                <a:ext cx="3218" cy="2711"/>
              </a:xfrm>
              <a:prstGeom prst="rect">
                <a:avLst/>
              </a:prstGeom>
              <a:noFill/>
              <a:ln w="9525">
                <a:noFill/>
              </a:ln>
            </p:spPr>
          </p:pic>
          <p:sp>
            <p:nvSpPr>
              <p:cNvPr id="12" name="圆角矩形 11"/>
              <p:cNvSpPr/>
              <p:nvPr/>
            </p:nvSpPr>
            <p:spPr>
              <a:xfrm>
                <a:off x="3771" y="5204"/>
                <a:ext cx="3044" cy="4822"/>
              </a:xfrm>
              <a:prstGeom prst="roundRect">
                <a:avLst/>
              </a:prstGeom>
              <a:noFill/>
              <a:ln w="19050">
                <a:solidFill>
                  <a:srgbClr val="00481C"/>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16" name="文本框 15"/>
              <p:cNvSpPr txBox="1"/>
              <p:nvPr/>
            </p:nvSpPr>
            <p:spPr>
              <a:xfrm>
                <a:off x="3358" y="8893"/>
                <a:ext cx="3933" cy="801"/>
              </a:xfrm>
              <a:prstGeom prst="rect">
                <a:avLst/>
              </a:prstGeom>
            </p:spPr>
            <p:txBody>
              <a:bodyPr wrap="square">
                <a:spAutoFit/>
              </a:bodyPr>
              <a:p>
                <a:pPr lvl="0" indent="304800" algn="just" defTabSz="266700">
                  <a:lnSpc>
                    <a:spcPct val="150000"/>
                  </a:lnSpc>
                  <a:buClrTx/>
                  <a:buSzTx/>
                  <a:buFontTx/>
                </a:pPr>
                <a:r>
                  <a:rPr lang="zh-CN" altLang="en-US" sz="2000">
                    <a:latin typeface="微软雅黑" panose="020B0503020204020204" pitchFamily="34" charset="-122"/>
                    <a:ea typeface="微软雅黑" panose="020B0503020204020204" pitchFamily="34" charset="-122"/>
                    <a:sym typeface="+mn-ea"/>
                  </a:rPr>
                  <a:t>地图语言与符号</a:t>
                </a:r>
                <a:endParaRPr lang="zh-CN" altLang="en-US" sz="2000">
                  <a:latin typeface="微软雅黑" panose="020B0503020204020204" pitchFamily="34" charset="-122"/>
                  <a:ea typeface="微软雅黑" panose="020B0503020204020204" pitchFamily="34" charset="-122"/>
                  <a:sym typeface="+mn-ea"/>
                </a:endParaRPr>
              </a:p>
            </p:txBody>
          </p:sp>
        </p:grpSp>
        <p:grpSp>
          <p:nvGrpSpPr>
            <p:cNvPr id="22" name="组合 21"/>
            <p:cNvGrpSpPr/>
            <p:nvPr/>
          </p:nvGrpSpPr>
          <p:grpSpPr>
            <a:xfrm>
              <a:off x="10597" y="3450"/>
              <a:ext cx="3692" cy="4842"/>
              <a:chOff x="10151" y="5200"/>
              <a:chExt cx="4138" cy="4822"/>
            </a:xfrm>
          </p:grpSpPr>
          <p:pic>
            <p:nvPicPr>
              <p:cNvPr id="6" name="图片 -2147482620"/>
              <p:cNvPicPr>
                <a:picLocks noChangeAspect="1"/>
              </p:cNvPicPr>
              <p:nvPr/>
            </p:nvPicPr>
            <p:blipFill>
              <a:blip r:embed="rId7"/>
              <a:stretch>
                <a:fillRect/>
              </a:stretch>
            </p:blipFill>
            <p:spPr>
              <a:xfrm>
                <a:off x="10330" y="5399"/>
                <a:ext cx="3780" cy="3638"/>
              </a:xfrm>
              <a:prstGeom prst="rect">
                <a:avLst/>
              </a:prstGeom>
              <a:noFill/>
              <a:ln w="9525">
                <a:noFill/>
              </a:ln>
            </p:spPr>
          </p:pic>
          <p:sp>
            <p:nvSpPr>
              <p:cNvPr id="14" name="圆角矩形 13"/>
              <p:cNvSpPr/>
              <p:nvPr/>
            </p:nvSpPr>
            <p:spPr>
              <a:xfrm>
                <a:off x="10151" y="5200"/>
                <a:ext cx="4138" cy="4822"/>
              </a:xfrm>
              <a:prstGeom prst="roundRect">
                <a:avLst/>
              </a:prstGeom>
              <a:noFill/>
              <a:ln w="19050">
                <a:solidFill>
                  <a:srgbClr val="00481C"/>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18" name="文本框 17"/>
              <p:cNvSpPr txBox="1"/>
              <p:nvPr/>
            </p:nvSpPr>
            <p:spPr>
              <a:xfrm>
                <a:off x="10352" y="8898"/>
                <a:ext cx="3847" cy="877"/>
              </a:xfrm>
              <a:prstGeom prst="rect">
                <a:avLst/>
              </a:prstGeom>
            </p:spPr>
            <p:txBody>
              <a:bodyPr wrap="square">
                <a:noAutofit/>
              </a:bodyPr>
              <a:p>
                <a:pPr lvl="0" indent="0" algn="just" defTabSz="266700" fontAlgn="auto">
                  <a:lnSpc>
                    <a:spcPct val="150000"/>
                  </a:lnSpc>
                  <a:buClrTx/>
                  <a:buSzTx/>
                  <a:buFontTx/>
                </a:pPr>
                <a:r>
                  <a:rPr lang="zh-CN" altLang="en-US" sz="2000">
                    <a:latin typeface="微软雅黑" panose="020B0503020204020204" pitchFamily="34" charset="-122"/>
                    <a:ea typeface="微软雅黑" panose="020B0503020204020204" pitchFamily="34" charset="-122"/>
                    <a:sym typeface="+mn-ea"/>
                  </a:rPr>
                  <a:t>地理实体与要素</a:t>
                </a:r>
                <a:endParaRPr lang="zh-CN" altLang="en-US" sz="2000">
                  <a:latin typeface="微软雅黑" panose="020B0503020204020204" pitchFamily="34" charset="-122"/>
                  <a:ea typeface="微软雅黑" panose="020B0503020204020204" pitchFamily="34" charset="-122"/>
                  <a:sym typeface="+mn-ea"/>
                </a:endParaRPr>
              </a:p>
            </p:txBody>
          </p:sp>
        </p:grpSp>
        <p:grpSp>
          <p:nvGrpSpPr>
            <p:cNvPr id="23" name="组合 22"/>
            <p:cNvGrpSpPr/>
            <p:nvPr/>
          </p:nvGrpSpPr>
          <p:grpSpPr>
            <a:xfrm>
              <a:off x="14144" y="3453"/>
              <a:ext cx="4474" cy="4822"/>
              <a:chOff x="14144" y="5183"/>
              <a:chExt cx="4474" cy="4822"/>
            </a:xfrm>
          </p:grpSpPr>
          <p:pic>
            <p:nvPicPr>
              <p:cNvPr id="7" name="图片 -2147482619"/>
              <p:cNvPicPr>
                <a:picLocks noChangeAspect="1"/>
              </p:cNvPicPr>
              <p:nvPr/>
            </p:nvPicPr>
            <p:blipFill>
              <a:blip r:embed="rId8"/>
              <a:stretch>
                <a:fillRect/>
              </a:stretch>
            </p:blipFill>
            <p:spPr>
              <a:xfrm>
                <a:off x="14504" y="5526"/>
                <a:ext cx="4005" cy="3573"/>
              </a:xfrm>
              <a:prstGeom prst="rect">
                <a:avLst/>
              </a:prstGeom>
              <a:noFill/>
              <a:ln w="9525">
                <a:noFill/>
              </a:ln>
            </p:spPr>
          </p:pic>
          <p:sp>
            <p:nvSpPr>
              <p:cNvPr id="15" name="圆角矩形 14"/>
              <p:cNvSpPr/>
              <p:nvPr/>
            </p:nvSpPr>
            <p:spPr>
              <a:xfrm>
                <a:off x="14435" y="5183"/>
                <a:ext cx="4138" cy="4822"/>
              </a:xfrm>
              <a:prstGeom prst="roundRect">
                <a:avLst/>
              </a:prstGeom>
              <a:noFill/>
              <a:ln w="19050">
                <a:solidFill>
                  <a:srgbClr val="00481C"/>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19" name="文本框 18"/>
              <p:cNvSpPr txBox="1"/>
              <p:nvPr/>
            </p:nvSpPr>
            <p:spPr>
              <a:xfrm>
                <a:off x="14144" y="8894"/>
                <a:ext cx="4475" cy="725"/>
              </a:xfrm>
              <a:prstGeom prst="rect">
                <a:avLst/>
              </a:prstGeom>
            </p:spPr>
            <p:txBody>
              <a:bodyPr wrap="square">
                <a:noAutofit/>
              </a:bodyPr>
              <a:p>
                <a:pPr lvl="0" indent="304800" algn="just" defTabSz="266700">
                  <a:lnSpc>
                    <a:spcPct val="150000"/>
                  </a:lnSpc>
                  <a:buClrTx/>
                  <a:buSzTx/>
                  <a:buFontTx/>
                </a:pPr>
                <a:r>
                  <a:rPr lang="zh-CN" altLang="en-US" sz="2000">
                    <a:latin typeface="微软雅黑" panose="020B0503020204020204" pitchFamily="34" charset="-122"/>
                    <a:ea typeface="微软雅黑" panose="020B0503020204020204" pitchFamily="34" charset="-122"/>
                    <a:sym typeface="+mn-ea"/>
                  </a:rPr>
                  <a:t>技术与流程及数据源</a:t>
                </a:r>
                <a:endParaRPr lang="zh-CN" altLang="en-US" sz="2000">
                  <a:latin typeface="微软雅黑" panose="020B0503020204020204" pitchFamily="34" charset="-122"/>
                  <a:ea typeface="微软雅黑" panose="020B0503020204020204" pitchFamily="34" charset="-122"/>
                  <a:sym typeface="+mn-ea"/>
                </a:endParaRPr>
              </a:p>
            </p:txBody>
          </p:sp>
        </p:grpSp>
      </p:grpSp>
      <p:sp>
        <p:nvSpPr>
          <p:cNvPr id="24" name="文本框 23"/>
          <p:cNvSpPr txBox="1"/>
          <p:nvPr/>
        </p:nvSpPr>
        <p:spPr>
          <a:xfrm>
            <a:off x="8211185" y="6377940"/>
            <a:ext cx="4064000" cy="275590"/>
          </a:xfrm>
          <a:prstGeom prst="rect">
            <a:avLst/>
          </a:prstGeom>
          <a:noFill/>
        </p:spPr>
        <p:txBody>
          <a:bodyPr wrap="square" rtlCol="0">
            <a:spAutoFit/>
          </a:bodyPr>
          <a:p>
            <a:r>
              <a:rPr lang="zh-CN" altLang="en-US" sz="1200"/>
              <a:t>注：</a:t>
            </a:r>
            <a:r>
              <a:rPr lang="en-US" altLang="zh-CN" sz="1200"/>
              <a:t>csv</a:t>
            </a:r>
            <a:r>
              <a:rPr lang="zh-CN" altLang="en-US" sz="1200"/>
              <a:t>文件可以直接导入</a:t>
            </a:r>
            <a:r>
              <a:rPr lang="en-US" altLang="zh-CN" sz="1200"/>
              <a:t>neo4j</a:t>
            </a:r>
            <a:r>
              <a:rPr lang="zh-CN" altLang="en-US" sz="1200"/>
              <a:t>中构建知识图谱</a:t>
            </a:r>
            <a:endParaRPr lang="zh-CN" altLang="en-US" sz="12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6946934" y="-59933"/>
                <a:ext cx="253682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852069" y="48055"/>
                <a:ext cx="1771650"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项目进展</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grpSp>
        <p:nvGrpSpPr>
          <p:cNvPr id="14" name="组合 13"/>
          <p:cNvGrpSpPr/>
          <p:nvPr/>
        </p:nvGrpSpPr>
        <p:grpSpPr>
          <a:xfrm>
            <a:off x="296545" y="1260475"/>
            <a:ext cx="11227435" cy="5492750"/>
            <a:chOff x="467" y="1985"/>
            <a:chExt cx="17681" cy="8650"/>
          </a:xfrm>
        </p:grpSpPr>
        <p:pic>
          <p:nvPicPr>
            <p:cNvPr id="3" name="图片 -2147482618"/>
            <p:cNvPicPr>
              <a:picLocks noChangeAspect="1"/>
            </p:cNvPicPr>
            <p:nvPr/>
          </p:nvPicPr>
          <p:blipFill>
            <a:blip r:embed="rId4"/>
            <a:stretch>
              <a:fillRect/>
            </a:stretch>
          </p:blipFill>
          <p:spPr>
            <a:xfrm>
              <a:off x="1099" y="2710"/>
              <a:ext cx="17049" cy="7925"/>
            </a:xfrm>
            <a:prstGeom prst="rect">
              <a:avLst/>
            </a:prstGeom>
            <a:noFill/>
            <a:ln w="9525">
              <a:noFill/>
            </a:ln>
          </p:spPr>
        </p:pic>
        <p:sp>
          <p:nvSpPr>
            <p:cNvPr id="7" name="文本框 6"/>
            <p:cNvSpPr txBox="1"/>
            <p:nvPr/>
          </p:nvSpPr>
          <p:spPr>
            <a:xfrm>
              <a:off x="467" y="1985"/>
              <a:ext cx="15785" cy="725"/>
            </a:xfrm>
            <a:prstGeom prst="rect">
              <a:avLst/>
            </a:prstGeom>
          </p:spPr>
          <p:txBody>
            <a:bodyPr wrap="square">
              <a:spAutoFit/>
            </a:bodyPr>
            <a:p>
              <a:pPr marL="0" indent="304800" algn="just" defTabSz="266700">
                <a:lnSpc>
                  <a:spcPct val="150000"/>
                </a:lnSpc>
                <a:spcBef>
                  <a:spcPct val="0"/>
                </a:spcBef>
                <a:spcAft>
                  <a:spcPct val="0"/>
                </a:spcAft>
              </a:pPr>
              <a:r>
                <a:rPr lang="zh-CN" altLang="en-US" sz="1600" b="1">
                  <a:latin typeface="微软雅黑" panose="020B0503020204020204" pitchFamily="34" charset="-122"/>
                  <a:ea typeface="微软雅黑" panose="020B0503020204020204" pitchFamily="34" charset="-122"/>
                </a:rPr>
                <a:t>从多种来源抽取地图学知识，构建知识图谱，包含了</a:t>
              </a:r>
              <a:r>
                <a:rPr lang="en-US" altLang="zh-CN" sz="1600" b="1">
                  <a:latin typeface="微软雅黑" panose="020B0503020204020204" pitchFamily="34" charset="-122"/>
                  <a:ea typeface="微软雅黑" panose="020B0503020204020204" pitchFamily="34" charset="-122"/>
                </a:rPr>
                <a:t>1224</a:t>
              </a:r>
              <a:r>
                <a:rPr lang="zh-CN" altLang="en-US" sz="1600" b="1">
                  <a:latin typeface="微软雅黑" panose="020B0503020204020204" pitchFamily="34" charset="-122"/>
                  <a:ea typeface="微软雅黑" panose="020B0503020204020204" pitchFamily="34" charset="-122"/>
                </a:rPr>
                <a:t>个实体、</a:t>
              </a:r>
              <a:r>
                <a:rPr lang="en-US" altLang="zh-CN" sz="1600" b="1">
                  <a:latin typeface="微软雅黑" panose="020B0503020204020204" pitchFamily="34" charset="-122"/>
                  <a:ea typeface="微软雅黑" panose="020B0503020204020204" pitchFamily="34" charset="-122"/>
                </a:rPr>
                <a:t>1354</a:t>
              </a:r>
              <a:r>
                <a:rPr lang="zh-CN" altLang="en-US" sz="1600" b="1">
                  <a:latin typeface="微软雅黑" panose="020B0503020204020204" pitchFamily="34" charset="-122"/>
                  <a:ea typeface="微软雅黑" panose="020B0503020204020204" pitchFamily="34" charset="-122"/>
                </a:rPr>
                <a:t>条关系</a:t>
              </a:r>
              <a:endParaRPr lang="zh-CN" altLang="en-US" sz="1600" b="1">
                <a:latin typeface="微软雅黑" panose="020B0503020204020204" pitchFamily="34" charset="-122"/>
                <a:ea typeface="微软雅黑" panose="020B0503020204020204" pitchFamily="34" charset="-122"/>
              </a:endParaRPr>
            </a:p>
          </p:txBody>
        </p:sp>
      </p:grpSp>
      <p:grpSp>
        <p:nvGrpSpPr>
          <p:cNvPr id="11" name="组合 10"/>
          <p:cNvGrpSpPr/>
          <p:nvPr/>
        </p:nvGrpSpPr>
        <p:grpSpPr>
          <a:xfrm>
            <a:off x="205105" y="1964055"/>
            <a:ext cx="5839460" cy="1506855"/>
            <a:chOff x="323" y="4433"/>
            <a:chExt cx="9196" cy="2373"/>
          </a:xfrm>
        </p:grpSpPr>
        <p:pic>
          <p:nvPicPr>
            <p:cNvPr id="1" name="图片 -2147482617"/>
            <p:cNvPicPr>
              <a:picLocks noChangeAspect="1"/>
            </p:cNvPicPr>
            <p:nvPr/>
          </p:nvPicPr>
          <p:blipFill>
            <a:blip r:embed="rId5"/>
            <a:stretch>
              <a:fillRect/>
            </a:stretch>
          </p:blipFill>
          <p:spPr>
            <a:xfrm>
              <a:off x="467" y="4433"/>
              <a:ext cx="9052" cy="2373"/>
            </a:xfrm>
            <a:prstGeom prst="rect">
              <a:avLst/>
            </a:prstGeom>
            <a:noFill/>
            <a:ln w="9525">
              <a:noFill/>
            </a:ln>
          </p:spPr>
        </p:pic>
        <p:sp>
          <p:nvSpPr>
            <p:cNvPr id="8" name="文本框 7"/>
            <p:cNvSpPr txBox="1"/>
            <p:nvPr/>
          </p:nvSpPr>
          <p:spPr>
            <a:xfrm>
              <a:off x="323" y="5399"/>
              <a:ext cx="3194" cy="1342"/>
            </a:xfrm>
            <a:prstGeom prst="rect">
              <a:avLst/>
            </a:prstGeom>
            <a:noFill/>
            <a:extLst>
              <a:ext uri="{909E8E84-426E-40DD-AFC4-6F175D3DCCD1}">
                <a14:hiddenFill xmlns:a14="http://schemas.microsoft.com/office/drawing/2010/main">
                  <a:solidFill>
                    <a:schemeClr val="accent6">
                      <a:lumMod val="40000"/>
                      <a:lumOff val="60000"/>
                    </a:schemeClr>
                  </a:solidFill>
                </a14:hiddenFill>
              </a:ext>
            </a:extLst>
          </p:spPr>
          <p:txBody>
            <a:bodyPr wrap="square">
              <a:noAutofit/>
            </a:bodyPr>
            <a:p>
              <a:pPr marL="0" indent="304800" algn="ctr" defTabSz="266700">
                <a:lnSpc>
                  <a:spcPct val="150000"/>
                </a:lnSpc>
                <a:spcBef>
                  <a:spcPct val="0"/>
                </a:spcBef>
                <a:spcAft>
                  <a:spcPct val="0"/>
                </a:spcAft>
              </a:pPr>
              <a:r>
                <a:rPr lang="zh-CN" altLang="en-US" sz="1600" b="1">
                  <a:solidFill>
                    <a:schemeClr val="tx1"/>
                  </a:solidFill>
                  <a:latin typeface="微软雅黑" panose="020B0503020204020204" pitchFamily="34" charset="-122"/>
                  <a:ea typeface="微软雅黑" panose="020B0503020204020204" pitchFamily="34" charset="-122"/>
                </a:rPr>
                <a:t>查询某类地图采用的投影</a:t>
              </a:r>
              <a:endParaRPr lang="zh-CN" altLang="en-US" sz="1600" b="1">
                <a:solidFill>
                  <a:schemeClr val="tx1"/>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6147346" y="2097405"/>
            <a:ext cx="5680164" cy="3587750"/>
            <a:chOff x="10172" y="4726"/>
            <a:chExt cx="8276" cy="5227"/>
          </a:xfrm>
        </p:grpSpPr>
        <p:pic>
          <p:nvPicPr>
            <p:cNvPr id="5" name="图片 -2147482616"/>
            <p:cNvPicPr>
              <a:picLocks noChangeAspect="1"/>
            </p:cNvPicPr>
            <p:nvPr/>
          </p:nvPicPr>
          <p:blipFill>
            <a:blip r:embed="rId6"/>
            <a:stretch>
              <a:fillRect/>
            </a:stretch>
          </p:blipFill>
          <p:spPr>
            <a:xfrm>
              <a:off x="10172" y="4726"/>
              <a:ext cx="8276" cy="5227"/>
            </a:xfrm>
            <a:prstGeom prst="rect">
              <a:avLst/>
            </a:prstGeom>
            <a:noFill/>
            <a:ln w="9525">
              <a:noFill/>
            </a:ln>
          </p:spPr>
        </p:pic>
        <p:sp>
          <p:nvSpPr>
            <p:cNvPr id="9" name="文本框 8"/>
            <p:cNvSpPr txBox="1"/>
            <p:nvPr/>
          </p:nvSpPr>
          <p:spPr>
            <a:xfrm>
              <a:off x="16115" y="5646"/>
              <a:ext cx="2333" cy="1209"/>
            </a:xfrm>
            <a:prstGeom prst="rect">
              <a:avLst/>
            </a:prstGeom>
          </p:spPr>
          <p:txBody>
            <a:bodyPr wrap="square">
              <a:spAutoFit/>
            </a:bodyPr>
            <a:p>
              <a:pPr indent="0" algn="ctr" defTabSz="266700" fontAlgn="auto">
                <a:lnSpc>
                  <a:spcPct val="150000"/>
                </a:lnSpc>
                <a:spcBef>
                  <a:spcPct val="0"/>
                </a:spcBef>
                <a:spcAft>
                  <a:spcPct val="0"/>
                </a:spcAft>
              </a:pPr>
              <a:r>
                <a:rPr lang="zh-CN" altLang="en-US" sz="1600" b="1">
                  <a:solidFill>
                    <a:schemeClr val="tx1"/>
                  </a:solidFill>
                  <a:latin typeface="微软雅黑" panose="020B0503020204020204" pitchFamily="34" charset="-122"/>
                  <a:ea typeface="微软雅黑" panose="020B0503020204020204" pitchFamily="34" charset="-122"/>
                </a:rPr>
                <a:t>查找某河流流经的省份</a:t>
              </a:r>
              <a:endParaRPr lang="zh-CN" altLang="en-US" sz="1600" b="1">
                <a:solidFill>
                  <a:schemeClr val="tx1"/>
                </a:solidFill>
                <a:latin typeface="微软雅黑" panose="020B0503020204020204" pitchFamily="34" charset="-122"/>
                <a:ea typeface="微软雅黑" panose="020B0503020204020204" pitchFamily="34" charset="-122"/>
              </a:endParaRPr>
            </a:p>
          </p:txBody>
        </p:sp>
      </p:grpSp>
      <p:grpSp>
        <p:nvGrpSpPr>
          <p:cNvPr id="12" name="组合 11"/>
          <p:cNvGrpSpPr/>
          <p:nvPr/>
        </p:nvGrpSpPr>
        <p:grpSpPr>
          <a:xfrm>
            <a:off x="204470" y="4206875"/>
            <a:ext cx="5839460" cy="1463040"/>
            <a:chOff x="467" y="7289"/>
            <a:chExt cx="9095" cy="2188"/>
          </a:xfrm>
        </p:grpSpPr>
        <p:pic>
          <p:nvPicPr>
            <p:cNvPr id="6" name="图片 -2147482615"/>
            <p:cNvPicPr>
              <a:picLocks noChangeAspect="1"/>
            </p:cNvPicPr>
            <p:nvPr/>
          </p:nvPicPr>
          <p:blipFill>
            <a:blip r:embed="rId7"/>
            <a:stretch>
              <a:fillRect/>
            </a:stretch>
          </p:blipFill>
          <p:spPr>
            <a:xfrm>
              <a:off x="467" y="7289"/>
              <a:ext cx="9095" cy="2188"/>
            </a:xfrm>
            <a:prstGeom prst="rect">
              <a:avLst/>
            </a:prstGeom>
            <a:noFill/>
            <a:ln w="9525">
              <a:noFill/>
            </a:ln>
          </p:spPr>
        </p:pic>
        <p:sp>
          <p:nvSpPr>
            <p:cNvPr id="10" name="文本框 9"/>
            <p:cNvSpPr txBox="1"/>
            <p:nvPr/>
          </p:nvSpPr>
          <p:spPr>
            <a:xfrm>
              <a:off x="5438" y="7978"/>
              <a:ext cx="3188" cy="1241"/>
            </a:xfrm>
            <a:prstGeom prst="rect">
              <a:avLst/>
            </a:prstGeom>
          </p:spPr>
          <p:txBody>
            <a:bodyPr wrap="square">
              <a:spAutoFit/>
            </a:bodyPr>
            <a:p>
              <a:pPr indent="0" algn="ctr" defTabSz="266700" fontAlgn="auto">
                <a:lnSpc>
                  <a:spcPct val="150000"/>
                </a:lnSpc>
                <a:spcBef>
                  <a:spcPct val="0"/>
                </a:spcBef>
                <a:spcAft>
                  <a:spcPct val="0"/>
                </a:spcAft>
              </a:pPr>
              <a:r>
                <a:rPr lang="zh-CN" altLang="en-US" sz="1600" b="1">
                  <a:latin typeface="微软雅黑" panose="020B0503020204020204" pitchFamily="34" charset="-122"/>
                  <a:ea typeface="微软雅黑" panose="020B0503020204020204" pitchFamily="34" charset="-122"/>
                </a:rPr>
                <a:t>获取绘制某专题地图所需的数据源</a:t>
              </a:r>
              <a:endParaRPr lang="zh-CN" altLang="en-US" sz="1600" b="1">
                <a:latin typeface="微软雅黑" panose="020B0503020204020204" pitchFamily="34" charset="-122"/>
                <a:ea typeface="微软雅黑" panose="020B0503020204020204" pitchFamily="34" charset="-122"/>
              </a:endParaRPr>
            </a:p>
          </p:txBody>
        </p:sp>
      </p:grpSp>
      <p:sp>
        <p:nvSpPr>
          <p:cNvPr id="4" name="ïṣ1ïḑê"/>
          <p:cNvSpPr>
            <a:spLocks noGrp="1"/>
          </p:cNvSpPr>
          <p:nvPr/>
        </p:nvSpPr>
        <p:spPr>
          <a:xfrm>
            <a:off x="205105" y="1087120"/>
            <a:ext cx="10850880" cy="71247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000000"/>
                </a:solidFill>
                <a:latin typeface="Arial" panose="020B0604020202020204" pitchFamily="34" charset="0"/>
                <a:ea typeface="微软雅黑" panose="020B0503020204020204" pitchFamily="34" charset="-122"/>
                <a:cs typeface="+mn-ea"/>
              </a:defRPr>
            </a:lvl1pPr>
          </a:lstStyle>
          <a:p>
            <a:r>
              <a:rPr lang="en-US" altLang="zh-CN" dirty="0">
                <a:solidFill>
                  <a:srgbClr val="005825"/>
                </a:solidFill>
              </a:rPr>
              <a:t>3.1 </a:t>
            </a:r>
            <a:r>
              <a:rPr lang="zh-CN" altLang="en-US" dirty="0">
                <a:solidFill>
                  <a:srgbClr val="00481C"/>
                </a:solidFill>
                <a:latin typeface="Times New Roman" panose="02020603050405020304" pitchFamily="18" charset="0"/>
                <a:cs typeface="Times New Roman" panose="02020603050405020304" pitchFamily="18" charset="0"/>
              </a:rPr>
              <a:t>地图制图知识图谱构建</a:t>
            </a:r>
            <a:endParaRPr lang="zh-CN" altLang="en-US" dirty="0">
              <a:solidFill>
                <a:schemeClr val="tx1"/>
              </a:solidFill>
              <a:latin typeface="Times New Roman" panose="02020603050405020304" pitchFamily="18" charset="0"/>
              <a:cs typeface="Times New Roman" panose="02020603050405020304" pitchFamily="18" charset="0"/>
            </a:endParaRPr>
          </a:p>
          <a:p>
            <a:endParaRPr lang="zh-CN" altLang="en-US"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subTnLst>
                                    <p:set>
                                      <p:cBhvr override="childStyle">
                                        <p:cTn dur="65" fill="hold" display="1" masterRel="nextClick" afterEffect="1"/>
                                        <p:tgtEl>
                                          <p:spTgt spid="14"/>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par>
                                <p:cTn id="13" presetID="3" presetClass="entr" presetSubtype="1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linds(horizontal)">
                                      <p:cBhvr>
                                        <p:cTn id="15" dur="500"/>
                                        <p:tgtEl>
                                          <p:spTgt spid="12"/>
                                        </p:tgtEl>
                                      </p:cBhvr>
                                    </p:animEffect>
                                  </p:childTnLst>
                                </p:cTn>
                              </p:par>
                              <p:par>
                                <p:cTn id="16" presetID="3" presetClass="entr" presetSubtype="1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linds(horizontal)">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6946934" y="-59933"/>
                <a:ext cx="253682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852069" y="48055"/>
                <a:ext cx="1771650"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项目进展</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sp>
        <p:nvSpPr>
          <p:cNvPr id="2" name="ïṣ1ïḑê"/>
          <p:cNvSpPr>
            <a:spLocks noGrp="1"/>
          </p:cNvSpPr>
          <p:nvPr/>
        </p:nvSpPr>
        <p:spPr>
          <a:xfrm>
            <a:off x="205105" y="1087120"/>
            <a:ext cx="10850880" cy="71247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000000"/>
                </a:solidFill>
                <a:latin typeface="Arial" panose="020B0604020202020204" pitchFamily="34" charset="0"/>
                <a:ea typeface="微软雅黑" panose="020B0503020204020204" pitchFamily="34" charset="-122"/>
                <a:cs typeface="+mn-ea"/>
              </a:defRPr>
            </a:lvl1pPr>
          </a:lstStyle>
          <a:p>
            <a:r>
              <a:rPr lang="en-US" altLang="zh-CN" dirty="0">
                <a:solidFill>
                  <a:srgbClr val="005825"/>
                </a:solidFill>
              </a:rPr>
              <a:t>3.2 </a:t>
            </a:r>
            <a:r>
              <a:rPr lang="zh-CN" altLang="en-US" dirty="0">
                <a:solidFill>
                  <a:srgbClr val="00481C"/>
                </a:solidFill>
                <a:latin typeface="微软雅黑" panose="020B0503020204020204" pitchFamily="34" charset="-122"/>
                <a:cs typeface="微软雅黑" panose="020B0503020204020204" pitchFamily="34" charset="-122"/>
              </a:rPr>
              <a:t>基于大语言模型（</a:t>
            </a:r>
            <a:r>
              <a:rPr lang="en-US" altLang="zh-CN" dirty="0">
                <a:solidFill>
                  <a:srgbClr val="00481C"/>
                </a:solidFill>
                <a:latin typeface="微软雅黑" panose="020B0503020204020204" pitchFamily="34" charset="-122"/>
                <a:cs typeface="微软雅黑" panose="020B0503020204020204" pitchFamily="34" charset="-122"/>
              </a:rPr>
              <a:t>LLM</a:t>
            </a:r>
            <a:r>
              <a:rPr lang="zh-CN" altLang="en-US" dirty="0">
                <a:solidFill>
                  <a:srgbClr val="00481C"/>
                </a:solidFill>
                <a:latin typeface="微软雅黑" panose="020B0503020204020204" pitchFamily="34" charset="-122"/>
                <a:cs typeface="微软雅黑" panose="020B0503020204020204" pitchFamily="34" charset="-122"/>
              </a:rPr>
              <a:t>）的知识图谱构建器</a:t>
            </a:r>
            <a:endParaRPr lang="zh-CN" altLang="en-US" dirty="0">
              <a:solidFill>
                <a:srgbClr val="00481C"/>
              </a:solidFill>
              <a:latin typeface="微软雅黑" panose="020B0503020204020204" pitchFamily="34" charset="-122"/>
              <a:cs typeface="微软雅黑" panose="020B0503020204020204" pitchFamily="34" charset="-122"/>
            </a:endParaRPr>
          </a:p>
          <a:p>
            <a:endParaRPr lang="zh-CN" altLang="en-US" dirty="0">
              <a:solidFill>
                <a:srgbClr val="00481C"/>
              </a:solidFill>
              <a:latin typeface="微软雅黑" panose="020B0503020204020204" pitchFamily="34" charset="-122"/>
              <a:cs typeface="微软雅黑" panose="020B0503020204020204" pitchFamily="34" charset="-122"/>
            </a:endParaRPr>
          </a:p>
        </p:txBody>
      </p:sp>
      <p:pic>
        <p:nvPicPr>
          <p:cNvPr id="4" name="图片 -2147482614"/>
          <p:cNvPicPr>
            <a:picLocks noChangeAspect="1"/>
          </p:cNvPicPr>
          <p:nvPr/>
        </p:nvPicPr>
        <p:blipFill>
          <a:blip r:embed="rId4"/>
          <a:srcRect b="8546"/>
          <a:stretch>
            <a:fillRect/>
          </a:stretch>
        </p:blipFill>
        <p:spPr>
          <a:xfrm>
            <a:off x="7129145" y="1628775"/>
            <a:ext cx="3456305" cy="2370455"/>
          </a:xfrm>
          <a:prstGeom prst="rect">
            <a:avLst/>
          </a:prstGeom>
          <a:noFill/>
          <a:ln w="9525">
            <a:noFill/>
          </a:ln>
        </p:spPr>
      </p:pic>
      <p:pic>
        <p:nvPicPr>
          <p:cNvPr id="5" name="图片 -2147482613"/>
          <p:cNvPicPr>
            <a:picLocks noChangeAspect="1"/>
          </p:cNvPicPr>
          <p:nvPr/>
        </p:nvPicPr>
        <p:blipFill>
          <a:blip r:embed="rId5"/>
          <a:srcRect l="1214" t="17310" r="4355"/>
          <a:stretch>
            <a:fillRect/>
          </a:stretch>
        </p:blipFill>
        <p:spPr>
          <a:xfrm>
            <a:off x="7129145" y="3999230"/>
            <a:ext cx="3456305" cy="2148840"/>
          </a:xfrm>
          <a:prstGeom prst="rect">
            <a:avLst/>
          </a:prstGeom>
          <a:noFill/>
          <a:ln w="9525">
            <a:noFill/>
          </a:ln>
        </p:spPr>
      </p:pic>
      <p:sp>
        <p:nvSpPr>
          <p:cNvPr id="3" name="文本框 2"/>
          <p:cNvSpPr txBox="1"/>
          <p:nvPr/>
        </p:nvSpPr>
        <p:spPr>
          <a:xfrm>
            <a:off x="7816850" y="6204585"/>
            <a:ext cx="2080895" cy="306705"/>
          </a:xfrm>
          <a:prstGeom prst="rect">
            <a:avLst/>
          </a:prstGeom>
        </p:spPr>
        <p:txBody>
          <a:bodyPr wrap="square">
            <a:spAutoFit/>
          </a:bodyPr>
          <a:p>
            <a:pPr marL="0" indent="0" algn="just" defTabSz="266700">
              <a:spcBef>
                <a:spcPct val="0"/>
              </a:spcBef>
              <a:spcAft>
                <a:spcPct val="0"/>
              </a:spcAft>
            </a:pPr>
            <a:r>
              <a:rPr lang="en-US" altLang="zh-CN" sz="1400">
                <a:latin typeface="微软雅黑" panose="020B0503020204020204" pitchFamily="34" charset="-122"/>
                <a:ea typeface="微软雅黑" panose="020B0503020204020204" pitchFamily="34" charset="-122"/>
                <a:cs typeface="微软雅黑" panose="020B0503020204020204" pitchFamily="34" charset="-122"/>
              </a:rPr>
              <a:t>kg_builder</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系统目录树</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文本框 7"/>
          <p:cNvSpPr txBox="1"/>
          <p:nvPr/>
        </p:nvSpPr>
        <p:spPr>
          <a:xfrm>
            <a:off x="600710" y="1411605"/>
            <a:ext cx="5334000" cy="5049520"/>
          </a:xfrm>
          <a:prstGeom prst="rect">
            <a:avLst/>
          </a:prstGeom>
          <a:noFill/>
        </p:spPr>
        <p:txBody>
          <a:bodyPr wrap="square" rtlCol="0">
            <a:noAutofit/>
          </a:bodyPr>
          <a:p>
            <a:pPr marL="285750" indent="-285750">
              <a:lnSpc>
                <a:spcPct val="150000"/>
              </a:lnSpc>
              <a:buFont typeface="Wingdings" panose="05000000000000000000" charset="0"/>
              <a:buChar char="p"/>
            </a:pPr>
            <a:r>
              <a:rPr lang="zh-CN" altLang="en-US" b="1">
                <a:latin typeface="微软雅黑" panose="020B0503020204020204" pitchFamily="34" charset="-122"/>
                <a:ea typeface="微软雅黑" panose="020B0503020204020204" pitchFamily="34" charset="-122"/>
              </a:rPr>
              <a:t>降低技术门槛</a:t>
            </a:r>
            <a:endParaRPr lang="zh-CN" altLang="en-US" b="1">
              <a:latin typeface="微软雅黑" panose="020B0503020204020204" pitchFamily="34" charset="-122"/>
              <a:ea typeface="微软雅黑" panose="020B0503020204020204" pitchFamily="34" charset="-122"/>
            </a:endParaRPr>
          </a:p>
          <a:p>
            <a:pPr>
              <a:lnSpc>
                <a:spcPct val="150000"/>
              </a:lnSpc>
            </a:pPr>
            <a:r>
              <a:rPr lang="zh-CN" altLang="en-US">
                <a:solidFill>
                  <a:schemeClr val="tx1"/>
                </a:solidFill>
                <a:latin typeface="微软雅黑" panose="020B0503020204020204" pitchFamily="34" charset="-122"/>
                <a:ea typeface="微软雅黑" panose="020B0503020204020204" pitchFamily="34" charset="-122"/>
              </a:rPr>
              <a:t>打破知识图谱构建对专业技术的依赖，</a:t>
            </a:r>
            <a:r>
              <a:rPr lang="en-US">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实现低代码、平民化操作。</a:t>
            </a:r>
            <a:endParaRPr lang="zh-CN" altLang="en-US">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charset="0"/>
              <a:buChar char="p"/>
            </a:pPr>
            <a:r>
              <a:rPr lang="zh-CN" altLang="en-US" b="1">
                <a:latin typeface="微软雅黑" panose="020B0503020204020204" pitchFamily="34" charset="-122"/>
                <a:ea typeface="微软雅黑" panose="020B0503020204020204" pitchFamily="34" charset="-122"/>
              </a:rPr>
              <a:t>实现流程自动化</a:t>
            </a:r>
            <a:endParaRPr lang="zh-CN" altLang="en-US" b="1">
              <a:latin typeface="微软雅黑" panose="020B0503020204020204" pitchFamily="34" charset="-122"/>
              <a:ea typeface="微软雅黑" panose="020B0503020204020204" pitchFamily="34" charset="-122"/>
            </a:endParaRPr>
          </a:p>
          <a:p>
            <a:pPr algn="l">
              <a:lnSpc>
                <a:spcPct val="150000"/>
              </a:lnSpc>
              <a:buClrTx/>
              <a:buSzTx/>
              <a:buFontTx/>
            </a:pPr>
            <a:r>
              <a:rPr lang="zh-CN" altLang="en-US">
                <a:latin typeface="微软雅黑" panose="020B0503020204020204" pitchFamily="34" charset="-122"/>
                <a:ea typeface="微软雅黑" panose="020B0503020204020204" pitchFamily="34" charset="-122"/>
              </a:rPr>
              <a:t>自动完成从非结构化文档到结构化知识图谱的全流程处理</a:t>
            </a:r>
            <a:r>
              <a:rPr lang="zh-CN" altLang="en-US">
                <a:latin typeface="微软雅黑" panose="020B0503020204020204" pitchFamily="34" charset="-122"/>
                <a:ea typeface="微软雅黑" panose="020B0503020204020204" pitchFamily="34" charset="-122"/>
                <a:sym typeface="Noto Sans SC" panose="020B0200000000000000" charset="-122"/>
              </a:rPr>
              <a:t>，无需人工干预。</a:t>
            </a:r>
            <a:endParaRPr lang="zh-CN" altLang="en-US">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charset="0"/>
              <a:buChar char="p"/>
            </a:pPr>
            <a:r>
              <a:rPr lang="zh-CN" altLang="en-US" b="1">
                <a:latin typeface="微软雅黑" panose="020B0503020204020204" pitchFamily="34" charset="-122"/>
                <a:ea typeface="微软雅黑" panose="020B0503020204020204" pitchFamily="34" charset="-122"/>
              </a:rPr>
              <a:t>解决传统痛点</a:t>
            </a:r>
            <a:endParaRPr lang="zh-CN" altLang="en-US" b="1">
              <a:latin typeface="微软雅黑" panose="020B0503020204020204" pitchFamily="34" charset="-122"/>
              <a:ea typeface="微软雅黑" panose="020B0503020204020204" pitchFamily="34" charset="-122"/>
            </a:endParaRPr>
          </a:p>
          <a:p>
            <a:pPr algn="l">
              <a:lnSpc>
                <a:spcPct val="150000"/>
              </a:lnSpc>
              <a:buClrTx/>
              <a:buSzTx/>
              <a:buFontTx/>
            </a:pPr>
            <a:r>
              <a:rPr lang="zh-CN" altLang="en-US">
                <a:latin typeface="微软雅黑" panose="020B0503020204020204" pitchFamily="34" charset="-122"/>
                <a:ea typeface="微软雅黑" panose="020B0503020204020204" pitchFamily="34" charset="-122"/>
              </a:rPr>
              <a:t>克服传统方法人工成本高、构建周期长</a:t>
            </a:r>
            <a:r>
              <a:rPr lang="zh-CN" altLang="en-US">
                <a:latin typeface="微软雅黑" panose="020B0503020204020204" pitchFamily="34" charset="-122"/>
                <a:ea typeface="微软雅黑" panose="020B0503020204020204" pitchFamily="34" charset="-122"/>
                <a:sym typeface="Noto Sans SC" panose="020B0200000000000000" charset="-122"/>
              </a:rPr>
              <a:t>、跨场景适配性差的问题。</a:t>
            </a:r>
            <a:endParaRPr lang="zh-CN" altLang="en-US">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charset="0"/>
              <a:buChar char="p"/>
            </a:pPr>
            <a:r>
              <a:rPr lang="zh-CN" altLang="en-US" b="1">
                <a:latin typeface="微软雅黑" panose="020B0503020204020204" pitchFamily="34" charset="-122"/>
                <a:ea typeface="微软雅黑" panose="020B0503020204020204" pitchFamily="34" charset="-122"/>
              </a:rPr>
              <a:t>赋能知识应用</a:t>
            </a:r>
            <a:endParaRPr lang="zh-CN" altLang="en-US" b="1">
              <a:latin typeface="微软雅黑" panose="020B0503020204020204" pitchFamily="34" charset="-122"/>
              <a:ea typeface="微软雅黑" panose="020B0503020204020204" pitchFamily="34" charset="-122"/>
            </a:endParaRPr>
          </a:p>
          <a:p>
            <a:pPr algn="l">
              <a:lnSpc>
                <a:spcPct val="150000"/>
              </a:lnSpc>
              <a:buClrTx/>
              <a:buSzTx/>
              <a:buFontTx/>
            </a:pPr>
            <a:r>
              <a:rPr lang="zh-CN" altLang="en-US">
                <a:latin typeface="微软雅黑" panose="020B0503020204020204" pitchFamily="34" charset="-122"/>
                <a:ea typeface="微软雅黑" panose="020B0503020204020204" pitchFamily="34" charset="-122"/>
                <a:sym typeface="Noto Sans SC" panose="020B0200000000000000" charset="-122"/>
              </a:rPr>
              <a:t>依托大语言模型（LLM）技术，实现知识的高效沉淀、智能查询与推理应用。</a:t>
            </a:r>
            <a:endParaRPr lang="zh-CN" altLang="en-US">
              <a:latin typeface="微软雅黑" panose="020B0503020204020204" pitchFamily="34" charset="-122"/>
              <a:ea typeface="微软雅黑" panose="020B0503020204020204" pitchFamily="34" charset="-122"/>
            </a:endParaRPr>
          </a:p>
          <a:p>
            <a:pPr>
              <a:lnSpc>
                <a:spcPct val="150000"/>
              </a:lnSpc>
            </a:pPr>
            <a:endParaRPr lang="zh-CN" altLang="en-US" b="1">
              <a:latin typeface="微软雅黑" panose="020B0503020204020204" pitchFamily="34" charset="-122"/>
              <a:ea typeface="微软雅黑" panose="020B0503020204020204" pitchFamily="3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1458595" y="1139190"/>
            <a:ext cx="9780270" cy="5718810"/>
          </a:xfrm>
          <a:prstGeom prst="rect">
            <a:avLst/>
          </a:prstGeom>
        </p:spPr>
      </p:pic>
      <p:sp>
        <p:nvSpPr>
          <p:cNvPr id="2" name="ïṣ1ïḑê"/>
          <p:cNvSpPr>
            <a:spLocks noGrp="1"/>
          </p:cNvSpPr>
          <p:nvPr/>
        </p:nvSpPr>
        <p:spPr>
          <a:xfrm>
            <a:off x="205105" y="1087120"/>
            <a:ext cx="10850880" cy="71247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000000"/>
                </a:solidFill>
                <a:latin typeface="Arial" panose="020B0604020202020204" pitchFamily="34" charset="0"/>
                <a:ea typeface="微软雅黑" panose="020B0503020204020204" pitchFamily="34" charset="-122"/>
                <a:cs typeface="+mn-ea"/>
              </a:defRPr>
            </a:lvl1pPr>
          </a:lstStyle>
          <a:p>
            <a:r>
              <a:rPr lang="en-US" altLang="zh-CN" dirty="0">
                <a:solidFill>
                  <a:srgbClr val="005825"/>
                </a:solidFill>
              </a:rPr>
              <a:t>3.2 </a:t>
            </a:r>
            <a:r>
              <a:rPr lang="zh-CN" altLang="en-US" dirty="0">
                <a:solidFill>
                  <a:srgbClr val="00481C"/>
                </a:solidFill>
                <a:latin typeface="微软雅黑" panose="020B0503020204020204" pitchFamily="34" charset="-122"/>
                <a:cs typeface="微软雅黑" panose="020B0503020204020204" pitchFamily="34" charset="-122"/>
              </a:rPr>
              <a:t>基于大语言模型（</a:t>
            </a:r>
            <a:r>
              <a:rPr lang="en-US" altLang="zh-CN" dirty="0">
                <a:solidFill>
                  <a:srgbClr val="00481C"/>
                </a:solidFill>
                <a:latin typeface="微软雅黑" panose="020B0503020204020204" pitchFamily="34" charset="-122"/>
                <a:cs typeface="微软雅黑" panose="020B0503020204020204" pitchFamily="34" charset="-122"/>
              </a:rPr>
              <a:t>LLM</a:t>
            </a:r>
            <a:r>
              <a:rPr lang="zh-CN" altLang="en-US" dirty="0">
                <a:solidFill>
                  <a:srgbClr val="00481C"/>
                </a:solidFill>
                <a:latin typeface="微软雅黑" panose="020B0503020204020204" pitchFamily="34" charset="-122"/>
                <a:cs typeface="微软雅黑" panose="020B0503020204020204" pitchFamily="34" charset="-122"/>
              </a:rPr>
              <a:t>）的知识图谱构建器</a:t>
            </a:r>
            <a:endParaRPr lang="zh-CN" altLang="en-US" dirty="0">
              <a:solidFill>
                <a:srgbClr val="00481C"/>
              </a:solidFill>
              <a:latin typeface="微软雅黑" panose="020B0503020204020204" pitchFamily="34" charset="-122"/>
              <a:cs typeface="微软雅黑" panose="020B0503020204020204" pitchFamily="34" charset="-122"/>
            </a:endParaRPr>
          </a:p>
          <a:p>
            <a:endParaRPr lang="zh-CN" altLang="en-US" dirty="0">
              <a:solidFill>
                <a:srgbClr val="00481C"/>
              </a:solidFill>
              <a:latin typeface="微软雅黑" panose="020B0503020204020204" pitchFamily="34" charset="-122"/>
              <a:cs typeface="微软雅黑" panose="020B0503020204020204" pitchFamily="34" charset="-122"/>
            </a:endParaRPr>
          </a:p>
        </p:txBody>
      </p:sp>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2"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6946934" y="-59933"/>
                <a:ext cx="253682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852069" y="48055"/>
                <a:ext cx="1771650"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项目进展</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3"/>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4"/>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sp>
        <p:nvSpPr>
          <p:cNvPr id="11" name="文本框 10"/>
          <p:cNvSpPr txBox="1"/>
          <p:nvPr/>
        </p:nvSpPr>
        <p:spPr>
          <a:xfrm>
            <a:off x="486410" y="1628140"/>
            <a:ext cx="2569845" cy="460375"/>
          </a:xfrm>
          <a:prstGeom prst="rect">
            <a:avLst/>
          </a:prstGeom>
        </p:spPr>
        <p:txBody>
          <a:bodyPr wrap="square">
            <a:spAutoFit/>
          </a:bodyPr>
          <a:p>
            <a:pPr marL="0" indent="0" algn="just" defTabSz="266700">
              <a:spcBef>
                <a:spcPct val="0"/>
              </a:spcBef>
              <a:spcAft>
                <a:spcPct val="0"/>
              </a:spcAft>
            </a:pPr>
            <a:r>
              <a:rPr lang="zh-CN" altLang="en-US" sz="2400" b="1">
                <a:latin typeface="微软雅黑" panose="020B0503020204020204" pitchFamily="34" charset="-122"/>
                <a:ea typeface="微软雅黑" panose="020B0503020204020204" pitchFamily="34" charset="-122"/>
              </a:rPr>
              <a:t>文档处理流程</a:t>
            </a:r>
            <a:endParaRPr lang="zh-CN" altLang="en-US" sz="2400" b="1">
              <a:latin typeface="微软雅黑" panose="020B0503020204020204" pitchFamily="34" charset="-122"/>
              <a:ea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14" name="AutoShape 3"/>
          <p:cNvSpPr txBox="1"/>
          <p:nvPr>
            <p:custDataLst>
              <p:tags r:id="rId1"/>
            </p:custDataLst>
          </p:nvPr>
        </p:nvSpPr>
        <p:spPr>
          <a:xfrm>
            <a:off x="596265" y="1912620"/>
            <a:ext cx="5167630" cy="4777740"/>
          </a:xfrm>
          <a:prstGeom prst="roundRect">
            <a:avLst>
              <a:gd name="adj" fmla="val 2941"/>
            </a:avLst>
          </a:prstGeom>
          <a:noFill/>
          <a:ln w="57150">
            <a:gradFill>
              <a:gsLst>
                <a:gs pos="50000">
                  <a:schemeClr val="accent6"/>
                </a:gs>
                <a:gs pos="0">
                  <a:schemeClr val="accent6">
                    <a:lumMod val="25000"/>
                    <a:lumOff val="75000"/>
                  </a:schemeClr>
                </a:gs>
                <a:gs pos="100000">
                  <a:schemeClr val="accent6">
                    <a:lumMod val="85000"/>
                  </a:schemeClr>
                </a:gs>
              </a:gsLst>
              <a:lin ang="5400000" scaled="0"/>
            </a:gradFill>
          </a:ln>
        </p:spPr>
        <p:txBody>
          <a:bodyPr vert="horz" wrap="square" lIns="91440" tIns="45720" rIns="91440" bIns="45720" rtlCol="0" anchor="t">
            <a:noAutofit/>
          </a:bodyPr>
          <a:p>
            <a:pPr marL="285750" indent="-285750">
              <a:buClrTx/>
              <a:buSzTx/>
              <a:buFont typeface="Wingdings" panose="05000000000000000000" charset="0"/>
              <a:buChar char="Ø"/>
            </a:pPr>
            <a:endParaRPr lang="zh-CN" altLang="en-US">
              <a:latin typeface="微软雅黑" panose="020B0503020204020204" pitchFamily="34" charset="-122"/>
              <a:ea typeface="微软雅黑" panose="020B0503020204020204" pitchFamily="34" charset="-122"/>
              <a:sym typeface="+mn-ea"/>
            </a:endParaRPr>
          </a:p>
        </p:txBody>
      </p:sp>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4" name="图片 -2147482602"/>
          <p:cNvPicPr>
            <a:picLocks noChangeAspect="1"/>
          </p:cNvPicPr>
          <p:nvPr>
            <p:custDataLst>
              <p:tags r:id="rId2"/>
            </p:custDataLst>
          </p:nvPr>
        </p:nvPicPr>
        <p:blipFill>
          <a:blip r:embed="rId3"/>
          <a:stretch>
            <a:fillRect/>
          </a:stretch>
        </p:blipFill>
        <p:spPr>
          <a:xfrm>
            <a:off x="791210" y="2021205"/>
            <a:ext cx="4702810" cy="2799080"/>
          </a:xfrm>
          <a:prstGeom prst="rect">
            <a:avLst/>
          </a:prstGeom>
          <a:noFill/>
          <a:ln w="9525">
            <a:noFill/>
          </a:ln>
        </p:spPr>
      </p:pic>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4"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6946934" y="-59933"/>
                <a:ext cx="253682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852069" y="48055"/>
                <a:ext cx="1771650"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项目进展</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5"/>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6"/>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sp>
        <p:nvSpPr>
          <p:cNvPr id="2" name="ïṣ1ïḑê"/>
          <p:cNvSpPr>
            <a:spLocks noGrp="1"/>
          </p:cNvSpPr>
          <p:nvPr/>
        </p:nvSpPr>
        <p:spPr>
          <a:xfrm>
            <a:off x="205105" y="1087120"/>
            <a:ext cx="10850880" cy="71247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000000"/>
                </a:solidFill>
                <a:latin typeface="Arial" panose="020B0604020202020204" pitchFamily="34" charset="0"/>
                <a:ea typeface="微软雅黑" panose="020B0503020204020204" pitchFamily="34" charset="-122"/>
                <a:cs typeface="+mn-ea"/>
              </a:defRPr>
            </a:lvl1pPr>
          </a:lstStyle>
          <a:p>
            <a:r>
              <a:rPr lang="en-US" altLang="zh-CN" dirty="0">
                <a:solidFill>
                  <a:srgbClr val="005825"/>
                </a:solidFill>
              </a:rPr>
              <a:t>3.2 </a:t>
            </a:r>
            <a:r>
              <a:rPr lang="zh-CN" altLang="en-US" dirty="0">
                <a:solidFill>
                  <a:srgbClr val="00481C"/>
                </a:solidFill>
                <a:latin typeface="微软雅黑" panose="020B0503020204020204" pitchFamily="34" charset="-122"/>
                <a:cs typeface="微软雅黑" panose="020B0503020204020204" pitchFamily="34" charset="-122"/>
              </a:rPr>
              <a:t>基于大语言模型（</a:t>
            </a:r>
            <a:r>
              <a:rPr lang="en-US" altLang="zh-CN" dirty="0">
                <a:solidFill>
                  <a:srgbClr val="00481C"/>
                </a:solidFill>
                <a:latin typeface="微软雅黑" panose="020B0503020204020204" pitchFamily="34" charset="-122"/>
                <a:cs typeface="微软雅黑" panose="020B0503020204020204" pitchFamily="34" charset="-122"/>
              </a:rPr>
              <a:t>LLM</a:t>
            </a:r>
            <a:r>
              <a:rPr lang="zh-CN" altLang="en-US" dirty="0">
                <a:solidFill>
                  <a:srgbClr val="00481C"/>
                </a:solidFill>
                <a:latin typeface="微软雅黑" panose="020B0503020204020204" pitchFamily="34" charset="-122"/>
                <a:cs typeface="微软雅黑" panose="020B0503020204020204" pitchFamily="34" charset="-122"/>
              </a:rPr>
              <a:t>）的知识图谱构建器</a:t>
            </a:r>
            <a:endParaRPr lang="zh-CN" altLang="en-US" dirty="0">
              <a:solidFill>
                <a:srgbClr val="00481C"/>
              </a:solidFill>
              <a:latin typeface="微软雅黑" panose="020B0503020204020204" pitchFamily="34" charset="-122"/>
              <a:cs typeface="微软雅黑" panose="020B0503020204020204" pitchFamily="34" charset="-122"/>
            </a:endParaRPr>
          </a:p>
          <a:p>
            <a:endParaRPr lang="zh-CN" altLang="en-US" dirty="0">
              <a:solidFill>
                <a:srgbClr val="00481C"/>
              </a:solidFill>
              <a:latin typeface="微软雅黑" panose="020B0503020204020204" pitchFamily="34" charset="-122"/>
              <a:cs typeface="微软雅黑" panose="020B0503020204020204" pitchFamily="34" charset="-122"/>
            </a:endParaRPr>
          </a:p>
        </p:txBody>
      </p:sp>
      <p:sp>
        <p:nvSpPr>
          <p:cNvPr id="5" name="文本框 4"/>
          <p:cNvSpPr txBox="1"/>
          <p:nvPr/>
        </p:nvSpPr>
        <p:spPr>
          <a:xfrm>
            <a:off x="684530" y="1430973"/>
            <a:ext cx="5080000" cy="460375"/>
          </a:xfrm>
          <a:prstGeom prst="rect">
            <a:avLst/>
          </a:prstGeom>
        </p:spPr>
        <p:txBody>
          <a:bodyPr>
            <a:spAutoFit/>
          </a:bodyPr>
          <a:p>
            <a:pPr indent="0" algn="just" defTabSz="266700">
              <a:spcBef>
                <a:spcPct val="0"/>
              </a:spcBef>
              <a:spcAft>
                <a:spcPct val="0"/>
              </a:spcAft>
            </a:pPr>
            <a:r>
              <a:rPr lang="zh-CN" altLang="en-US" sz="2400" b="1">
                <a:latin typeface="微软雅黑" panose="020B0503020204020204" pitchFamily="34" charset="-122"/>
                <a:ea typeface="微软雅黑" panose="020B0503020204020204" pitchFamily="34" charset="-122"/>
              </a:rPr>
              <a:t>交互式图谱可视化界面</a:t>
            </a:r>
            <a:endParaRPr lang="zh-CN" altLang="en-US" sz="2400" b="1">
              <a:latin typeface="微软雅黑" panose="020B0503020204020204" pitchFamily="34" charset="-122"/>
              <a:ea typeface="微软雅黑" panose="020B0503020204020204" pitchFamily="34" charset="-122"/>
            </a:endParaRPr>
          </a:p>
        </p:txBody>
      </p:sp>
      <p:sp>
        <p:nvSpPr>
          <p:cNvPr id="13" name="文本框 12"/>
          <p:cNvSpPr txBox="1"/>
          <p:nvPr>
            <p:custDataLst>
              <p:tags r:id="rId7"/>
            </p:custDataLst>
          </p:nvPr>
        </p:nvSpPr>
        <p:spPr>
          <a:xfrm>
            <a:off x="1110615" y="4844415"/>
            <a:ext cx="4064000" cy="398780"/>
          </a:xfrm>
          <a:prstGeom prst="rect">
            <a:avLst/>
          </a:prstGeom>
          <a:noFill/>
        </p:spPr>
        <p:txBody>
          <a:bodyPr wrap="square" rtlCol="0">
            <a:spAutoFit/>
          </a:bodyPr>
          <a:p>
            <a:pPr algn="ctr"/>
            <a:r>
              <a:rPr lang="zh-CN" altLang="en-US" sz="2000" b="1">
                <a:latin typeface="微软雅黑" panose="020B0503020204020204" pitchFamily="34" charset="-122"/>
                <a:ea typeface="微软雅黑" panose="020B0503020204020204" pitchFamily="34" charset="-122"/>
              </a:rPr>
              <a:t>交互式图谱可视化</a:t>
            </a:r>
            <a:endParaRPr lang="zh-CN" altLang="en-US" sz="2000" b="1">
              <a:latin typeface="微软雅黑" panose="020B0503020204020204" pitchFamily="34" charset="-122"/>
              <a:ea typeface="微软雅黑" panose="020B0503020204020204" pitchFamily="34" charset="-122"/>
            </a:endParaRPr>
          </a:p>
        </p:txBody>
      </p:sp>
      <p:sp>
        <p:nvSpPr>
          <p:cNvPr id="15" name="AutoShape 3"/>
          <p:cNvSpPr txBox="1"/>
          <p:nvPr>
            <p:custDataLst>
              <p:tags r:id="rId8"/>
            </p:custDataLst>
          </p:nvPr>
        </p:nvSpPr>
        <p:spPr>
          <a:xfrm>
            <a:off x="6438265" y="1912620"/>
            <a:ext cx="5167630" cy="4777740"/>
          </a:xfrm>
          <a:prstGeom prst="roundRect">
            <a:avLst>
              <a:gd name="adj" fmla="val 2941"/>
            </a:avLst>
          </a:prstGeom>
          <a:noFill/>
          <a:ln w="57150">
            <a:gradFill>
              <a:gsLst>
                <a:gs pos="50000">
                  <a:schemeClr val="accent6"/>
                </a:gs>
                <a:gs pos="0">
                  <a:schemeClr val="accent6">
                    <a:lumMod val="25000"/>
                    <a:lumOff val="75000"/>
                  </a:schemeClr>
                </a:gs>
                <a:gs pos="100000">
                  <a:schemeClr val="accent6">
                    <a:lumMod val="85000"/>
                  </a:schemeClr>
                </a:gs>
              </a:gsLst>
              <a:lin ang="5400000" scaled="0"/>
            </a:gradFill>
          </a:ln>
        </p:spPr>
        <p:txBody>
          <a:bodyPr vert="horz" wrap="square" lIns="91440" tIns="45720" rIns="91440" bIns="45720" rtlCol="0" anchor="t">
            <a:noAutofit/>
          </a:bodyPr>
          <a:p>
            <a:pPr marL="285750" indent="-285750">
              <a:buClrTx/>
              <a:buSzTx/>
              <a:buFont typeface="Wingdings" panose="05000000000000000000" charset="0"/>
              <a:buChar char="Ø"/>
            </a:pPr>
            <a:endParaRPr lang="zh-CN" altLang="en-US">
              <a:latin typeface="微软雅黑" panose="020B0503020204020204" pitchFamily="34" charset="-122"/>
              <a:ea typeface="微软雅黑" panose="020B0503020204020204" pitchFamily="34" charset="-122"/>
              <a:sym typeface="+mn-ea"/>
            </a:endParaRPr>
          </a:p>
        </p:txBody>
      </p:sp>
      <p:pic>
        <p:nvPicPr>
          <p:cNvPr id="3" name="图片 -2147482603"/>
          <p:cNvPicPr>
            <a:picLocks noChangeAspect="1"/>
          </p:cNvPicPr>
          <p:nvPr>
            <p:custDataLst>
              <p:tags r:id="rId9"/>
            </p:custDataLst>
          </p:nvPr>
        </p:nvPicPr>
        <p:blipFill>
          <a:blip r:embed="rId10"/>
          <a:stretch>
            <a:fillRect/>
          </a:stretch>
        </p:blipFill>
        <p:spPr>
          <a:xfrm>
            <a:off x="7468235" y="2082800"/>
            <a:ext cx="2985770" cy="2740025"/>
          </a:xfrm>
          <a:prstGeom prst="rect">
            <a:avLst/>
          </a:prstGeom>
          <a:noFill/>
          <a:ln w="9525">
            <a:noFill/>
          </a:ln>
        </p:spPr>
      </p:pic>
      <p:sp>
        <p:nvSpPr>
          <p:cNvPr id="16" name="文本框 15"/>
          <p:cNvSpPr txBox="1"/>
          <p:nvPr>
            <p:custDataLst>
              <p:tags r:id="rId11"/>
            </p:custDataLst>
          </p:nvPr>
        </p:nvSpPr>
        <p:spPr>
          <a:xfrm>
            <a:off x="6929120" y="4845050"/>
            <a:ext cx="4064000" cy="397510"/>
          </a:xfrm>
          <a:prstGeom prst="rect">
            <a:avLst/>
          </a:prstGeom>
          <a:noFill/>
        </p:spPr>
        <p:txBody>
          <a:bodyPr wrap="square" rtlCol="0">
            <a:noAutofit/>
          </a:bodyPr>
          <a:p>
            <a:pPr algn="ctr"/>
            <a:r>
              <a:rPr lang="zh-CN" altLang="en-US" sz="2000" b="1">
                <a:latin typeface="微软雅黑" panose="020B0503020204020204" pitchFamily="34" charset="-122"/>
                <a:ea typeface="微软雅黑" panose="020B0503020204020204" pitchFamily="34" charset="-122"/>
              </a:rPr>
              <a:t>图推理智能体</a:t>
            </a:r>
            <a:r>
              <a:rPr lang="zh-CN" altLang="en-US" sz="2000" b="1">
                <a:latin typeface="微软雅黑" panose="020B0503020204020204" pitchFamily="34" charset="-122"/>
                <a:ea typeface="微软雅黑" panose="020B0503020204020204" pitchFamily="34" charset="-122"/>
              </a:rPr>
              <a:t>交互</a:t>
            </a:r>
            <a:endParaRPr lang="zh-CN" altLang="en-US" sz="2000" b="1">
              <a:latin typeface="微软雅黑" panose="020B0503020204020204" pitchFamily="34" charset="-122"/>
              <a:ea typeface="微软雅黑" panose="020B0503020204020204" pitchFamily="34" charset="-122"/>
            </a:endParaRPr>
          </a:p>
        </p:txBody>
      </p:sp>
      <p:sp>
        <p:nvSpPr>
          <p:cNvPr id="17" name="文本框 16"/>
          <p:cNvSpPr txBox="1"/>
          <p:nvPr>
            <p:custDataLst>
              <p:tags r:id="rId12"/>
            </p:custDataLst>
          </p:nvPr>
        </p:nvSpPr>
        <p:spPr>
          <a:xfrm>
            <a:off x="738505" y="5242560"/>
            <a:ext cx="4978400" cy="1383665"/>
          </a:xfrm>
          <a:prstGeom prst="rect">
            <a:avLst/>
          </a:prstGeom>
          <a:noFill/>
        </p:spPr>
        <p:txBody>
          <a:bodyPr wrap="square" rtlCol="0" anchor="t">
            <a:spAutoFit/>
          </a:bodyPr>
          <a:p>
            <a:pPr marL="285750" indent="-285750" algn="l">
              <a:lnSpc>
                <a:spcPct val="150000"/>
              </a:lnSpc>
              <a:buFont typeface="Wingdings" panose="05000000000000000000" charset="0"/>
              <a:buChar char="p"/>
              <a:defRPr/>
            </a:pPr>
            <a:r>
              <a:rPr lang="en-US" sz="14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基于D3.js实现力导向图谱展示，支持缩放、平移、拖拽。</a:t>
            </a:r>
            <a:endParaRPr lang="en-US" sz="140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a:lnSpc>
                <a:spcPct val="150000"/>
              </a:lnSpc>
              <a:buFont typeface="Wingdings" panose="05000000000000000000" charset="0"/>
              <a:buChar char="p"/>
            </a:pPr>
            <a:r>
              <a:rPr lang="en-US" sz="14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节点按实体类型自动配色，便于区分。</a:t>
            </a:r>
            <a:endParaRPr lang="en-US" sz="1400"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a:p>
            <a:pPr marL="285750" indent="-285750" algn="l">
              <a:lnSpc>
                <a:spcPct val="150000"/>
              </a:lnSpc>
              <a:buFont typeface="Wingdings" panose="05000000000000000000" charset="0"/>
              <a:buChar char="p"/>
            </a:pPr>
            <a:r>
              <a:rPr lang="en-US" sz="14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支持实时实体搜索、高亮、多节点框选等交互操作。</a:t>
            </a:r>
            <a:endParaRPr lang="en-US" sz="1400"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a:p>
            <a:pPr marL="285750" indent="-285750" algn="l">
              <a:lnSpc>
                <a:spcPct val="150000"/>
              </a:lnSpc>
              <a:buFont typeface="Wingdings" panose="05000000000000000000" charset="0"/>
              <a:buChar char="p"/>
            </a:pPr>
            <a:r>
              <a:rPr lang="en-US" sz="14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实现与聊天内容的双向联动，点击引用实体可自动定位。</a:t>
            </a:r>
            <a:endParaRPr lang="en-US" altLang="en-US" sz="14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sp>
        <p:nvSpPr>
          <p:cNvPr id="18" name="文本框 17"/>
          <p:cNvSpPr txBox="1"/>
          <p:nvPr>
            <p:custDataLst>
              <p:tags r:id="rId13"/>
            </p:custDataLst>
          </p:nvPr>
        </p:nvSpPr>
        <p:spPr>
          <a:xfrm>
            <a:off x="6544945" y="5198745"/>
            <a:ext cx="6096000" cy="1383665"/>
          </a:xfrm>
          <a:prstGeom prst="rect">
            <a:avLst/>
          </a:prstGeom>
          <a:noFill/>
        </p:spPr>
        <p:txBody>
          <a:bodyPr wrap="square" rtlCol="0" anchor="t">
            <a:spAutoFit/>
          </a:bodyPr>
          <a:p>
            <a:pPr marL="285750" lvl="0" indent="-285750" algn="l">
              <a:lnSpc>
                <a:spcPct val="150000"/>
              </a:lnSpc>
              <a:buClrTx/>
              <a:buSzTx/>
              <a:buFont typeface="Wingdings" panose="05000000000000000000" charset="0"/>
              <a:buChar char="p"/>
              <a:defRPr/>
            </a:pPr>
            <a:r>
              <a:rPr lang="en-US" sz="1400">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支持自然语言提问，实现知识图谱的智能问答。</a:t>
            </a:r>
            <a:endParaRPr lang="en-US" sz="140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a:lnSpc>
                <a:spcPct val="150000"/>
              </a:lnSpc>
              <a:buClrTx/>
              <a:buSzTx/>
              <a:buFont typeface="Wingdings" panose="05000000000000000000" charset="0"/>
              <a:buChar char="p"/>
              <a:defRPr/>
            </a:pPr>
            <a:r>
              <a:rPr lang="en-US" sz="1400">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基于ReAct</a:t>
            </a:r>
            <a:r>
              <a:rPr lang="en-US" sz="1400">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范式</a:t>
            </a:r>
            <a:r>
              <a:rPr lang="en-US" sz="1400">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进行多步推理，自主规划查询路径。</a:t>
            </a:r>
            <a:endParaRPr lang="en-US" sz="1400">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a:p>
            <a:pPr marL="285750" lvl="0" indent="-285750" algn="l">
              <a:lnSpc>
                <a:spcPct val="150000"/>
              </a:lnSpc>
              <a:buClrTx/>
              <a:buSzTx/>
              <a:buFont typeface="Wingdings" panose="05000000000000000000" charset="0"/>
              <a:buChar char="p"/>
              <a:defRPr/>
            </a:pPr>
            <a:r>
              <a:rPr lang="en-US" sz="1400">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回答内容自动标注引用来源，实现全链路可追溯。</a:t>
            </a:r>
            <a:endParaRPr lang="en-US" sz="1400">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a:p>
            <a:pPr marL="285750" lvl="0" indent="-285750" algn="l">
              <a:lnSpc>
                <a:spcPct val="150000"/>
              </a:lnSpc>
              <a:buClrTx/>
              <a:buSzTx/>
              <a:buFont typeface="Wingdings" panose="05000000000000000000" charset="0"/>
              <a:buChar char="p"/>
              <a:defRPr/>
            </a:pPr>
            <a:r>
              <a:rPr lang="en-US" sz="1400">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支持流式响应，实时展示推理过程与工具调用详情。</a:t>
            </a:r>
            <a:endParaRPr lang="en-US" sz="1400">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28" name="AutoShape 3"/>
          <p:cNvSpPr/>
          <p:nvPr/>
        </p:nvSpPr>
        <p:spPr>
          <a:xfrm>
            <a:off x="770890" y="2613660"/>
            <a:ext cx="5080000" cy="4318000"/>
          </a:xfrm>
          <a:prstGeom prst="roundRect">
            <a:avLst>
              <a:gd name="adj" fmla="val 2941"/>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p>
            <a:pPr algn="ctr">
              <a:defRPr/>
            </a:pPr>
          </a:p>
        </p:txBody>
      </p:sp>
      <p:grpSp>
        <p:nvGrpSpPr>
          <p:cNvPr id="5" name="组合 4"/>
          <p:cNvGrpSpPr/>
          <p:nvPr/>
        </p:nvGrpSpPr>
        <p:grpSpPr>
          <a:xfrm>
            <a:off x="530860" y="1403350"/>
            <a:ext cx="5227955" cy="4887595"/>
            <a:chOff x="1013" y="3610"/>
            <a:chExt cx="8233" cy="7697"/>
          </a:xfrm>
        </p:grpSpPr>
        <p:sp>
          <p:nvSpPr>
            <p:cNvPr id="6" name="AutoShape 3"/>
            <p:cNvSpPr/>
            <p:nvPr/>
          </p:nvSpPr>
          <p:spPr>
            <a:xfrm>
              <a:off x="1014" y="4164"/>
              <a:ext cx="8000" cy="6552"/>
            </a:xfrm>
            <a:prstGeom prst="roundRect">
              <a:avLst>
                <a:gd name="adj" fmla="val 2941"/>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p>
              <a:pPr algn="ctr">
                <a:defRPr/>
              </a:pPr>
            </a:p>
          </p:txBody>
        </p:sp>
        <p:sp>
          <p:nvSpPr>
            <p:cNvPr id="27" name="矩形 26"/>
            <p:cNvSpPr/>
            <p:nvPr/>
          </p:nvSpPr>
          <p:spPr>
            <a:xfrm>
              <a:off x="1013" y="3610"/>
              <a:ext cx="8233" cy="7697"/>
            </a:xfrm>
            <a:prstGeom prst="rect">
              <a:avLst/>
            </a:prstGeom>
            <a:solidFill>
              <a:srgbClr val="000000">
                <a:alpha val="0"/>
              </a:srgbClr>
            </a:solidFill>
            <a:ln w="28575">
              <a:gradFill>
                <a:gsLst>
                  <a:gs pos="50000">
                    <a:schemeClr val="accent6"/>
                  </a:gs>
                  <a:gs pos="0">
                    <a:schemeClr val="accent6">
                      <a:lumMod val="25000"/>
                      <a:lumOff val="75000"/>
                    </a:schemeClr>
                  </a:gs>
                  <a:gs pos="100000">
                    <a:schemeClr val="accent6">
                      <a:lumMod val="85000"/>
                    </a:schemeClr>
                  </a:gs>
                </a:gsLst>
                <a:lin ang="54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AutoShape 4"/>
            <p:cNvSpPr/>
            <p:nvPr/>
          </p:nvSpPr>
          <p:spPr>
            <a:xfrm>
              <a:off x="1391" y="3687"/>
              <a:ext cx="7200" cy="600"/>
            </a:xfrm>
            <a:prstGeom prst="rect">
              <a:avLst/>
            </a:prstGeom>
            <a:noFill/>
            <a:ln w="12700" cap="flat" cmpd="sng">
              <a:noFill/>
              <a:prstDash val="solid"/>
              <a:round/>
            </a:ln>
          </p:spPr>
          <p:txBody>
            <a:bodyPr vert="horz" wrap="square" lIns="0" tIns="0" rIns="0" bIns="0" rtlCol="0" anchor="ctr" anchorCtr="0"/>
            <a:p>
              <a:pPr indent="0" algn="l">
                <a:lnSpc>
                  <a:spcPct val="125000"/>
                </a:lnSpc>
                <a:defRPr/>
              </a:pPr>
              <a:r>
                <a:rPr lang="en-US" sz="2400" b="1"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系统功能与关键步骤</a:t>
              </a:r>
              <a:endParaRPr lang="en-US" sz="2400" b="1" i="0" u="none" strike="noStrike">
                <a:solidFill>
                  <a:schemeClr val="tx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grpSp>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6946934" y="-59933"/>
                <a:ext cx="253682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852069" y="48055"/>
                <a:ext cx="1771650"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项目进展</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sp>
        <p:nvSpPr>
          <p:cNvPr id="2" name="ïṣ1ïḑê"/>
          <p:cNvSpPr>
            <a:spLocks noGrp="1"/>
          </p:cNvSpPr>
          <p:nvPr/>
        </p:nvSpPr>
        <p:spPr>
          <a:xfrm>
            <a:off x="205105" y="1087120"/>
            <a:ext cx="10850880" cy="71247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000000"/>
                </a:solidFill>
                <a:latin typeface="Arial" panose="020B0604020202020204" pitchFamily="34" charset="0"/>
                <a:ea typeface="微软雅黑" panose="020B0503020204020204" pitchFamily="34" charset="-122"/>
                <a:cs typeface="+mn-ea"/>
              </a:defRPr>
            </a:lvl1pPr>
          </a:lstStyle>
          <a:p>
            <a:r>
              <a:rPr lang="en-US" altLang="zh-CN" dirty="0">
                <a:solidFill>
                  <a:srgbClr val="005825"/>
                </a:solidFill>
              </a:rPr>
              <a:t>3.3 </a:t>
            </a:r>
            <a:r>
              <a:rPr lang="zh-CN" altLang="en-US" dirty="0">
                <a:solidFill>
                  <a:srgbClr val="00481C"/>
                </a:solidFill>
                <a:latin typeface="Times New Roman" panose="02020603050405020304" pitchFamily="18" charset="0"/>
                <a:cs typeface="Times New Roman" panose="02020603050405020304" pitchFamily="18" charset="0"/>
              </a:rPr>
              <a:t>基于地图制图知识图谱的智能问答系统</a:t>
            </a:r>
            <a:endParaRPr lang="zh-CN" altLang="en-US" dirty="0">
              <a:solidFill>
                <a:schemeClr val="tx1"/>
              </a:solidFill>
              <a:latin typeface="Times New Roman" panose="02020603050405020304" pitchFamily="18" charset="0"/>
              <a:cs typeface="Times New Roman" panose="02020603050405020304" pitchFamily="18" charset="0"/>
            </a:endParaRPr>
          </a:p>
          <a:p>
            <a:endParaRPr lang="zh-CN" altLang="en-US" dirty="0">
              <a:solidFill>
                <a:schemeClr val="tx1"/>
              </a:solidFill>
              <a:latin typeface="Times New Roman" panose="02020603050405020304" pitchFamily="18" charset="0"/>
              <a:cs typeface="Times New Roman" panose="02020603050405020304" pitchFamily="18" charset="0"/>
            </a:endParaRPr>
          </a:p>
        </p:txBody>
      </p:sp>
      <p:grpSp>
        <p:nvGrpSpPr>
          <p:cNvPr id="32" name="组合 31"/>
          <p:cNvGrpSpPr/>
          <p:nvPr/>
        </p:nvGrpSpPr>
        <p:grpSpPr>
          <a:xfrm>
            <a:off x="6096000" y="1403985"/>
            <a:ext cx="5373370" cy="4887595"/>
            <a:chOff x="9600" y="3582"/>
            <a:chExt cx="8462" cy="7697"/>
          </a:xfrm>
        </p:grpSpPr>
        <p:sp>
          <p:nvSpPr>
            <p:cNvPr id="29" name="矩形 28"/>
            <p:cNvSpPr/>
            <p:nvPr/>
          </p:nvSpPr>
          <p:spPr>
            <a:xfrm>
              <a:off x="9741" y="3582"/>
              <a:ext cx="8321" cy="7697"/>
            </a:xfrm>
            <a:prstGeom prst="rect">
              <a:avLst/>
            </a:prstGeom>
            <a:solidFill>
              <a:srgbClr val="000000">
                <a:alpha val="0"/>
              </a:srgbClr>
            </a:solidFill>
            <a:ln w="28575">
              <a:gradFill>
                <a:gsLst>
                  <a:gs pos="50000">
                    <a:schemeClr val="accent6"/>
                  </a:gs>
                  <a:gs pos="0">
                    <a:schemeClr val="accent6">
                      <a:lumMod val="25000"/>
                      <a:lumOff val="75000"/>
                    </a:schemeClr>
                  </a:gs>
                  <a:gs pos="100000">
                    <a:schemeClr val="accent6">
                      <a:lumMod val="85000"/>
                    </a:schemeClr>
                  </a:gs>
                </a:gsLst>
                <a:lin ang="54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30" name="组合 29"/>
            <p:cNvGrpSpPr/>
            <p:nvPr/>
          </p:nvGrpSpPr>
          <p:grpSpPr>
            <a:xfrm>
              <a:off x="9600" y="3658"/>
              <a:ext cx="8400" cy="7058"/>
              <a:chOff x="9600" y="3658"/>
              <a:chExt cx="8400" cy="7058"/>
            </a:xfrm>
          </p:grpSpPr>
          <p:sp>
            <p:nvSpPr>
              <p:cNvPr id="17" name="AutoShape 15"/>
              <p:cNvSpPr/>
              <p:nvPr/>
            </p:nvSpPr>
            <p:spPr>
              <a:xfrm>
                <a:off x="9600" y="3916"/>
                <a:ext cx="8400" cy="6800"/>
              </a:xfrm>
              <a:prstGeom prst="roundRect">
                <a:avLst>
                  <a:gd name="adj" fmla="val 2941"/>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p>
                <a:pPr algn="ctr">
                  <a:defRPr/>
                </a:pPr>
              </a:p>
            </p:txBody>
          </p:sp>
          <p:sp>
            <p:nvSpPr>
              <p:cNvPr id="18" name="AutoShape 16"/>
              <p:cNvSpPr/>
              <p:nvPr/>
            </p:nvSpPr>
            <p:spPr>
              <a:xfrm>
                <a:off x="9920" y="3658"/>
                <a:ext cx="7600" cy="600"/>
              </a:xfrm>
              <a:prstGeom prst="rect">
                <a:avLst/>
              </a:prstGeom>
              <a:noFill/>
              <a:ln w="12700" cap="flat" cmpd="sng">
                <a:noFill/>
                <a:prstDash val="solid"/>
                <a:round/>
              </a:ln>
            </p:spPr>
            <p:txBody>
              <a:bodyPr vert="horz" wrap="square" lIns="0" tIns="0" rIns="0" bIns="0" rtlCol="0" anchor="ctr" anchorCtr="0">
                <a:noAutofit/>
              </a:bodyPr>
              <a:p>
                <a:pPr lvl="0" algn="l">
                  <a:lnSpc>
                    <a:spcPct val="125000"/>
                  </a:lnSpc>
                  <a:buClrTx/>
                  <a:buSzTx/>
                  <a:buFontTx/>
                  <a:defRPr/>
                </a:pPr>
                <a:r>
                  <a:rPr lang="en-US" sz="2400" b="1">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系统流程与验证结果</a:t>
                </a:r>
                <a:endParaRPr lang="en-US" sz="2400" b="1">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grpSp>
            <p:nvGrpSpPr>
              <p:cNvPr id="26" name="组合 25"/>
              <p:cNvGrpSpPr/>
              <p:nvPr/>
            </p:nvGrpSpPr>
            <p:grpSpPr>
              <a:xfrm>
                <a:off x="10000" y="8507"/>
                <a:ext cx="7600" cy="558"/>
                <a:chOff x="10000" y="8657"/>
                <a:chExt cx="7600" cy="558"/>
              </a:xfrm>
            </p:grpSpPr>
            <p:pic>
              <p:nvPicPr>
                <p:cNvPr id="20" name="Picture 1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00" y="8726"/>
                  <a:ext cx="480" cy="489"/>
                </a:xfrm>
                <a:prstGeom prst="rect">
                  <a:avLst/>
                </a:prstGeom>
              </p:spPr>
            </p:pic>
            <p:sp>
              <p:nvSpPr>
                <p:cNvPr id="21" name="AutoShape 20"/>
                <p:cNvSpPr/>
                <p:nvPr/>
              </p:nvSpPr>
              <p:spPr>
                <a:xfrm>
                  <a:off x="10600" y="8657"/>
                  <a:ext cx="7000" cy="480"/>
                </a:xfrm>
                <a:prstGeom prst="rect">
                  <a:avLst/>
                </a:prstGeom>
                <a:noFill/>
                <a:ln w="12700" cap="flat" cmpd="sng">
                  <a:noFill/>
                  <a:prstDash val="solid"/>
                  <a:round/>
                </a:ln>
              </p:spPr>
              <p:txBody>
                <a:bodyPr vert="horz" wrap="square" lIns="0" tIns="0" rIns="0" bIns="0" rtlCol="0" anchor="ctr" anchorCtr="0">
                  <a:noAutofit/>
                </a:bodyPr>
                <a:p>
                  <a:pPr lvl="0" algn="l">
                    <a:lnSpc>
                      <a:spcPct val="125000"/>
                    </a:lnSpc>
                    <a:buClrTx/>
                    <a:buSzTx/>
                    <a:buFontTx/>
                    <a:defRPr/>
                  </a:pPr>
                  <a:r>
                    <a:rPr lang="en-US" b="1">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验证成果</a:t>
                  </a:r>
                  <a:endParaRPr lang="en-US" b="1">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grpSp>
          <p:sp>
            <p:nvSpPr>
              <p:cNvPr id="22" name="AutoShape 21"/>
              <p:cNvSpPr/>
              <p:nvPr/>
            </p:nvSpPr>
            <p:spPr>
              <a:xfrm>
                <a:off x="10600" y="9056"/>
                <a:ext cx="7000" cy="1631"/>
              </a:xfrm>
              <a:prstGeom prst="rect">
                <a:avLst/>
              </a:prstGeom>
              <a:noFill/>
              <a:ln w="12700" cap="flat" cmpd="sng">
                <a:noFill/>
                <a:prstDash val="solid"/>
                <a:round/>
              </a:ln>
            </p:spPr>
            <p:txBody>
              <a:bodyPr vert="horz" wrap="square" lIns="0" tIns="0" rIns="0" bIns="0" rtlCol="0" anchor="ctr" anchorCtr="0">
                <a:noAutofit/>
              </a:bodyPr>
              <a:p>
                <a:pPr lvl="0" algn="l">
                  <a:lnSpc>
                    <a:spcPct val="150000"/>
                  </a:lnSpc>
                  <a:buClrTx/>
                  <a:buSzTx/>
                  <a:buFontTx/>
                  <a:defRPr/>
                </a:pPr>
                <a:r>
                  <a:rPr lang="en-US" sz="1600">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成功验证了知识图谱与大语言模型结合进行专业知识问答的技术可行性，实现了流畅的端到端交互流程。</a:t>
                </a:r>
                <a:endParaRPr lang="en-US" sz="1600">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grpSp>
      </p:grpSp>
      <p:grpSp>
        <p:nvGrpSpPr>
          <p:cNvPr id="47" name="组合 46"/>
          <p:cNvGrpSpPr/>
          <p:nvPr/>
        </p:nvGrpSpPr>
        <p:grpSpPr>
          <a:xfrm>
            <a:off x="1039495" y="1869440"/>
            <a:ext cx="4622800" cy="4300855"/>
            <a:chOff x="1637" y="2944"/>
            <a:chExt cx="7280" cy="5876"/>
          </a:xfrm>
        </p:grpSpPr>
        <p:sp>
          <p:nvSpPr>
            <p:cNvPr id="33" name="AutoShape 5"/>
            <p:cNvSpPr/>
            <p:nvPr>
              <p:custDataLst>
                <p:tags r:id="rId6"/>
              </p:custDataLst>
            </p:nvPr>
          </p:nvSpPr>
          <p:spPr>
            <a:xfrm>
              <a:off x="1637" y="2944"/>
              <a:ext cx="7200" cy="480"/>
            </a:xfrm>
            <a:prstGeom prst="rect">
              <a:avLst/>
            </a:prstGeom>
            <a:noFill/>
            <a:ln w="12700" cap="flat" cmpd="sng">
              <a:noFill/>
              <a:prstDash val="solid"/>
              <a:round/>
            </a:ln>
          </p:spPr>
          <p:txBody>
            <a:bodyPr vert="horz" wrap="square" lIns="0" tIns="0" rIns="0" bIns="0" rtlCol="0" anchor="ctr" anchorCtr="0"/>
            <a:p>
              <a:pPr indent="0" algn="l">
                <a:lnSpc>
                  <a:spcPct val="125000"/>
                </a:lnSpc>
                <a:defRPr/>
              </a:pPr>
              <a:r>
                <a:rPr lang="en-US" sz="1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01 数据爬取与结构化</a:t>
              </a:r>
              <a:endParaRPr lang="en-US" sz="1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4" name="AutoShape 6"/>
            <p:cNvSpPr/>
            <p:nvPr>
              <p:custDataLst>
                <p:tags r:id="rId7"/>
              </p:custDataLst>
            </p:nvPr>
          </p:nvSpPr>
          <p:spPr>
            <a:xfrm>
              <a:off x="1717" y="3457"/>
              <a:ext cx="7200" cy="900"/>
            </a:xfrm>
            <a:prstGeom prst="rect">
              <a:avLst/>
            </a:prstGeom>
            <a:noFill/>
            <a:ln w="12700" cap="flat" cmpd="sng">
              <a:noFill/>
              <a:prstDash val="solid"/>
              <a:round/>
            </a:ln>
          </p:spPr>
          <p:txBody>
            <a:bodyPr vert="horz" wrap="square" lIns="0" tIns="0" rIns="0" bIns="0" rtlCol="0" anchor="ctr" anchorCtr="0"/>
            <a:p>
              <a:pPr indent="0" algn="l">
                <a:lnSpc>
                  <a:spcPct val="150000"/>
                </a:lnSpc>
                <a:defRPr/>
              </a:pPr>
              <a:r>
                <a:rPr lang="en-US" sz="1200"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自动化采集教材、国标等多源数据，清洗去重后构建JSON格式的标准化知识库与实体词典库。</a:t>
              </a:r>
              <a:endParaRPr lang="en-US" sz="1200"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sp>
          <p:nvSpPr>
            <p:cNvPr id="35" name="AutoShape 9"/>
            <p:cNvSpPr/>
            <p:nvPr>
              <p:custDataLst>
                <p:tags r:id="rId8"/>
              </p:custDataLst>
            </p:nvPr>
          </p:nvSpPr>
          <p:spPr>
            <a:xfrm>
              <a:off x="1637" y="4390"/>
              <a:ext cx="7200" cy="480"/>
            </a:xfrm>
            <a:prstGeom prst="rect">
              <a:avLst/>
            </a:prstGeom>
            <a:noFill/>
            <a:ln w="12700" cap="flat" cmpd="sng">
              <a:noFill/>
              <a:prstDash val="solid"/>
              <a:round/>
            </a:ln>
          </p:spPr>
          <p:txBody>
            <a:bodyPr vert="horz" wrap="square" lIns="0" tIns="0" rIns="0" bIns="0" rtlCol="0" anchor="ctr" anchorCtr="0"/>
            <a:p>
              <a:pPr indent="0" algn="l">
                <a:lnSpc>
                  <a:spcPct val="125000"/>
                </a:lnSpc>
                <a:defRPr/>
              </a:pPr>
              <a:r>
                <a:rPr lang="en-US" sz="1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02 自然语言问题处理</a:t>
              </a:r>
              <a:endParaRPr lang="en-US" sz="1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6" name="AutoShape 10"/>
            <p:cNvSpPr/>
            <p:nvPr>
              <p:custDataLst>
                <p:tags r:id="rId9"/>
              </p:custDataLst>
            </p:nvPr>
          </p:nvSpPr>
          <p:spPr>
            <a:xfrm>
              <a:off x="1637" y="4927"/>
              <a:ext cx="7200" cy="900"/>
            </a:xfrm>
            <a:prstGeom prst="rect">
              <a:avLst/>
            </a:prstGeom>
            <a:noFill/>
            <a:ln w="12700" cap="flat" cmpd="sng">
              <a:noFill/>
              <a:prstDash val="solid"/>
              <a:round/>
            </a:ln>
          </p:spPr>
          <p:txBody>
            <a:bodyPr vert="horz" wrap="square" lIns="0" tIns="0" rIns="0" bIns="0" rtlCol="0" anchor="ctr" anchorCtr="0">
              <a:noAutofit/>
            </a:bodyPr>
            <a:p>
              <a:pPr lvl="0" algn="l">
                <a:lnSpc>
                  <a:spcPct val="150000"/>
                </a:lnSpc>
                <a:buClrTx/>
                <a:buSzTx/>
                <a:buFontTx/>
                <a:defRPr/>
              </a:pPr>
              <a:r>
                <a:rPr lang="en-US" sz="1200">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通过规则引擎与正向最大匹配算法，识别用户意图并抽取实体，将自然语言转化为结构化</a:t>
              </a:r>
              <a:r>
                <a:rPr lang="en-US" sz="1200">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查询</a:t>
              </a:r>
              <a:r>
                <a:rPr lang="en-US" sz="1200">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逻辑。</a:t>
              </a:r>
              <a:endParaRPr lang="en-US" sz="1200">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sp>
          <p:nvSpPr>
            <p:cNvPr id="37" name="AutoShape 13"/>
            <p:cNvSpPr/>
            <p:nvPr>
              <p:custDataLst>
                <p:tags r:id="rId10"/>
              </p:custDataLst>
            </p:nvPr>
          </p:nvSpPr>
          <p:spPr>
            <a:xfrm>
              <a:off x="1637" y="5884"/>
              <a:ext cx="7200" cy="480"/>
            </a:xfrm>
            <a:prstGeom prst="rect">
              <a:avLst/>
            </a:prstGeom>
            <a:noFill/>
            <a:ln w="12700" cap="flat" cmpd="sng">
              <a:noFill/>
              <a:prstDash val="solid"/>
              <a:round/>
            </a:ln>
          </p:spPr>
          <p:txBody>
            <a:bodyPr vert="horz" wrap="square" lIns="0" tIns="0" rIns="0" bIns="0" rtlCol="0" anchor="ctr" anchorCtr="0"/>
            <a:p>
              <a:pPr indent="0" algn="l">
                <a:lnSpc>
                  <a:spcPct val="125000"/>
                </a:lnSpc>
                <a:defRPr/>
              </a:pPr>
              <a:r>
                <a:rPr lang="en-US" sz="1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03 问答检索与答案生成</a:t>
              </a:r>
              <a:endParaRPr lang="en-US" sz="1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8" name="AutoShape 14"/>
            <p:cNvSpPr/>
            <p:nvPr>
              <p:custDataLst>
                <p:tags r:id="rId11"/>
              </p:custDataLst>
            </p:nvPr>
          </p:nvSpPr>
          <p:spPr>
            <a:xfrm>
              <a:off x="1637" y="6504"/>
              <a:ext cx="7200" cy="900"/>
            </a:xfrm>
            <a:prstGeom prst="rect">
              <a:avLst/>
            </a:prstGeom>
            <a:noFill/>
            <a:ln w="12700" cap="flat" cmpd="sng">
              <a:noFill/>
              <a:prstDash val="solid"/>
              <a:round/>
            </a:ln>
          </p:spPr>
          <p:txBody>
            <a:bodyPr vert="horz" wrap="square" lIns="0" tIns="0" rIns="0" bIns="0" rtlCol="0" anchor="ctr" anchorCtr="0">
              <a:noAutofit/>
            </a:bodyPr>
            <a:p>
              <a:pPr lvl="0" algn="l">
                <a:lnSpc>
                  <a:spcPct val="150000"/>
                </a:lnSpc>
                <a:buClrTx/>
                <a:buSzTx/>
                <a:buFontTx/>
                <a:defRPr/>
              </a:pPr>
              <a:r>
                <a:rPr lang="en-US" sz="1200">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基于Neo4j图数据库生成Cypher查询，执行多维度知识聚合，通过规则模板匹配生成自然语言答案。</a:t>
              </a:r>
              <a:endParaRPr lang="en-US" sz="1200">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sp>
          <p:nvSpPr>
            <p:cNvPr id="39" name="AutoShape 17"/>
            <p:cNvSpPr/>
            <p:nvPr>
              <p:custDataLst>
                <p:tags r:id="rId12"/>
              </p:custDataLst>
            </p:nvPr>
          </p:nvSpPr>
          <p:spPr>
            <a:xfrm>
              <a:off x="1637" y="7404"/>
              <a:ext cx="7200" cy="480"/>
            </a:xfrm>
            <a:prstGeom prst="rect">
              <a:avLst/>
            </a:prstGeom>
            <a:noFill/>
            <a:ln w="12700" cap="flat" cmpd="sng">
              <a:noFill/>
              <a:prstDash val="solid"/>
              <a:round/>
            </a:ln>
          </p:spPr>
          <p:txBody>
            <a:bodyPr vert="horz" wrap="square" lIns="0" tIns="0" rIns="0" bIns="0" rtlCol="0" anchor="ctr" anchorCtr="0"/>
            <a:p>
              <a:pPr indent="0" algn="l">
                <a:lnSpc>
                  <a:spcPct val="125000"/>
                </a:lnSpc>
                <a:defRPr/>
              </a:pPr>
              <a:r>
                <a:rPr lang="en-US" sz="1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04 端到端的问答交互</a:t>
              </a:r>
              <a:endParaRPr lang="en-US" sz="1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0" name="AutoShape 18"/>
            <p:cNvSpPr/>
            <p:nvPr>
              <p:custDataLst>
                <p:tags r:id="rId13"/>
              </p:custDataLst>
            </p:nvPr>
          </p:nvSpPr>
          <p:spPr>
            <a:xfrm>
              <a:off x="1637" y="7920"/>
              <a:ext cx="7200" cy="900"/>
            </a:xfrm>
            <a:prstGeom prst="rect">
              <a:avLst/>
            </a:prstGeom>
            <a:noFill/>
            <a:ln w="12700" cap="flat" cmpd="sng">
              <a:noFill/>
              <a:prstDash val="solid"/>
              <a:round/>
            </a:ln>
          </p:spPr>
          <p:txBody>
            <a:bodyPr vert="horz" wrap="square" lIns="0" tIns="0" rIns="0" bIns="0" rtlCol="0" anchor="ctr" anchorCtr="0">
              <a:noAutofit/>
            </a:bodyPr>
            <a:p>
              <a:pPr lvl="0" algn="l">
                <a:lnSpc>
                  <a:spcPct val="150000"/>
                </a:lnSpc>
                <a:buClrTx/>
                <a:buSzTx/>
                <a:buFontTx/>
                <a:defRPr/>
              </a:pPr>
              <a:r>
                <a:rPr lang="en-US" sz="1200">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整合全模块实现多轮对话交互，验证了从数据到交互的全链路闭环，为智能体研发提供工程化参考。</a:t>
              </a:r>
              <a:endParaRPr lang="en-US" sz="1200">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grpSp>
      <p:pic>
        <p:nvPicPr>
          <p:cNvPr id="42" name="Picture 4"/>
          <p:cNvPicPr>
            <a:picLocks noChangeAspect="1"/>
          </p:cNvPicPr>
          <p:nvPr>
            <p:custDataLst>
              <p:tags r:id="rId14"/>
            </p:custDataLst>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83895" y="1869440"/>
            <a:ext cx="355600" cy="355600"/>
          </a:xfrm>
          <a:prstGeom prst="rect">
            <a:avLst/>
          </a:prstGeom>
        </p:spPr>
      </p:pic>
      <p:pic>
        <p:nvPicPr>
          <p:cNvPr id="43" name="Picture 8"/>
          <p:cNvPicPr>
            <a:picLocks noChangeAspect="1"/>
          </p:cNvPicPr>
          <p:nvPr>
            <p:custDataLst>
              <p:tags r:id="rId17"/>
            </p:custDataLst>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83895" y="2923540"/>
            <a:ext cx="355600" cy="355600"/>
          </a:xfrm>
          <a:prstGeom prst="rect">
            <a:avLst/>
          </a:prstGeom>
        </p:spPr>
      </p:pic>
      <p:pic>
        <p:nvPicPr>
          <p:cNvPr id="45" name="Picture 12"/>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683895" y="4063365"/>
            <a:ext cx="304800" cy="304800"/>
          </a:xfrm>
          <a:prstGeom prst="rect">
            <a:avLst/>
          </a:prstGeom>
        </p:spPr>
      </p:pic>
      <p:pic>
        <p:nvPicPr>
          <p:cNvPr id="46" name="Picture 16"/>
          <p:cNvPicPr>
            <a:picLocks noChangeAspect="1"/>
          </p:cNvPicPr>
          <p:nvPr>
            <p:custDataLst>
              <p:tags r:id="rId22"/>
            </p:custDataLst>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678180" y="5129530"/>
            <a:ext cx="355600" cy="355600"/>
          </a:xfrm>
          <a:prstGeom prst="rect">
            <a:avLst/>
          </a:prstGeom>
        </p:spPr>
      </p:pic>
      <p:pic>
        <p:nvPicPr>
          <p:cNvPr id="3" name="图片 2"/>
          <p:cNvPicPr/>
          <p:nvPr/>
        </p:nvPicPr>
        <p:blipFill>
          <a:blip r:embed="rId25"/>
          <a:stretch>
            <a:fillRect/>
          </a:stretch>
        </p:blipFill>
        <p:spPr>
          <a:xfrm>
            <a:off x="6350000" y="2003425"/>
            <a:ext cx="4969510" cy="236791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6946934" y="-59933"/>
                <a:ext cx="253682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852069" y="48055"/>
                <a:ext cx="1771650"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项目进展</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sp>
        <p:nvSpPr>
          <p:cNvPr id="3" name="ïṣ1ïḑê"/>
          <p:cNvSpPr>
            <a:spLocks noGrp="1"/>
          </p:cNvSpPr>
          <p:nvPr/>
        </p:nvSpPr>
        <p:spPr>
          <a:xfrm>
            <a:off x="205105" y="1087120"/>
            <a:ext cx="10850880" cy="71247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000000"/>
                </a:solidFill>
                <a:latin typeface="Arial" panose="020B0604020202020204" pitchFamily="34" charset="0"/>
                <a:ea typeface="微软雅黑" panose="020B0503020204020204" pitchFamily="34" charset="-122"/>
                <a:cs typeface="+mn-ea"/>
              </a:defRPr>
            </a:lvl1pPr>
          </a:lstStyle>
          <a:p>
            <a:r>
              <a:rPr lang="en-US" altLang="zh-CN" dirty="0">
                <a:solidFill>
                  <a:srgbClr val="005825"/>
                </a:solidFill>
              </a:rPr>
              <a:t>3.4 </a:t>
            </a:r>
            <a:r>
              <a:rPr lang="zh-CN" altLang="en-US" dirty="0">
                <a:solidFill>
                  <a:srgbClr val="005825"/>
                </a:solidFill>
              </a:rPr>
              <a:t>制图原型模块</a:t>
            </a:r>
            <a:r>
              <a:rPr lang="en-US" altLang="zh-CN" dirty="0">
                <a:solidFill>
                  <a:srgbClr val="005825"/>
                </a:solidFill>
              </a:rPr>
              <a:t> </a:t>
            </a:r>
            <a:endParaRPr lang="zh-CN" altLang="en-US" dirty="0">
              <a:solidFill>
                <a:srgbClr val="00481C"/>
              </a:solidFill>
              <a:latin typeface="微软雅黑" panose="020B0503020204020204" pitchFamily="34" charset="-122"/>
              <a:cs typeface="微软雅黑" panose="020B0503020204020204" pitchFamily="34" charset="-122"/>
            </a:endParaRPr>
          </a:p>
          <a:p>
            <a:endParaRPr lang="zh-CN" altLang="en-US" dirty="0">
              <a:solidFill>
                <a:srgbClr val="00481C"/>
              </a:solidFill>
              <a:latin typeface="微软雅黑" panose="020B0503020204020204" pitchFamily="34" charset="-122"/>
              <a:cs typeface="微软雅黑" panose="020B0503020204020204" pitchFamily="34" charset="-122"/>
            </a:endParaRPr>
          </a:p>
        </p:txBody>
      </p:sp>
      <p:sp>
        <p:nvSpPr>
          <p:cNvPr id="2" name="文本框 1"/>
          <p:cNvSpPr txBox="1"/>
          <p:nvPr/>
        </p:nvSpPr>
        <p:spPr>
          <a:xfrm>
            <a:off x="289560" y="2571750"/>
            <a:ext cx="2294890" cy="3196590"/>
          </a:xfrm>
          <a:prstGeom prst="rect">
            <a:avLst/>
          </a:prstGeom>
        </p:spPr>
        <p:txBody>
          <a:bodyPr wrap="square">
            <a:noAutofit/>
          </a:bodyPr>
          <a:p>
            <a:pPr indent="406400" fontAlgn="auto">
              <a:lnSpc>
                <a:spcPct val="150000"/>
              </a:lnSpc>
              <a:extLst>
                <a:ext uri="{35155182-B16C-46BC-9424-99874614C6A1}">
                  <wpsdc:indentchars xmlns:wpsdc="http://www.wps.cn/officeDocument/2017/drawingmlCustomData" val="200" checksum="1740828767"/>
                </a:ext>
              </a:extLst>
            </a:pPr>
            <a:r>
              <a:rPr lang="zh-CN" altLang="en-US" sz="1600" b="0" i="0">
                <a:solidFill>
                  <a:srgbClr val="000000"/>
                </a:solidFill>
                <a:latin typeface="微软雅黑" panose="020B0503020204020204" pitchFamily="34" charset="-122"/>
                <a:ea typeface="微软雅黑" panose="020B0503020204020204" pitchFamily="34" charset="-122"/>
              </a:rPr>
              <a:t>本模块接收自然语言指令，通过知识图谱获取制图规则，结合开放地理数据实时生成交互式地图。当前支持武汉市交通图的初步生成，并具备基础的空间知识问答能力。</a:t>
            </a:r>
            <a:endParaRPr lang="zh-CN" altLang="en-US" sz="1600" b="0" i="0">
              <a:solidFill>
                <a:srgbClr val="000000"/>
              </a:solidFill>
              <a:latin typeface="微软雅黑" panose="020B0503020204020204" pitchFamily="34" charset="-122"/>
              <a:ea typeface="微软雅黑" panose="020B0503020204020204" pitchFamily="34" charset="-122"/>
            </a:endParaRPr>
          </a:p>
        </p:txBody>
      </p:sp>
      <p:pic>
        <p:nvPicPr>
          <p:cNvPr id="4" name="图片 3"/>
          <p:cNvPicPr/>
          <p:nvPr/>
        </p:nvPicPr>
        <p:blipFill>
          <a:blip r:embed="rId4"/>
          <a:srcRect t="170" b="170"/>
          <a:stretch>
            <a:fillRect/>
          </a:stretch>
        </p:blipFill>
        <p:spPr>
          <a:xfrm>
            <a:off x="2758440" y="1527175"/>
            <a:ext cx="9145905" cy="5050790"/>
          </a:xfrm>
          <a:prstGeom prst="rect">
            <a:avLst/>
          </a:prstGeom>
        </p:spPr>
      </p:pic>
      <p:pic>
        <p:nvPicPr>
          <p:cNvPr id="5" name="图片 4" descr="10757621480"/>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89560" y="1588135"/>
            <a:ext cx="805180" cy="8051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pic>
        <p:nvPicPr>
          <p:cNvPr id="46" name="图片 45" descr="ui"/>
          <p:cNvPicPr>
            <a:picLocks noChangeAspect="1"/>
          </p:cNvPicPr>
          <p:nvPr/>
        </p:nvPicPr>
        <p:blipFill>
          <a:blip r:embed="rId1"/>
          <a:stretch>
            <a:fillRect/>
          </a:stretch>
        </p:blipFill>
        <p:spPr>
          <a:xfrm>
            <a:off x="1435735" y="1301750"/>
            <a:ext cx="9081770" cy="5420995"/>
          </a:xfrm>
          <a:prstGeom prst="rect">
            <a:avLst/>
          </a:prstGeom>
        </p:spPr>
      </p:pic>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2"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6946934" y="-59933"/>
                <a:ext cx="253682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852069" y="48055"/>
                <a:ext cx="1771650"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项目进展</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3"/>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4"/>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sp>
        <p:nvSpPr>
          <p:cNvPr id="2" name="ïṣ1ïḑê"/>
          <p:cNvSpPr>
            <a:spLocks noGrp="1"/>
          </p:cNvSpPr>
          <p:nvPr/>
        </p:nvSpPr>
        <p:spPr>
          <a:xfrm>
            <a:off x="205105" y="1087120"/>
            <a:ext cx="10850880" cy="71247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000000"/>
                </a:solidFill>
                <a:latin typeface="Arial" panose="020B0604020202020204" pitchFamily="34" charset="0"/>
                <a:ea typeface="微软雅黑" panose="020B0503020204020204" pitchFamily="34" charset="-122"/>
                <a:cs typeface="+mn-ea"/>
              </a:defRPr>
            </a:lvl1pPr>
          </a:lstStyle>
          <a:p>
            <a:r>
              <a:rPr lang="en-US" altLang="zh-CN" dirty="0">
                <a:solidFill>
                  <a:srgbClr val="005825"/>
                </a:solidFill>
              </a:rPr>
              <a:t>3.5 </a:t>
            </a:r>
            <a:r>
              <a:rPr lang="zh-CN" altLang="en-US" dirty="0">
                <a:solidFill>
                  <a:srgbClr val="005825"/>
                </a:solidFill>
              </a:rPr>
              <a:t>用户端</a:t>
            </a:r>
            <a:r>
              <a:rPr lang="en-US" altLang="zh-CN" dirty="0">
                <a:solidFill>
                  <a:srgbClr val="005825"/>
                </a:solidFill>
              </a:rPr>
              <a:t>UI</a:t>
            </a:r>
            <a:r>
              <a:rPr lang="zh-CN" altLang="en-US" dirty="0">
                <a:solidFill>
                  <a:srgbClr val="005825"/>
                </a:solidFill>
              </a:rPr>
              <a:t>界面设计</a:t>
            </a:r>
            <a:endParaRPr lang="zh-CN" altLang="en-US" dirty="0">
              <a:solidFill>
                <a:srgbClr val="00481C"/>
              </a:solidFill>
              <a:latin typeface="微软雅黑" panose="020B0503020204020204" pitchFamily="34" charset="-122"/>
              <a:cs typeface="微软雅黑" panose="020B0503020204020204" pitchFamily="34" charset="-122"/>
            </a:endParaRPr>
          </a:p>
          <a:p>
            <a:endParaRPr lang="zh-CN" altLang="en-US" dirty="0">
              <a:solidFill>
                <a:srgbClr val="00481C"/>
              </a:solidFill>
              <a:latin typeface="微软雅黑" panose="020B0503020204020204" pitchFamily="34" charset="-122"/>
              <a:cs typeface="微软雅黑" panose="020B0503020204020204" pitchFamily="34" charset="-122"/>
            </a:endParaRPr>
          </a:p>
        </p:txBody>
      </p:sp>
      <p:sp>
        <p:nvSpPr>
          <p:cNvPr id="5" name="文本框 4"/>
          <p:cNvSpPr txBox="1"/>
          <p:nvPr/>
        </p:nvSpPr>
        <p:spPr>
          <a:xfrm>
            <a:off x="180975" y="1633220"/>
            <a:ext cx="875665" cy="275590"/>
          </a:xfrm>
          <a:prstGeom prst="rect">
            <a:avLst/>
          </a:prstGeom>
          <a:noFill/>
        </p:spPr>
        <p:txBody>
          <a:bodyPr wrap="square" rtlCol="0">
            <a:spAutoFit/>
          </a:bodyPr>
          <a:p>
            <a:r>
              <a:rPr lang="zh-CN" altLang="en-US" sz="1200" b="1">
                <a:latin typeface="微软雅黑" panose="020B0503020204020204" pitchFamily="34" charset="-122"/>
                <a:ea typeface="微软雅黑" panose="020B0503020204020204" pitchFamily="34" charset="-122"/>
              </a:rPr>
              <a:t>个人中心</a:t>
            </a:r>
            <a:endParaRPr lang="zh-CN" altLang="en-US" sz="1200" b="1">
              <a:latin typeface="微软雅黑" panose="020B0503020204020204" pitchFamily="34" charset="-122"/>
              <a:ea typeface="微软雅黑" panose="020B0503020204020204" pitchFamily="34" charset="-122"/>
            </a:endParaRPr>
          </a:p>
        </p:txBody>
      </p:sp>
      <p:cxnSp>
        <p:nvCxnSpPr>
          <p:cNvPr id="8" name="直接箭头连接符 7"/>
          <p:cNvCxnSpPr/>
          <p:nvPr/>
        </p:nvCxnSpPr>
        <p:spPr>
          <a:xfrm flipH="1" flipV="1">
            <a:off x="940435" y="1787525"/>
            <a:ext cx="619760" cy="20320"/>
          </a:xfrm>
          <a:prstGeom prst="straightConnector1">
            <a:avLst/>
          </a:prstGeom>
          <a:ln>
            <a:solidFill>
              <a:srgbClr val="00481C"/>
            </a:solidFill>
            <a:tailEnd type="arrow"/>
          </a:ln>
        </p:spPr>
        <p:style>
          <a:lnRef idx="2">
            <a:schemeClr val="accent1"/>
          </a:lnRef>
          <a:fillRef idx="0">
            <a:srgbClr val="FFFFFF"/>
          </a:fillRef>
          <a:effectRef idx="0">
            <a:srgbClr val="FFFFFF"/>
          </a:effectRef>
          <a:fontRef idx="minor">
            <a:schemeClr val="tx1"/>
          </a:fontRef>
        </p:style>
      </p:cxnSp>
      <p:cxnSp>
        <p:nvCxnSpPr>
          <p:cNvPr id="9" name="直接箭头连接符 8"/>
          <p:cNvCxnSpPr/>
          <p:nvPr/>
        </p:nvCxnSpPr>
        <p:spPr>
          <a:xfrm flipH="1">
            <a:off x="897890" y="1880235"/>
            <a:ext cx="743585" cy="304165"/>
          </a:xfrm>
          <a:prstGeom prst="straightConnector1">
            <a:avLst/>
          </a:prstGeom>
          <a:ln>
            <a:solidFill>
              <a:srgbClr val="00481C"/>
            </a:solidFill>
            <a:tailEnd type="arrow"/>
          </a:ln>
        </p:spPr>
        <p:style>
          <a:lnRef idx="2">
            <a:schemeClr val="accent1"/>
          </a:lnRef>
          <a:fillRef idx="0">
            <a:srgbClr val="FFFFFF"/>
          </a:fillRef>
          <a:effectRef idx="0">
            <a:srgbClr val="FFFFFF"/>
          </a:effectRef>
          <a:fontRef idx="minor">
            <a:schemeClr val="tx1"/>
          </a:fontRef>
        </p:style>
      </p:cxnSp>
      <p:sp>
        <p:nvSpPr>
          <p:cNvPr id="11" name="文本框 10"/>
          <p:cNvSpPr txBox="1"/>
          <p:nvPr/>
        </p:nvSpPr>
        <p:spPr>
          <a:xfrm>
            <a:off x="408940" y="2018665"/>
            <a:ext cx="647700" cy="275590"/>
          </a:xfrm>
          <a:prstGeom prst="rect">
            <a:avLst/>
          </a:prstGeom>
          <a:noFill/>
        </p:spPr>
        <p:txBody>
          <a:bodyPr wrap="square" rtlCol="0">
            <a:spAutoFit/>
          </a:bodyPr>
          <a:p>
            <a:pPr lvl="0" algn="l">
              <a:buClrTx/>
              <a:buSzTx/>
              <a:buFontTx/>
            </a:pPr>
            <a:r>
              <a:rPr lang="zh-CN" altLang="en-US" sz="1200" b="1">
                <a:latin typeface="微软雅黑" panose="020B0503020204020204" pitchFamily="34" charset="-122"/>
                <a:ea typeface="微软雅黑" panose="020B0503020204020204" pitchFamily="34" charset="-122"/>
                <a:sym typeface="+mn-ea"/>
              </a:rPr>
              <a:t>收藏</a:t>
            </a:r>
            <a:endParaRPr lang="zh-CN" altLang="en-US" sz="1200" b="1">
              <a:latin typeface="微软雅黑" panose="020B0503020204020204" pitchFamily="34" charset="-122"/>
              <a:ea typeface="微软雅黑" panose="020B0503020204020204" pitchFamily="34" charset="-122"/>
              <a:sym typeface="+mn-ea"/>
            </a:endParaRPr>
          </a:p>
        </p:txBody>
      </p:sp>
      <p:cxnSp>
        <p:nvCxnSpPr>
          <p:cNvPr id="12" name="直接箭头连接符 11"/>
          <p:cNvCxnSpPr/>
          <p:nvPr/>
        </p:nvCxnSpPr>
        <p:spPr>
          <a:xfrm flipH="1">
            <a:off x="925830" y="1865630"/>
            <a:ext cx="973455" cy="729615"/>
          </a:xfrm>
          <a:prstGeom prst="straightConnector1">
            <a:avLst/>
          </a:prstGeom>
          <a:ln>
            <a:solidFill>
              <a:srgbClr val="00481C"/>
            </a:solidFill>
            <a:tailEnd type="arrow"/>
          </a:ln>
        </p:spPr>
        <p:style>
          <a:lnRef idx="2">
            <a:schemeClr val="accent1"/>
          </a:lnRef>
          <a:fillRef idx="0">
            <a:srgbClr val="FFFFFF"/>
          </a:fillRef>
          <a:effectRef idx="0">
            <a:srgbClr val="FFFFFF"/>
          </a:effectRef>
          <a:fontRef idx="minor">
            <a:schemeClr val="tx1"/>
          </a:fontRef>
        </p:style>
      </p:cxnSp>
      <p:sp>
        <p:nvSpPr>
          <p:cNvPr id="13" name="文本框 12"/>
          <p:cNvSpPr txBox="1"/>
          <p:nvPr/>
        </p:nvSpPr>
        <p:spPr>
          <a:xfrm>
            <a:off x="116205" y="2441575"/>
            <a:ext cx="4064000" cy="275590"/>
          </a:xfrm>
          <a:prstGeom prst="rect">
            <a:avLst/>
          </a:prstGeom>
          <a:noFill/>
        </p:spPr>
        <p:txBody>
          <a:bodyPr wrap="square" rtlCol="0">
            <a:spAutoFit/>
          </a:bodyPr>
          <a:p>
            <a:pPr lvl="0" algn="l">
              <a:buClrTx/>
              <a:buSzTx/>
              <a:buFontTx/>
            </a:pPr>
            <a:r>
              <a:rPr lang="zh-CN" altLang="en-US" sz="1200" b="1">
                <a:latin typeface="微软雅黑" panose="020B0503020204020204" pitchFamily="34" charset="-122"/>
                <a:ea typeface="微软雅黑" panose="020B0503020204020204" pitchFamily="34" charset="-122"/>
                <a:sym typeface="+mn-ea"/>
              </a:rPr>
              <a:t>历史记录</a:t>
            </a:r>
            <a:endParaRPr lang="zh-CN" altLang="en-US" sz="1200" b="1">
              <a:latin typeface="微软雅黑" panose="020B0503020204020204" pitchFamily="34" charset="-122"/>
              <a:ea typeface="微软雅黑" panose="020B0503020204020204" pitchFamily="34" charset="-122"/>
              <a:sym typeface="+mn-ea"/>
            </a:endParaRPr>
          </a:p>
        </p:txBody>
      </p:sp>
      <p:cxnSp>
        <p:nvCxnSpPr>
          <p:cNvPr id="14" name="直接箭头连接符 13"/>
          <p:cNvCxnSpPr/>
          <p:nvPr/>
        </p:nvCxnSpPr>
        <p:spPr>
          <a:xfrm flipH="1">
            <a:off x="940435" y="1858645"/>
            <a:ext cx="1139825" cy="1054735"/>
          </a:xfrm>
          <a:prstGeom prst="straightConnector1">
            <a:avLst/>
          </a:prstGeom>
          <a:ln>
            <a:solidFill>
              <a:srgbClr val="00481C"/>
            </a:solidFill>
            <a:tailEnd type="arrow"/>
          </a:ln>
        </p:spPr>
        <p:style>
          <a:lnRef idx="2">
            <a:schemeClr val="accent1"/>
          </a:lnRef>
          <a:fillRef idx="0">
            <a:srgbClr val="FFFFFF"/>
          </a:fillRef>
          <a:effectRef idx="0">
            <a:srgbClr val="FFFFFF"/>
          </a:effectRef>
          <a:fontRef idx="minor">
            <a:schemeClr val="tx1"/>
          </a:fontRef>
        </p:style>
      </p:cxnSp>
      <p:grpSp>
        <p:nvGrpSpPr>
          <p:cNvPr id="47" name="组合 46"/>
          <p:cNvGrpSpPr/>
          <p:nvPr/>
        </p:nvGrpSpPr>
        <p:grpSpPr>
          <a:xfrm>
            <a:off x="3499485" y="1880235"/>
            <a:ext cx="4509135" cy="396875"/>
            <a:chOff x="9364" y="3187"/>
            <a:chExt cx="7101" cy="625"/>
          </a:xfrm>
        </p:grpSpPr>
        <p:cxnSp>
          <p:nvCxnSpPr>
            <p:cNvPr id="16" name="直接箭头连接符 15"/>
            <p:cNvCxnSpPr/>
            <p:nvPr/>
          </p:nvCxnSpPr>
          <p:spPr>
            <a:xfrm>
              <a:off x="9364" y="3187"/>
              <a:ext cx="619" cy="403"/>
            </a:xfrm>
            <a:prstGeom prst="straightConnector1">
              <a:avLst/>
            </a:prstGeom>
            <a:ln>
              <a:solidFill>
                <a:srgbClr val="00481C"/>
              </a:solidFill>
              <a:tailEnd type="arrow"/>
            </a:ln>
          </p:spPr>
          <p:style>
            <a:lnRef idx="2">
              <a:schemeClr val="accent1"/>
            </a:lnRef>
            <a:fillRef idx="0">
              <a:srgbClr val="FFFFFF"/>
            </a:fillRef>
            <a:effectRef idx="0">
              <a:srgbClr val="FFFFFF"/>
            </a:effectRef>
            <a:fontRef idx="minor">
              <a:schemeClr val="tx1"/>
            </a:fontRef>
          </p:style>
        </p:cxnSp>
        <p:sp>
          <p:nvSpPr>
            <p:cNvPr id="17" name="文本框 16"/>
            <p:cNvSpPr txBox="1"/>
            <p:nvPr/>
          </p:nvSpPr>
          <p:spPr>
            <a:xfrm>
              <a:off x="10065" y="3378"/>
              <a:ext cx="6400" cy="434"/>
            </a:xfrm>
            <a:prstGeom prst="rect">
              <a:avLst/>
            </a:prstGeom>
            <a:noFill/>
          </p:spPr>
          <p:txBody>
            <a:bodyPr wrap="square" rtlCol="0">
              <a:spAutoFit/>
            </a:bodyPr>
            <a:p>
              <a:pPr lvl="0" algn="l">
                <a:buClrTx/>
                <a:buSzTx/>
                <a:buFontTx/>
              </a:pPr>
              <a:r>
                <a:rPr lang="zh-CN" altLang="en-US" sz="1200" b="1">
                  <a:latin typeface="微软雅黑" panose="020B0503020204020204" pitchFamily="34" charset="-122"/>
                  <a:ea typeface="微软雅黑" panose="020B0503020204020204" pitchFamily="34" charset="-122"/>
                  <a:sym typeface="+mn-ea"/>
                </a:rPr>
                <a:t>新对话</a:t>
              </a:r>
              <a:endParaRPr lang="zh-CN" altLang="en-US" sz="1200" b="1">
                <a:latin typeface="微软雅黑" panose="020B0503020204020204" pitchFamily="34" charset="-122"/>
                <a:ea typeface="微软雅黑" panose="020B0503020204020204" pitchFamily="34" charset="-122"/>
                <a:sym typeface="+mn-ea"/>
              </a:endParaRPr>
            </a:p>
          </p:txBody>
        </p:sp>
      </p:grpSp>
      <p:sp>
        <p:nvSpPr>
          <p:cNvPr id="15" name="文本框 14"/>
          <p:cNvSpPr txBox="1"/>
          <p:nvPr/>
        </p:nvSpPr>
        <p:spPr>
          <a:xfrm>
            <a:off x="408940" y="2815590"/>
            <a:ext cx="4064000" cy="275590"/>
          </a:xfrm>
          <a:prstGeom prst="rect">
            <a:avLst/>
          </a:prstGeom>
          <a:noFill/>
        </p:spPr>
        <p:txBody>
          <a:bodyPr wrap="square" rtlCol="0">
            <a:spAutoFit/>
          </a:bodyPr>
          <a:p>
            <a:pPr lvl="0" algn="l">
              <a:buClrTx/>
              <a:buSzTx/>
              <a:buFontTx/>
            </a:pPr>
            <a:r>
              <a:rPr lang="zh-CN" altLang="en-US" sz="1200" b="1">
                <a:latin typeface="微软雅黑" panose="020B0503020204020204" pitchFamily="34" charset="-122"/>
                <a:ea typeface="微软雅黑" panose="020B0503020204020204" pitchFamily="34" charset="-122"/>
                <a:sym typeface="+mn-ea"/>
              </a:rPr>
              <a:t>下载</a:t>
            </a:r>
            <a:endParaRPr lang="zh-CN" altLang="en-US" sz="1200" b="1">
              <a:latin typeface="微软雅黑" panose="020B0503020204020204" pitchFamily="34" charset="-122"/>
              <a:ea typeface="微软雅黑" panose="020B0503020204020204" pitchFamily="34" charset="-122"/>
              <a:sym typeface="+mn-ea"/>
            </a:endParaRPr>
          </a:p>
        </p:txBody>
      </p:sp>
      <p:grpSp>
        <p:nvGrpSpPr>
          <p:cNvPr id="48" name="组合 47"/>
          <p:cNvGrpSpPr/>
          <p:nvPr/>
        </p:nvGrpSpPr>
        <p:grpSpPr>
          <a:xfrm>
            <a:off x="3726180" y="1671955"/>
            <a:ext cx="4518025" cy="275590"/>
            <a:chOff x="9520" y="2811"/>
            <a:chExt cx="7115" cy="434"/>
          </a:xfrm>
        </p:grpSpPr>
        <p:cxnSp>
          <p:nvCxnSpPr>
            <p:cNvPr id="18" name="直接箭头连接符 17"/>
            <p:cNvCxnSpPr/>
            <p:nvPr/>
          </p:nvCxnSpPr>
          <p:spPr>
            <a:xfrm flipV="1">
              <a:off x="9520" y="3025"/>
              <a:ext cx="715" cy="5"/>
            </a:xfrm>
            <a:prstGeom prst="straightConnector1">
              <a:avLst/>
            </a:prstGeom>
            <a:ln>
              <a:solidFill>
                <a:srgbClr val="00481C"/>
              </a:solidFill>
              <a:tailEnd type="arrow"/>
            </a:ln>
          </p:spPr>
          <p:style>
            <a:lnRef idx="2">
              <a:schemeClr val="accent1"/>
            </a:lnRef>
            <a:fillRef idx="0">
              <a:srgbClr val="FFFFFF"/>
            </a:fillRef>
            <a:effectRef idx="0">
              <a:srgbClr val="FFFFFF"/>
            </a:effectRef>
            <a:fontRef idx="minor">
              <a:schemeClr val="tx1"/>
            </a:fontRef>
          </p:style>
        </p:cxnSp>
        <p:sp>
          <p:nvSpPr>
            <p:cNvPr id="19" name="文本框 18"/>
            <p:cNvSpPr txBox="1"/>
            <p:nvPr/>
          </p:nvSpPr>
          <p:spPr>
            <a:xfrm>
              <a:off x="10235" y="2811"/>
              <a:ext cx="6400" cy="434"/>
            </a:xfrm>
            <a:prstGeom prst="rect">
              <a:avLst/>
            </a:prstGeom>
            <a:noFill/>
          </p:spPr>
          <p:txBody>
            <a:bodyPr wrap="square" rtlCol="0">
              <a:spAutoFit/>
            </a:bodyPr>
            <a:p>
              <a:pPr lvl="0" algn="l">
                <a:buClrTx/>
                <a:buSzTx/>
                <a:buFontTx/>
              </a:pPr>
              <a:r>
                <a:rPr lang="zh-CN" altLang="en-US" sz="1200" b="1">
                  <a:latin typeface="微软雅黑" panose="020B0503020204020204" pitchFamily="34" charset="-122"/>
                  <a:ea typeface="微软雅黑" panose="020B0503020204020204" pitchFamily="34" charset="-122"/>
                  <a:sym typeface="+mn-ea"/>
                </a:rPr>
                <a:t>侧边栏</a:t>
              </a:r>
              <a:endParaRPr lang="zh-CN" altLang="en-US" sz="1200" b="1">
                <a:latin typeface="微软雅黑" panose="020B0503020204020204" pitchFamily="34" charset="-122"/>
                <a:ea typeface="微软雅黑" panose="020B0503020204020204" pitchFamily="34" charset="-122"/>
                <a:sym typeface="+mn-ea"/>
              </a:endParaRPr>
            </a:p>
          </p:txBody>
        </p:sp>
      </p:grpSp>
      <p:sp>
        <p:nvSpPr>
          <p:cNvPr id="20" name="文本框 19"/>
          <p:cNvSpPr txBox="1"/>
          <p:nvPr/>
        </p:nvSpPr>
        <p:spPr>
          <a:xfrm>
            <a:off x="10957560" y="1908810"/>
            <a:ext cx="875665" cy="275590"/>
          </a:xfrm>
          <a:prstGeom prst="rect">
            <a:avLst/>
          </a:prstGeom>
          <a:noFill/>
        </p:spPr>
        <p:txBody>
          <a:bodyPr wrap="square" rtlCol="0" anchor="ctr" anchorCtr="0">
            <a:spAutoFit/>
          </a:bodyPr>
          <a:p>
            <a:r>
              <a:rPr lang="zh-CN" altLang="en-US" sz="1200" b="1">
                <a:latin typeface="微软雅黑" panose="020B0503020204020204" pitchFamily="34" charset="-122"/>
                <a:ea typeface="微软雅黑" panose="020B0503020204020204" pitchFamily="34" charset="-122"/>
              </a:rPr>
              <a:t>标点</a:t>
            </a:r>
            <a:endParaRPr lang="zh-CN" altLang="en-US" sz="1200" b="1">
              <a:latin typeface="微软雅黑" panose="020B0503020204020204" pitchFamily="34" charset="-122"/>
              <a:ea typeface="微软雅黑" panose="020B0503020204020204" pitchFamily="34" charset="-122"/>
            </a:endParaRPr>
          </a:p>
        </p:txBody>
      </p:sp>
      <p:sp>
        <p:nvSpPr>
          <p:cNvPr id="21" name="文本框 20"/>
          <p:cNvSpPr txBox="1"/>
          <p:nvPr/>
        </p:nvSpPr>
        <p:spPr>
          <a:xfrm>
            <a:off x="10957560" y="2169795"/>
            <a:ext cx="875665" cy="275590"/>
          </a:xfrm>
          <a:prstGeom prst="rect">
            <a:avLst/>
          </a:prstGeom>
          <a:noFill/>
        </p:spPr>
        <p:txBody>
          <a:bodyPr wrap="square" rtlCol="0" anchor="ctr" anchorCtr="0">
            <a:spAutoFit/>
          </a:bodyPr>
          <a:p>
            <a:r>
              <a:rPr lang="zh-CN" altLang="en-US" sz="1200" b="1">
                <a:latin typeface="微软雅黑" panose="020B0503020204020204" pitchFamily="34" charset="-122"/>
                <a:ea typeface="微软雅黑" panose="020B0503020204020204" pitchFamily="34" charset="-122"/>
              </a:rPr>
              <a:t>标</a:t>
            </a:r>
            <a:r>
              <a:rPr lang="zh-CN" altLang="en-US" sz="1200" b="1">
                <a:latin typeface="微软雅黑" panose="020B0503020204020204" pitchFamily="34" charset="-122"/>
                <a:ea typeface="微软雅黑" panose="020B0503020204020204" pitchFamily="34" charset="-122"/>
              </a:rPr>
              <a:t>线</a:t>
            </a:r>
            <a:endParaRPr lang="zh-CN" altLang="en-US" sz="1200" b="1">
              <a:latin typeface="微软雅黑" panose="020B0503020204020204" pitchFamily="34" charset="-122"/>
              <a:ea typeface="微软雅黑" panose="020B0503020204020204" pitchFamily="34" charset="-122"/>
            </a:endParaRPr>
          </a:p>
        </p:txBody>
      </p:sp>
      <p:sp>
        <p:nvSpPr>
          <p:cNvPr id="22" name="文本框 21"/>
          <p:cNvSpPr txBox="1"/>
          <p:nvPr/>
        </p:nvSpPr>
        <p:spPr>
          <a:xfrm>
            <a:off x="10957560" y="2430780"/>
            <a:ext cx="875665" cy="275590"/>
          </a:xfrm>
          <a:prstGeom prst="rect">
            <a:avLst/>
          </a:prstGeom>
          <a:noFill/>
        </p:spPr>
        <p:txBody>
          <a:bodyPr wrap="square" rtlCol="0" anchor="ctr" anchorCtr="0">
            <a:spAutoFit/>
          </a:bodyPr>
          <a:p>
            <a:r>
              <a:rPr lang="zh-CN" altLang="en-US" sz="1200" b="1">
                <a:latin typeface="微软雅黑" panose="020B0503020204020204" pitchFamily="34" charset="-122"/>
                <a:ea typeface="微软雅黑" panose="020B0503020204020204" pitchFamily="34" charset="-122"/>
              </a:rPr>
              <a:t>标</a:t>
            </a:r>
            <a:r>
              <a:rPr lang="zh-CN" altLang="en-US" sz="1200" b="1">
                <a:latin typeface="微软雅黑" panose="020B0503020204020204" pitchFamily="34" charset="-122"/>
                <a:ea typeface="微软雅黑" panose="020B0503020204020204" pitchFamily="34" charset="-122"/>
              </a:rPr>
              <a:t>面</a:t>
            </a:r>
            <a:endParaRPr lang="zh-CN" altLang="en-US" sz="1200" b="1">
              <a:latin typeface="微软雅黑" panose="020B0503020204020204" pitchFamily="34" charset="-122"/>
              <a:ea typeface="微软雅黑" panose="020B0503020204020204" pitchFamily="34" charset="-122"/>
            </a:endParaRPr>
          </a:p>
        </p:txBody>
      </p:sp>
      <p:sp>
        <p:nvSpPr>
          <p:cNvPr id="23" name="文本框 22"/>
          <p:cNvSpPr txBox="1"/>
          <p:nvPr/>
        </p:nvSpPr>
        <p:spPr>
          <a:xfrm>
            <a:off x="10957560" y="2691765"/>
            <a:ext cx="875665" cy="275590"/>
          </a:xfrm>
          <a:prstGeom prst="rect">
            <a:avLst/>
          </a:prstGeom>
          <a:noFill/>
        </p:spPr>
        <p:txBody>
          <a:bodyPr wrap="square" rtlCol="0" anchor="ctr" anchorCtr="0">
            <a:spAutoFit/>
          </a:bodyPr>
          <a:p>
            <a:r>
              <a:rPr lang="zh-CN" altLang="en-US" sz="1200" b="1">
                <a:latin typeface="微软雅黑" panose="020B0503020204020204" pitchFamily="34" charset="-122"/>
                <a:ea typeface="微软雅黑" panose="020B0503020204020204" pitchFamily="34" charset="-122"/>
              </a:rPr>
              <a:t>画</a:t>
            </a:r>
            <a:r>
              <a:rPr lang="zh-CN" altLang="en-US" sz="1200" b="1">
                <a:latin typeface="微软雅黑" panose="020B0503020204020204" pitchFamily="34" charset="-122"/>
                <a:ea typeface="微软雅黑" panose="020B0503020204020204" pitchFamily="34" charset="-122"/>
              </a:rPr>
              <a:t>圆</a:t>
            </a:r>
            <a:endParaRPr lang="zh-CN" altLang="en-US" sz="1200" b="1">
              <a:latin typeface="微软雅黑" panose="020B0503020204020204" pitchFamily="34" charset="-122"/>
              <a:ea typeface="微软雅黑" panose="020B0503020204020204" pitchFamily="34" charset="-122"/>
            </a:endParaRPr>
          </a:p>
        </p:txBody>
      </p:sp>
      <p:sp>
        <p:nvSpPr>
          <p:cNvPr id="24" name="文本框 23"/>
          <p:cNvSpPr txBox="1"/>
          <p:nvPr/>
        </p:nvSpPr>
        <p:spPr>
          <a:xfrm>
            <a:off x="10957560" y="2952750"/>
            <a:ext cx="875665" cy="275590"/>
          </a:xfrm>
          <a:prstGeom prst="rect">
            <a:avLst/>
          </a:prstGeom>
          <a:noFill/>
        </p:spPr>
        <p:txBody>
          <a:bodyPr wrap="square" rtlCol="0" anchor="ctr" anchorCtr="0">
            <a:spAutoFit/>
          </a:bodyPr>
          <a:p>
            <a:r>
              <a:rPr lang="zh-CN" altLang="en-US" sz="1200" b="1">
                <a:latin typeface="微软雅黑" panose="020B0503020204020204" pitchFamily="34" charset="-122"/>
                <a:ea typeface="微软雅黑" panose="020B0503020204020204" pitchFamily="34" charset="-122"/>
              </a:rPr>
              <a:t>画矩形</a:t>
            </a:r>
            <a:endParaRPr lang="zh-CN" altLang="en-US" sz="1200" b="1">
              <a:latin typeface="微软雅黑" panose="020B0503020204020204" pitchFamily="34" charset="-122"/>
              <a:ea typeface="微软雅黑" panose="020B0503020204020204" pitchFamily="34" charset="-122"/>
            </a:endParaRPr>
          </a:p>
        </p:txBody>
      </p:sp>
      <p:sp>
        <p:nvSpPr>
          <p:cNvPr id="25" name="文本框 24"/>
          <p:cNvSpPr txBox="1"/>
          <p:nvPr/>
        </p:nvSpPr>
        <p:spPr>
          <a:xfrm>
            <a:off x="10957560" y="3213735"/>
            <a:ext cx="875665" cy="275590"/>
          </a:xfrm>
          <a:prstGeom prst="rect">
            <a:avLst/>
          </a:prstGeom>
          <a:noFill/>
        </p:spPr>
        <p:txBody>
          <a:bodyPr wrap="square" rtlCol="0" anchor="ctr" anchorCtr="0">
            <a:spAutoFit/>
          </a:bodyPr>
          <a:p>
            <a:r>
              <a:rPr lang="zh-CN" altLang="en-US" sz="1200" b="1">
                <a:latin typeface="微软雅黑" panose="020B0503020204020204" pitchFamily="34" charset="-122"/>
                <a:ea typeface="微软雅黑" panose="020B0503020204020204" pitchFamily="34" charset="-122"/>
              </a:rPr>
              <a:t>全屏</a:t>
            </a:r>
            <a:endParaRPr lang="zh-CN" altLang="en-US" sz="1200" b="1">
              <a:latin typeface="微软雅黑" panose="020B0503020204020204" pitchFamily="34" charset="-122"/>
              <a:ea typeface="微软雅黑" panose="020B0503020204020204" pitchFamily="34" charset="-122"/>
            </a:endParaRPr>
          </a:p>
        </p:txBody>
      </p:sp>
      <p:sp>
        <p:nvSpPr>
          <p:cNvPr id="26" name="文本框 25"/>
          <p:cNvSpPr txBox="1"/>
          <p:nvPr/>
        </p:nvSpPr>
        <p:spPr>
          <a:xfrm>
            <a:off x="10957560" y="3735705"/>
            <a:ext cx="875665" cy="275590"/>
          </a:xfrm>
          <a:prstGeom prst="rect">
            <a:avLst/>
          </a:prstGeom>
          <a:noFill/>
        </p:spPr>
        <p:txBody>
          <a:bodyPr wrap="square" rtlCol="0" anchor="ctr" anchorCtr="0">
            <a:spAutoFit/>
          </a:bodyPr>
          <a:p>
            <a:r>
              <a:rPr lang="zh-CN" altLang="en-US" sz="1200" b="1">
                <a:latin typeface="微软雅黑" panose="020B0503020204020204" pitchFamily="34" charset="-122"/>
                <a:ea typeface="微软雅黑" panose="020B0503020204020204" pitchFamily="34" charset="-122"/>
              </a:rPr>
              <a:t>测</a:t>
            </a:r>
            <a:r>
              <a:rPr lang="zh-CN" altLang="en-US" sz="1200" b="1">
                <a:latin typeface="微软雅黑" panose="020B0503020204020204" pitchFamily="34" charset="-122"/>
                <a:ea typeface="微软雅黑" panose="020B0503020204020204" pitchFamily="34" charset="-122"/>
              </a:rPr>
              <a:t>面</a:t>
            </a:r>
            <a:endParaRPr lang="zh-CN" altLang="en-US" sz="1200" b="1">
              <a:latin typeface="微软雅黑" panose="020B0503020204020204" pitchFamily="34" charset="-122"/>
              <a:ea typeface="微软雅黑" panose="020B0503020204020204" pitchFamily="34" charset="-122"/>
            </a:endParaRPr>
          </a:p>
        </p:txBody>
      </p:sp>
      <p:sp>
        <p:nvSpPr>
          <p:cNvPr id="27" name="文本框 26"/>
          <p:cNvSpPr txBox="1"/>
          <p:nvPr/>
        </p:nvSpPr>
        <p:spPr>
          <a:xfrm>
            <a:off x="10081895" y="4197350"/>
            <a:ext cx="875665" cy="275590"/>
          </a:xfrm>
          <a:prstGeom prst="rect">
            <a:avLst/>
          </a:prstGeom>
          <a:noFill/>
        </p:spPr>
        <p:txBody>
          <a:bodyPr wrap="square" rtlCol="0">
            <a:spAutoFit/>
          </a:bodyPr>
          <a:p>
            <a:r>
              <a:rPr lang="zh-CN" altLang="en-US" sz="1200" b="1">
                <a:latin typeface="微软雅黑" panose="020B0503020204020204" pitchFamily="34" charset="-122"/>
                <a:ea typeface="微软雅黑" panose="020B0503020204020204" pitchFamily="34" charset="-122"/>
              </a:rPr>
              <a:t>清空</a:t>
            </a:r>
            <a:endParaRPr lang="zh-CN" altLang="en-US" sz="1200" b="1">
              <a:latin typeface="微软雅黑" panose="020B0503020204020204" pitchFamily="34" charset="-122"/>
              <a:ea typeface="微软雅黑" panose="020B0503020204020204" pitchFamily="34" charset="-122"/>
            </a:endParaRPr>
          </a:p>
        </p:txBody>
      </p:sp>
      <p:cxnSp>
        <p:nvCxnSpPr>
          <p:cNvPr id="28" name="直接箭头连接符 27"/>
          <p:cNvCxnSpPr>
            <a:endCxn id="20" idx="1"/>
          </p:cNvCxnSpPr>
          <p:nvPr/>
        </p:nvCxnSpPr>
        <p:spPr>
          <a:xfrm>
            <a:off x="10399395" y="2025015"/>
            <a:ext cx="558165" cy="21590"/>
          </a:xfrm>
          <a:prstGeom prst="straightConnector1">
            <a:avLst/>
          </a:prstGeom>
          <a:ln>
            <a:solidFill>
              <a:srgbClr val="00481C"/>
            </a:solidFill>
            <a:tailEnd type="arrow"/>
          </a:ln>
        </p:spPr>
        <p:style>
          <a:lnRef idx="2">
            <a:schemeClr val="accent1"/>
          </a:lnRef>
          <a:fillRef idx="0">
            <a:srgbClr val="FFFFFF"/>
          </a:fillRef>
          <a:effectRef idx="0">
            <a:srgbClr val="FFFFFF"/>
          </a:effectRef>
          <a:fontRef idx="minor">
            <a:schemeClr val="tx1"/>
          </a:fontRef>
        </p:style>
      </p:cxnSp>
      <p:cxnSp>
        <p:nvCxnSpPr>
          <p:cNvPr id="29" name="直接箭头连接符 28"/>
          <p:cNvCxnSpPr>
            <a:endCxn id="22" idx="1"/>
          </p:cNvCxnSpPr>
          <p:nvPr/>
        </p:nvCxnSpPr>
        <p:spPr>
          <a:xfrm>
            <a:off x="10377170" y="2469515"/>
            <a:ext cx="580390" cy="99060"/>
          </a:xfrm>
          <a:prstGeom prst="straightConnector1">
            <a:avLst/>
          </a:prstGeom>
          <a:ln>
            <a:solidFill>
              <a:srgbClr val="00481C"/>
            </a:solidFill>
            <a:tailEnd type="arrow"/>
          </a:ln>
        </p:spPr>
        <p:style>
          <a:lnRef idx="2">
            <a:schemeClr val="accent1"/>
          </a:lnRef>
          <a:fillRef idx="0">
            <a:srgbClr val="FFFFFF"/>
          </a:fillRef>
          <a:effectRef idx="0">
            <a:srgbClr val="FFFFFF"/>
          </a:effectRef>
          <a:fontRef idx="minor">
            <a:schemeClr val="tx1"/>
          </a:fontRef>
        </p:style>
      </p:cxnSp>
      <p:cxnSp>
        <p:nvCxnSpPr>
          <p:cNvPr id="30" name="直接箭头连接符 29"/>
          <p:cNvCxnSpPr>
            <a:endCxn id="21" idx="1"/>
          </p:cNvCxnSpPr>
          <p:nvPr/>
        </p:nvCxnSpPr>
        <p:spPr>
          <a:xfrm>
            <a:off x="10384155" y="2239645"/>
            <a:ext cx="573405" cy="67945"/>
          </a:xfrm>
          <a:prstGeom prst="straightConnector1">
            <a:avLst/>
          </a:prstGeom>
          <a:ln>
            <a:solidFill>
              <a:srgbClr val="00481C"/>
            </a:solidFill>
            <a:tailEnd type="arrow"/>
          </a:ln>
        </p:spPr>
        <p:style>
          <a:lnRef idx="2">
            <a:schemeClr val="accent1"/>
          </a:lnRef>
          <a:fillRef idx="0">
            <a:srgbClr val="FFFFFF"/>
          </a:fillRef>
          <a:effectRef idx="0">
            <a:srgbClr val="FFFFFF"/>
          </a:effectRef>
          <a:fontRef idx="minor">
            <a:schemeClr val="tx1"/>
          </a:fontRef>
        </p:style>
      </p:cxnSp>
      <p:cxnSp>
        <p:nvCxnSpPr>
          <p:cNvPr id="31" name="直接箭头连接符 30"/>
          <p:cNvCxnSpPr>
            <a:endCxn id="23" idx="1"/>
          </p:cNvCxnSpPr>
          <p:nvPr/>
        </p:nvCxnSpPr>
        <p:spPr>
          <a:xfrm>
            <a:off x="10369550" y="2676525"/>
            <a:ext cx="588010" cy="153035"/>
          </a:xfrm>
          <a:prstGeom prst="straightConnector1">
            <a:avLst/>
          </a:prstGeom>
          <a:ln>
            <a:solidFill>
              <a:srgbClr val="00481C"/>
            </a:solidFill>
            <a:tailEnd type="arrow"/>
          </a:ln>
        </p:spPr>
        <p:style>
          <a:lnRef idx="2">
            <a:schemeClr val="accent1"/>
          </a:lnRef>
          <a:fillRef idx="0">
            <a:srgbClr val="FFFFFF"/>
          </a:fillRef>
          <a:effectRef idx="0">
            <a:srgbClr val="FFFFFF"/>
          </a:effectRef>
          <a:fontRef idx="minor">
            <a:schemeClr val="tx1"/>
          </a:fontRef>
        </p:style>
      </p:cxnSp>
      <p:cxnSp>
        <p:nvCxnSpPr>
          <p:cNvPr id="32" name="直接箭头连接符 31"/>
          <p:cNvCxnSpPr>
            <a:endCxn id="24" idx="1"/>
          </p:cNvCxnSpPr>
          <p:nvPr/>
        </p:nvCxnSpPr>
        <p:spPr>
          <a:xfrm>
            <a:off x="10384155" y="2913380"/>
            <a:ext cx="573405" cy="177165"/>
          </a:xfrm>
          <a:prstGeom prst="straightConnector1">
            <a:avLst/>
          </a:prstGeom>
          <a:ln>
            <a:solidFill>
              <a:srgbClr val="00481C"/>
            </a:solidFill>
            <a:tailEnd type="arrow"/>
          </a:ln>
        </p:spPr>
        <p:style>
          <a:lnRef idx="2">
            <a:schemeClr val="accent1"/>
          </a:lnRef>
          <a:fillRef idx="0">
            <a:srgbClr val="FFFFFF"/>
          </a:fillRef>
          <a:effectRef idx="0">
            <a:srgbClr val="FFFFFF"/>
          </a:effectRef>
          <a:fontRef idx="minor">
            <a:schemeClr val="tx1"/>
          </a:fontRef>
        </p:style>
      </p:cxnSp>
      <p:cxnSp>
        <p:nvCxnSpPr>
          <p:cNvPr id="33" name="直接箭头连接符 32"/>
          <p:cNvCxnSpPr>
            <a:endCxn id="25" idx="1"/>
          </p:cNvCxnSpPr>
          <p:nvPr/>
        </p:nvCxnSpPr>
        <p:spPr>
          <a:xfrm>
            <a:off x="10377170" y="3150870"/>
            <a:ext cx="580390" cy="200660"/>
          </a:xfrm>
          <a:prstGeom prst="straightConnector1">
            <a:avLst/>
          </a:prstGeom>
          <a:ln>
            <a:solidFill>
              <a:srgbClr val="00481C"/>
            </a:solidFill>
            <a:tailEnd type="arrow"/>
          </a:ln>
        </p:spPr>
        <p:style>
          <a:lnRef idx="2">
            <a:schemeClr val="accent1"/>
          </a:lnRef>
          <a:fillRef idx="0">
            <a:srgbClr val="FFFFFF"/>
          </a:fillRef>
          <a:effectRef idx="0">
            <a:srgbClr val="FFFFFF"/>
          </a:effectRef>
          <a:fontRef idx="minor">
            <a:schemeClr val="tx1"/>
          </a:fontRef>
        </p:style>
      </p:cxnSp>
      <p:cxnSp>
        <p:nvCxnSpPr>
          <p:cNvPr id="34" name="直接箭头连接符 33"/>
          <p:cNvCxnSpPr>
            <a:endCxn id="35" idx="1"/>
          </p:cNvCxnSpPr>
          <p:nvPr/>
        </p:nvCxnSpPr>
        <p:spPr>
          <a:xfrm>
            <a:off x="10399395" y="3350895"/>
            <a:ext cx="558165" cy="261620"/>
          </a:xfrm>
          <a:prstGeom prst="straightConnector1">
            <a:avLst/>
          </a:prstGeom>
          <a:ln>
            <a:solidFill>
              <a:srgbClr val="00481C"/>
            </a:solidFill>
            <a:tailEnd type="arrow"/>
          </a:ln>
        </p:spPr>
        <p:style>
          <a:lnRef idx="2">
            <a:schemeClr val="accent1"/>
          </a:lnRef>
          <a:fillRef idx="0">
            <a:srgbClr val="FFFFFF"/>
          </a:fillRef>
          <a:effectRef idx="0">
            <a:srgbClr val="FFFFFF"/>
          </a:effectRef>
          <a:fontRef idx="minor">
            <a:schemeClr val="tx1"/>
          </a:fontRef>
        </p:style>
      </p:cxnSp>
      <p:sp>
        <p:nvSpPr>
          <p:cNvPr id="35" name="文本框 34"/>
          <p:cNvSpPr txBox="1"/>
          <p:nvPr/>
        </p:nvSpPr>
        <p:spPr>
          <a:xfrm>
            <a:off x="10957560" y="3474720"/>
            <a:ext cx="875665" cy="275590"/>
          </a:xfrm>
          <a:prstGeom prst="rect">
            <a:avLst/>
          </a:prstGeom>
          <a:noFill/>
        </p:spPr>
        <p:txBody>
          <a:bodyPr wrap="square" rtlCol="0" anchor="ctr" anchorCtr="0">
            <a:spAutoFit/>
          </a:bodyPr>
          <a:p>
            <a:r>
              <a:rPr lang="zh-CN" altLang="en-US" sz="1200" b="1">
                <a:latin typeface="微软雅黑" panose="020B0503020204020204" pitchFamily="34" charset="-122"/>
                <a:ea typeface="微软雅黑" panose="020B0503020204020204" pitchFamily="34" charset="-122"/>
              </a:rPr>
              <a:t>测距</a:t>
            </a:r>
            <a:endParaRPr lang="zh-CN" altLang="en-US" sz="1200" b="1">
              <a:latin typeface="微软雅黑" panose="020B0503020204020204" pitchFamily="34" charset="-122"/>
              <a:ea typeface="微软雅黑" panose="020B0503020204020204" pitchFamily="34" charset="-122"/>
            </a:endParaRPr>
          </a:p>
        </p:txBody>
      </p:sp>
      <p:cxnSp>
        <p:nvCxnSpPr>
          <p:cNvPr id="36" name="直接箭头连接符 35"/>
          <p:cNvCxnSpPr>
            <a:endCxn id="26" idx="1"/>
          </p:cNvCxnSpPr>
          <p:nvPr/>
        </p:nvCxnSpPr>
        <p:spPr>
          <a:xfrm>
            <a:off x="10399395" y="3575685"/>
            <a:ext cx="558165" cy="297815"/>
          </a:xfrm>
          <a:prstGeom prst="straightConnector1">
            <a:avLst/>
          </a:prstGeom>
          <a:ln>
            <a:solidFill>
              <a:srgbClr val="00481C"/>
            </a:solidFill>
            <a:tailEnd type="arrow"/>
          </a:ln>
        </p:spPr>
        <p:style>
          <a:lnRef idx="2">
            <a:schemeClr val="accent1"/>
          </a:lnRef>
          <a:fillRef idx="0">
            <a:srgbClr val="FFFFFF"/>
          </a:fillRef>
          <a:effectRef idx="0">
            <a:srgbClr val="FFFFFF"/>
          </a:effectRef>
          <a:fontRef idx="minor">
            <a:schemeClr val="tx1"/>
          </a:fontRef>
        </p:style>
      </p:cxnSp>
      <p:cxnSp>
        <p:nvCxnSpPr>
          <p:cNvPr id="37" name="直接箭头连接符 36"/>
          <p:cNvCxnSpPr/>
          <p:nvPr/>
        </p:nvCxnSpPr>
        <p:spPr>
          <a:xfrm>
            <a:off x="10273030" y="3839845"/>
            <a:ext cx="46990" cy="325755"/>
          </a:xfrm>
          <a:prstGeom prst="straightConnector1">
            <a:avLst/>
          </a:prstGeom>
          <a:ln>
            <a:solidFill>
              <a:srgbClr val="00481C"/>
            </a:solidFill>
            <a:tailEnd type="arrow"/>
          </a:ln>
        </p:spPr>
        <p:style>
          <a:lnRef idx="2">
            <a:schemeClr val="accent1"/>
          </a:lnRef>
          <a:fillRef idx="0">
            <a:srgbClr val="FFFFFF"/>
          </a:fillRef>
          <a:effectRef idx="0">
            <a:srgbClr val="FFFFFF"/>
          </a:effectRef>
          <a:fontRef idx="minor">
            <a:schemeClr val="tx1"/>
          </a:fontRef>
        </p:style>
      </p:cxnSp>
      <p:sp>
        <p:nvSpPr>
          <p:cNvPr id="38" name="文本框 37"/>
          <p:cNvSpPr txBox="1"/>
          <p:nvPr/>
        </p:nvSpPr>
        <p:spPr>
          <a:xfrm>
            <a:off x="10279380" y="5771515"/>
            <a:ext cx="713740" cy="275590"/>
          </a:xfrm>
          <a:prstGeom prst="rect">
            <a:avLst/>
          </a:prstGeom>
          <a:noFill/>
        </p:spPr>
        <p:txBody>
          <a:bodyPr wrap="square" rtlCol="0" anchor="ctr" anchorCtr="0">
            <a:spAutoFit/>
          </a:bodyPr>
          <a:p>
            <a:r>
              <a:rPr lang="zh-CN" altLang="en-US" sz="1200" b="1">
                <a:latin typeface="微软雅黑" panose="020B0503020204020204" pitchFamily="34" charset="-122"/>
                <a:ea typeface="微软雅黑" panose="020B0503020204020204" pitchFamily="34" charset="-122"/>
              </a:rPr>
              <a:t>指</a:t>
            </a:r>
            <a:r>
              <a:rPr lang="zh-CN" altLang="en-US" sz="1200" b="1">
                <a:latin typeface="微软雅黑" panose="020B0503020204020204" pitchFamily="34" charset="-122"/>
                <a:ea typeface="微软雅黑" panose="020B0503020204020204" pitchFamily="34" charset="-122"/>
              </a:rPr>
              <a:t>北针</a:t>
            </a:r>
            <a:endParaRPr lang="zh-CN" altLang="en-US" sz="1200" b="1">
              <a:latin typeface="微软雅黑" panose="020B0503020204020204" pitchFamily="34" charset="-122"/>
              <a:ea typeface="微软雅黑" panose="020B0503020204020204" pitchFamily="34" charset="-122"/>
            </a:endParaRPr>
          </a:p>
        </p:txBody>
      </p:sp>
      <p:sp>
        <p:nvSpPr>
          <p:cNvPr id="39" name="文本框 38"/>
          <p:cNvSpPr txBox="1"/>
          <p:nvPr/>
        </p:nvSpPr>
        <p:spPr>
          <a:xfrm>
            <a:off x="10279380" y="6069330"/>
            <a:ext cx="497840" cy="275590"/>
          </a:xfrm>
          <a:prstGeom prst="rect">
            <a:avLst/>
          </a:prstGeom>
          <a:noFill/>
        </p:spPr>
        <p:txBody>
          <a:bodyPr wrap="square" rtlCol="0" anchor="ctr" anchorCtr="0">
            <a:spAutoFit/>
          </a:bodyPr>
          <a:p>
            <a:r>
              <a:rPr lang="zh-CN" altLang="en-US" sz="1200" b="1">
                <a:latin typeface="微软雅黑" panose="020B0503020204020204" pitchFamily="34" charset="-122"/>
                <a:ea typeface="微软雅黑" panose="020B0503020204020204" pitchFamily="34" charset="-122"/>
              </a:rPr>
              <a:t>放大</a:t>
            </a:r>
            <a:endParaRPr lang="zh-CN" altLang="en-US" sz="1200" b="1">
              <a:latin typeface="微软雅黑" panose="020B0503020204020204" pitchFamily="34" charset="-122"/>
              <a:ea typeface="微软雅黑" panose="020B0503020204020204" pitchFamily="34" charset="-122"/>
            </a:endParaRPr>
          </a:p>
        </p:txBody>
      </p:sp>
      <p:sp>
        <p:nvSpPr>
          <p:cNvPr id="40" name="文本框 39"/>
          <p:cNvSpPr txBox="1"/>
          <p:nvPr/>
        </p:nvSpPr>
        <p:spPr>
          <a:xfrm>
            <a:off x="10313670" y="6367145"/>
            <a:ext cx="497840" cy="275590"/>
          </a:xfrm>
          <a:prstGeom prst="rect">
            <a:avLst/>
          </a:prstGeom>
          <a:noFill/>
        </p:spPr>
        <p:txBody>
          <a:bodyPr wrap="square" rtlCol="0" anchor="ctr" anchorCtr="0">
            <a:spAutoFit/>
          </a:bodyPr>
          <a:p>
            <a:r>
              <a:rPr lang="zh-CN" altLang="en-US" sz="1200" b="1">
                <a:latin typeface="微软雅黑" panose="020B0503020204020204" pitchFamily="34" charset="-122"/>
                <a:ea typeface="微软雅黑" panose="020B0503020204020204" pitchFamily="34" charset="-122"/>
              </a:rPr>
              <a:t>缩小</a:t>
            </a:r>
            <a:endParaRPr lang="zh-CN" altLang="en-US" sz="1200" b="1">
              <a:latin typeface="微软雅黑" panose="020B0503020204020204" pitchFamily="34" charset="-122"/>
              <a:ea typeface="微软雅黑" panose="020B0503020204020204" pitchFamily="34" charset="-122"/>
            </a:endParaRPr>
          </a:p>
        </p:txBody>
      </p:sp>
      <p:sp>
        <p:nvSpPr>
          <p:cNvPr id="41" name="文本框 40"/>
          <p:cNvSpPr txBox="1"/>
          <p:nvPr/>
        </p:nvSpPr>
        <p:spPr>
          <a:xfrm>
            <a:off x="8393430" y="6447155"/>
            <a:ext cx="875665" cy="275590"/>
          </a:xfrm>
          <a:prstGeom prst="rect">
            <a:avLst/>
          </a:prstGeom>
          <a:noFill/>
        </p:spPr>
        <p:txBody>
          <a:bodyPr wrap="square" rtlCol="0">
            <a:spAutoFit/>
          </a:bodyPr>
          <a:p>
            <a:r>
              <a:rPr lang="zh-CN" altLang="en-US" sz="1200" b="1">
                <a:latin typeface="微软雅黑" panose="020B0503020204020204" pitchFamily="34" charset="-122"/>
                <a:ea typeface="微软雅黑" panose="020B0503020204020204" pitchFamily="34" charset="-122"/>
              </a:rPr>
              <a:t>比例尺</a:t>
            </a:r>
            <a:endParaRPr lang="zh-CN" altLang="en-US" sz="1200" b="1">
              <a:latin typeface="微软雅黑" panose="020B0503020204020204" pitchFamily="34" charset="-122"/>
              <a:ea typeface="微软雅黑" panose="020B0503020204020204" pitchFamily="34" charset="-122"/>
            </a:endParaRPr>
          </a:p>
        </p:txBody>
      </p:sp>
      <p:cxnSp>
        <p:nvCxnSpPr>
          <p:cNvPr id="42" name="直接箭头连接符 41"/>
          <p:cNvCxnSpPr>
            <a:endCxn id="38" idx="1"/>
          </p:cNvCxnSpPr>
          <p:nvPr/>
        </p:nvCxnSpPr>
        <p:spPr>
          <a:xfrm flipV="1">
            <a:off x="9978390" y="5909310"/>
            <a:ext cx="300990" cy="98425"/>
          </a:xfrm>
          <a:prstGeom prst="straightConnector1">
            <a:avLst/>
          </a:prstGeom>
          <a:ln>
            <a:solidFill>
              <a:srgbClr val="00481C"/>
            </a:solidFill>
            <a:tailEnd type="arrow"/>
          </a:ln>
        </p:spPr>
        <p:style>
          <a:lnRef idx="2">
            <a:schemeClr val="accent1"/>
          </a:lnRef>
          <a:fillRef idx="0">
            <a:srgbClr val="FFFFFF"/>
          </a:fillRef>
          <a:effectRef idx="0">
            <a:srgbClr val="FFFFFF"/>
          </a:effectRef>
          <a:fontRef idx="minor">
            <a:schemeClr val="tx1"/>
          </a:fontRef>
        </p:style>
      </p:cxnSp>
      <p:cxnSp>
        <p:nvCxnSpPr>
          <p:cNvPr id="43" name="直接箭头连接符 42"/>
          <p:cNvCxnSpPr/>
          <p:nvPr/>
        </p:nvCxnSpPr>
        <p:spPr>
          <a:xfrm>
            <a:off x="10013950" y="6195060"/>
            <a:ext cx="265430" cy="14605"/>
          </a:xfrm>
          <a:prstGeom prst="straightConnector1">
            <a:avLst/>
          </a:prstGeom>
          <a:ln>
            <a:solidFill>
              <a:srgbClr val="00481C"/>
            </a:solidFill>
            <a:tailEnd type="arrow"/>
          </a:ln>
        </p:spPr>
        <p:style>
          <a:lnRef idx="2">
            <a:schemeClr val="accent1"/>
          </a:lnRef>
          <a:fillRef idx="0">
            <a:srgbClr val="FFFFFF"/>
          </a:fillRef>
          <a:effectRef idx="0">
            <a:srgbClr val="FFFFFF"/>
          </a:effectRef>
          <a:fontRef idx="minor">
            <a:schemeClr val="tx1"/>
          </a:fontRef>
        </p:style>
      </p:cxnSp>
      <p:cxnSp>
        <p:nvCxnSpPr>
          <p:cNvPr id="44" name="直接箭头连接符 43"/>
          <p:cNvCxnSpPr/>
          <p:nvPr/>
        </p:nvCxnSpPr>
        <p:spPr>
          <a:xfrm>
            <a:off x="10006330" y="6365240"/>
            <a:ext cx="259715" cy="81280"/>
          </a:xfrm>
          <a:prstGeom prst="straightConnector1">
            <a:avLst/>
          </a:prstGeom>
          <a:ln>
            <a:solidFill>
              <a:srgbClr val="00481C"/>
            </a:solidFill>
            <a:tailEnd type="arrow"/>
          </a:ln>
        </p:spPr>
        <p:style>
          <a:lnRef idx="2">
            <a:schemeClr val="accent1"/>
          </a:lnRef>
          <a:fillRef idx="0">
            <a:srgbClr val="FFFFFF"/>
          </a:fillRef>
          <a:effectRef idx="0">
            <a:srgbClr val="FFFFFF"/>
          </a:effectRef>
          <a:fontRef idx="minor">
            <a:schemeClr val="tx1"/>
          </a:fontRef>
        </p:style>
      </p:cxnSp>
      <p:cxnSp>
        <p:nvCxnSpPr>
          <p:cNvPr id="45" name="直接箭头连接符 44"/>
          <p:cNvCxnSpPr/>
          <p:nvPr/>
        </p:nvCxnSpPr>
        <p:spPr>
          <a:xfrm flipH="1">
            <a:off x="9088120" y="6548755"/>
            <a:ext cx="488950" cy="38735"/>
          </a:xfrm>
          <a:prstGeom prst="straightConnector1">
            <a:avLst/>
          </a:prstGeom>
          <a:ln>
            <a:solidFill>
              <a:srgbClr val="00481C"/>
            </a:solidFill>
            <a:tailEnd type="arrow"/>
          </a:ln>
        </p:spPr>
        <p:style>
          <a:lnRef idx="2">
            <a:schemeClr val="accent1"/>
          </a:lnRef>
          <a:fillRef idx="0">
            <a:srgbClr val="FFFFFF"/>
          </a:fillRef>
          <a:effectRef idx="0">
            <a:srgbClr val="FFFFFF"/>
          </a:effectRef>
          <a:fontRef idx="minor">
            <a:schemeClr val="tx1"/>
          </a:fontRef>
        </p:style>
      </p:cxnSp>
      <p:sp>
        <p:nvSpPr>
          <p:cNvPr id="3" name="文本框 2"/>
          <p:cNvSpPr txBox="1"/>
          <p:nvPr/>
        </p:nvSpPr>
        <p:spPr>
          <a:xfrm>
            <a:off x="1854835" y="3717925"/>
            <a:ext cx="1599565" cy="479425"/>
          </a:xfrm>
          <a:prstGeom prst="rect">
            <a:avLst/>
          </a:prstGeom>
          <a:noFill/>
        </p:spPr>
        <p:txBody>
          <a:bodyPr wrap="square" rtlCol="0">
            <a:noAutofit/>
          </a:bodyPr>
          <a:p>
            <a:r>
              <a:rPr lang="zh-CN" altLang="en-US" sz="2000">
                <a:solidFill>
                  <a:srgbClr val="FF0000"/>
                </a:solidFill>
              </a:rPr>
              <a:t>智能对话区</a:t>
            </a:r>
            <a:endParaRPr lang="zh-CN" altLang="en-US" sz="2000">
              <a:solidFill>
                <a:srgbClr val="FF0000"/>
              </a:solidFill>
            </a:endParaRPr>
          </a:p>
        </p:txBody>
      </p:sp>
      <p:sp>
        <p:nvSpPr>
          <p:cNvPr id="4" name="文本框 3"/>
          <p:cNvSpPr txBox="1"/>
          <p:nvPr/>
        </p:nvSpPr>
        <p:spPr>
          <a:xfrm>
            <a:off x="6202680" y="3735705"/>
            <a:ext cx="1599565" cy="479425"/>
          </a:xfrm>
          <a:prstGeom prst="rect">
            <a:avLst/>
          </a:prstGeom>
          <a:noFill/>
        </p:spPr>
        <p:txBody>
          <a:bodyPr wrap="square" rtlCol="0">
            <a:noAutofit/>
          </a:bodyPr>
          <a:p>
            <a:r>
              <a:rPr lang="zh-CN" altLang="en-US" sz="2000">
                <a:solidFill>
                  <a:srgbClr val="FF0000"/>
                </a:solidFill>
              </a:rPr>
              <a:t>地图画布</a:t>
            </a:r>
            <a:r>
              <a:rPr lang="zh-CN" altLang="en-US" sz="2000">
                <a:solidFill>
                  <a:srgbClr val="FF0000"/>
                </a:solidFill>
              </a:rPr>
              <a:t>区</a:t>
            </a:r>
            <a:endParaRPr lang="zh-CN" altLang="en-US" sz="2000">
              <a:solidFill>
                <a:srgbClr val="FF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任意多边形 9"/>
          <p:cNvSpPr/>
          <p:nvPr/>
        </p:nvSpPr>
        <p:spPr>
          <a:xfrm rot="19740000">
            <a:off x="-2280399" y="-122827"/>
            <a:ext cx="4768982" cy="7335937"/>
          </a:xfrm>
          <a:custGeom>
            <a:avLst/>
            <a:gdLst/>
            <a:ahLst/>
            <a:cxnLst>
              <a:cxn ang="3">
                <a:pos x="hc" y="t"/>
              </a:cxn>
              <a:cxn ang="cd2">
                <a:pos x="l" y="vc"/>
              </a:cxn>
              <a:cxn ang="cd4">
                <a:pos x="hc" y="b"/>
              </a:cxn>
              <a:cxn ang="0">
                <a:pos x="r" y="vc"/>
              </a:cxn>
            </a:cxnLst>
            <a:rect l="l" t="t" r="r" b="b"/>
            <a:pathLst>
              <a:path w="7510" h="11553">
                <a:moveTo>
                  <a:pt x="6301" y="0"/>
                </a:moveTo>
                <a:lnTo>
                  <a:pt x="7510" y="0"/>
                </a:lnTo>
                <a:lnTo>
                  <a:pt x="7510" y="7861"/>
                </a:lnTo>
                <a:lnTo>
                  <a:pt x="7510" y="7861"/>
                </a:lnTo>
                <a:lnTo>
                  <a:pt x="7510" y="7861"/>
                </a:lnTo>
                <a:lnTo>
                  <a:pt x="7510" y="7863"/>
                </a:lnTo>
                <a:lnTo>
                  <a:pt x="7507" y="7863"/>
                </a:lnTo>
                <a:lnTo>
                  <a:pt x="568" y="11553"/>
                </a:lnTo>
                <a:lnTo>
                  <a:pt x="0" y="10485"/>
                </a:lnTo>
                <a:lnTo>
                  <a:pt x="6301" y="7135"/>
                </a:lnTo>
                <a:lnTo>
                  <a:pt x="6301" y="0"/>
                </a:lnTo>
                <a:close/>
              </a:path>
            </a:pathLst>
          </a:custGeom>
          <a:solidFill>
            <a:srgbClr val="00481C">
              <a:alpha val="5000"/>
            </a:srgbClr>
          </a:solidFill>
          <a:ln>
            <a:solidFill>
              <a:srgbClr val="00481C">
                <a:alpha val="8000"/>
              </a:srgb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1" name="任意多边形 10"/>
          <p:cNvSpPr/>
          <p:nvPr/>
        </p:nvSpPr>
        <p:spPr>
          <a:xfrm rot="19740000">
            <a:off x="-1351394" y="-122827"/>
            <a:ext cx="4768982" cy="7335937"/>
          </a:xfrm>
          <a:custGeom>
            <a:avLst/>
            <a:gdLst/>
            <a:ahLst/>
            <a:cxnLst>
              <a:cxn ang="3">
                <a:pos x="hc" y="t"/>
              </a:cxn>
              <a:cxn ang="cd2">
                <a:pos x="l" y="vc"/>
              </a:cxn>
              <a:cxn ang="cd4">
                <a:pos x="hc" y="b"/>
              </a:cxn>
              <a:cxn ang="0">
                <a:pos x="r" y="vc"/>
              </a:cxn>
            </a:cxnLst>
            <a:rect l="l" t="t" r="r" b="b"/>
            <a:pathLst>
              <a:path w="7510" h="11553">
                <a:moveTo>
                  <a:pt x="6301" y="0"/>
                </a:moveTo>
                <a:lnTo>
                  <a:pt x="7510" y="0"/>
                </a:lnTo>
                <a:lnTo>
                  <a:pt x="7510" y="7861"/>
                </a:lnTo>
                <a:lnTo>
                  <a:pt x="7510" y="7861"/>
                </a:lnTo>
                <a:lnTo>
                  <a:pt x="7510" y="7861"/>
                </a:lnTo>
                <a:lnTo>
                  <a:pt x="7510" y="7863"/>
                </a:lnTo>
                <a:lnTo>
                  <a:pt x="7507" y="7863"/>
                </a:lnTo>
                <a:lnTo>
                  <a:pt x="568" y="11553"/>
                </a:lnTo>
                <a:lnTo>
                  <a:pt x="0" y="10485"/>
                </a:lnTo>
                <a:lnTo>
                  <a:pt x="6301" y="7135"/>
                </a:lnTo>
                <a:lnTo>
                  <a:pt x="6301" y="0"/>
                </a:lnTo>
                <a:close/>
              </a:path>
            </a:pathLst>
          </a:custGeom>
          <a:gradFill>
            <a:gsLst>
              <a:gs pos="0">
                <a:schemeClr val="bg1"/>
              </a:gs>
              <a:gs pos="100000">
                <a:srgbClr val="00481C"/>
              </a:gs>
            </a:gsLst>
            <a:lin ang="22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2" name="标题 1"/>
          <p:cNvSpPr>
            <a:spLocks noGrp="1"/>
          </p:cNvSpPr>
          <p:nvPr>
            <p:ph type="title"/>
          </p:nvPr>
        </p:nvSpPr>
        <p:spPr>
          <a:xfrm>
            <a:off x="5147945" y="1499235"/>
            <a:ext cx="4362450" cy="1325880"/>
          </a:xfrm>
        </p:spPr>
        <p:txBody>
          <a:bodyPr>
            <a:normAutofit fontScale="90000"/>
          </a:bodyPr>
          <a:p>
            <a:r>
              <a:rPr lang="en-US" altLang="zh-CN" sz="8000" b="1">
                <a:solidFill>
                  <a:srgbClr val="00481C"/>
                </a:solidFill>
                <a:latin typeface="Arial" panose="020B0604020202020204" pitchFamily="34" charset="0"/>
                <a:cs typeface="Arial" panose="020B0604020202020204" pitchFamily="34" charset="0"/>
              </a:rPr>
              <a:t>PART </a:t>
            </a:r>
            <a:r>
              <a:rPr lang="en-US" altLang="zh-CN" sz="13335" b="1" i="1">
                <a:solidFill>
                  <a:srgbClr val="00481C"/>
                </a:solidFill>
                <a:latin typeface="Arial" panose="020B0604020202020204" pitchFamily="34" charset="0"/>
                <a:cs typeface="Arial" panose="020B0604020202020204" pitchFamily="34" charset="0"/>
              </a:rPr>
              <a:t>4</a:t>
            </a:r>
            <a:endParaRPr lang="en-US" altLang="zh-CN" sz="13335" b="1" i="1">
              <a:solidFill>
                <a:srgbClr val="00481C"/>
              </a:solidFill>
              <a:latin typeface="Arial" panose="020B0604020202020204" pitchFamily="34" charset="0"/>
              <a:cs typeface="Arial" panose="020B0604020202020204" pitchFamily="34" charset="0"/>
            </a:endParaRPr>
          </a:p>
        </p:txBody>
      </p:sp>
      <p:sp>
        <p:nvSpPr>
          <p:cNvPr id="6" name="任意多边形 5"/>
          <p:cNvSpPr/>
          <p:nvPr/>
        </p:nvSpPr>
        <p:spPr>
          <a:xfrm rot="19740000">
            <a:off x="-3067685" y="-1120140"/>
            <a:ext cx="6064885" cy="9330055"/>
          </a:xfrm>
          <a:custGeom>
            <a:avLst/>
            <a:gdLst/>
            <a:ahLst/>
            <a:cxnLst>
              <a:cxn ang="3">
                <a:pos x="hc" y="t"/>
              </a:cxn>
              <a:cxn ang="cd2">
                <a:pos x="l" y="vc"/>
              </a:cxn>
              <a:cxn ang="cd4">
                <a:pos x="hc" y="b"/>
              </a:cxn>
              <a:cxn ang="0">
                <a:pos x="r" y="vc"/>
              </a:cxn>
            </a:cxnLst>
            <a:rect l="l" t="t" r="r" b="b"/>
            <a:pathLst>
              <a:path w="7510" h="11553">
                <a:moveTo>
                  <a:pt x="6301" y="0"/>
                </a:moveTo>
                <a:lnTo>
                  <a:pt x="7510" y="0"/>
                </a:lnTo>
                <a:lnTo>
                  <a:pt x="7510" y="7861"/>
                </a:lnTo>
                <a:lnTo>
                  <a:pt x="7510" y="7861"/>
                </a:lnTo>
                <a:lnTo>
                  <a:pt x="7510" y="7861"/>
                </a:lnTo>
                <a:lnTo>
                  <a:pt x="7510" y="7863"/>
                </a:lnTo>
                <a:lnTo>
                  <a:pt x="7507" y="7863"/>
                </a:lnTo>
                <a:lnTo>
                  <a:pt x="568" y="11553"/>
                </a:lnTo>
                <a:lnTo>
                  <a:pt x="0" y="10485"/>
                </a:lnTo>
                <a:lnTo>
                  <a:pt x="6301" y="7135"/>
                </a:lnTo>
                <a:lnTo>
                  <a:pt x="6301" y="0"/>
                </a:lnTo>
                <a:close/>
              </a:path>
            </a:pathLst>
          </a:custGeom>
          <a:solidFill>
            <a:srgbClr val="00481C"/>
          </a:solidFill>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cxnSp>
        <p:nvCxnSpPr>
          <p:cNvPr id="12" name="直接连接符 11"/>
          <p:cNvCxnSpPr/>
          <p:nvPr/>
        </p:nvCxnSpPr>
        <p:spPr>
          <a:xfrm flipV="1">
            <a:off x="4452620" y="2860675"/>
            <a:ext cx="5057775" cy="19050"/>
          </a:xfrm>
          <a:prstGeom prst="line">
            <a:avLst/>
          </a:prstGeom>
          <a:ln>
            <a:solidFill>
              <a:srgbClr val="00481C"/>
            </a:solidFill>
          </a:ln>
        </p:spPr>
        <p:style>
          <a:lnRef idx="2">
            <a:schemeClr val="accent1"/>
          </a:lnRef>
          <a:fillRef idx="0">
            <a:srgbClr val="FFFFFF"/>
          </a:fillRef>
          <a:effectRef idx="0">
            <a:srgbClr val="FFFFFF"/>
          </a:effectRef>
          <a:fontRef idx="minor">
            <a:schemeClr val="tx1"/>
          </a:fontRef>
        </p:style>
      </p:cxnSp>
      <p:sp>
        <p:nvSpPr>
          <p:cNvPr id="13" name="文本框 12"/>
          <p:cNvSpPr txBox="1"/>
          <p:nvPr/>
        </p:nvSpPr>
        <p:spPr>
          <a:xfrm>
            <a:off x="5071745" y="3528695"/>
            <a:ext cx="4324350" cy="1198880"/>
          </a:xfrm>
          <a:prstGeom prst="rect">
            <a:avLst/>
          </a:prstGeom>
          <a:noFill/>
        </p:spPr>
        <p:txBody>
          <a:bodyPr wrap="square" rtlCol="0">
            <a:spAutoFit/>
          </a:bodyPr>
          <a:p>
            <a:r>
              <a:rPr lang="zh-CN" altLang="en-US" sz="7200">
                <a:solidFill>
                  <a:srgbClr val="00481C"/>
                </a:solidFill>
                <a:latin typeface="微软雅黑" panose="020B0503020204020204" pitchFamily="34" charset="-122"/>
                <a:ea typeface="微软雅黑" panose="020B0503020204020204" pitchFamily="34" charset="-122"/>
              </a:rPr>
              <a:t>总结</a:t>
            </a:r>
            <a:r>
              <a:rPr lang="zh-CN" altLang="en-US" sz="7200">
                <a:solidFill>
                  <a:srgbClr val="00481C"/>
                </a:solidFill>
                <a:latin typeface="微软雅黑" panose="020B0503020204020204" pitchFamily="34" charset="-122"/>
                <a:ea typeface="微软雅黑" panose="020B0503020204020204" pitchFamily="34" charset="-122"/>
              </a:rPr>
              <a:t>展望</a:t>
            </a:r>
            <a:endParaRPr lang="zh-CN" altLang="en-US" sz="7200">
              <a:solidFill>
                <a:srgbClr val="00481C"/>
              </a:solidFill>
              <a:latin typeface="微软雅黑" panose="020B0503020204020204" pitchFamily="34" charset="-122"/>
              <a:ea typeface="微软雅黑" panose="020B0503020204020204" pitchFamily="34" charset="-122"/>
            </a:endParaRPr>
          </a:p>
        </p:txBody>
      </p:sp>
      <p:grpSp>
        <p:nvGrpSpPr>
          <p:cNvPr id="165" name="组合 39"/>
          <p:cNvGrpSpPr/>
          <p:nvPr/>
        </p:nvGrpSpPr>
        <p:grpSpPr>
          <a:xfrm>
            <a:off x="9480096" y="160513"/>
            <a:ext cx="2487599" cy="771929"/>
            <a:chOff x="4077923" y="171807"/>
            <a:chExt cx="4420435" cy="1371709"/>
          </a:xfrm>
        </p:grpSpPr>
        <p:grpSp>
          <p:nvGrpSpPr>
            <p:cNvPr id="166" name="组合 40"/>
            <p:cNvGrpSpPr/>
            <p:nvPr/>
          </p:nvGrpSpPr>
          <p:grpSpPr>
            <a:xfrm>
              <a:off x="4077923" y="171807"/>
              <a:ext cx="4260493" cy="1371709"/>
              <a:chOff x="6331308" y="1189619"/>
              <a:chExt cx="5481392" cy="1764794"/>
            </a:xfrm>
          </p:grpSpPr>
          <p:pic>
            <p:nvPicPr>
              <p:cNvPr id="167" name="图片 42"/>
              <p:cNvPicPr>
                <a:picLocks noChangeAspect="1"/>
              </p:cNvPicPr>
              <p:nvPr/>
            </p:nvPicPr>
            <p:blipFill>
              <a:blip r:embed="rId1"/>
              <a:srcRect/>
              <a:stretch>
                <a:fillRect/>
              </a:stretch>
            </p:blipFill>
            <p:spPr>
              <a:xfrm>
                <a:off x="6331308" y="1189619"/>
                <a:ext cx="1791803" cy="1764794"/>
              </a:xfrm>
              <a:prstGeom prst="rect">
                <a:avLst/>
              </a:prstGeom>
            </p:spPr>
          </p:pic>
          <p:pic>
            <p:nvPicPr>
              <p:cNvPr id="168" name="图片 43"/>
              <p:cNvPicPr>
                <a:picLocks noChangeAspect="1"/>
              </p:cNvPicPr>
              <p:nvPr/>
            </p:nvPicPr>
            <p:blipFill>
              <a:blip r:embed="rId2"/>
              <a:srcRect/>
              <a:stretch>
                <a:fillRect/>
              </a:stretch>
            </p:blipFill>
            <p:spPr>
              <a:xfrm>
                <a:off x="8302517" y="1422328"/>
                <a:ext cx="3510183" cy="965303"/>
              </a:xfrm>
              <a:prstGeom prst="rect">
                <a:avLst/>
              </a:prstGeom>
            </p:spPr>
          </p:pic>
        </p:grpSp>
        <p:sp>
          <p:nvSpPr>
            <p:cNvPr id="169" name="矩形 41"/>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grpSp>
        <p:nvGrpSpPr>
          <p:cNvPr id="20" name="组合 19"/>
          <p:cNvGrpSpPr/>
          <p:nvPr/>
        </p:nvGrpSpPr>
        <p:grpSpPr>
          <a:xfrm>
            <a:off x="10212705" y="5683885"/>
            <a:ext cx="1419225" cy="768350"/>
            <a:chOff x="15240" y="8543"/>
            <a:chExt cx="2235" cy="1210"/>
          </a:xfrm>
        </p:grpSpPr>
        <p:sp>
          <p:nvSpPr>
            <p:cNvPr id="14" name="矩形 13"/>
            <p:cNvSpPr/>
            <p:nvPr/>
          </p:nvSpPr>
          <p:spPr>
            <a:xfrm>
              <a:off x="16458" y="8543"/>
              <a:ext cx="409" cy="408"/>
            </a:xfrm>
            <a:prstGeom prst="rect">
              <a:avLst/>
            </a:prstGeom>
            <a:solidFill>
              <a:srgbClr val="00481C">
                <a:alpha val="5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5" name="矩形 14"/>
            <p:cNvSpPr/>
            <p:nvPr/>
          </p:nvSpPr>
          <p:spPr>
            <a:xfrm>
              <a:off x="17067" y="8543"/>
              <a:ext cx="409" cy="408"/>
            </a:xfrm>
            <a:prstGeom prst="rect">
              <a:avLst/>
            </a:prstGeom>
            <a:solidFill>
              <a:srgbClr val="00481C">
                <a:alpha val="36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6" name="矩形 15"/>
            <p:cNvSpPr/>
            <p:nvPr/>
          </p:nvSpPr>
          <p:spPr>
            <a:xfrm>
              <a:off x="17067" y="9345"/>
              <a:ext cx="409" cy="408"/>
            </a:xfrm>
            <a:prstGeom prst="rect">
              <a:avLst/>
            </a:prstGeom>
            <a:solidFill>
              <a:srgbClr val="00481C">
                <a:alpha val="89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7" name="矩形 16"/>
            <p:cNvSpPr/>
            <p:nvPr/>
          </p:nvSpPr>
          <p:spPr>
            <a:xfrm>
              <a:off x="16458" y="9345"/>
              <a:ext cx="409" cy="408"/>
            </a:xfrm>
            <a:prstGeom prst="rect">
              <a:avLst/>
            </a:prstGeom>
            <a:solidFill>
              <a:srgbClr val="00481C">
                <a:alpha val="64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8" name="矩形 17"/>
            <p:cNvSpPr/>
            <p:nvPr/>
          </p:nvSpPr>
          <p:spPr>
            <a:xfrm>
              <a:off x="15849" y="9345"/>
              <a:ext cx="409" cy="408"/>
            </a:xfrm>
            <a:prstGeom prst="rect">
              <a:avLst/>
            </a:prstGeom>
            <a:solidFill>
              <a:srgbClr val="00481C">
                <a:alpha val="7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9" name="矩形 18"/>
            <p:cNvSpPr/>
            <p:nvPr/>
          </p:nvSpPr>
          <p:spPr>
            <a:xfrm>
              <a:off x="15240" y="9345"/>
              <a:ext cx="409" cy="408"/>
            </a:xfrm>
            <a:prstGeom prst="rect">
              <a:avLst/>
            </a:prstGeom>
            <a:solidFill>
              <a:srgbClr val="00481C">
                <a:alpha val="2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9472329" y="-59933"/>
                <a:ext cx="2604770"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852069" y="48055"/>
                <a:ext cx="1771650"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pPr algn="l">
                  <a:buClrTx/>
                  <a:buSzTx/>
                  <a:buFontTx/>
                </a:pPr>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项目进展</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846344" y="50595"/>
              <a:ext cx="1966595"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微软雅黑" panose="020B0503020204020204" pitchFamily="34" charset="-122"/>
                </a:rPr>
                <a:t>WUHAN UNIVERSITY</a:t>
              </a:r>
              <a:endParaRPr lang="en-US" altLang="zh-CN" sz="900" b="1" dirty="0">
                <a:solidFill>
                  <a:prstClr val="black"/>
                </a:solidFill>
                <a:latin typeface="Calibri" panose="020F0502020204030204"/>
                <a:ea typeface="微软雅黑" panose="020B0503020204020204" pitchFamily="34" charset="-122"/>
              </a:endParaRPr>
            </a:p>
          </p:txBody>
        </p:sp>
      </p:grpSp>
      <p:sp>
        <p:nvSpPr>
          <p:cNvPr id="6" name="矩形: 圆角 65"/>
          <p:cNvSpPr/>
          <p:nvPr>
            <p:custDataLst>
              <p:tags r:id="rId4"/>
            </p:custDataLst>
          </p:nvPr>
        </p:nvSpPr>
        <p:spPr>
          <a:xfrm>
            <a:off x="1403350" y="1125220"/>
            <a:ext cx="9156065" cy="2588895"/>
          </a:xfrm>
          <a:prstGeom prst="roundRect">
            <a:avLst/>
          </a:prstGeom>
          <a:solidFill>
            <a:schemeClr val="bg1"/>
          </a:solidFill>
          <a:ln w="38100">
            <a:gradFill>
              <a:gsLst>
                <a:gs pos="50000">
                  <a:schemeClr val="accent6"/>
                </a:gs>
                <a:gs pos="0">
                  <a:schemeClr val="accent6">
                    <a:lumMod val="25000"/>
                    <a:lumOff val="75000"/>
                  </a:schemeClr>
                </a:gs>
                <a:gs pos="100000">
                  <a:schemeClr val="accent6">
                    <a:lumMod val="8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解释变量目前缺乏精确的指标来衡量机动车道和非机动车道的舒适度水平</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7" name="矩形: 圆角 66"/>
          <p:cNvSpPr/>
          <p:nvPr>
            <p:custDataLst>
              <p:tags r:id="rId5"/>
            </p:custDataLst>
          </p:nvPr>
        </p:nvSpPr>
        <p:spPr>
          <a:xfrm>
            <a:off x="648786" y="1975981"/>
            <a:ext cx="1196340" cy="548640"/>
          </a:xfrm>
          <a:prstGeom prst="roundRect">
            <a:avLst/>
          </a:prstGeom>
          <a:solidFill>
            <a:schemeClr val="accent6">
              <a:lumMod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总结</a:t>
            </a:r>
            <a:endParaRPr lang="zh-CN" altLang="en-US" b="1" dirty="0">
              <a:latin typeface="微软雅黑" panose="020B0503020204020204" pitchFamily="34" charset="-122"/>
              <a:ea typeface="微软雅黑" panose="020B0503020204020204" pitchFamily="34" charset="-122"/>
            </a:endParaRPr>
          </a:p>
        </p:txBody>
      </p:sp>
      <p:sp>
        <p:nvSpPr>
          <p:cNvPr id="8" name="Bullet1"/>
          <p:cNvSpPr/>
          <p:nvPr>
            <p:custDataLst>
              <p:tags r:id="rId6"/>
            </p:custDataLst>
          </p:nvPr>
        </p:nvSpPr>
        <p:spPr>
          <a:xfrm>
            <a:off x="2079625" y="1202690"/>
            <a:ext cx="8149590" cy="2299335"/>
          </a:xfrm>
          <a:prstGeom prst="rect">
            <a:avLst/>
          </a:prstGeom>
          <a:noFill/>
          <a:ln w="12700" cap="rnd">
            <a:noFill/>
            <a:prstDash val="solid"/>
            <a:rou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42900" indent="-342900">
              <a:lnSpc>
                <a:spcPct val="150000"/>
              </a:lnSpc>
              <a:spcAft>
                <a:spcPts val="600"/>
              </a:spcAft>
              <a:buFont typeface="Wingdings" panose="05000000000000000000" pitchFamily="2" charset="2"/>
              <a:buChar char="p"/>
            </a:pP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完成了地图学知识图谱的核心构建；</a:t>
            </a:r>
            <a:endPar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spcAft>
                <a:spcPts val="600"/>
              </a:spcAft>
              <a:buFont typeface="Wingdings" panose="05000000000000000000" pitchFamily="2" charset="2"/>
              <a:buChar char="p"/>
            </a:pP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掌握了领域知识图谱自动化构建、智能交互的全流程核心技术；</a:t>
            </a:r>
            <a:endPar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spcAft>
                <a:spcPts val="600"/>
              </a:spcAft>
              <a:buFont typeface="Wingdings" panose="05000000000000000000" pitchFamily="2" charset="2"/>
              <a:buChar char="p"/>
            </a:pP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创建了基于地图制图知识图谱的</a:t>
            </a: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智能问答系统；</a:t>
            </a:r>
            <a:endPar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spcAft>
                <a:spcPts val="600"/>
              </a:spcAft>
              <a:buFont typeface="Wingdings" panose="05000000000000000000" pitchFamily="2" charset="2"/>
              <a:buChar char="p"/>
            </a:pP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完成核心技术链路的多原型验证，实现自然语言驱动智能制图的最小闭</a:t>
            </a: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环；</a:t>
            </a:r>
            <a:endPar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spcAft>
                <a:spcPts val="600"/>
              </a:spcAft>
              <a:buFont typeface="Wingdings" panose="05000000000000000000" pitchFamily="2" charset="2"/>
              <a:buChar char="p"/>
            </a:pP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完成用户端</a:t>
            </a:r>
            <a:r>
              <a:rPr lang="en-US" altLang="zh-CN"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UI </a:t>
            </a: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界面全流程设计与规范制定。</a:t>
            </a:r>
            <a:endPar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矩形: 圆角 84"/>
          <p:cNvSpPr/>
          <p:nvPr>
            <p:custDataLst>
              <p:tags r:id="rId7"/>
            </p:custDataLst>
          </p:nvPr>
        </p:nvSpPr>
        <p:spPr>
          <a:xfrm>
            <a:off x="1338580" y="4041140"/>
            <a:ext cx="9221470" cy="2449195"/>
          </a:xfrm>
          <a:prstGeom prst="roundRect">
            <a:avLst/>
          </a:prstGeom>
          <a:solidFill>
            <a:schemeClr val="bg1"/>
          </a:solidFill>
          <a:ln w="38100">
            <a:gradFill>
              <a:gsLst>
                <a:gs pos="50000">
                  <a:schemeClr val="accent6"/>
                </a:gs>
                <a:gs pos="0">
                  <a:schemeClr val="accent6">
                    <a:lumMod val="25000"/>
                    <a:lumOff val="75000"/>
                  </a:schemeClr>
                </a:gs>
                <a:gs pos="100000">
                  <a:schemeClr val="accent6">
                    <a:lumMod val="8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解释变量目前缺乏精确的指标来衡量机动车道和非机动车道的舒适度水平</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0" name="矩形: 圆角 85"/>
          <p:cNvSpPr/>
          <p:nvPr>
            <p:custDataLst>
              <p:tags r:id="rId8"/>
            </p:custDataLst>
          </p:nvPr>
        </p:nvSpPr>
        <p:spPr>
          <a:xfrm>
            <a:off x="648978" y="4756734"/>
            <a:ext cx="1196340" cy="548640"/>
          </a:xfrm>
          <a:prstGeom prst="roundRect">
            <a:avLst/>
          </a:prstGeom>
          <a:solidFill>
            <a:schemeClr val="accent6">
              <a:lumMod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展望</a:t>
            </a:r>
            <a:endParaRPr lang="zh-CN" altLang="en-US" b="1" dirty="0">
              <a:latin typeface="微软雅黑" panose="020B0503020204020204" pitchFamily="34" charset="-122"/>
              <a:ea typeface="微软雅黑" panose="020B0503020204020204" pitchFamily="34" charset="-122"/>
            </a:endParaRPr>
          </a:p>
        </p:txBody>
      </p:sp>
      <p:sp>
        <p:nvSpPr>
          <p:cNvPr id="11" name="Bullet1"/>
          <p:cNvSpPr/>
          <p:nvPr>
            <p:custDataLst>
              <p:tags r:id="rId9"/>
            </p:custDataLst>
          </p:nvPr>
        </p:nvSpPr>
        <p:spPr>
          <a:xfrm>
            <a:off x="2079764" y="4143184"/>
            <a:ext cx="8149564" cy="2250718"/>
          </a:xfrm>
          <a:prstGeom prst="rect">
            <a:avLst/>
          </a:prstGeom>
          <a:noFill/>
          <a:ln w="12700" cap="rnd">
            <a:noFill/>
            <a:prstDash val="solid"/>
            <a:rou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42900" lvl="0" indent="-342900" algn="l">
              <a:lnSpc>
                <a:spcPct val="150000"/>
              </a:lnSpc>
              <a:spcAft>
                <a:spcPts val="600"/>
              </a:spcAft>
              <a:buClrTx/>
              <a:buSzTx/>
              <a:buFont typeface="Wingdings" panose="05000000000000000000" pitchFamily="2" charset="2"/>
              <a:buChar char="p"/>
            </a:pP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持续优化知识图谱，提升知识的覆盖率和准确率；</a:t>
            </a:r>
            <a:endPar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l">
              <a:lnSpc>
                <a:spcPct val="150000"/>
              </a:lnSpc>
              <a:spcAft>
                <a:spcPts val="600"/>
              </a:spcAft>
              <a:buClrTx/>
              <a:buSzTx/>
              <a:buFont typeface="Wingdings" panose="05000000000000000000" pitchFamily="2" charset="2"/>
              <a:buChar char="p"/>
            </a:pP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完成原型系统集成与验证；</a:t>
            </a:r>
            <a:endPar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l">
              <a:lnSpc>
                <a:spcPct val="150000"/>
              </a:lnSpc>
              <a:spcAft>
                <a:spcPts val="600"/>
              </a:spcAft>
              <a:buClrTx/>
              <a:buSzTx/>
              <a:buFont typeface="Wingdings" panose="05000000000000000000" pitchFamily="2" charset="2"/>
              <a:buChar char="p"/>
            </a:pP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增强</a:t>
            </a: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智能体处理复杂任务和异常情况的能力；</a:t>
            </a:r>
            <a:endPar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l">
              <a:lnSpc>
                <a:spcPct val="150000"/>
              </a:lnSpc>
              <a:spcAft>
                <a:spcPts val="600"/>
              </a:spcAft>
              <a:buClrTx/>
              <a:buSzTx/>
              <a:buFont typeface="Wingdings" panose="05000000000000000000" pitchFamily="2" charset="2"/>
              <a:buChar char="p"/>
            </a:pP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优化算法，提升系统响应速度和地图生成质量；</a:t>
            </a:r>
            <a:endPar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a:p>
            <a:pPr marL="342900" lvl="0" indent="-342900" algn="l">
              <a:lnSpc>
                <a:spcPct val="150000"/>
              </a:lnSpc>
              <a:spcAft>
                <a:spcPts val="600"/>
              </a:spcAft>
              <a:buClrTx/>
              <a:buSzTx/>
              <a:buFont typeface="Wingdings" panose="05000000000000000000" pitchFamily="2" charset="2"/>
              <a:buChar char="p"/>
            </a:pP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拓展更多应用场景，进行更广泛的用户测试与反馈收集。</a:t>
            </a:r>
            <a:endPar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07" name=""/>
        <p:cNvGrpSpPr/>
        <p:nvPr/>
      </p:nvGrpSpPr>
      <p:grpSpPr>
        <a:xfrm>
          <a:off x="0" y="0"/>
          <a:ext cx="0" cy="0"/>
          <a:chOff x="0" y="0"/>
          <a:chExt cx="0" cy="0"/>
        </a:xfrm>
      </p:grpSpPr>
      <p:pic>
        <p:nvPicPr>
          <p:cNvPr id="108" name="Picture 2"/>
          <p:cNvPicPr>
            <a:picLocks noChangeAspect="1" noChangeArrowheads="1"/>
          </p:cNvPicPr>
          <p:nvPr/>
        </p:nvPicPr>
        <p:blipFill rotWithShape="1">
          <a:blip r:embed="rId1">
            <a:extLst>
              <a:ext uri="{BEBA8EAE-BF5A-486C-A8C5-ECC9F3942E4B}">
                <a14:imgProps xmlns:a14="http://schemas.microsoft.com/office/drawing/2010/main">
                  <a14:imgLayer r:embed="rId2">
                    <a14:imgEffect>
                      <a14:brightnessContrast bright="20000" contrast="40000"/>
                    </a14:imgEffect>
                  </a14:imgLayer>
                </a14:imgProps>
              </a:ext>
            </a:extLst>
          </a:blip>
          <a:srcRect b="25979"/>
          <a:stretch>
            <a:fillRect/>
          </a:stretch>
        </p:blipFill>
        <p:spPr bwMode="auto">
          <a:xfrm>
            <a:off x="1" y="1592036"/>
            <a:ext cx="12191998" cy="3023421"/>
          </a:xfrm>
          <a:prstGeom prst="rect">
            <a:avLst/>
          </a:prstGeom>
          <a:noFill/>
        </p:spPr>
      </p:pic>
      <p:sp>
        <p:nvSpPr>
          <p:cNvPr id="109" name="矩形 4"/>
          <p:cNvSpPr/>
          <p:nvPr/>
        </p:nvSpPr>
        <p:spPr>
          <a:xfrm>
            <a:off x="0" y="1591945"/>
            <a:ext cx="12192000" cy="3020695"/>
          </a:xfrm>
          <a:prstGeom prst="rect">
            <a:avLst/>
          </a:prstGeom>
          <a:solidFill>
            <a:srgbClr val="014B30">
              <a:alpha val="82000"/>
            </a:srgbClr>
          </a:solidFill>
          <a:ln w="12700" cap="flat" cmpd="sng" algn="ctr">
            <a:noFill/>
            <a:prstDash val="solid"/>
            <a:miter lim="800000"/>
          </a:ln>
          <a:effectLst/>
        </p:spPr>
        <p:txBody>
          <a:bodyPr rtlCol="0" anchor="ctr"/>
          <a:lstStyle/>
          <a:p>
            <a:pPr algn="ctr">
              <a:defRPr/>
            </a:pPr>
            <a:endParaRPr lang="zh-CN" altLang="en-US" kern="0" dirty="0">
              <a:solidFill>
                <a:srgbClr val="FFFFFF"/>
              </a:solidFill>
              <a:latin typeface="Arial" panose="020B0604020202020204"/>
              <a:ea typeface="微软雅黑" panose="020B0503020204020204" pitchFamily="34" charset="-122"/>
              <a:cs typeface="+mn-ea"/>
              <a:sym typeface="+mn-lt"/>
            </a:endParaRPr>
          </a:p>
        </p:txBody>
      </p:sp>
      <p:grpSp>
        <p:nvGrpSpPr>
          <p:cNvPr id="110" name="组合 5"/>
          <p:cNvGrpSpPr>
            <a:grpSpLocks noChangeAspect="1"/>
          </p:cNvGrpSpPr>
          <p:nvPr/>
        </p:nvGrpSpPr>
        <p:grpSpPr>
          <a:xfrm rot="0">
            <a:off x="4342130" y="285115"/>
            <a:ext cx="3373120" cy="1060450"/>
            <a:chOff x="3985415" y="208718"/>
            <a:chExt cx="4288716" cy="1348022"/>
          </a:xfrm>
        </p:grpSpPr>
        <p:grpSp>
          <p:nvGrpSpPr>
            <p:cNvPr id="111" name="组合 6"/>
            <p:cNvGrpSpPr/>
            <p:nvPr/>
          </p:nvGrpSpPr>
          <p:grpSpPr>
            <a:xfrm>
              <a:off x="3985415" y="208718"/>
              <a:ext cx="4288716" cy="1348022"/>
              <a:chOff x="6212289" y="1237107"/>
              <a:chExt cx="5517703" cy="1734319"/>
            </a:xfrm>
          </p:grpSpPr>
          <p:pic>
            <p:nvPicPr>
              <p:cNvPr id="112" name="图片 8"/>
              <p:cNvPicPr>
                <a:picLocks noChangeAspect="1"/>
              </p:cNvPicPr>
              <p:nvPr/>
            </p:nvPicPr>
            <p:blipFill>
              <a:blip r:embed="rId3"/>
              <a:srcRect/>
              <a:stretch>
                <a:fillRect/>
              </a:stretch>
            </p:blipFill>
            <p:spPr>
              <a:xfrm>
                <a:off x="6212289" y="1237107"/>
                <a:ext cx="1760862" cy="1734319"/>
              </a:xfrm>
              <a:prstGeom prst="rect">
                <a:avLst/>
              </a:prstGeom>
            </p:spPr>
          </p:pic>
          <p:pic>
            <p:nvPicPr>
              <p:cNvPr id="113" name="图片 9"/>
              <p:cNvPicPr>
                <a:picLocks noChangeAspect="1"/>
              </p:cNvPicPr>
              <p:nvPr/>
            </p:nvPicPr>
            <p:blipFill>
              <a:blip r:embed="rId4"/>
              <a:srcRect/>
              <a:stretch>
                <a:fillRect/>
              </a:stretch>
            </p:blipFill>
            <p:spPr>
              <a:xfrm>
                <a:off x="8069580" y="1413307"/>
                <a:ext cx="3660412" cy="1006616"/>
              </a:xfrm>
              <a:prstGeom prst="rect">
                <a:avLst/>
              </a:prstGeom>
            </p:spPr>
          </p:pic>
        </p:grpSp>
        <p:sp>
          <p:nvSpPr>
            <p:cNvPr id="114" name="矩形 7"/>
            <p:cNvSpPr/>
            <p:nvPr/>
          </p:nvSpPr>
          <p:spPr>
            <a:xfrm>
              <a:off x="5399041" y="1126776"/>
              <a:ext cx="2845109" cy="389877"/>
            </a:xfrm>
            <a:prstGeom prst="rect">
              <a:avLst/>
            </a:prstGeom>
          </p:spPr>
          <p:txBody>
            <a:bodyPr wrap="square">
              <a:spAutoFit/>
            </a:bodyPr>
            <a:lstStyle/>
            <a:p>
              <a:pPr algn="dist">
                <a:defRPr/>
              </a:pPr>
              <a:r>
                <a:rPr lang="en-US" altLang="zh-CN" sz="1400" b="1" dirty="0">
                  <a:solidFill>
                    <a:prstClr val="black"/>
                  </a:solidFill>
                  <a:latin typeface="Calibri" panose="020F0502020204030204"/>
                  <a:ea typeface="微软雅黑" panose="020B0503020204020204" pitchFamily="34" charset="-122"/>
                </a:rPr>
                <a:t>WUHAN UNIVERSITY</a:t>
              </a:r>
              <a:endParaRPr lang="en-US" altLang="zh-CN" sz="1400" b="1" dirty="0">
                <a:solidFill>
                  <a:prstClr val="black"/>
                </a:solidFill>
                <a:latin typeface="Calibri" panose="020F0502020204030204"/>
                <a:ea typeface="微软雅黑" panose="020B0503020204020204" pitchFamily="34" charset="-122"/>
              </a:endParaRPr>
            </a:p>
          </p:txBody>
        </p:sp>
      </p:grpSp>
      <p:sp>
        <p:nvSpPr>
          <p:cNvPr id="115" name="TextBox 14"/>
          <p:cNvSpPr txBox="1"/>
          <p:nvPr/>
        </p:nvSpPr>
        <p:spPr>
          <a:xfrm>
            <a:off x="9678354" y="5464100"/>
            <a:ext cx="2316480" cy="1198880"/>
          </a:xfrm>
          <a:prstGeom prst="rect">
            <a:avLst/>
          </a:prstGeom>
          <a:noFill/>
        </p:spPr>
        <p:txBody>
          <a:bodyPr wrap="none" rtlCol="0">
            <a:spAutoFit/>
          </a:bodyPr>
          <a:lstStyle/>
          <a:p>
            <a:pPr algn="ctr">
              <a:lnSpc>
                <a:spcPct val="150000"/>
              </a:lnSpc>
            </a:pPr>
            <a:r>
              <a:rPr lang="zh-CN" sz="2400" b="1">
                <a:solidFill>
                  <a:srgbClr val="014B30">
                    <a:alpha val="100000"/>
                  </a:srgbClr>
                </a:solidFill>
                <a:latin typeface="Arial" panose="020B0604020202020204"/>
                <a:ea typeface="微软雅黑" panose="020B0503020204020204" pitchFamily="34" charset="-122"/>
                <a:cs typeface="等线" panose="02010600030101010101" pitchFamily="2" charset="-122"/>
              </a:rPr>
              <a:t>答辩人：匡怡琳</a:t>
            </a:r>
            <a:endParaRPr lang="zh-CN" sz="2400" b="1">
              <a:solidFill>
                <a:srgbClr val="014B30">
                  <a:alpha val="100000"/>
                </a:srgbClr>
              </a:solidFill>
              <a:latin typeface="Arial" panose="020B0604020202020204"/>
              <a:ea typeface="微软雅黑" panose="020B0503020204020204" pitchFamily="34" charset="-122"/>
              <a:cs typeface="等线" panose="02010600030101010101" pitchFamily="2" charset="-122"/>
            </a:endParaRPr>
          </a:p>
          <a:p>
            <a:pPr algn="ctr">
              <a:lnSpc>
                <a:spcPct val="150000"/>
              </a:lnSpc>
            </a:pPr>
            <a:r>
              <a:rPr lang="en-US" altLang="zh-CN" sz="2400" b="1">
                <a:solidFill>
                  <a:srgbClr val="014B30">
                    <a:alpha val="100000"/>
                  </a:srgbClr>
                </a:solidFill>
                <a:latin typeface="Arial" panose="020B0604020202020204"/>
                <a:ea typeface="微软雅黑" panose="020B0503020204020204" pitchFamily="34" charset="-122"/>
                <a:cs typeface="等线" panose="02010600030101010101" pitchFamily="2" charset="-122"/>
              </a:rPr>
              <a:t>         2026.3.14</a:t>
            </a:r>
            <a:endParaRPr lang="en-US" altLang="zh-CN" sz="2400" b="1">
              <a:solidFill>
                <a:srgbClr val="014B30">
                  <a:alpha val="100000"/>
                </a:srgbClr>
              </a:solidFill>
              <a:latin typeface="Arial" panose="020B0604020202020204"/>
              <a:ea typeface="微软雅黑" panose="020B0503020204020204" pitchFamily="34" charset="-122"/>
              <a:cs typeface="等线" panose="02010600030101010101" pitchFamily="2" charset="-122"/>
            </a:endParaRPr>
          </a:p>
        </p:txBody>
      </p:sp>
      <p:cxnSp>
        <p:nvCxnSpPr>
          <p:cNvPr id="119" name="直接连接符 17"/>
          <p:cNvCxnSpPr/>
          <p:nvPr/>
        </p:nvCxnSpPr>
        <p:spPr>
          <a:xfrm>
            <a:off x="-249638" y="4893485"/>
            <a:ext cx="5256126" cy="0"/>
          </a:xfrm>
          <a:prstGeom prst="line">
            <a:avLst/>
          </a:prstGeom>
          <a:noFill/>
          <a:ln w="38100" cap="flat" cmpd="sng" algn="ctr">
            <a:solidFill>
              <a:srgbClr val="014B30"/>
            </a:solidFill>
            <a:prstDash val="solid"/>
            <a:miter lim="800000"/>
          </a:ln>
          <a:effectLst/>
        </p:spPr>
      </p:cxnSp>
      <p:cxnSp>
        <p:nvCxnSpPr>
          <p:cNvPr id="121" name="直接连接符 18"/>
          <p:cNvCxnSpPr>
            <a:stCxn id="120" idx="3"/>
          </p:cNvCxnSpPr>
          <p:nvPr/>
        </p:nvCxnSpPr>
        <p:spPr>
          <a:xfrm flipV="1">
            <a:off x="7238852" y="4889574"/>
            <a:ext cx="5386041" cy="4546"/>
          </a:xfrm>
          <a:prstGeom prst="line">
            <a:avLst/>
          </a:prstGeom>
          <a:noFill/>
          <a:ln w="38100" cap="flat" cmpd="sng" algn="ctr">
            <a:solidFill>
              <a:srgbClr val="014B30"/>
            </a:solidFill>
            <a:prstDash val="solid"/>
            <a:miter lim="800000"/>
          </a:ln>
          <a:effectLst/>
        </p:spPr>
      </p:cxnSp>
      <p:pic>
        <p:nvPicPr>
          <p:cNvPr id="120" name="图片 19"/>
          <p:cNvPicPr>
            <a:picLocks noChangeAspect="1"/>
          </p:cNvPicPr>
          <p:nvPr/>
        </p:nvPicPr>
        <p:blipFill>
          <a:blip r:embed="rId5"/>
          <a:srcRect/>
          <a:stretch>
            <a:fillRect/>
          </a:stretch>
        </p:blipFill>
        <p:spPr>
          <a:xfrm>
            <a:off x="4959498" y="4735775"/>
            <a:ext cx="2279354" cy="315419"/>
          </a:xfrm>
          <a:prstGeom prst="rect">
            <a:avLst/>
          </a:prstGeom>
        </p:spPr>
      </p:pic>
      <p:sp>
        <p:nvSpPr>
          <p:cNvPr id="2" name="文本框 1"/>
          <p:cNvSpPr txBox="1"/>
          <p:nvPr/>
        </p:nvSpPr>
        <p:spPr>
          <a:xfrm>
            <a:off x="707390" y="2660015"/>
            <a:ext cx="11188700" cy="579755"/>
          </a:xfrm>
          <a:prstGeom prst="rect">
            <a:avLst/>
          </a:prstGeom>
        </p:spPr>
        <p:txBody>
          <a:bodyPr>
            <a:noAutofit/>
          </a:bodyPr>
          <a:p>
            <a:r>
              <a:rPr lang="zh-CN" sz="8000" b="1">
                <a:solidFill>
                  <a:schemeClr val="bg1">
                    <a:alpha val="100000"/>
                  </a:schemeClr>
                </a:solidFill>
                <a:latin typeface="华文行楷" panose="02010800040101010101" charset="-122"/>
                <a:ea typeface="华文行楷" panose="02010800040101010101" charset="-122"/>
                <a:cs typeface="华文行楷" panose="02010800040101010101" charset="-122"/>
              </a:rPr>
              <a:t>恳请各位老师批评指正</a:t>
            </a:r>
            <a:endParaRPr lang="zh-CN" sz="8000" b="1">
              <a:solidFill>
                <a:schemeClr val="bg1">
                  <a:alpha val="100000"/>
                </a:schemeClr>
              </a:solidFill>
              <a:latin typeface="华文行楷" panose="02010800040101010101" charset="-122"/>
              <a:ea typeface="华文行楷" panose="02010800040101010101" charset="-122"/>
              <a:cs typeface="华文行楷" panose="02010800040101010101" charset="-122"/>
            </a:endParaRPr>
          </a:p>
        </p:txBody>
      </p:sp>
      <p:sp>
        <p:nvSpPr>
          <p:cNvPr id="507" name="文本框 1"/>
          <p:cNvSpPr txBox="1"/>
          <p:nvPr/>
        </p:nvSpPr>
        <p:spPr>
          <a:xfrm>
            <a:off x="4588510" y="1765935"/>
            <a:ext cx="3103245" cy="441960"/>
          </a:xfrm>
          <a:prstGeom prst="rect">
            <a:avLst/>
          </a:prstGeom>
        </p:spPr>
        <p:txBody>
          <a:bodyPr>
            <a:noAutofit/>
          </a:bodyPr>
          <a:p>
            <a:r>
              <a:rPr lang="en-US" sz="3600" b="1">
                <a:solidFill>
                  <a:schemeClr val="bg1">
                    <a:alpha val="100000"/>
                  </a:schemeClr>
                </a:solidFill>
                <a:latin typeface="演示流云楷"/>
                <a:ea typeface="演示流云楷"/>
                <a:cs typeface="+mn-cs"/>
              </a:rPr>
              <a:t>— THANKS —</a:t>
            </a:r>
            <a:endParaRPr lang="en-US" sz="3600" b="1">
              <a:solidFill>
                <a:schemeClr val="bg1">
                  <a:alpha val="100000"/>
                </a:schemeClr>
              </a:solidFill>
              <a:latin typeface="演示流云楷"/>
              <a:ea typeface="演示流云楷"/>
              <a:cs typeface="+mn-cs"/>
            </a:endParaRPr>
          </a:p>
        </p:txBody>
      </p:sp>
      <p:sp>
        <p:nvSpPr>
          <p:cNvPr id="4" name="文本框 3"/>
          <p:cNvSpPr txBox="1"/>
          <p:nvPr/>
        </p:nvSpPr>
        <p:spPr>
          <a:xfrm>
            <a:off x="3278505" y="5196205"/>
            <a:ext cx="5634990" cy="1198880"/>
          </a:xfrm>
          <a:prstGeom prst="rect">
            <a:avLst/>
          </a:prstGeom>
          <a:noFill/>
        </p:spPr>
        <p:txBody>
          <a:bodyPr wrap="square" rtlCol="0" anchor="t">
            <a:spAutoFit/>
          </a:bodyPr>
          <a:p>
            <a:pPr algn="ctr">
              <a:lnSpc>
                <a:spcPct val="150000"/>
              </a:lnSpc>
            </a:pPr>
            <a:r>
              <a:rPr lang="zh-CN" altLang="en-US" sz="2400">
                <a:solidFill>
                  <a:srgbClr val="00481C"/>
                </a:solidFill>
                <a:latin typeface="华文行楷" panose="02010800040101010101" charset="-122"/>
                <a:ea typeface="华文行楷" panose="02010800040101010101" charset="-122"/>
              </a:rPr>
              <a:t>集成大语言模型与知识图谱的</a:t>
            </a:r>
            <a:endParaRPr lang="zh-CN" altLang="en-US" sz="2400">
              <a:solidFill>
                <a:srgbClr val="00481C"/>
              </a:solidFill>
              <a:latin typeface="华文行楷" panose="02010800040101010101" charset="-122"/>
              <a:ea typeface="华文行楷" panose="02010800040101010101" charset="-122"/>
            </a:endParaRPr>
          </a:p>
          <a:p>
            <a:pPr algn="ctr">
              <a:lnSpc>
                <a:spcPct val="150000"/>
              </a:lnSpc>
            </a:pPr>
            <a:r>
              <a:rPr lang="zh-CN" altLang="en-US" sz="2400">
                <a:solidFill>
                  <a:srgbClr val="00481C"/>
                </a:solidFill>
                <a:latin typeface="华文行楷" panose="02010800040101010101" charset="-122"/>
                <a:ea typeface="华文行楷" panose="02010800040101010101" charset="-122"/>
              </a:rPr>
              <a:t>在线地图制图智能体研发</a:t>
            </a:r>
            <a:endParaRPr lang="zh-CN" altLang="en-US" sz="2400">
              <a:solidFill>
                <a:srgbClr val="00481C"/>
              </a:solidFill>
              <a:latin typeface="华文行楷" panose="02010800040101010101" charset="-122"/>
              <a:ea typeface="华文行楷" panose="02010800040101010101" charset="-122"/>
            </a:endParaRPr>
          </a:p>
        </p:txBody>
      </p:sp>
    </p:spTree>
  </p:cSld>
  <p:clrMapOvr>
    <a:masterClrMapping/>
  </p:clrMapOvr>
</p:sld>
</file>

<file path=ppt/tags/tag1.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2.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3.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4.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5.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6.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7.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8.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9.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10.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11.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12.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13.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14.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15.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16.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17.xml><?xml version="1.0" encoding="utf-8"?>
<p:tagLst xmlns:p="http://schemas.openxmlformats.org/presentationml/2006/main">
  <p:tag name="KSO_WM_DIAGRAM_VIRTUALLY_FRAME" val="{&quot;height&quot;:260,&quot;left&quot;:60,&quot;top&quot;:140,&quot;width&quot;:840}"/>
</p:tagLst>
</file>

<file path=ppt/tags/tag18.xml><?xml version="1.0" encoding="utf-8"?>
<p:tagLst xmlns:p="http://schemas.openxmlformats.org/presentationml/2006/main">
  <p:tag name="KSO_WM_DIAGRAM_VIRTUALLY_FRAME" val="{&quot;height&quot;:260,&quot;left&quot;:60,&quot;top&quot;:140,&quot;width&quot;:840}"/>
</p:tagLst>
</file>

<file path=ppt/tags/tag19.xml><?xml version="1.0" encoding="utf-8"?>
<p:tagLst xmlns:p="http://schemas.openxmlformats.org/presentationml/2006/main">
  <p:tag name="KSO_WM_DIAGRAM_VIRTUALLY_FRAME" val="{&quot;height&quot;:260,&quot;left&quot;:60,&quot;top&quot;:140,&quot;width&quot;:840}"/>
</p:tagLst>
</file>

<file path=ppt/tags/tag20.xml><?xml version="1.0" encoding="utf-8"?>
<p:tagLst xmlns:p="http://schemas.openxmlformats.org/presentationml/2006/main">
  <p:tag name="KSO_WM_DIAGRAM_VIRTUALLY_FRAME" val="{&quot;height&quot;:260,&quot;left&quot;:60,&quot;top&quot;:140,&quot;width&quot;:840}"/>
</p:tagLst>
</file>

<file path=ppt/tags/tag21.xml><?xml version="1.0" encoding="utf-8"?>
<p:tagLst xmlns:p="http://schemas.openxmlformats.org/presentationml/2006/main">
  <p:tag name="KSO_WM_DIAGRAM_VIRTUALLY_FRAME" val="{&quot;height&quot;:260,&quot;left&quot;:60,&quot;top&quot;:140,&quot;width&quot;:840}"/>
</p:tagLst>
</file>

<file path=ppt/tags/tag22.xml><?xml version="1.0" encoding="utf-8"?>
<p:tagLst xmlns:p="http://schemas.openxmlformats.org/presentationml/2006/main">
  <p:tag name="KSO_WM_DIAGRAM_VIRTUALLY_FRAME" val="{&quot;height&quot;:260,&quot;left&quot;:60,&quot;top&quot;:140,&quot;width&quot;:840}"/>
</p:tagLst>
</file>

<file path=ppt/tags/tag23.xml><?xml version="1.0" encoding="utf-8"?>
<p:tagLst xmlns:p="http://schemas.openxmlformats.org/presentationml/2006/main">
  <p:tag name="KSO_WM_DIAGRAM_VIRTUALLY_FRAME" val="{&quot;height&quot;:260,&quot;left&quot;:60,&quot;top&quot;:140,&quot;width&quot;:840}"/>
</p:tagLst>
</file>

<file path=ppt/tags/tag24.xml><?xml version="1.0" encoding="utf-8"?>
<p:tagLst xmlns:p="http://schemas.openxmlformats.org/presentationml/2006/main">
  <p:tag name="KSO_WM_DIAGRAM_VIRTUALLY_FRAME" val="{&quot;height&quot;:260,&quot;left&quot;:60,&quot;top&quot;:140,&quot;width&quot;:840}"/>
</p:tagLst>
</file>

<file path=ppt/tags/tag25.xml><?xml version="1.0" encoding="utf-8"?>
<p:tagLst xmlns:p="http://schemas.openxmlformats.org/presentationml/2006/main">
  <p:tag name="KSO_WM_DIAGRAM_VIRTUALLY_FRAME" val="{&quot;height&quot;:260,&quot;left&quot;:60,&quot;top&quot;:140,&quot;width&quot;:840}"/>
</p:tagLst>
</file>

<file path=ppt/tags/tag26.xml><?xml version="1.0" encoding="utf-8"?>
<p:tagLst xmlns:p="http://schemas.openxmlformats.org/presentationml/2006/main">
  <p:tag name="KSO_WM_DIAGRAM_VIRTUALLY_FRAME" val="{&quot;height&quot;:260,&quot;left&quot;:60,&quot;top&quot;:140,&quot;width&quot;:840}"/>
</p:tagLst>
</file>

<file path=ppt/tags/tag27.xml><?xml version="1.0" encoding="utf-8"?>
<p:tagLst xmlns:p="http://schemas.openxmlformats.org/presentationml/2006/main">
  <p:tag name="KSO_WM_DIAGRAM_VIRTUALLY_FRAME" val="{&quot;height&quot;:260,&quot;left&quot;:60,&quot;top&quot;:140,&quot;width&quot;:840}"/>
</p:tagLst>
</file>

<file path=ppt/tags/tag28.xml><?xml version="1.0" encoding="utf-8"?>
<p:tagLst xmlns:p="http://schemas.openxmlformats.org/presentationml/2006/main">
  <p:tag name="KSO_WM_DIAGRAM_VIRTUALLY_FRAME" val="{&quot;height&quot;:260,&quot;left&quot;:60,&quot;top&quot;:140,&quot;width&quot;:840}"/>
</p:tagLst>
</file>

<file path=ppt/tags/tag29.xml><?xml version="1.0" encoding="utf-8"?>
<p:tagLst xmlns:p="http://schemas.openxmlformats.org/presentationml/2006/main">
  <p:tag name="KSO_WM_DIAGRAM_VIRTUALLY_FRAME" val="{&quot;height&quot;:223.65,&quot;left&quot;:42.3,&quot;top&quot;:140.65,&quot;width&quot;:362.5}"/>
</p:tagLst>
</file>

<file path=ppt/tags/tag30.xml><?xml version="1.0" encoding="utf-8"?>
<p:tagLst xmlns:p="http://schemas.openxmlformats.org/presentationml/2006/main">
  <p:tag name="KSO_WM_DIAGRAM_VIRTUALLY_FRAME" val="{&quot;height&quot;:223.65,&quot;left&quot;:42.3,&quot;top&quot;:140.65,&quot;width&quot;:362.5}"/>
</p:tagLst>
</file>

<file path=ppt/tags/tag31.xml><?xml version="1.0" encoding="utf-8"?>
<p:tagLst xmlns:p="http://schemas.openxmlformats.org/presentationml/2006/main">
  <p:tag name="KSO_WM_DIAGRAM_VIRTUALLY_FRAME" val="{&quot;height&quot;:223.65,&quot;left&quot;:42.3,&quot;top&quot;:140.65,&quot;width&quot;:362.5}"/>
</p:tagLst>
</file>

<file path=ppt/tags/tag32.xml><?xml version="1.0" encoding="utf-8"?>
<p:tagLst xmlns:p="http://schemas.openxmlformats.org/presentationml/2006/main">
  <p:tag name="KSO_WM_DIAGRAM_VIRTUALLY_FRAME" val="{&quot;height&quot;:223.65,&quot;left&quot;:42.3,&quot;top&quot;:140.65,&quot;width&quot;:362.5}"/>
</p:tagLst>
</file>

<file path=ppt/tags/tag33.xml><?xml version="1.0" encoding="utf-8"?>
<p:tagLst xmlns:p="http://schemas.openxmlformats.org/presentationml/2006/main">
  <p:tag name="KSO_WM_DIAGRAM_VIRTUALLY_FRAME" val="{&quot;height&quot;:223.65,&quot;left&quot;:42.3,&quot;top&quot;:140.65,&quot;width&quot;:362.5}"/>
</p:tagLst>
</file>

<file path=ppt/tags/tag34.xml><?xml version="1.0" encoding="utf-8"?>
<p:tagLst xmlns:p="http://schemas.openxmlformats.org/presentationml/2006/main">
  <p:tag name="KSO_WM_DIAGRAM_VIRTUALLY_FRAME" val="{&quot;height&quot;:223.65,&quot;left&quot;:42.3,&quot;top&quot;:140.65,&quot;width&quot;:362.5}"/>
</p:tagLst>
</file>

<file path=ppt/tags/tag35.xml><?xml version="1.0" encoding="utf-8"?>
<p:tagLst xmlns:p="http://schemas.openxmlformats.org/presentationml/2006/main">
  <p:tag name="TABLE_ENDDRAG_ORIGIN_RECT" val="883*374"/>
  <p:tag name="TABLE_ENDDRAG_RECT" val="24*107*883*374"/>
</p:tagLst>
</file>

<file path=ppt/tags/tag36.xml><?xml version="1.0" encoding="utf-8"?>
<p:tagLst xmlns:p="http://schemas.openxmlformats.org/presentationml/2006/main">
  <p:tag name="KSO_WM_DIAGRAM_VIRTUALLY_FRAME" val="{&quot;height&quot;:376.2,&quot;left&quot;:46.95,&quot;top&quot;:150.6,&quot;width&quot;:948.4}"/>
</p:tagLst>
</file>

<file path=ppt/tags/tag37.xml><?xml version="1.0" encoding="utf-8"?>
<p:tagLst xmlns:p="http://schemas.openxmlformats.org/presentationml/2006/main">
  <p:tag name="KSO_WM_DIAGRAM_VIRTUALLY_FRAME" val="{&quot;height&quot;:376.2,&quot;left&quot;:46.95,&quot;top&quot;:150.6,&quot;width&quot;:948.4}"/>
</p:tagLst>
</file>

<file path=ppt/tags/tag38.xml><?xml version="1.0" encoding="utf-8"?>
<p:tagLst xmlns:p="http://schemas.openxmlformats.org/presentationml/2006/main">
  <p:tag name="KSO_WM_DIAGRAM_VIRTUALLY_FRAME" val="{&quot;height&quot;:376.2,&quot;left&quot;:46.95,&quot;top&quot;:150.6,&quot;width&quot;:948.4}"/>
</p:tagLst>
</file>

<file path=ppt/tags/tag39.xml><?xml version="1.0" encoding="utf-8"?>
<p:tagLst xmlns:p="http://schemas.openxmlformats.org/presentationml/2006/main">
  <p:tag name="KSO_WM_DIAGRAM_VIRTUALLY_FRAME" val="{&quot;height&quot;:376.2,&quot;left&quot;:46.95,&quot;top&quot;:150.6,&quot;width&quot;:948.4}"/>
</p:tagLst>
</file>

<file path=ppt/tags/tag40.xml><?xml version="1.0" encoding="utf-8"?>
<p:tagLst xmlns:p="http://schemas.openxmlformats.org/presentationml/2006/main">
  <p:tag name="KSO_WM_DIAGRAM_VIRTUALLY_FRAME" val="{&quot;height&quot;:376.2,&quot;left&quot;:46.95,&quot;top&quot;:150.6,&quot;width&quot;:948.4}"/>
</p:tagLst>
</file>

<file path=ppt/tags/tag41.xml><?xml version="1.0" encoding="utf-8"?>
<p:tagLst xmlns:p="http://schemas.openxmlformats.org/presentationml/2006/main">
  <p:tag name="KSO_WM_DIAGRAM_VIRTUALLY_FRAME" val="{&quot;height&quot;:376.2,&quot;left&quot;:46.95,&quot;top&quot;:150.6,&quot;width&quot;:948.4}"/>
</p:tagLst>
</file>

<file path=ppt/tags/tag42.xml><?xml version="1.0" encoding="utf-8"?>
<p:tagLst xmlns:p="http://schemas.openxmlformats.org/presentationml/2006/main">
  <p:tag name="KSO_WM_DIAGRAM_VIRTUALLY_FRAME" val="{&quot;height&quot;:376.2,&quot;left&quot;:46.95,&quot;top&quot;:150.6,&quot;width&quot;:948.4}"/>
</p:tagLst>
</file>

<file path=ppt/tags/tag43.xml><?xml version="1.0" encoding="utf-8"?>
<p:tagLst xmlns:p="http://schemas.openxmlformats.org/presentationml/2006/main">
  <p:tag name="KSO_WM_DIAGRAM_VIRTUALLY_FRAME" val="{&quot;height&quot;:376.2,&quot;left&quot;:46.95,&quot;top&quot;:150.6,&quot;width&quot;:948.4}"/>
</p:tagLst>
</file>

<file path=ppt/tags/tag44.xml><?xml version="1.0" encoding="utf-8"?>
<p:tagLst xmlns:p="http://schemas.openxmlformats.org/presentationml/2006/main">
  <p:tag name="KSO_WM_DIAGRAM_VIRTUALLY_FRAME" val="{&quot;height&quot;:410,&quot;left&quot;:40,&quot;top&quot;:90,&quot;width&quot;:430}"/>
</p:tagLst>
</file>

<file path=ppt/tags/tag45.xml><?xml version="1.0" encoding="utf-8"?>
<p:tagLst xmlns:p="http://schemas.openxmlformats.org/presentationml/2006/main">
  <p:tag name="KSO_WM_DIAGRAM_VIRTUALLY_FRAME" val="{&quot;height&quot;:410,&quot;left&quot;:40,&quot;top&quot;:90,&quot;width&quot;:430}"/>
</p:tagLst>
</file>

<file path=ppt/tags/tag46.xml><?xml version="1.0" encoding="utf-8"?>
<p:tagLst xmlns:p="http://schemas.openxmlformats.org/presentationml/2006/main">
  <p:tag name="KSO_WM_DIAGRAM_VIRTUALLY_FRAME" val="{&quot;height&quot;:410,&quot;left&quot;:40,&quot;top&quot;:90,&quot;width&quot;:430}"/>
</p:tagLst>
</file>

<file path=ppt/tags/tag47.xml><?xml version="1.0" encoding="utf-8"?>
<p:tagLst xmlns:p="http://schemas.openxmlformats.org/presentationml/2006/main">
  <p:tag name="KSO_WM_DIAGRAM_VIRTUALLY_FRAME" val="{&quot;height&quot;:410,&quot;left&quot;:40,&quot;top&quot;:90,&quot;width&quot;:430}"/>
</p:tagLst>
</file>

<file path=ppt/tags/tag48.xml><?xml version="1.0" encoding="utf-8"?>
<p:tagLst xmlns:p="http://schemas.openxmlformats.org/presentationml/2006/main">
  <p:tag name="KSO_WM_DIAGRAM_VIRTUALLY_FRAME" val="{&quot;height&quot;:410,&quot;left&quot;:40,&quot;top&quot;:90,&quot;width&quot;:430}"/>
</p:tagLst>
</file>

<file path=ppt/tags/tag49.xml><?xml version="1.0" encoding="utf-8"?>
<p:tagLst xmlns:p="http://schemas.openxmlformats.org/presentationml/2006/main">
  <p:tag name="KSO_WM_DIAGRAM_VIRTUALLY_FRAME" val="{&quot;height&quot;:410,&quot;left&quot;:40,&quot;top&quot;:90,&quot;width&quot;:430}"/>
</p:tagLst>
</file>

<file path=ppt/tags/tag50.xml><?xml version="1.0" encoding="utf-8"?>
<p:tagLst xmlns:p="http://schemas.openxmlformats.org/presentationml/2006/main">
  <p:tag name="KSO_WM_DIAGRAM_VIRTUALLY_FRAME" val="{&quot;height&quot;:410,&quot;left&quot;:40,&quot;top&quot;:90,&quot;width&quot;:430}"/>
</p:tagLst>
</file>

<file path=ppt/tags/tag51.xml><?xml version="1.0" encoding="utf-8"?>
<p:tagLst xmlns:p="http://schemas.openxmlformats.org/presentationml/2006/main">
  <p:tag name="KSO_WM_DIAGRAM_VIRTUALLY_FRAME" val="{&quot;height&quot;:410,&quot;left&quot;:40,&quot;top&quot;:90,&quot;width&quot;:430}"/>
</p:tagLst>
</file>

<file path=ppt/tags/tag52.xml><?xml version="1.0" encoding="utf-8"?>
<p:tagLst xmlns:p="http://schemas.openxmlformats.org/presentationml/2006/main">
  <p:tag name="KSO_WM_DIAGRAM_VIRTUALLY_FRAME" val="{&quot;height&quot;:410,&quot;left&quot;:40,&quot;top&quot;:90,&quot;width&quot;:430}"/>
</p:tagLst>
</file>

<file path=ppt/tags/tag53.xml><?xml version="1.0" encoding="utf-8"?>
<p:tagLst xmlns:p="http://schemas.openxmlformats.org/presentationml/2006/main">
  <p:tag name="KSO_WM_DIAGRAM_VIRTUALLY_FRAME" val="{&quot;height&quot;:410,&quot;left&quot;:40,&quot;top&quot;:90,&quot;width&quot;:430}"/>
</p:tagLst>
</file>

<file path=ppt/tags/tag54.xml><?xml version="1.0" encoding="utf-8"?>
<p:tagLst xmlns:p="http://schemas.openxmlformats.org/presentationml/2006/main">
  <p:tag name="KSO_WM_DIAGRAM_VIRTUALLY_FRAME" val="{&quot;height&quot;:410,&quot;left&quot;:40,&quot;top&quot;:90,&quot;width&quot;:430}"/>
</p:tagLst>
</file>

<file path=ppt/tags/tag55.xml><?xml version="1.0" encoding="utf-8"?>
<p:tagLst xmlns:p="http://schemas.openxmlformats.org/presentationml/2006/main">
  <p:tag name="KSO_WM_DIAGRAM_VIRTUALLY_FRAME" val="{&quot;height&quot;:430.95,&quot;left&quot;:46.00062992125984,&quot;top&quot;:80.1,&quot;width&quot;:785.4993700787402}"/>
</p:tagLst>
</file>

<file path=ppt/tags/tag56.xml><?xml version="1.0" encoding="utf-8"?>
<p:tagLst xmlns:p="http://schemas.openxmlformats.org/presentationml/2006/main">
  <p:tag name="KSO_WM_DIAGRAM_VIRTUALLY_FRAME" val="{&quot;height&quot;:430.95,&quot;left&quot;:46.00062992125984,&quot;top&quot;:80.1,&quot;width&quot;:785.4993700787402}"/>
</p:tagLst>
</file>

<file path=ppt/tags/tag57.xml><?xml version="1.0" encoding="utf-8"?>
<p:tagLst xmlns:p="http://schemas.openxmlformats.org/presentationml/2006/main">
  <p:tag name="KSO_WM_DIAGRAM_VIRTUALLY_FRAME" val="{&quot;height&quot;:430.95,&quot;left&quot;:46.00062992125984,&quot;top&quot;:80.1,&quot;width&quot;:785.4993700787402}"/>
</p:tagLst>
</file>

<file path=ppt/tags/tag58.xml><?xml version="1.0" encoding="utf-8"?>
<p:tagLst xmlns:p="http://schemas.openxmlformats.org/presentationml/2006/main">
  <p:tag name="KSO_WM_DIAGRAM_VIRTUALLY_FRAME" val="{&quot;height&quot;:430.95,&quot;left&quot;:46.00062992125984,&quot;top&quot;:80.1,&quot;width&quot;:785.4993700787402}"/>
</p:tagLst>
</file>

<file path=ppt/tags/tag59.xml><?xml version="1.0" encoding="utf-8"?>
<p:tagLst xmlns:p="http://schemas.openxmlformats.org/presentationml/2006/main">
  <p:tag name="KSO_WM_DIAGRAM_VIRTUALLY_FRAME" val="{&quot;height&quot;:430.95,&quot;left&quot;:46.00062992125984,&quot;top&quot;:80.1,&quot;width&quot;:785.4993700787402}"/>
</p:tagLst>
</file>

<file path=ppt/tags/tag60.xml><?xml version="1.0" encoding="utf-8"?>
<p:tagLst xmlns:p="http://schemas.openxmlformats.org/presentationml/2006/main">
  <p:tag name="KSO_WM_DIAGRAM_VIRTUALLY_FRAME" val="{&quot;height&quot;:430.95,&quot;left&quot;:46.00062992125984,&quot;top&quot;:80.1,&quot;width&quot;:785.4993700787402}"/>
</p:tagLst>
</file>

<file path=ppt/tags/tag61.xml><?xml version="1.0" encoding="utf-8"?>
<p:tagLst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GUIDESSETTING" val="{&quot;Id&quot;:&quot;GuidesStyle_Normal&quot;,&quot;Name&quot;:&quot;正常&quot;,&quot;HeaderHeight&quot;:15.0,&quot;FooterHeight&quot;:9.0,&quot;SideMargin&quot;:5.5,&quot;TopMargin&quot;:0.0,&quot;BottomMargin&quot;:0.0,&quot;IntervalMargin&quot;:1.5}"/>
  <p:tag name="ISLIDE.THEME" val="225bf695-daa2-4759-97b7-6398e4bba18c"/>
  <p:tag name="THINKCELLUNDODONOTDELETE" val="0"/>
  <p:tag name="ISLIDE.TEMPLATE" val="#477685"/>
  <p:tag name="resource_record_key" val="{&quot;10&quot;:[21565025,4590357,50048862,4590358,4590359,4587606,4587607,4587609],&quot;19&quot;:[20348542],&quot;29&quot;:[50000076,50000059]}"/>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4574</Words>
  <Application>WPS 演示</Application>
  <PresentationFormat>宽屏</PresentationFormat>
  <Paragraphs>660</Paragraphs>
  <Slides>27</Slides>
  <Notes>42</Notes>
  <HiddenSlides>1</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27</vt:i4>
      </vt:variant>
    </vt:vector>
  </HeadingPairs>
  <TitlesOfParts>
    <vt:vector size="44" baseType="lpstr">
      <vt:lpstr>Arial</vt:lpstr>
      <vt:lpstr>宋体</vt:lpstr>
      <vt:lpstr>Wingdings</vt:lpstr>
      <vt:lpstr>微软雅黑</vt:lpstr>
      <vt:lpstr>Arial</vt:lpstr>
      <vt:lpstr>Calibri</vt:lpstr>
      <vt:lpstr>等线</vt:lpstr>
      <vt:lpstr>Calibri</vt:lpstr>
      <vt:lpstr>微软雅黑 Light</vt:lpstr>
      <vt:lpstr>华文行楷</vt:lpstr>
      <vt:lpstr>Noto Sans SC</vt:lpstr>
      <vt:lpstr>Wingdings</vt:lpstr>
      <vt:lpstr>Arial Unicode MS</vt:lpstr>
      <vt:lpstr>等线 Light</vt:lpstr>
      <vt:lpstr>Times New Roman</vt:lpstr>
      <vt:lpstr>演示流云楷</vt:lpstr>
      <vt:lpstr>Office 主题​​</vt:lpstr>
      <vt:lpstr>PowerPoint 演示文稿</vt:lpstr>
      <vt:lpstr>PowerPoint 演示文稿</vt:lpstr>
      <vt:lpstr>PART 1</vt:lpstr>
      <vt:lpstr>PowerPoint 演示文稿</vt:lpstr>
      <vt:lpstr>PowerPoint 演示文稿</vt:lpstr>
      <vt:lpstr>PowerPoint 演示文稿</vt:lpstr>
      <vt:lpstr>PART 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PART 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PART 4</vt:lpstr>
      <vt:lpstr>PowerPoint 演示文稿</vt:lpstr>
      <vt:lpstr>PowerPoint 演示文稿</vt:lpstr>
    </vt:vector>
  </TitlesOfParts>
  <Company>iSlide</Company>
  <LinksUpToDate>false</LinksUpToDate>
  <SharedDoc>false</SharedDoc>
  <HyperlinksChanged>false</HyperlinksChanged>
  <AppVersion>14.0000</AppVersion>
  <Manager>iSlide</Manager>
  <HyperlinkBase>https://www.islide.cc</HyperlinkBase>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利用主成分地理加权随机森林 探究建成环境对城市交通拥堵的影响</dc:title>
  <dc:creator>菠萝煮茶</dc:creator>
  <cp:lastModifiedBy>秦潞杰</cp:lastModifiedBy>
  <cp:revision>194</cp:revision>
  <cp:lastPrinted>2025-04-21T12:54:00Z</cp:lastPrinted>
  <dcterms:created xsi:type="dcterms:W3CDTF">2025-04-21T14:21:00Z</dcterms:created>
  <dcterms:modified xsi:type="dcterms:W3CDTF">2026-03-12T12:18:11Z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Slide.TEMPLATE">
    <vt:lpwstr>67a787e4-bbb0-4b7b-a406-d39e9dc1117d</vt:lpwstr>
  </property>
  <property fmtid="{D5CDD505-2E9C-101B-9397-08002B2CF9AE}" pid="4" name="ICV">
    <vt:lpwstr>9C55DE36FAF749099DBBA1CD4CB4A9FB_13</vt:lpwstr>
  </property>
  <property fmtid="{D5CDD505-2E9C-101B-9397-08002B2CF9AE}" pid="5" name="KSOProductBuildVer">
    <vt:lpwstr>2052-12.1.0.23542</vt:lpwstr>
  </property>
</Properties>
</file>