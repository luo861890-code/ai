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wdp" ContentType="image/vnd.ms-photo"/>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media/image19.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1"/>
  </p:sldMasterIdLst>
  <p:notesMasterIdLst>
    <p:notesMasterId r:id="rId6"/>
  </p:notesMasterIdLst>
  <p:handoutMasterIdLst>
    <p:handoutMasterId r:id="rId30"/>
  </p:handoutMasterIdLst>
  <p:sldIdLst>
    <p:sldId id="1946" r:id="rId3"/>
    <p:sldId id="1947" r:id="rId4"/>
    <p:sldId id="1949" r:id="rId5"/>
    <p:sldId id="1953" r:id="rId7"/>
    <p:sldId id="1955" r:id="rId8"/>
    <p:sldId id="1956" r:id="rId9"/>
    <p:sldId id="1957" r:id="rId10"/>
    <p:sldId id="1958" r:id="rId11"/>
    <p:sldId id="1959" r:id="rId12"/>
    <p:sldId id="1960" r:id="rId13"/>
    <p:sldId id="1983" r:id="rId14"/>
    <p:sldId id="1970" r:id="rId15"/>
    <p:sldId id="1968" r:id="rId16"/>
    <p:sldId id="1969" r:id="rId17"/>
    <p:sldId id="1973" r:id="rId18"/>
    <p:sldId id="1974" r:id="rId19"/>
    <p:sldId id="1975" r:id="rId20"/>
    <p:sldId id="1976" r:id="rId21"/>
    <p:sldId id="1977" r:id="rId22"/>
    <p:sldId id="1972" r:id="rId23"/>
    <p:sldId id="1971" r:id="rId24"/>
    <p:sldId id="1978" r:id="rId25"/>
    <p:sldId id="1979" r:id="rId26"/>
    <p:sldId id="1981" r:id="rId27"/>
    <p:sldId id="1980" r:id="rId28"/>
    <p:sldId id="1952" r:id="rId29"/>
  </p:sldIdLst>
  <p:sldSz cx="12192000" cy="6858000"/>
  <p:notesSz cx="9928225" cy="6797675"/>
  <p:embeddedFontLst>
    <p:embeddedFont>
      <p:font typeface="Calibri" panose="020F0502020204030204" pitchFamily="34" charset="0"/>
      <p:regular r:id="rId35"/>
      <p:bold r:id="rId36"/>
      <p:italic r:id="rId37"/>
      <p:boldItalic r:id="rId38"/>
    </p:embeddedFont>
    <p:embeddedFont>
      <p:font typeface="微软雅黑" panose="020B0503020204020204" pitchFamily="34" charset="-122"/>
      <p:regular r:id="rId39"/>
    </p:embeddedFont>
    <p:embeddedFont>
      <p:font typeface="等线" panose="02010600030101010101" pitchFamily="2" charset="-122"/>
      <p:regular r:id="rId40"/>
    </p:embeddedFont>
    <p:embeddedFont>
      <p:font typeface="标准粗黑" panose="02000503000000000000" charset="-122"/>
      <p:regular r:id="rId41"/>
    </p:embeddedFont>
    <p:embeddedFont>
      <p:font typeface="Calibri" panose="020F0502020204030204"/>
      <p:regular r:id="rId42"/>
      <p:bold r:id="rId43"/>
      <p:italic r:id="rId44"/>
      <p:boldItalic r:id="rId45"/>
    </p:embeddedFont>
    <p:embeddedFont>
      <p:font typeface="等线 Light" panose="02010600030101010101" charset="-122"/>
      <p:regular r:id="rId46"/>
    </p:embeddedFont>
    <p:embeddedFont>
      <p:font typeface="华文行楷" panose="02010800040101010101" charset="-122"/>
      <p:regular r:id="rId47"/>
    </p:embeddedFont>
  </p:embeddedFontLst>
  <p:custDataLst>
    <p:tags r:id="rId4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609" userDrawn="1">
          <p15:clr>
            <a:srgbClr val="A4A3A4"/>
          </p15:clr>
        </p15:guide>
        <p15:guide id="2" pos="3840" userDrawn="1">
          <p15:clr>
            <a:srgbClr val="A4A3A4"/>
          </p15:clr>
        </p15:guide>
        <p15:guide id="3" orient="horz" pos="89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李伯钊" initials="李伯钊"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825"/>
    <a:srgbClr val="04640B"/>
    <a:srgbClr val="CC9B00"/>
    <a:srgbClr val="E24E0C"/>
    <a:srgbClr val="06A211"/>
    <a:srgbClr val="1E2678"/>
    <a:srgbClr val="ECEFF4"/>
    <a:srgbClr val="2C1E5C"/>
    <a:srgbClr val="A20000"/>
    <a:srgbClr val="A4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72" autoAdjust="0"/>
    <p:restoredTop sz="80245" autoAdjust="0"/>
  </p:normalViewPr>
  <p:slideViewPr>
    <p:cSldViewPr snapToGrid="0" showGuides="1">
      <p:cViewPr varScale="1">
        <p:scale>
          <a:sx n="88" d="100"/>
          <a:sy n="88" d="100"/>
        </p:scale>
        <p:origin x="912" y="72"/>
      </p:cViewPr>
      <p:guideLst>
        <p:guide orient="horz" pos="2609"/>
        <p:guide pos="3840"/>
        <p:guide orient="horz" pos="892"/>
      </p:guideLst>
    </p:cSldViewPr>
  </p:slideViewPr>
  <p:notesTextViewPr>
    <p:cViewPr>
      <p:scale>
        <a:sx n="3" d="2"/>
        <a:sy n="3" d="2"/>
      </p:scale>
      <p:origin x="0" y="0"/>
    </p:cViewPr>
  </p:notesTextViewPr>
  <p:sorterViewPr>
    <p:cViewPr varScale="1">
      <p:scale>
        <a:sx n="1" d="1"/>
        <a:sy n="1" d="1"/>
      </p:scale>
      <p:origin x="0" y="0"/>
    </p:cViewPr>
  </p:sorterViewPr>
  <p:notesViewPr>
    <p:cSldViewPr snapToGrid="0">
      <p:cViewPr varScale="1">
        <p:scale>
          <a:sx n="80" d="100"/>
          <a:sy n="80" d="100"/>
        </p:scale>
        <p:origin x="3204" y="9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8" Type="http://schemas.openxmlformats.org/officeDocument/2006/relationships/tags" Target="tags/tag58.xml"/><Relationship Id="rId47" Type="http://schemas.openxmlformats.org/officeDocument/2006/relationships/font" Target="fonts/font13.fntdata"/><Relationship Id="rId46" Type="http://schemas.openxmlformats.org/officeDocument/2006/relationships/font" Target="fonts/font12.fntdata"/><Relationship Id="rId45" Type="http://schemas.openxmlformats.org/officeDocument/2006/relationships/font" Target="fonts/font11.fntdata"/><Relationship Id="rId44" Type="http://schemas.openxmlformats.org/officeDocument/2006/relationships/font" Target="fonts/font10.fntdata"/><Relationship Id="rId43" Type="http://schemas.openxmlformats.org/officeDocument/2006/relationships/font" Target="fonts/font9.fntdata"/><Relationship Id="rId42" Type="http://schemas.openxmlformats.org/officeDocument/2006/relationships/font" Target="fonts/font8.fntdata"/><Relationship Id="rId41" Type="http://schemas.openxmlformats.org/officeDocument/2006/relationships/font" Target="fonts/font7.fntdata"/><Relationship Id="rId40" Type="http://schemas.openxmlformats.org/officeDocument/2006/relationships/font" Target="fonts/font6.fntdata"/><Relationship Id="rId4" Type="http://schemas.openxmlformats.org/officeDocument/2006/relationships/slide" Target="slides/slide2.xml"/><Relationship Id="rId39" Type="http://schemas.openxmlformats.org/officeDocument/2006/relationships/font" Target="fonts/font5.fntdata"/><Relationship Id="rId38" Type="http://schemas.openxmlformats.org/officeDocument/2006/relationships/font" Target="fonts/font4.fntdata"/><Relationship Id="rId37" Type="http://schemas.openxmlformats.org/officeDocument/2006/relationships/font" Target="fonts/font3.fntdata"/><Relationship Id="rId36" Type="http://schemas.openxmlformats.org/officeDocument/2006/relationships/font" Target="fonts/font2.fntdata"/><Relationship Id="rId35" Type="http://schemas.openxmlformats.org/officeDocument/2006/relationships/font" Target="fonts/font1.fntdata"/><Relationship Id="rId34" Type="http://schemas.openxmlformats.org/officeDocument/2006/relationships/commentAuthors" Target="commentAuthors.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handoutMaster" Target="handoutMasters/handoutMaster1.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4302231" cy="341064"/>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623697" y="1"/>
            <a:ext cx="4302231" cy="341064"/>
          </a:xfrm>
          <a:prstGeom prst="rect">
            <a:avLst/>
          </a:prstGeom>
        </p:spPr>
        <p:txBody>
          <a:bodyPr vert="horz" lIns="91440" tIns="45720" rIns="91440" bIns="45720" rtlCol="0"/>
          <a:lstStyle>
            <a:lvl1pPr algn="r">
              <a:defRPr sz="1200"/>
            </a:lvl1pPr>
          </a:lstStyle>
          <a:p>
            <a:fld id="{B478E0E4-DC06-4041-AFA7-BB6F527FFA3F}" type="datetimeFigureOut">
              <a:rPr lang="zh-CN" altLang="en-US" smtClean="0"/>
            </a:fld>
            <a:endParaRPr lang="zh-CN" altLang="en-US"/>
          </a:p>
        </p:txBody>
      </p:sp>
      <p:sp>
        <p:nvSpPr>
          <p:cNvPr id="4" name="页脚占位符 3"/>
          <p:cNvSpPr>
            <a:spLocks noGrp="1"/>
          </p:cNvSpPr>
          <p:nvPr>
            <p:ph type="ftr" sz="quarter" idx="2"/>
          </p:nvPr>
        </p:nvSpPr>
        <p:spPr>
          <a:xfrm>
            <a:off x="0" y="6456612"/>
            <a:ext cx="4302231" cy="341063"/>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623697" y="6456612"/>
            <a:ext cx="4302231" cy="341063"/>
          </a:xfrm>
          <a:prstGeom prst="rect">
            <a:avLst/>
          </a:prstGeom>
        </p:spPr>
        <p:txBody>
          <a:bodyPr vert="horz" lIns="91440" tIns="45720" rIns="91440" bIns="45720" rtlCol="0" anchor="b"/>
          <a:lstStyle>
            <a:lvl1pPr algn="r">
              <a:defRPr sz="1200"/>
            </a:lvl1pPr>
          </a:lstStyle>
          <a:p>
            <a:fld id="{B14B7432-8BB0-4EFA-A417-EFCDC17B2811}"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4302231" cy="341064"/>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623697" y="1"/>
            <a:ext cx="4302231" cy="341064"/>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925763" y="849313"/>
            <a:ext cx="4076700" cy="229393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92823" y="3271381"/>
            <a:ext cx="7942580" cy="2676585"/>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6456612"/>
            <a:ext cx="4302231" cy="3410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623697" y="6456612"/>
            <a:ext cx="4302231" cy="341063"/>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25" name="幻灯片图像占位符 1"/>
          <p:cNvSpPr>
            <a:spLocks noGrp="1"/>
          </p:cNvSpPr>
          <p:nvPr>
            <p:ph type="sldImg" idx="2"/>
          </p:nvPr>
        </p:nvSpPr>
        <p:spPr/>
        <p:txBody>
          <a:bodyPr/>
          <a:p/>
        </p:txBody>
      </p:sp>
      <p:sp>
        <p:nvSpPr>
          <p:cNvPr id="26"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7" name=""/>
        <p:cNvGrpSpPr/>
        <p:nvPr/>
      </p:nvGrpSpPr>
      <p:grpSpPr>
        <a:xfrm>
          <a:off x="0" y="0"/>
          <a:ext cx="0" cy="0"/>
          <a:chOff x="0" y="0"/>
          <a:chExt cx="0" cy="0"/>
        </a:xfrm>
      </p:grpSpPr>
      <p:sp>
        <p:nvSpPr>
          <p:cNvPr id="8" name="标题 1"/>
          <p:cNvSpPr>
            <a:spLocks noGrp="1"/>
          </p:cNvSpPr>
          <p:nvPr>
            <p:ph type="title"/>
          </p:nvPr>
        </p:nvSpPr>
        <p:spPr/>
        <p:txBody>
          <a:bodyPr/>
          <a:lstStyle/>
          <a:p>
            <a:r>
              <a:rPr lang="zh-CN" altLang="en-US"/>
              <a:t>单击此处编辑母版标题样式</a:t>
            </a:r>
            <a:endParaRPr lang="zh-CN" altLang="en-US"/>
          </a:p>
        </p:txBody>
      </p:sp>
      <p:sp>
        <p:nvSpPr>
          <p:cNvPr id="9"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 name="日期占位符 3"/>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11" name="页脚占位符 4"/>
          <p:cNvSpPr>
            <a:spLocks noGrp="1"/>
          </p:cNvSpPr>
          <p:nvPr>
            <p:ph type="ftr" sz="quarter" idx="11"/>
          </p:nvPr>
        </p:nvSpPr>
        <p:spPr/>
        <p:txBody>
          <a:bodyPr/>
          <a:lstStyle/>
          <a:p>
            <a:endParaRPr lang="zh-CN" altLang="en-US"/>
          </a:p>
        </p:txBody>
      </p:sp>
      <p:sp>
        <p:nvSpPr>
          <p:cNvPr id="12" name="灯片编号占位符 5"/>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节标题">
    <p:spTree>
      <p:nvGrpSpPr>
        <p:cNvPr id="19" name=""/>
        <p:cNvGrpSpPr/>
        <p:nvPr/>
      </p:nvGrpSpPr>
      <p:grpSpPr>
        <a:xfrm>
          <a:off x="0" y="0"/>
          <a:ext cx="0" cy="0"/>
          <a:chOff x="0" y="0"/>
          <a:chExt cx="0" cy="0"/>
        </a:xfrm>
      </p:grpSpPr>
      <p:sp>
        <p:nvSpPr>
          <p:cNvPr id="20"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21"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22" name="日期占位符 3"/>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23" name="页脚占位符 4"/>
          <p:cNvSpPr>
            <a:spLocks noGrp="1"/>
          </p:cNvSpPr>
          <p:nvPr>
            <p:ph type="ftr" sz="quarter" idx="11"/>
          </p:nvPr>
        </p:nvSpPr>
        <p:spPr/>
        <p:txBody>
          <a:bodyPr/>
          <a:lstStyle/>
          <a:p>
            <a:endParaRPr lang="zh-CN" altLang="en-US"/>
          </a:p>
        </p:txBody>
      </p:sp>
      <p:sp>
        <p:nvSpPr>
          <p:cNvPr id="24" name="灯片编号占位符 5"/>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两栏内容">
    <p:spTree>
      <p:nvGrpSpPr>
        <p:cNvPr id="25" name=""/>
        <p:cNvGrpSpPr/>
        <p:nvPr/>
      </p:nvGrpSpPr>
      <p:grpSpPr>
        <a:xfrm>
          <a:off x="0" y="0"/>
          <a:ext cx="0" cy="0"/>
          <a:chOff x="0" y="0"/>
          <a:chExt cx="0" cy="0"/>
        </a:xfrm>
      </p:grpSpPr>
      <p:sp>
        <p:nvSpPr>
          <p:cNvPr id="26" name="标题 1"/>
          <p:cNvSpPr>
            <a:spLocks noGrp="1"/>
          </p:cNvSpPr>
          <p:nvPr>
            <p:ph type="title"/>
          </p:nvPr>
        </p:nvSpPr>
        <p:spPr/>
        <p:txBody>
          <a:bodyPr/>
          <a:lstStyle/>
          <a:p>
            <a:r>
              <a:rPr lang="zh-CN" altLang="en-US"/>
              <a:t>单击此处编辑母版标题样式</a:t>
            </a:r>
            <a:endParaRPr lang="zh-CN" altLang="en-US"/>
          </a:p>
        </p:txBody>
      </p:sp>
      <p:sp>
        <p:nvSpPr>
          <p:cNvPr id="27"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28"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29" name="日期占位符 4"/>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30" name="页脚占位符 5"/>
          <p:cNvSpPr>
            <a:spLocks noGrp="1"/>
          </p:cNvSpPr>
          <p:nvPr>
            <p:ph type="ftr" sz="quarter" idx="11"/>
          </p:nvPr>
        </p:nvSpPr>
        <p:spPr/>
        <p:txBody>
          <a:bodyPr/>
          <a:lstStyle/>
          <a:p>
            <a:endParaRPr lang="zh-CN" altLang="en-US"/>
          </a:p>
        </p:txBody>
      </p:sp>
      <p:sp>
        <p:nvSpPr>
          <p:cNvPr id="31" name="灯片编号占位符 6"/>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比较">
    <p:spTree>
      <p:nvGrpSpPr>
        <p:cNvPr id="32" name=""/>
        <p:cNvGrpSpPr/>
        <p:nvPr/>
      </p:nvGrpSpPr>
      <p:grpSpPr>
        <a:xfrm>
          <a:off x="0" y="0"/>
          <a:ext cx="0" cy="0"/>
          <a:chOff x="0" y="0"/>
          <a:chExt cx="0" cy="0"/>
        </a:xfrm>
      </p:grpSpPr>
      <p:sp>
        <p:nvSpPr>
          <p:cNvPr id="33"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4"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35"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36"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37"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38" name="日期占位符 6"/>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39" name="页脚占位符 7"/>
          <p:cNvSpPr>
            <a:spLocks noGrp="1"/>
          </p:cNvSpPr>
          <p:nvPr>
            <p:ph type="ftr" sz="quarter" idx="11"/>
          </p:nvPr>
        </p:nvSpPr>
        <p:spPr/>
        <p:txBody>
          <a:bodyPr/>
          <a:lstStyle/>
          <a:p>
            <a:endParaRPr lang="zh-CN" altLang="en-US"/>
          </a:p>
        </p:txBody>
      </p:sp>
      <p:sp>
        <p:nvSpPr>
          <p:cNvPr id="40" name="灯片编号占位符 8"/>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41" name=""/>
        <p:cNvGrpSpPr/>
        <p:nvPr/>
      </p:nvGrpSpPr>
      <p:grpSpPr>
        <a:xfrm>
          <a:off x="0" y="0"/>
          <a:ext cx="0" cy="0"/>
          <a:chOff x="0" y="0"/>
          <a:chExt cx="0" cy="0"/>
        </a:xfrm>
      </p:grpSpPr>
      <p:sp>
        <p:nvSpPr>
          <p:cNvPr id="42" name="标题 1"/>
          <p:cNvSpPr>
            <a:spLocks noGrp="1"/>
          </p:cNvSpPr>
          <p:nvPr>
            <p:ph type="title"/>
          </p:nvPr>
        </p:nvSpPr>
        <p:spPr/>
        <p:txBody>
          <a:bodyPr/>
          <a:lstStyle/>
          <a:p>
            <a:r>
              <a:rPr lang="zh-CN" altLang="en-US"/>
              <a:t>单击此处编辑母版标题样式</a:t>
            </a:r>
            <a:endParaRPr lang="zh-CN" altLang="en-US"/>
          </a:p>
        </p:txBody>
      </p:sp>
      <p:sp>
        <p:nvSpPr>
          <p:cNvPr id="43" name="日期占位符 2"/>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44" name="页脚占位符 3"/>
          <p:cNvSpPr>
            <a:spLocks noGrp="1"/>
          </p:cNvSpPr>
          <p:nvPr>
            <p:ph type="ftr" sz="quarter" idx="11"/>
          </p:nvPr>
        </p:nvSpPr>
        <p:spPr/>
        <p:txBody>
          <a:bodyPr/>
          <a:lstStyle/>
          <a:p>
            <a:endParaRPr lang="zh-CN" altLang="en-US"/>
          </a:p>
        </p:txBody>
      </p:sp>
      <p:sp>
        <p:nvSpPr>
          <p:cNvPr id="45" name="灯片编号占位符 4"/>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46" name=""/>
        <p:cNvGrpSpPr/>
        <p:nvPr/>
      </p:nvGrpSpPr>
      <p:grpSpPr>
        <a:xfrm>
          <a:off x="0" y="0"/>
          <a:ext cx="0" cy="0"/>
          <a:chOff x="0" y="0"/>
          <a:chExt cx="0" cy="0"/>
        </a:xfrm>
      </p:grpSpPr>
      <p:sp>
        <p:nvSpPr>
          <p:cNvPr id="47" name="日期占位符 1"/>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48" name="页脚占位符 2"/>
          <p:cNvSpPr>
            <a:spLocks noGrp="1"/>
          </p:cNvSpPr>
          <p:nvPr>
            <p:ph type="ftr" sz="quarter" idx="11"/>
          </p:nvPr>
        </p:nvSpPr>
        <p:spPr/>
        <p:txBody>
          <a:bodyPr/>
          <a:lstStyle/>
          <a:p>
            <a:endParaRPr lang="zh-CN" altLang="en-US"/>
          </a:p>
        </p:txBody>
      </p:sp>
      <p:sp>
        <p:nvSpPr>
          <p:cNvPr id="49" name="灯片编号占位符 3"/>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内容与标题">
    <p:spTree>
      <p:nvGrpSpPr>
        <p:cNvPr id="50" name=""/>
        <p:cNvGrpSpPr/>
        <p:nvPr/>
      </p:nvGrpSpPr>
      <p:grpSpPr>
        <a:xfrm>
          <a:off x="0" y="0"/>
          <a:ext cx="0" cy="0"/>
          <a:chOff x="0" y="0"/>
          <a:chExt cx="0" cy="0"/>
        </a:xfrm>
      </p:grpSpPr>
      <p:sp>
        <p:nvSpPr>
          <p:cNvPr id="51"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52"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3"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4" name="日期占位符 4"/>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55" name="页脚占位符 5"/>
          <p:cNvSpPr>
            <a:spLocks noGrp="1"/>
          </p:cNvSpPr>
          <p:nvPr>
            <p:ph type="ftr" sz="quarter" idx="11"/>
          </p:nvPr>
        </p:nvSpPr>
        <p:spPr/>
        <p:txBody>
          <a:bodyPr/>
          <a:lstStyle/>
          <a:p>
            <a:endParaRPr lang="zh-CN" altLang="en-US"/>
          </a:p>
        </p:txBody>
      </p:sp>
      <p:sp>
        <p:nvSpPr>
          <p:cNvPr id="56" name="灯片编号占位符 6"/>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图片与标题">
    <p:spTree>
      <p:nvGrpSpPr>
        <p:cNvPr id="57" name=""/>
        <p:cNvGrpSpPr/>
        <p:nvPr/>
      </p:nvGrpSpPr>
      <p:grpSpPr>
        <a:xfrm>
          <a:off x="0" y="0"/>
          <a:ext cx="0" cy="0"/>
          <a:chOff x="0" y="0"/>
          <a:chExt cx="0" cy="0"/>
        </a:xfrm>
      </p:grpSpPr>
      <p:sp>
        <p:nvSpPr>
          <p:cNvPr id="58"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59"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60"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61" name="日期占位符 4"/>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62" name="页脚占位符 5"/>
          <p:cNvSpPr>
            <a:spLocks noGrp="1"/>
          </p:cNvSpPr>
          <p:nvPr>
            <p:ph type="ftr" sz="quarter" idx="11"/>
          </p:nvPr>
        </p:nvSpPr>
        <p:spPr/>
        <p:txBody>
          <a:bodyPr/>
          <a:lstStyle/>
          <a:p>
            <a:endParaRPr lang="zh-CN" altLang="en-US"/>
          </a:p>
        </p:txBody>
      </p:sp>
      <p:sp>
        <p:nvSpPr>
          <p:cNvPr id="63" name="灯片编号占位符 6"/>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标题和竖排文字">
    <p:spTree>
      <p:nvGrpSpPr>
        <p:cNvPr id="64" name=""/>
        <p:cNvGrpSpPr/>
        <p:nvPr/>
      </p:nvGrpSpPr>
      <p:grpSpPr>
        <a:xfrm>
          <a:off x="0" y="0"/>
          <a:ext cx="0" cy="0"/>
          <a:chOff x="0" y="0"/>
          <a:chExt cx="0" cy="0"/>
        </a:xfrm>
      </p:grpSpPr>
      <p:sp>
        <p:nvSpPr>
          <p:cNvPr id="65" name="标题 1"/>
          <p:cNvSpPr>
            <a:spLocks noGrp="1"/>
          </p:cNvSpPr>
          <p:nvPr>
            <p:ph type="title"/>
          </p:nvPr>
        </p:nvSpPr>
        <p:spPr/>
        <p:txBody>
          <a:bodyPr/>
          <a:lstStyle/>
          <a:p>
            <a:r>
              <a:rPr lang="zh-CN" altLang="en-US"/>
              <a:t>单击此处编辑母版标题样式</a:t>
            </a:r>
            <a:endParaRPr lang="zh-CN" altLang="en-US"/>
          </a:p>
        </p:txBody>
      </p:sp>
      <p:sp>
        <p:nvSpPr>
          <p:cNvPr id="66"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7" name="日期占位符 3"/>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68" name="页脚占位符 4"/>
          <p:cNvSpPr>
            <a:spLocks noGrp="1"/>
          </p:cNvSpPr>
          <p:nvPr>
            <p:ph type="ftr" sz="quarter" idx="11"/>
          </p:nvPr>
        </p:nvSpPr>
        <p:spPr/>
        <p:txBody>
          <a:bodyPr/>
          <a:lstStyle/>
          <a:p>
            <a:endParaRPr lang="zh-CN" altLang="en-US"/>
          </a:p>
        </p:txBody>
      </p:sp>
      <p:sp>
        <p:nvSpPr>
          <p:cNvPr id="69" name="灯片编号占位符 5"/>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竖排标题与文本">
    <p:spTree>
      <p:nvGrpSpPr>
        <p:cNvPr id="13" name=""/>
        <p:cNvGrpSpPr/>
        <p:nvPr/>
      </p:nvGrpSpPr>
      <p:grpSpPr>
        <a:xfrm>
          <a:off x="0" y="0"/>
          <a:ext cx="0" cy="0"/>
          <a:chOff x="0" y="0"/>
          <a:chExt cx="0" cy="0"/>
        </a:xfrm>
      </p:grpSpPr>
      <p:sp>
        <p:nvSpPr>
          <p:cNvPr id="14"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15"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6" name="日期占位符 3"/>
          <p:cNvSpPr>
            <a:spLocks noGrp="1"/>
          </p:cNvSpPr>
          <p:nvPr>
            <p:ph type="dt" sz="half" idx="10"/>
          </p:nvPr>
        </p:nvSpPr>
        <p:spPr/>
        <p:txBody>
          <a:bodyPr/>
          <a:lstStyle/>
          <a:p>
            <a:fld id="{B098AF9F-2D75-4F26-BD1B-A5ACD20A7B01}" type="datetimeFigureOut">
              <a:rPr lang="zh-CN" altLang="en-US" smtClean="0"/>
            </a:fld>
            <a:endParaRPr lang="zh-CN" altLang="en-US"/>
          </a:p>
        </p:txBody>
      </p:sp>
      <p:sp>
        <p:nvSpPr>
          <p:cNvPr id="17" name="页脚占位符 4"/>
          <p:cNvSpPr>
            <a:spLocks noGrp="1"/>
          </p:cNvSpPr>
          <p:nvPr>
            <p:ph type="ftr" sz="quarter" idx="11"/>
          </p:nvPr>
        </p:nvSpPr>
        <p:spPr/>
        <p:txBody>
          <a:bodyPr/>
          <a:lstStyle/>
          <a:p>
            <a:endParaRPr lang="zh-CN" altLang="en-US"/>
          </a:p>
        </p:txBody>
      </p:sp>
      <p:sp>
        <p:nvSpPr>
          <p:cNvPr id="18" name="灯片编号占位符 5"/>
          <p:cNvSpPr>
            <a:spLocks noGrp="1"/>
          </p:cNvSpPr>
          <p:nvPr>
            <p:ph type="sldNum" sz="quarter" idx="12"/>
          </p:nvPr>
        </p:nvSpPr>
        <p:spPr/>
        <p:txBody>
          <a:bodyPr/>
          <a:lstStyle/>
          <a:p>
            <a:fld id="{AF36FF16-D2A7-4508-B6F0-177A2BE6065A}"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98AF9F-2D75-4F26-BD1B-A5ACD20A7B01}"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36FF16-D2A7-4508-B6F0-177A2BE6065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microsoft.com/office/2007/relationships/hdphoto" Target="../media/image2.wdp"/><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1" Type="http://schemas.openxmlformats.org/officeDocument/2006/relationships/slideLayout" Target="../slideLayouts/slideLayout1.xml"/><Relationship Id="rId20" Type="http://schemas.openxmlformats.org/officeDocument/2006/relationships/tags" Target="../tags/tag16.xml"/><Relationship Id="rId2" Type="http://schemas.openxmlformats.org/officeDocument/2006/relationships/tags" Target="../tags/tag1.xml"/><Relationship Id="rId19" Type="http://schemas.openxmlformats.org/officeDocument/2006/relationships/image" Target="../media/image4.png"/><Relationship Id="rId18" Type="http://schemas.openxmlformats.org/officeDocument/2006/relationships/image" Target="../media/image3.png"/><Relationship Id="rId17" Type="http://schemas.openxmlformats.org/officeDocument/2006/relationships/image" Target="../media/image5.png"/><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9" Type="http://schemas.openxmlformats.org/officeDocument/2006/relationships/image" Target="../media/image13.jpeg"/><Relationship Id="rId8" Type="http://schemas.openxmlformats.org/officeDocument/2006/relationships/image" Target="../media/image12.jpeg"/><Relationship Id="rId7" Type="http://schemas.openxmlformats.org/officeDocument/2006/relationships/image" Target="../media/image11.jpeg"/><Relationship Id="rId6" Type="http://schemas.openxmlformats.org/officeDocument/2006/relationships/image" Target="../media/image10.jpeg"/><Relationship Id="rId5" Type="http://schemas.openxmlformats.org/officeDocument/2006/relationships/image" Target="../media/image9.svg"/><Relationship Id="rId4" Type="http://schemas.openxmlformats.org/officeDocument/2006/relationships/image" Target="../media/image8.png"/><Relationship Id="rId3" Type="http://schemas.openxmlformats.org/officeDocument/2006/relationships/image" Target="../media/image4.png"/><Relationship Id="rId2" Type="http://schemas.openxmlformats.org/officeDocument/2006/relationships/image" Target="../media/image3.png"/><Relationship Id="rId11" Type="http://schemas.openxmlformats.org/officeDocument/2006/relationships/notesSlide" Target="../notesSlides/notesSlide1.xml"/><Relationship Id="rId10" Type="http://schemas.openxmlformats.org/officeDocument/2006/relationships/slideLayout" Target="../slideLayouts/slideLayout2.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tags" Target="../tags/tag19.xml"/><Relationship Id="rId7" Type="http://schemas.openxmlformats.org/officeDocument/2006/relationships/image" Target="../media/image15.jpeg"/><Relationship Id="rId6" Type="http://schemas.openxmlformats.org/officeDocument/2006/relationships/tags" Target="../tags/tag18.xml"/><Relationship Id="rId5" Type="http://schemas.openxmlformats.org/officeDocument/2006/relationships/image" Target="../media/image14.jpeg"/><Relationship Id="rId4" Type="http://schemas.openxmlformats.org/officeDocument/2006/relationships/tags" Target="../tags/tag17.xml"/><Relationship Id="rId3" Type="http://schemas.openxmlformats.org/officeDocument/2006/relationships/image" Target="../media/image4.png"/><Relationship Id="rId25" Type="http://schemas.openxmlformats.org/officeDocument/2006/relationships/notesSlide" Target="../notesSlides/notesSlide2.xml"/><Relationship Id="rId24" Type="http://schemas.openxmlformats.org/officeDocument/2006/relationships/slideLayout" Target="../slideLayouts/slideLayout2.xml"/><Relationship Id="rId23" Type="http://schemas.openxmlformats.org/officeDocument/2006/relationships/tags" Target="../tags/tag32.xml"/><Relationship Id="rId22" Type="http://schemas.openxmlformats.org/officeDocument/2006/relationships/tags" Target="../tags/tag31.xml"/><Relationship Id="rId21" Type="http://schemas.openxmlformats.org/officeDocument/2006/relationships/tags" Target="../tags/tag30.xml"/><Relationship Id="rId20" Type="http://schemas.openxmlformats.org/officeDocument/2006/relationships/tags" Target="../tags/tag29.xml"/><Relationship Id="rId2" Type="http://schemas.openxmlformats.org/officeDocument/2006/relationships/image" Target="../media/image3.png"/><Relationship Id="rId19" Type="http://schemas.openxmlformats.org/officeDocument/2006/relationships/tags" Target="../tags/tag28.xml"/><Relationship Id="rId18" Type="http://schemas.openxmlformats.org/officeDocument/2006/relationships/tags" Target="../tags/tag27.xml"/><Relationship Id="rId17" Type="http://schemas.openxmlformats.org/officeDocument/2006/relationships/image" Target="../media/image17.jpeg"/><Relationship Id="rId16" Type="http://schemas.openxmlformats.org/officeDocument/2006/relationships/tags" Target="../tags/tag26.xml"/><Relationship Id="rId15" Type="http://schemas.openxmlformats.org/officeDocument/2006/relationships/tags" Target="../tags/tag25.xml"/><Relationship Id="rId14" Type="http://schemas.openxmlformats.org/officeDocument/2006/relationships/tags" Target="../tags/tag24.xml"/><Relationship Id="rId13" Type="http://schemas.openxmlformats.org/officeDocument/2006/relationships/tags" Target="../tags/tag23.xml"/><Relationship Id="rId12" Type="http://schemas.openxmlformats.org/officeDocument/2006/relationships/tags" Target="../tags/tag22.xml"/><Relationship Id="rId11" Type="http://schemas.openxmlformats.org/officeDocument/2006/relationships/tags" Target="../tags/tag21.xml"/><Relationship Id="rId10" Type="http://schemas.openxmlformats.org/officeDocument/2006/relationships/tags" Target="../tags/tag20.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image" Target="../media/image19.svg"/><Relationship Id="rId4" Type="http://schemas.openxmlformats.org/officeDocument/2006/relationships/image" Target="../media/image18.png"/><Relationship Id="rId3" Type="http://schemas.openxmlformats.org/officeDocument/2006/relationships/image" Target="../media/image4.png"/><Relationship Id="rId23" Type="http://schemas.openxmlformats.org/officeDocument/2006/relationships/notesSlide" Target="../notesSlides/notesSlide3.xml"/><Relationship Id="rId22" Type="http://schemas.openxmlformats.org/officeDocument/2006/relationships/slideLayout" Target="../slideLayouts/slideLayout2.xml"/><Relationship Id="rId21" Type="http://schemas.openxmlformats.org/officeDocument/2006/relationships/tags" Target="../tags/tag48.xml"/><Relationship Id="rId20" Type="http://schemas.openxmlformats.org/officeDocument/2006/relationships/tags" Target="../tags/tag47.xml"/><Relationship Id="rId2" Type="http://schemas.openxmlformats.org/officeDocument/2006/relationships/image" Target="../media/image3.png"/><Relationship Id="rId19" Type="http://schemas.openxmlformats.org/officeDocument/2006/relationships/tags" Target="../tags/tag46.xml"/><Relationship Id="rId18" Type="http://schemas.openxmlformats.org/officeDocument/2006/relationships/tags" Target="../tags/tag45.xml"/><Relationship Id="rId17" Type="http://schemas.openxmlformats.org/officeDocument/2006/relationships/tags" Target="../tags/tag44.xml"/><Relationship Id="rId16" Type="http://schemas.openxmlformats.org/officeDocument/2006/relationships/tags" Target="../tags/tag43.xml"/><Relationship Id="rId15" Type="http://schemas.openxmlformats.org/officeDocument/2006/relationships/tags" Target="../tags/tag42.xml"/><Relationship Id="rId14" Type="http://schemas.openxmlformats.org/officeDocument/2006/relationships/tags" Target="../tags/tag41.xml"/><Relationship Id="rId13" Type="http://schemas.openxmlformats.org/officeDocument/2006/relationships/tags" Target="../tags/tag40.xml"/><Relationship Id="rId12" Type="http://schemas.openxmlformats.org/officeDocument/2006/relationships/tags" Target="../tags/tag39.xml"/><Relationship Id="rId11" Type="http://schemas.openxmlformats.org/officeDocument/2006/relationships/tags" Target="../tags/tag38.xml"/><Relationship Id="rId10" Type="http://schemas.openxmlformats.org/officeDocument/2006/relationships/tags" Target="../tags/tag37.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2.xml"/><Relationship Id="rId7" Type="http://schemas.openxmlformats.org/officeDocument/2006/relationships/image" Target="../media/image23.png"/><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jpe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2.xml"/><Relationship Id="rId5" Type="http://schemas.openxmlformats.org/officeDocument/2006/relationships/image" Target="../media/image25.jpeg"/><Relationship Id="rId4" Type="http://schemas.openxmlformats.org/officeDocument/2006/relationships/image" Target="../media/image24.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hyperlink" Target="https://doi.org/10.1080/15230406.2022.2135023" TargetMode="External"/><Relationship Id="rId7" Type="http://schemas.openxmlformats.org/officeDocument/2006/relationships/image" Target="../media/image28.jpeg"/><Relationship Id="rId6" Type="http://schemas.openxmlformats.org/officeDocument/2006/relationships/image" Target="../media/image27.png"/><Relationship Id="rId5" Type="http://schemas.openxmlformats.org/officeDocument/2006/relationships/image" Target="../media/image26.emf"/><Relationship Id="rId4" Type="http://schemas.openxmlformats.org/officeDocument/2006/relationships/oleObject" Target="../embeddings/oleObject1.bin"/><Relationship Id="rId3" Type="http://schemas.openxmlformats.org/officeDocument/2006/relationships/image" Target="../media/image4.png"/><Relationship Id="rId2" Type="http://schemas.openxmlformats.org/officeDocument/2006/relationships/image" Target="../media/image3.png"/><Relationship Id="rId11" Type="http://schemas.openxmlformats.org/officeDocument/2006/relationships/notesSlide" Target="../notesSlides/notesSlide7.xml"/><Relationship Id="rId10" Type="http://schemas.openxmlformats.org/officeDocument/2006/relationships/vmlDrawing" Target="../drawings/vmlDrawing1.v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2.xml"/><Relationship Id="rId7" Type="http://schemas.openxmlformats.org/officeDocument/2006/relationships/image" Target="../media/image35.png"/><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2.xml"/><Relationship Id="rId7" Type="http://schemas.openxmlformats.org/officeDocument/2006/relationships/image" Target="../media/image39.png"/><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4.png"/><Relationship Id="rId7" Type="http://schemas.openxmlformats.org/officeDocument/2006/relationships/image" Target="../media/image43.png"/><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3" Type="http://schemas.openxmlformats.org/officeDocument/2006/relationships/image" Target="../media/image4.png"/><Relationship Id="rId2" Type="http://schemas.openxmlformats.org/officeDocument/2006/relationships/image" Target="../media/image3.png"/><Relationship Id="rId10" Type="http://schemas.openxmlformats.org/officeDocument/2006/relationships/notesSlide" Target="../notesSlides/notesSlide11.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9" Type="http://schemas.openxmlformats.org/officeDocument/2006/relationships/image" Target="../media/image50.png"/><Relationship Id="rId8" Type="http://schemas.openxmlformats.org/officeDocument/2006/relationships/image" Target="../media/image49.png"/><Relationship Id="rId7" Type="http://schemas.openxmlformats.org/officeDocument/2006/relationships/image" Target="../media/image48.png"/><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3" Type="http://schemas.openxmlformats.org/officeDocument/2006/relationships/image" Target="../media/image4.png"/><Relationship Id="rId2" Type="http://schemas.openxmlformats.org/officeDocument/2006/relationships/image" Target="../media/image3.png"/><Relationship Id="rId13" Type="http://schemas.openxmlformats.org/officeDocument/2006/relationships/notesSlide" Target="../notesSlides/notesSlide13.xml"/><Relationship Id="rId12" Type="http://schemas.openxmlformats.org/officeDocument/2006/relationships/slideLayout" Target="../slideLayouts/slideLayout2.xml"/><Relationship Id="rId11" Type="http://schemas.openxmlformats.org/officeDocument/2006/relationships/image" Target="../media/image52.png"/><Relationship Id="rId10" Type="http://schemas.openxmlformats.org/officeDocument/2006/relationships/image" Target="../media/image51.png"/><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vmlDrawing" Target="../drawings/vmlDrawing2.vml"/><Relationship Id="rId6" Type="http://schemas.openxmlformats.org/officeDocument/2006/relationships/slideLayout" Target="../slideLayouts/slideLayout2.xml"/><Relationship Id="rId5" Type="http://schemas.openxmlformats.org/officeDocument/2006/relationships/image" Target="../media/image53.wmf"/><Relationship Id="rId4" Type="http://schemas.openxmlformats.org/officeDocument/2006/relationships/oleObject" Target="../embeddings/oleObject2.bin"/><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9" Type="http://schemas.openxmlformats.org/officeDocument/2006/relationships/notesSlide" Target="../notesSlides/notesSlide15.xml"/><Relationship Id="rId8" Type="http://schemas.openxmlformats.org/officeDocument/2006/relationships/slideLayout" Target="../slideLayouts/slideLayout2.xml"/><Relationship Id="rId7" Type="http://schemas.openxmlformats.org/officeDocument/2006/relationships/image" Target="../media/image57.png"/><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9" Type="http://schemas.openxmlformats.org/officeDocument/2006/relationships/notesSlide" Target="../notesSlides/notesSlide18.xml"/><Relationship Id="rId8" Type="http://schemas.openxmlformats.org/officeDocument/2006/relationships/slideLayout" Target="../slideLayouts/slideLayout2.xml"/><Relationship Id="rId7" Type="http://schemas.openxmlformats.org/officeDocument/2006/relationships/image" Target="../media/image65.png"/><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2.xml"/><Relationship Id="rId4" Type="http://schemas.openxmlformats.org/officeDocument/2006/relationships/tags" Target="../tags/tag49.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70.png"/><Relationship Id="rId7" Type="http://schemas.openxmlformats.org/officeDocument/2006/relationships/image" Target="../media/image69.png"/><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 Id="rId3" Type="http://schemas.openxmlformats.org/officeDocument/2006/relationships/image" Target="../media/image4.png"/><Relationship Id="rId2" Type="http://schemas.openxmlformats.org/officeDocument/2006/relationships/image" Target="../media/image3.png"/><Relationship Id="rId10" Type="http://schemas.openxmlformats.org/officeDocument/2006/relationships/notesSlide" Target="../notesSlides/notesSlide21.xml"/><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9" Type="http://schemas.openxmlformats.org/officeDocument/2006/relationships/image" Target="../media/image74.png"/><Relationship Id="rId8" Type="http://schemas.openxmlformats.org/officeDocument/2006/relationships/image" Target="../media/image73.png"/><Relationship Id="rId7" Type="http://schemas.openxmlformats.org/officeDocument/2006/relationships/tags" Target="../tags/tag51.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7.png"/><Relationship Id="rId11" Type="http://schemas.openxmlformats.org/officeDocument/2006/relationships/notesSlide" Target="../notesSlides/notesSlide22.xml"/><Relationship Id="rId10" Type="http://schemas.openxmlformats.org/officeDocument/2006/relationships/slideLayout" Target="../slideLayouts/slideLayout2.xml"/><Relationship Id="rId1" Type="http://schemas.openxmlformats.org/officeDocument/2006/relationships/tags" Target="../tags/tag50.xml"/></Relationships>
</file>

<file path=ppt/slides/_rels/slide25.xml.rels><?xml version="1.0" encoding="UTF-8" standalone="yes"?>
<Relationships xmlns="http://schemas.openxmlformats.org/package/2006/relationships"><Relationship Id="rId9" Type="http://schemas.openxmlformats.org/officeDocument/2006/relationships/tags" Target="../tags/tag57.xml"/><Relationship Id="rId8" Type="http://schemas.openxmlformats.org/officeDocument/2006/relationships/tags" Target="../tags/tag56.xml"/><Relationship Id="rId7" Type="http://schemas.openxmlformats.org/officeDocument/2006/relationships/tags" Target="../tags/tag55.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image" Target="../media/image4.png"/><Relationship Id="rId2" Type="http://schemas.openxmlformats.org/officeDocument/2006/relationships/image" Target="../media/image3.png"/><Relationship Id="rId11" Type="http://schemas.openxmlformats.org/officeDocument/2006/relationships/notesSlide" Target="../notesSlides/notesSlide23.xml"/><Relationship Id="rId10" Type="http://schemas.openxmlformats.org/officeDocument/2006/relationships/slideLayout" Target="../slideLayouts/slideLayout2.xml"/><Relationship Id="rId1" Type="http://schemas.openxmlformats.org/officeDocument/2006/relationships/image" Target="../media/image7.png"/></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microsoft.com/office/2007/relationships/hdphoto" Target="../media/image2.wdp"/><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07" name=""/>
        <p:cNvGrpSpPr/>
        <p:nvPr/>
      </p:nvGrpSpPr>
      <p:grpSpPr>
        <a:xfrm>
          <a:off x="0" y="0"/>
          <a:ext cx="0" cy="0"/>
          <a:chOff x="0" y="0"/>
          <a:chExt cx="0" cy="0"/>
        </a:xfrm>
      </p:grpSpPr>
      <p:pic>
        <p:nvPicPr>
          <p:cNvPr id="108" name="Picture 2"/>
          <p:cNvPicPr>
            <a:picLocks noChangeAspect="1" noChangeArrowheads="1"/>
          </p:cNvPicPr>
          <p:nvPr/>
        </p:nvPicPr>
        <p:blipFill rotWithShape="1">
          <a:blip r:embed="rId1">
            <a:extLst>
              <a:ext uri="{BEBA8EAE-BF5A-486C-A8C5-ECC9F3942E4B}">
                <a14:imgProps xmlns:a14="http://schemas.microsoft.com/office/drawing/2010/main">
                  <a14:imgLayer r:embed="rId2">
                    <a14:imgEffect>
                      <a14:brightnessContrast bright="20000" contrast="40000"/>
                    </a14:imgEffect>
                  </a14:imgLayer>
                </a14:imgProps>
              </a:ext>
            </a:extLst>
          </a:blip>
          <a:srcRect b="25979"/>
          <a:stretch>
            <a:fillRect/>
          </a:stretch>
        </p:blipFill>
        <p:spPr bwMode="auto">
          <a:xfrm>
            <a:off x="1" y="1592036"/>
            <a:ext cx="12191998" cy="3023421"/>
          </a:xfrm>
          <a:prstGeom prst="rect">
            <a:avLst/>
          </a:prstGeom>
          <a:noFill/>
        </p:spPr>
      </p:pic>
      <p:sp>
        <p:nvSpPr>
          <p:cNvPr id="109" name="矩形 4"/>
          <p:cNvSpPr/>
          <p:nvPr/>
        </p:nvSpPr>
        <p:spPr>
          <a:xfrm>
            <a:off x="0" y="1591945"/>
            <a:ext cx="12192000" cy="3020695"/>
          </a:xfrm>
          <a:prstGeom prst="rect">
            <a:avLst/>
          </a:prstGeom>
          <a:solidFill>
            <a:srgbClr val="014B30">
              <a:alpha val="82000"/>
            </a:srgbClr>
          </a:solidFill>
          <a:ln w="12700" cap="flat" cmpd="sng" algn="ctr">
            <a:noFill/>
            <a:prstDash val="solid"/>
            <a:miter lim="800000"/>
          </a:ln>
          <a:effectLst/>
        </p:spPr>
        <p:txBody>
          <a:bodyPr rtlCol="0" anchor="ctr"/>
          <a:lstStyle/>
          <a:p>
            <a:pPr algn="ctr">
              <a:defRPr/>
            </a:pPr>
            <a:endParaRPr lang="zh-CN" altLang="en-US" kern="0" dirty="0">
              <a:solidFill>
                <a:srgbClr val="FFFFFF"/>
              </a:solidFill>
              <a:latin typeface="Arial" panose="020B0604020202020204"/>
              <a:ea typeface="微软雅黑" panose="020B0503020204020204" pitchFamily="34" charset="-122"/>
              <a:cs typeface="+mn-ea"/>
              <a:sym typeface="+mn-lt"/>
            </a:endParaRPr>
          </a:p>
        </p:txBody>
      </p:sp>
      <p:grpSp>
        <p:nvGrpSpPr>
          <p:cNvPr id="110" name="组合 5"/>
          <p:cNvGrpSpPr>
            <a:grpSpLocks noChangeAspect="1"/>
          </p:cNvGrpSpPr>
          <p:nvPr/>
        </p:nvGrpSpPr>
        <p:grpSpPr>
          <a:xfrm rot="0">
            <a:off x="4342130" y="285115"/>
            <a:ext cx="3373120" cy="1060450"/>
            <a:chOff x="3985415" y="208718"/>
            <a:chExt cx="4288716" cy="1348022"/>
          </a:xfrm>
        </p:grpSpPr>
        <p:grpSp>
          <p:nvGrpSpPr>
            <p:cNvPr id="111" name="组合 6"/>
            <p:cNvGrpSpPr/>
            <p:nvPr/>
          </p:nvGrpSpPr>
          <p:grpSpPr>
            <a:xfrm>
              <a:off x="3985415" y="208718"/>
              <a:ext cx="4288716" cy="1348022"/>
              <a:chOff x="6212289" y="1237107"/>
              <a:chExt cx="5517703" cy="1734319"/>
            </a:xfrm>
          </p:grpSpPr>
          <p:pic>
            <p:nvPicPr>
              <p:cNvPr id="112" name="图片 8"/>
              <p:cNvPicPr>
                <a:picLocks noChangeAspect="1"/>
              </p:cNvPicPr>
              <p:nvPr/>
            </p:nvPicPr>
            <p:blipFill>
              <a:blip r:embed="rId3"/>
              <a:srcRect/>
              <a:stretch>
                <a:fillRect/>
              </a:stretch>
            </p:blipFill>
            <p:spPr>
              <a:xfrm>
                <a:off x="6212289" y="1237107"/>
                <a:ext cx="1760862" cy="1734319"/>
              </a:xfrm>
              <a:prstGeom prst="rect">
                <a:avLst/>
              </a:prstGeom>
            </p:spPr>
          </p:pic>
          <p:pic>
            <p:nvPicPr>
              <p:cNvPr id="113" name="图片 9"/>
              <p:cNvPicPr>
                <a:picLocks noChangeAspect="1"/>
              </p:cNvPicPr>
              <p:nvPr/>
            </p:nvPicPr>
            <p:blipFill>
              <a:blip r:embed="rId4"/>
              <a:srcRect/>
              <a:stretch>
                <a:fillRect/>
              </a:stretch>
            </p:blipFill>
            <p:spPr>
              <a:xfrm>
                <a:off x="8069580" y="1413307"/>
                <a:ext cx="3660412" cy="1006616"/>
              </a:xfrm>
              <a:prstGeom prst="rect">
                <a:avLst/>
              </a:prstGeom>
            </p:spPr>
          </p:pic>
        </p:grpSp>
        <p:sp>
          <p:nvSpPr>
            <p:cNvPr id="114" name="矩形 7"/>
            <p:cNvSpPr/>
            <p:nvPr/>
          </p:nvSpPr>
          <p:spPr>
            <a:xfrm>
              <a:off x="5399041" y="1126776"/>
              <a:ext cx="2845109" cy="389877"/>
            </a:xfrm>
            <a:prstGeom prst="rect">
              <a:avLst/>
            </a:prstGeom>
          </p:spPr>
          <p:txBody>
            <a:bodyPr wrap="square">
              <a:spAutoFit/>
            </a:bodyPr>
            <a:lstStyle/>
            <a:p>
              <a:pPr algn="dist">
                <a:defRPr/>
              </a:pPr>
              <a:r>
                <a:rPr lang="en-US" altLang="zh-CN" sz="1400" b="1" dirty="0">
                  <a:solidFill>
                    <a:prstClr val="black"/>
                  </a:solidFill>
                  <a:latin typeface="Calibri" panose="020F0502020204030204"/>
                  <a:ea typeface="宋体" panose="02010600030101010101" pitchFamily="2" charset="-122"/>
                </a:rPr>
                <a:t>WUHAN UNIVERSITY</a:t>
              </a:r>
              <a:endParaRPr lang="en-US" altLang="zh-CN" sz="1400" b="1" dirty="0">
                <a:solidFill>
                  <a:prstClr val="black"/>
                </a:solidFill>
                <a:latin typeface="Calibri" panose="020F0502020204030204"/>
                <a:ea typeface="宋体" panose="02010600030101010101" pitchFamily="2" charset="-122"/>
              </a:endParaRPr>
            </a:p>
          </p:txBody>
        </p:sp>
      </p:grpSp>
      <p:sp>
        <p:nvSpPr>
          <p:cNvPr id="115" name="TextBox 14"/>
          <p:cNvSpPr txBox="1"/>
          <p:nvPr/>
        </p:nvSpPr>
        <p:spPr>
          <a:xfrm>
            <a:off x="7876541" y="5445050"/>
            <a:ext cx="3062605" cy="829945"/>
          </a:xfrm>
          <a:prstGeom prst="rect">
            <a:avLst/>
          </a:prstGeom>
          <a:noFill/>
        </p:spPr>
        <p:txBody>
          <a:bodyPr wrap="none" rtlCol="0">
            <a:spAutoFit/>
          </a:bodyPr>
          <a:lstStyle/>
          <a:p>
            <a:pPr algn="l"/>
            <a:r>
              <a:rPr 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汇报人：</a:t>
            </a:r>
            <a:r>
              <a:rPr 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石灵奇</a:t>
            </a:r>
            <a:endParaRPr 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endParaRPr>
          </a:p>
          <a:p>
            <a:pPr algn="l"/>
            <a:r>
              <a:rPr 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汇报时间：</a:t>
            </a:r>
            <a:r>
              <a:rPr lang="en-US" alt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2025.12.9</a:t>
            </a:r>
            <a:endParaRPr lang="en-US" alt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endParaRPr>
          </a:p>
        </p:txBody>
      </p:sp>
      <p:grpSp>
        <p:nvGrpSpPr>
          <p:cNvPr id="116" name="Group 15"/>
          <p:cNvGrpSpPr/>
          <p:nvPr/>
        </p:nvGrpSpPr>
        <p:grpSpPr>
          <a:xfrm rot="0">
            <a:off x="-23495" y="2464435"/>
            <a:ext cx="12215495" cy="1933932"/>
            <a:chOff x="-1376350" y="3346304"/>
            <a:chExt cx="10824150" cy="1744712"/>
          </a:xfrm>
        </p:grpSpPr>
        <p:sp>
          <p:nvSpPr>
            <p:cNvPr id="117" name="Rectangle 9"/>
            <p:cNvSpPr/>
            <p:nvPr/>
          </p:nvSpPr>
          <p:spPr>
            <a:xfrm>
              <a:off x="-120463" y="3346304"/>
              <a:ext cx="8028788" cy="1581695"/>
            </a:xfrm>
            <a:prstGeom prst="rect">
              <a:avLst/>
            </a:prstGeom>
          </p:spPr>
          <p:txBody>
            <a:bodyPr wrap="square">
              <a:spAutoFit/>
            </a:bodyPr>
            <a:lstStyle/>
            <a:p>
              <a:pPr algn="ctr"/>
              <a:r>
                <a:rPr lang="zh-CN" altLang="en-US" sz="5400" b="1" dirty="0">
                  <a:solidFill>
                    <a:schemeClr val="bg1"/>
                  </a:solidFill>
                  <a:latin typeface="Calibri" panose="020F0502020204030204" pitchFamily="34" charset="0"/>
                  <a:ea typeface="微软雅黑" panose="020B0503020204020204" pitchFamily="34" charset="-122"/>
                  <a:cs typeface="+mj-cs"/>
                </a:rPr>
                <a:t>基于出租车数据的交通拥堵模式分析</a:t>
              </a:r>
              <a:endParaRPr lang="zh-CN" altLang="en-US" sz="5400" b="1" dirty="0">
                <a:solidFill>
                  <a:schemeClr val="bg1"/>
                </a:solidFill>
                <a:latin typeface="Calibri" panose="020F0502020204030204" pitchFamily="34" charset="0"/>
                <a:ea typeface="微软雅黑" panose="020B0503020204020204" pitchFamily="34" charset="-122"/>
                <a:cs typeface="+mj-cs"/>
              </a:endParaRPr>
            </a:p>
          </p:txBody>
        </p:sp>
        <p:sp>
          <p:nvSpPr>
            <p:cNvPr id="118" name="Rectangle 10"/>
            <p:cNvSpPr/>
            <p:nvPr/>
          </p:nvSpPr>
          <p:spPr>
            <a:xfrm>
              <a:off x="-1376350" y="4690906"/>
              <a:ext cx="10824150" cy="400110"/>
            </a:xfrm>
            <a:prstGeom prst="rect">
              <a:avLst/>
            </a:prstGeom>
          </p:spPr>
          <p:txBody>
            <a:bodyPr wrap="square">
              <a:spAutoFit/>
            </a:bodyPr>
            <a:lstStyle/>
            <a:p>
              <a:pPr algn="ctr"/>
              <a:endParaRPr lang="zh-CN" altLang="en-US" sz="2000" b="1" dirty="0">
                <a:solidFill>
                  <a:prstClr val="white"/>
                </a:solidFill>
                <a:latin typeface="微软雅黑 Light" panose="020B0502040204020203" pitchFamily="34" charset="-122"/>
                <a:ea typeface="微软雅黑 Light" panose="020B0502040204020203" pitchFamily="34" charset="-122"/>
              </a:endParaRPr>
            </a:p>
          </p:txBody>
        </p:sp>
      </p:grpSp>
      <p:cxnSp>
        <p:nvCxnSpPr>
          <p:cNvPr id="119" name="直接连接符 17"/>
          <p:cNvCxnSpPr/>
          <p:nvPr/>
        </p:nvCxnSpPr>
        <p:spPr>
          <a:xfrm>
            <a:off x="-249638" y="4893485"/>
            <a:ext cx="5256126" cy="0"/>
          </a:xfrm>
          <a:prstGeom prst="line">
            <a:avLst/>
          </a:prstGeom>
          <a:noFill/>
          <a:ln w="38100" cap="flat" cmpd="sng" algn="ctr">
            <a:solidFill>
              <a:srgbClr val="014B30"/>
            </a:solidFill>
            <a:prstDash val="solid"/>
            <a:miter lim="800000"/>
          </a:ln>
          <a:effectLst/>
        </p:spPr>
      </p:cxnSp>
      <p:cxnSp>
        <p:nvCxnSpPr>
          <p:cNvPr id="121" name="直接连接符 18"/>
          <p:cNvCxnSpPr>
            <a:stCxn id="120" idx="3"/>
          </p:cNvCxnSpPr>
          <p:nvPr/>
        </p:nvCxnSpPr>
        <p:spPr>
          <a:xfrm flipV="1">
            <a:off x="7238852" y="4889574"/>
            <a:ext cx="5386041" cy="4546"/>
          </a:xfrm>
          <a:prstGeom prst="line">
            <a:avLst/>
          </a:prstGeom>
          <a:noFill/>
          <a:ln w="38100" cap="flat" cmpd="sng" algn="ctr">
            <a:solidFill>
              <a:srgbClr val="014B30"/>
            </a:solidFill>
            <a:prstDash val="solid"/>
            <a:miter lim="800000"/>
          </a:ln>
          <a:effectLst/>
        </p:spPr>
      </p:cxnSp>
      <p:pic>
        <p:nvPicPr>
          <p:cNvPr id="120" name="图片 19"/>
          <p:cNvPicPr>
            <a:picLocks noChangeAspect="1"/>
          </p:cNvPicPr>
          <p:nvPr/>
        </p:nvPicPr>
        <p:blipFill>
          <a:blip r:embed="rId5"/>
          <a:srcRect/>
          <a:stretch>
            <a:fillRect/>
          </a:stretch>
        </p:blipFill>
        <p:spPr>
          <a:xfrm>
            <a:off x="4959498" y="4735775"/>
            <a:ext cx="2279354" cy="315419"/>
          </a:xfrm>
          <a:prstGeom prst="rect">
            <a:avLst/>
          </a:prstGeom>
        </p:spPr>
      </p:pic>
      <p:sp>
        <p:nvSpPr>
          <p:cNvPr id="122" name="文本框 1"/>
          <p:cNvSpPr txBox="1"/>
          <p:nvPr/>
        </p:nvSpPr>
        <p:spPr>
          <a:xfrm>
            <a:off x="2889250" y="1824355"/>
            <a:ext cx="7164705" cy="579755"/>
          </a:xfrm>
          <a:prstGeom prst="rect">
            <a:avLst/>
          </a:prstGeom>
        </p:spPr>
        <p:txBody>
          <a:bodyPr>
            <a:noAutofit/>
          </a:bodyPr>
          <a:p>
            <a:r>
              <a:rPr lang="en-US" sz="2800" b="1">
                <a:solidFill>
                  <a:schemeClr val="bg1">
                    <a:alpha val="100000"/>
                  </a:schemeClr>
                </a:solidFill>
                <a:latin typeface="华文行楷" panose="02010800040101010101" charset="-122"/>
                <a:ea typeface="华文行楷" panose="02010800040101010101" charset="-122"/>
                <a:cs typeface="华文行楷" panose="02010800040101010101" charset="-122"/>
              </a:rPr>
              <a:t>2025</a:t>
            </a:r>
            <a:r>
              <a:rPr lang="zh-CN" sz="2800" b="1">
                <a:solidFill>
                  <a:schemeClr val="bg1">
                    <a:alpha val="100000"/>
                  </a:schemeClr>
                </a:solidFill>
                <a:latin typeface="华文行楷" panose="02010800040101010101" charset="-122"/>
                <a:ea typeface="华文行楷" panose="02010800040101010101" charset="-122"/>
                <a:cs typeface="华文行楷" panose="02010800040101010101" charset="-122"/>
              </a:rPr>
              <a:t>年武汉大学大学生创新训练计划项目</a:t>
            </a:r>
            <a:endParaRPr lang="zh-CN" sz="2800" b="1">
              <a:solidFill>
                <a:schemeClr val="bg1">
                  <a:alpha val="100000"/>
                </a:schemeClr>
              </a:solidFill>
              <a:latin typeface="华文行楷" panose="02010800040101010101" charset="-122"/>
              <a:ea typeface="华文行楷" panose="02010800040101010101" charset="-122"/>
              <a:cs typeface="华文行楷" panose="02010800040101010101" charset="-122"/>
            </a:endParaRPr>
          </a:p>
        </p:txBody>
      </p:sp>
      <p:sp>
        <p:nvSpPr>
          <p:cNvPr id="124" name="TextBox 14"/>
          <p:cNvSpPr txBox="1"/>
          <p:nvPr/>
        </p:nvSpPr>
        <p:spPr>
          <a:xfrm>
            <a:off x="427705" y="5445050"/>
            <a:ext cx="6075680" cy="829945"/>
          </a:xfrm>
          <a:prstGeom prst="rect">
            <a:avLst/>
          </a:prstGeom>
          <a:noFill/>
        </p:spPr>
        <p:txBody>
          <a:bodyPr wrap="none" rtlCol="0">
            <a:spAutoFit/>
          </a:bodyPr>
          <a:lstStyle/>
          <a:p>
            <a:pPr algn="ctr"/>
            <a:r>
              <a:rPr 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项目成员：石灵奇、武秋霖、阿依孜巴</a:t>
            </a:r>
            <a:r>
              <a:rPr lang="en-US" alt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a:t>
            </a:r>
            <a:r>
              <a:rPr lang="zh-CN" altLang="en-US"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艾沙</a:t>
            </a:r>
            <a:endParaRPr lang="zh-CN" altLang="en-US" sz="2400" b="1">
              <a:solidFill>
                <a:srgbClr val="014B30">
                  <a:alpha val="100000"/>
                </a:srgbClr>
              </a:solidFill>
              <a:latin typeface="Arial" panose="020B0604020202020204"/>
              <a:ea typeface="微软雅黑" panose="020B0503020204020204" pitchFamily="34" charset="-122"/>
              <a:cs typeface="等线" panose="02010600030101010101" pitchFamily="2" charset="-122"/>
            </a:endParaRPr>
          </a:p>
          <a:p>
            <a:pPr algn="l"/>
            <a:r>
              <a:rPr lang="zh-CN" altLang="en-US"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指导老师：蔡忠亮</a:t>
            </a:r>
            <a:r>
              <a:rPr lang="en-US" alt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 </a:t>
            </a:r>
            <a:r>
              <a:rPr lang="zh-CN" altLang="en-US"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教授、李伯钊</a:t>
            </a:r>
            <a:r>
              <a:rPr lang="en-US" alt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 </a:t>
            </a:r>
            <a:r>
              <a:rPr lang="zh-CN" altLang="en-US"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副研究员</a:t>
            </a:r>
            <a:endParaRPr lang="zh-CN" altLang="en-US" sz="2400" b="1">
              <a:solidFill>
                <a:srgbClr val="014B30">
                  <a:alpha val="100000"/>
                </a:srgbClr>
              </a:solidFill>
              <a:latin typeface="Arial" panose="020B0604020202020204"/>
              <a:ea typeface="微软雅黑" panose="020B0503020204020204" pitchFamily="34" charset="-122"/>
              <a:cs typeface="等线"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27" name=""/>
        <p:cNvGrpSpPr/>
        <p:nvPr/>
      </p:nvGrpSpPr>
      <p:grpSpPr>
        <a:xfrm>
          <a:off x="0" y="0"/>
          <a:ext cx="0" cy="0"/>
          <a:chOff x="0" y="0"/>
          <a:chExt cx="0" cy="0"/>
        </a:xfrm>
      </p:grpSpPr>
      <p:pic>
        <p:nvPicPr>
          <p:cNvPr id="128" name="图片 1"/>
          <p:cNvPicPr>
            <a:picLocks noChangeAspect="1"/>
          </p:cNvPicPr>
          <p:nvPr/>
        </p:nvPicPr>
        <p:blipFill rotWithShape="1">
          <a:blip r:embed="rId1"/>
          <a:srcRect l="24514" r="24232"/>
          <a:stretch>
            <a:fillRect/>
          </a:stretch>
        </p:blipFill>
        <p:spPr>
          <a:xfrm>
            <a:off x="1" y="0"/>
            <a:ext cx="5194368" cy="6858000"/>
          </a:xfrm>
          <a:custGeom>
            <a:avLst/>
            <a:gdLst>
              <a:gd name="connsiteX0" fmla="*/ 0 w 5204840"/>
              <a:gd name="connsiteY0" fmla="*/ 0 h 6858000"/>
              <a:gd name="connsiteX1" fmla="*/ 5204840 w 5204840"/>
              <a:gd name="connsiteY1" fmla="*/ 0 h 6858000"/>
              <a:gd name="connsiteX2" fmla="*/ 5204840 w 5204840"/>
              <a:gd name="connsiteY2" fmla="*/ 6858000 h 6858000"/>
              <a:gd name="connsiteX3" fmla="*/ 0 w 52048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204840" h="6858000">
                <a:moveTo>
                  <a:pt x="0" y="0"/>
                </a:moveTo>
                <a:lnTo>
                  <a:pt x="5204840" y="0"/>
                </a:lnTo>
                <a:lnTo>
                  <a:pt x="5204840" y="6858000"/>
                </a:lnTo>
                <a:lnTo>
                  <a:pt x="0" y="6858000"/>
                </a:lnTo>
                <a:close/>
              </a:path>
            </a:pathLst>
          </a:custGeom>
        </p:spPr>
      </p:pic>
      <p:sp>
        <p:nvSpPr>
          <p:cNvPr id="129" name="PA-矩形 8"/>
          <p:cNvSpPr/>
          <p:nvPr/>
        </p:nvSpPr>
        <p:spPr>
          <a:xfrm>
            <a:off x="0" y="0"/>
            <a:ext cx="5194369" cy="6872990"/>
          </a:xfrm>
          <a:prstGeom prst="rect">
            <a:avLst/>
          </a:prstGeom>
          <a:gradFill flip="none" rotWithShape="1">
            <a:gsLst>
              <a:gs pos="0">
                <a:srgbClr val="014B30"/>
              </a:gs>
              <a:gs pos="100000">
                <a:srgbClr val="014B30">
                  <a:alpha val="62000"/>
                </a:srgbClr>
              </a:gs>
            </a:gsLst>
            <a:lin ang="0" scaled="1"/>
            <a:tileRect/>
          </a:gradFill>
          <a:ln w="12700" cap="flat" cmpd="sng" algn="ctr">
            <a:noFill/>
            <a:prstDash val="solid"/>
            <a:miter lim="800000"/>
          </a:ln>
          <a:effectLst/>
        </p:spPr>
        <p:txBody>
          <a:bodyPr rtlCol="0" anchor="ctr"/>
          <a:lstStyle/>
          <a:p>
            <a:pPr algn="ctr">
              <a:defRPr/>
            </a:pPr>
            <a:endParaRPr lang="zh-CN" altLang="en-US" kern="0">
              <a:solidFill>
                <a:srgbClr val="FFFFFF"/>
              </a:solidFill>
              <a:latin typeface="Arial" panose="020B0604020202020204"/>
              <a:ea typeface="微软雅黑" panose="020B0503020204020204" pitchFamily="34" charset="-122"/>
              <a:cs typeface="+mn-ea"/>
              <a:sym typeface="+mn-lt"/>
            </a:endParaRPr>
          </a:p>
        </p:txBody>
      </p:sp>
      <p:grpSp>
        <p:nvGrpSpPr>
          <p:cNvPr id="130" name="PA-组合 20"/>
          <p:cNvGrpSpPr/>
          <p:nvPr>
            <p:custDataLst>
              <p:tags r:id="rId2"/>
            </p:custDataLst>
          </p:nvPr>
        </p:nvGrpSpPr>
        <p:grpSpPr>
          <a:xfrm>
            <a:off x="6503258" y="1506205"/>
            <a:ext cx="672405" cy="923330"/>
            <a:chOff x="7138670" y="1012807"/>
            <a:chExt cx="672405" cy="923330"/>
          </a:xfrm>
        </p:grpSpPr>
        <p:sp>
          <p:nvSpPr>
            <p:cNvPr id="131" name="PA-任意多边形 9"/>
            <p:cNvSpPr/>
            <p:nvPr>
              <p:custDataLst>
                <p:tags r:id="rId3"/>
              </p:custDataLst>
            </p:nvPr>
          </p:nvSpPr>
          <p:spPr>
            <a:xfrm>
              <a:off x="7138670" y="1555752"/>
              <a:ext cx="360050" cy="202528"/>
            </a:xfrm>
            <a:custGeom>
              <a:avLst/>
              <a:gdLst>
                <a:gd name="connsiteX0" fmla="*/ 0 w 12192000"/>
                <a:gd name="connsiteY0" fmla="*/ 0 h 6858000"/>
                <a:gd name="connsiteX1" fmla="*/ 12192000 w 12192000"/>
                <a:gd name="connsiteY1" fmla="*/ 0 h 6858000"/>
                <a:gd name="connsiteX2" fmla="*/ 12192000 w 12192000"/>
                <a:gd name="connsiteY2" fmla="*/ 1 h 6858000"/>
                <a:gd name="connsiteX3" fmla="*/ 8438627 w 12192000"/>
                <a:gd name="connsiteY3" fmla="*/ 1 h 6858000"/>
                <a:gd name="connsiteX4" fmla="*/ 12192000 w 12192000"/>
                <a:gd name="connsiteY4" fmla="*/ 5623285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12192000" y="0"/>
                  </a:lnTo>
                  <a:lnTo>
                    <a:pt x="12192000" y="1"/>
                  </a:lnTo>
                  <a:lnTo>
                    <a:pt x="8438627" y="1"/>
                  </a:lnTo>
                  <a:lnTo>
                    <a:pt x="12192000" y="5623285"/>
                  </a:lnTo>
                  <a:lnTo>
                    <a:pt x="12192000" y="6858000"/>
                  </a:lnTo>
                  <a:lnTo>
                    <a:pt x="0" y="6858000"/>
                  </a:lnTo>
                  <a:close/>
                </a:path>
              </a:pathLst>
            </a:custGeom>
            <a:gradFill flip="none" rotWithShape="1">
              <a:gsLst>
                <a:gs pos="2000">
                  <a:srgbClr val="014B30">
                    <a:alpha val="80000"/>
                  </a:srgbClr>
                </a:gs>
                <a:gs pos="72000">
                  <a:srgbClr val="014B30">
                    <a:alpha val="40000"/>
                  </a:srgbClr>
                </a:gs>
                <a:gs pos="100000">
                  <a:srgbClr val="014B30">
                    <a:alpha val="0"/>
                  </a:srgbClr>
                </a:gs>
              </a:gsLst>
              <a:lin ang="8400000" scaled="0"/>
              <a:tileRect/>
            </a:gra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ea"/>
                <a:sym typeface="+mn-lt"/>
              </a:endParaRPr>
            </a:p>
          </p:txBody>
        </p:sp>
        <p:sp>
          <p:nvSpPr>
            <p:cNvPr id="132" name="PA-文本框 13"/>
            <p:cNvSpPr txBox="1"/>
            <p:nvPr>
              <p:custDataLst>
                <p:tags r:id="rId4"/>
              </p:custDataLst>
            </p:nvPr>
          </p:nvSpPr>
          <p:spPr>
            <a:xfrm>
              <a:off x="7186365" y="1012807"/>
              <a:ext cx="624710" cy="92333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5400" b="1" i="1" u="none" strike="noStrike" kern="0" cap="none" spc="0" normalizeH="0" baseline="0" noProof="0" dirty="0">
                  <a:ln>
                    <a:noFill/>
                  </a:ln>
                  <a:solidFill>
                    <a:srgbClr val="014B30"/>
                  </a:solidFill>
                  <a:effectLst/>
                  <a:uLnTx/>
                  <a:uFillTx/>
                  <a:latin typeface="Arial" panose="020B0604020202020204"/>
                  <a:ea typeface="微软雅黑" panose="020B0503020204020204" pitchFamily="34" charset="-122"/>
                  <a:cs typeface="+mn-ea"/>
                  <a:sym typeface="+mn-lt"/>
                </a:rPr>
                <a:t>1</a:t>
              </a:r>
              <a:endParaRPr kumimoji="0" lang="zh-CN" altLang="en-US" sz="5400" b="1" i="1" u="none" strike="noStrike" kern="0" cap="none" spc="0" normalizeH="0" baseline="0" noProof="0" dirty="0">
                <a:ln>
                  <a:noFill/>
                </a:ln>
                <a:solidFill>
                  <a:srgbClr val="014B30"/>
                </a:solidFill>
                <a:effectLst/>
                <a:uLnTx/>
                <a:uFillTx/>
                <a:latin typeface="Arial" panose="020B0604020202020204"/>
                <a:ea typeface="微软雅黑" panose="020B0503020204020204" pitchFamily="34" charset="-122"/>
                <a:cs typeface="+mn-ea"/>
                <a:sym typeface="+mn-lt"/>
              </a:endParaRPr>
            </a:p>
          </p:txBody>
        </p:sp>
      </p:grpSp>
      <p:grpSp>
        <p:nvGrpSpPr>
          <p:cNvPr id="133" name="PA-组合 19"/>
          <p:cNvGrpSpPr/>
          <p:nvPr>
            <p:custDataLst>
              <p:tags r:id="rId5"/>
            </p:custDataLst>
          </p:nvPr>
        </p:nvGrpSpPr>
        <p:grpSpPr>
          <a:xfrm>
            <a:off x="6503258" y="2617813"/>
            <a:ext cx="672405" cy="830997"/>
            <a:chOff x="7138670" y="2490624"/>
            <a:chExt cx="672405" cy="830997"/>
          </a:xfrm>
        </p:grpSpPr>
        <p:sp>
          <p:nvSpPr>
            <p:cNvPr id="134" name="PA-任意多边形 10"/>
            <p:cNvSpPr/>
            <p:nvPr>
              <p:custDataLst>
                <p:tags r:id="rId6"/>
              </p:custDataLst>
            </p:nvPr>
          </p:nvSpPr>
          <p:spPr>
            <a:xfrm>
              <a:off x="7138670" y="2967858"/>
              <a:ext cx="360050" cy="202528"/>
            </a:xfrm>
            <a:custGeom>
              <a:avLst/>
              <a:gdLst>
                <a:gd name="connsiteX0" fmla="*/ 0 w 12192000"/>
                <a:gd name="connsiteY0" fmla="*/ 0 h 6858000"/>
                <a:gd name="connsiteX1" fmla="*/ 12192000 w 12192000"/>
                <a:gd name="connsiteY1" fmla="*/ 0 h 6858000"/>
                <a:gd name="connsiteX2" fmla="*/ 12192000 w 12192000"/>
                <a:gd name="connsiteY2" fmla="*/ 1 h 6858000"/>
                <a:gd name="connsiteX3" fmla="*/ 8438627 w 12192000"/>
                <a:gd name="connsiteY3" fmla="*/ 1 h 6858000"/>
                <a:gd name="connsiteX4" fmla="*/ 12192000 w 12192000"/>
                <a:gd name="connsiteY4" fmla="*/ 5623285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12192000" y="0"/>
                  </a:lnTo>
                  <a:lnTo>
                    <a:pt x="12192000" y="1"/>
                  </a:lnTo>
                  <a:lnTo>
                    <a:pt x="8438627" y="1"/>
                  </a:lnTo>
                  <a:lnTo>
                    <a:pt x="12192000" y="5623285"/>
                  </a:lnTo>
                  <a:lnTo>
                    <a:pt x="12192000" y="6858000"/>
                  </a:lnTo>
                  <a:lnTo>
                    <a:pt x="0" y="6858000"/>
                  </a:lnTo>
                  <a:close/>
                </a:path>
              </a:pathLst>
            </a:custGeom>
            <a:gradFill flip="none" rotWithShape="1">
              <a:gsLst>
                <a:gs pos="2000">
                  <a:srgbClr val="014B30"/>
                </a:gs>
                <a:gs pos="72000">
                  <a:srgbClr val="014B30">
                    <a:alpha val="40000"/>
                  </a:srgbClr>
                </a:gs>
                <a:gs pos="100000">
                  <a:srgbClr val="014B30">
                    <a:alpha val="0"/>
                  </a:srgbClr>
                </a:gs>
              </a:gsLst>
              <a:lin ang="8400000" scaled="0"/>
              <a:tileRect/>
            </a:gra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ea"/>
                <a:sym typeface="+mn-lt"/>
              </a:endParaRPr>
            </a:p>
          </p:txBody>
        </p:sp>
        <p:sp>
          <p:nvSpPr>
            <p:cNvPr id="135" name="PA-文本框 14"/>
            <p:cNvSpPr txBox="1"/>
            <p:nvPr>
              <p:custDataLst>
                <p:tags r:id="rId7"/>
              </p:custDataLst>
            </p:nvPr>
          </p:nvSpPr>
          <p:spPr>
            <a:xfrm>
              <a:off x="7186365" y="2490624"/>
              <a:ext cx="624710" cy="83099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800" b="1" i="1" u="none" strike="noStrike" kern="0" cap="none" spc="0" normalizeH="0" baseline="0" noProof="0" dirty="0">
                  <a:ln>
                    <a:noFill/>
                  </a:ln>
                  <a:solidFill>
                    <a:srgbClr val="014B30"/>
                  </a:solidFill>
                  <a:effectLst/>
                  <a:uLnTx/>
                  <a:uFillTx/>
                  <a:latin typeface="Arial" panose="020B0604020202020204"/>
                  <a:ea typeface="微软雅黑" panose="020B0503020204020204" pitchFamily="34" charset="-122"/>
                  <a:cs typeface="+mn-ea"/>
                  <a:sym typeface="+mn-lt"/>
                </a:rPr>
                <a:t>2</a:t>
              </a:r>
              <a:endParaRPr kumimoji="0" lang="zh-CN" altLang="en-US" sz="4800" b="1" i="1" u="none" strike="noStrike" kern="0" cap="none" spc="0" normalizeH="0" baseline="0" noProof="0" dirty="0">
                <a:ln>
                  <a:noFill/>
                </a:ln>
                <a:solidFill>
                  <a:srgbClr val="014B30"/>
                </a:solidFill>
                <a:effectLst/>
                <a:uLnTx/>
                <a:uFillTx/>
                <a:latin typeface="Arial" panose="020B0604020202020204"/>
                <a:ea typeface="微软雅黑" panose="020B0503020204020204" pitchFamily="34" charset="-122"/>
                <a:cs typeface="+mn-ea"/>
                <a:sym typeface="+mn-lt"/>
              </a:endParaRPr>
            </a:p>
          </p:txBody>
        </p:sp>
      </p:grpSp>
      <p:sp>
        <p:nvSpPr>
          <p:cNvPr id="136" name="PA-任意多边形 11"/>
          <p:cNvSpPr/>
          <p:nvPr>
            <p:custDataLst>
              <p:tags r:id="rId8"/>
            </p:custDataLst>
          </p:nvPr>
        </p:nvSpPr>
        <p:spPr>
          <a:xfrm>
            <a:off x="6503258" y="4131791"/>
            <a:ext cx="360050" cy="202528"/>
          </a:xfrm>
          <a:custGeom>
            <a:avLst/>
            <a:gdLst>
              <a:gd name="connsiteX0" fmla="*/ 0 w 12192000"/>
              <a:gd name="connsiteY0" fmla="*/ 0 h 6858000"/>
              <a:gd name="connsiteX1" fmla="*/ 12192000 w 12192000"/>
              <a:gd name="connsiteY1" fmla="*/ 0 h 6858000"/>
              <a:gd name="connsiteX2" fmla="*/ 12192000 w 12192000"/>
              <a:gd name="connsiteY2" fmla="*/ 1 h 6858000"/>
              <a:gd name="connsiteX3" fmla="*/ 8438627 w 12192000"/>
              <a:gd name="connsiteY3" fmla="*/ 1 h 6858000"/>
              <a:gd name="connsiteX4" fmla="*/ 12192000 w 12192000"/>
              <a:gd name="connsiteY4" fmla="*/ 5623285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12192000" y="0"/>
                </a:lnTo>
                <a:lnTo>
                  <a:pt x="12192000" y="1"/>
                </a:lnTo>
                <a:lnTo>
                  <a:pt x="8438627" y="1"/>
                </a:lnTo>
                <a:lnTo>
                  <a:pt x="12192000" y="5623285"/>
                </a:lnTo>
                <a:lnTo>
                  <a:pt x="12192000" y="6858000"/>
                </a:lnTo>
                <a:lnTo>
                  <a:pt x="0" y="6858000"/>
                </a:lnTo>
                <a:close/>
              </a:path>
            </a:pathLst>
          </a:custGeom>
          <a:gradFill flip="none" rotWithShape="1">
            <a:gsLst>
              <a:gs pos="2000">
                <a:srgbClr val="014B30"/>
              </a:gs>
              <a:gs pos="72000">
                <a:srgbClr val="014B30">
                  <a:alpha val="40000"/>
                </a:srgbClr>
              </a:gs>
              <a:gs pos="100000">
                <a:srgbClr val="014B30">
                  <a:alpha val="0"/>
                </a:srgbClr>
              </a:gs>
            </a:gsLst>
            <a:lin ang="8400000" scaled="0"/>
            <a:tileRect/>
          </a:gra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ea"/>
              <a:sym typeface="+mn-lt"/>
            </a:endParaRPr>
          </a:p>
        </p:txBody>
      </p:sp>
      <p:sp>
        <p:nvSpPr>
          <p:cNvPr id="137" name="PA-文本框 15"/>
          <p:cNvSpPr txBox="1"/>
          <p:nvPr>
            <p:custDataLst>
              <p:tags r:id="rId9"/>
            </p:custDataLst>
          </p:nvPr>
        </p:nvSpPr>
        <p:spPr>
          <a:xfrm>
            <a:off x="6550953" y="3637087"/>
            <a:ext cx="624710" cy="830997"/>
          </a:xfrm>
          <a:prstGeom prst="rect">
            <a:avLst/>
          </a:prstGeom>
          <a:noFill/>
        </p:spPr>
        <p:txBody>
          <a:bodyPr wrap="square" rtlCol="0">
            <a:spAutoFit/>
          </a:bodyPr>
          <a:lstStyle/>
          <a:p>
            <a:r>
              <a:rPr lang="en-US" altLang="zh-CN" sz="4800" b="1" i="1" dirty="0">
                <a:solidFill>
                  <a:srgbClr val="014B30"/>
                </a:solidFill>
                <a:latin typeface="Arial" panose="020B0604020202020204"/>
                <a:ea typeface="微软雅黑" panose="020B0503020204020204" pitchFamily="34" charset="-122"/>
                <a:cs typeface="+mn-ea"/>
                <a:sym typeface="+mn-lt"/>
              </a:rPr>
              <a:t>3</a:t>
            </a:r>
            <a:endParaRPr lang="zh-CN" altLang="en-US" sz="4800" b="1" i="1" dirty="0">
              <a:solidFill>
                <a:srgbClr val="014B30"/>
              </a:solidFill>
              <a:latin typeface="Arial" panose="020B0604020202020204"/>
              <a:ea typeface="微软雅黑" panose="020B0503020204020204" pitchFamily="34" charset="-122"/>
              <a:cs typeface="+mn-ea"/>
              <a:sym typeface="+mn-lt"/>
            </a:endParaRPr>
          </a:p>
        </p:txBody>
      </p:sp>
      <p:grpSp>
        <p:nvGrpSpPr>
          <p:cNvPr id="138" name="PA-组合 17"/>
          <p:cNvGrpSpPr/>
          <p:nvPr>
            <p:custDataLst>
              <p:tags r:id="rId10"/>
            </p:custDataLst>
          </p:nvPr>
        </p:nvGrpSpPr>
        <p:grpSpPr>
          <a:xfrm>
            <a:off x="6503258" y="4656362"/>
            <a:ext cx="672405" cy="830997"/>
            <a:chOff x="7138670" y="5303103"/>
            <a:chExt cx="672405" cy="830997"/>
          </a:xfrm>
        </p:grpSpPr>
        <p:sp>
          <p:nvSpPr>
            <p:cNvPr id="139" name="PA-任意多边形 12"/>
            <p:cNvSpPr/>
            <p:nvPr>
              <p:custDataLst>
                <p:tags r:id="rId11"/>
              </p:custDataLst>
            </p:nvPr>
          </p:nvSpPr>
          <p:spPr>
            <a:xfrm>
              <a:off x="7138670" y="5792070"/>
              <a:ext cx="360050" cy="202528"/>
            </a:xfrm>
            <a:custGeom>
              <a:avLst/>
              <a:gdLst>
                <a:gd name="connsiteX0" fmla="*/ 0 w 12192000"/>
                <a:gd name="connsiteY0" fmla="*/ 0 h 6858000"/>
                <a:gd name="connsiteX1" fmla="*/ 12192000 w 12192000"/>
                <a:gd name="connsiteY1" fmla="*/ 0 h 6858000"/>
                <a:gd name="connsiteX2" fmla="*/ 12192000 w 12192000"/>
                <a:gd name="connsiteY2" fmla="*/ 1 h 6858000"/>
                <a:gd name="connsiteX3" fmla="*/ 8438627 w 12192000"/>
                <a:gd name="connsiteY3" fmla="*/ 1 h 6858000"/>
                <a:gd name="connsiteX4" fmla="*/ 12192000 w 12192000"/>
                <a:gd name="connsiteY4" fmla="*/ 5623285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12192000" y="0"/>
                  </a:lnTo>
                  <a:lnTo>
                    <a:pt x="12192000" y="1"/>
                  </a:lnTo>
                  <a:lnTo>
                    <a:pt x="8438627" y="1"/>
                  </a:lnTo>
                  <a:lnTo>
                    <a:pt x="12192000" y="5623285"/>
                  </a:lnTo>
                  <a:lnTo>
                    <a:pt x="12192000" y="6858000"/>
                  </a:lnTo>
                  <a:lnTo>
                    <a:pt x="0" y="6858000"/>
                  </a:lnTo>
                  <a:close/>
                </a:path>
              </a:pathLst>
            </a:custGeom>
            <a:gradFill flip="none" rotWithShape="1">
              <a:gsLst>
                <a:gs pos="2000">
                  <a:srgbClr val="014B30"/>
                </a:gs>
                <a:gs pos="72000">
                  <a:srgbClr val="014B30">
                    <a:alpha val="40000"/>
                  </a:srgbClr>
                </a:gs>
                <a:gs pos="100000">
                  <a:srgbClr val="014B30">
                    <a:alpha val="0"/>
                  </a:srgbClr>
                </a:gs>
              </a:gsLst>
              <a:lin ang="8400000" scaled="0"/>
              <a:tileRect/>
            </a:gra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pitchFamily="34" charset="-122"/>
                <a:cs typeface="+mn-ea"/>
                <a:sym typeface="+mn-lt"/>
              </a:endParaRPr>
            </a:p>
          </p:txBody>
        </p:sp>
        <p:sp>
          <p:nvSpPr>
            <p:cNvPr id="140" name="PA-文本框 16"/>
            <p:cNvSpPr txBox="1"/>
            <p:nvPr>
              <p:custDataLst>
                <p:tags r:id="rId12"/>
              </p:custDataLst>
            </p:nvPr>
          </p:nvSpPr>
          <p:spPr>
            <a:xfrm>
              <a:off x="7186365" y="5303103"/>
              <a:ext cx="624710" cy="83099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4800" b="1" i="1" u="none" strike="noStrike" kern="0" cap="none" spc="0" normalizeH="0" baseline="0" noProof="0" dirty="0">
                  <a:ln>
                    <a:noFill/>
                  </a:ln>
                  <a:solidFill>
                    <a:srgbClr val="014B30"/>
                  </a:solidFill>
                  <a:effectLst/>
                  <a:uLnTx/>
                  <a:uFillTx/>
                  <a:latin typeface="Arial" panose="020B0604020202020204"/>
                  <a:ea typeface="微软雅黑" panose="020B0503020204020204" pitchFamily="34" charset="-122"/>
                  <a:cs typeface="+mn-ea"/>
                  <a:sym typeface="+mn-lt"/>
                </a:rPr>
                <a:t>4</a:t>
              </a:r>
              <a:endParaRPr kumimoji="0" lang="zh-CN" altLang="en-US" sz="4800" b="1" i="1" u="none" strike="noStrike" kern="0" cap="none" spc="0" normalizeH="0" baseline="0" noProof="0" dirty="0">
                <a:ln>
                  <a:noFill/>
                </a:ln>
                <a:solidFill>
                  <a:srgbClr val="014B30"/>
                </a:solidFill>
                <a:effectLst/>
                <a:uLnTx/>
                <a:uFillTx/>
                <a:latin typeface="Arial" panose="020B0604020202020204"/>
                <a:ea typeface="微软雅黑" panose="020B0503020204020204" pitchFamily="34" charset="-122"/>
                <a:cs typeface="+mn-ea"/>
                <a:sym typeface="+mn-lt"/>
              </a:endParaRPr>
            </a:p>
          </p:txBody>
        </p:sp>
      </p:grpSp>
      <p:sp>
        <p:nvSpPr>
          <p:cNvPr id="141" name="PA-文本框 21"/>
          <p:cNvSpPr txBox="1"/>
          <p:nvPr>
            <p:custDataLst>
              <p:tags r:id="rId13"/>
            </p:custDataLst>
          </p:nvPr>
        </p:nvSpPr>
        <p:spPr>
          <a:xfrm>
            <a:off x="7173123" y="1817961"/>
            <a:ext cx="3611122" cy="583565"/>
          </a:xfrm>
          <a:prstGeom prst="rect">
            <a:avLst/>
          </a:prstGeom>
          <a:noFill/>
        </p:spPr>
        <p:txBody>
          <a:bodyPr wrap="square" rtlCol="0">
            <a:spAutoFit/>
          </a:bodyPr>
          <a:lstStyle/>
          <a:p>
            <a:r>
              <a:rPr lang="zh-CN" altLang="en-US" sz="3200" dirty="0">
                <a:solidFill>
                  <a:srgbClr val="768394">
                    <a:lumMod val="75000"/>
                  </a:srgbClr>
                </a:solidFill>
                <a:latin typeface="Arial" panose="020B0604020202020204"/>
                <a:ea typeface="微软雅黑" panose="020B0503020204020204" pitchFamily="34" charset="-122"/>
                <a:cs typeface="+mn-ea"/>
                <a:sym typeface="+mn-lt"/>
              </a:rPr>
              <a:t>选题背景</a:t>
            </a:r>
            <a:endParaRPr lang="zh-CN" altLang="en-US" sz="3200" dirty="0">
              <a:solidFill>
                <a:srgbClr val="768394">
                  <a:lumMod val="75000"/>
                </a:srgbClr>
              </a:solidFill>
              <a:latin typeface="Arial" panose="020B0604020202020204"/>
              <a:ea typeface="微软雅黑" panose="020B0503020204020204" pitchFamily="34" charset="-122"/>
              <a:cs typeface="+mn-ea"/>
              <a:sym typeface="+mn-lt"/>
            </a:endParaRPr>
          </a:p>
        </p:txBody>
      </p:sp>
      <p:sp>
        <p:nvSpPr>
          <p:cNvPr id="142" name="PA-文本框 22"/>
          <p:cNvSpPr txBox="1"/>
          <p:nvPr>
            <p:custDataLst>
              <p:tags r:id="rId14"/>
            </p:custDataLst>
          </p:nvPr>
        </p:nvSpPr>
        <p:spPr>
          <a:xfrm>
            <a:off x="7173124" y="2802478"/>
            <a:ext cx="3611122" cy="583565"/>
          </a:xfrm>
          <a:prstGeom prst="rect">
            <a:avLst/>
          </a:prstGeom>
          <a:noFill/>
        </p:spPr>
        <p:txBody>
          <a:bodyPr wrap="square" rtlCol="0">
            <a:spAutoFit/>
          </a:bodyPr>
          <a:lstStyle/>
          <a:p>
            <a:r>
              <a:rPr lang="zh-CN" altLang="en-US" sz="3200" dirty="0">
                <a:solidFill>
                  <a:srgbClr val="768394">
                    <a:lumMod val="75000"/>
                  </a:srgbClr>
                </a:solidFill>
                <a:latin typeface="Arial" panose="020B0604020202020204"/>
                <a:ea typeface="微软雅黑" panose="020B0503020204020204" pitchFamily="34" charset="-122"/>
                <a:cs typeface="+mn-ea"/>
                <a:sym typeface="+mn-lt"/>
              </a:rPr>
              <a:t>项目</a:t>
            </a:r>
            <a:r>
              <a:rPr lang="zh-CN" altLang="en-US" sz="3200" dirty="0">
                <a:solidFill>
                  <a:srgbClr val="768394">
                    <a:lumMod val="75000"/>
                  </a:srgbClr>
                </a:solidFill>
                <a:latin typeface="Arial" panose="020B0604020202020204"/>
                <a:ea typeface="微软雅黑" panose="020B0503020204020204" pitchFamily="34" charset="-122"/>
                <a:cs typeface="+mn-ea"/>
                <a:sym typeface="+mn-lt"/>
              </a:rPr>
              <a:t>方案</a:t>
            </a:r>
            <a:endParaRPr lang="zh-CN" altLang="en-US" sz="3200" dirty="0">
              <a:solidFill>
                <a:srgbClr val="768394">
                  <a:lumMod val="75000"/>
                </a:srgbClr>
              </a:solidFill>
              <a:latin typeface="Arial" panose="020B0604020202020204"/>
              <a:ea typeface="微软雅黑" panose="020B0503020204020204" pitchFamily="34" charset="-122"/>
              <a:cs typeface="+mn-ea"/>
              <a:sym typeface="+mn-lt"/>
            </a:endParaRPr>
          </a:p>
        </p:txBody>
      </p:sp>
      <p:sp>
        <p:nvSpPr>
          <p:cNvPr id="143" name="PA-文本框 23"/>
          <p:cNvSpPr txBox="1"/>
          <p:nvPr>
            <p:custDataLst>
              <p:tags r:id="rId15"/>
            </p:custDataLst>
          </p:nvPr>
        </p:nvSpPr>
        <p:spPr>
          <a:xfrm>
            <a:off x="7173124" y="3825365"/>
            <a:ext cx="3611122" cy="583565"/>
          </a:xfrm>
          <a:prstGeom prst="rect">
            <a:avLst/>
          </a:prstGeom>
          <a:noFill/>
        </p:spPr>
        <p:txBody>
          <a:bodyPr wrap="square" rtlCol="0">
            <a:spAutoFit/>
          </a:bodyPr>
          <a:lstStyle/>
          <a:p>
            <a:r>
              <a:rPr lang="zh-CN" altLang="en-US" sz="3200" dirty="0">
                <a:solidFill>
                  <a:srgbClr val="768394">
                    <a:lumMod val="75000"/>
                  </a:srgbClr>
                </a:solidFill>
                <a:latin typeface="Arial" panose="020B0604020202020204"/>
                <a:ea typeface="微软雅黑" panose="020B0503020204020204" pitchFamily="34" charset="-122"/>
                <a:cs typeface="+mn-ea"/>
                <a:sym typeface="+mn-lt"/>
              </a:rPr>
              <a:t>项目管理</a:t>
            </a:r>
            <a:endParaRPr lang="zh-CN" altLang="en-US" sz="3200" dirty="0">
              <a:solidFill>
                <a:srgbClr val="768394">
                  <a:lumMod val="75000"/>
                </a:srgbClr>
              </a:solidFill>
              <a:latin typeface="Arial" panose="020B0604020202020204"/>
              <a:ea typeface="微软雅黑" panose="020B0503020204020204" pitchFamily="34" charset="-122"/>
              <a:cs typeface="+mn-ea"/>
              <a:sym typeface="+mn-lt"/>
            </a:endParaRPr>
          </a:p>
        </p:txBody>
      </p:sp>
      <p:cxnSp>
        <p:nvCxnSpPr>
          <p:cNvPr id="144" name="PA-直接连接符 25"/>
          <p:cNvCxnSpPr/>
          <p:nvPr/>
        </p:nvCxnSpPr>
        <p:spPr>
          <a:xfrm flipV="1">
            <a:off x="5565474" y="4867219"/>
            <a:ext cx="628650" cy="358139"/>
          </a:xfrm>
          <a:prstGeom prst="line">
            <a:avLst/>
          </a:prstGeom>
          <a:noFill/>
          <a:ln w="57150" cap="rnd" cmpd="sng" algn="ctr">
            <a:gradFill>
              <a:gsLst>
                <a:gs pos="0">
                  <a:srgbClr val="FFFFFF">
                    <a:alpha val="77000"/>
                  </a:srgbClr>
                </a:gs>
                <a:gs pos="100000">
                  <a:srgbClr val="014B30"/>
                </a:gs>
              </a:gsLst>
              <a:lin ang="5400000" scaled="1"/>
            </a:gradFill>
            <a:prstDash val="solid"/>
            <a:round/>
          </a:ln>
          <a:effectLst/>
        </p:spPr>
      </p:cxnSp>
      <p:cxnSp>
        <p:nvCxnSpPr>
          <p:cNvPr id="145" name="PA-直接连接符 26"/>
          <p:cNvCxnSpPr/>
          <p:nvPr/>
        </p:nvCxnSpPr>
        <p:spPr>
          <a:xfrm flipV="1">
            <a:off x="6108366" y="5945110"/>
            <a:ext cx="1149834" cy="616027"/>
          </a:xfrm>
          <a:prstGeom prst="line">
            <a:avLst/>
          </a:prstGeom>
          <a:noFill/>
          <a:ln w="63500" cap="rnd" cmpd="sng" algn="ctr">
            <a:gradFill>
              <a:gsLst>
                <a:gs pos="0">
                  <a:srgbClr val="FFFFFF">
                    <a:alpha val="0"/>
                  </a:srgbClr>
                </a:gs>
                <a:gs pos="70000">
                  <a:srgbClr val="014B30"/>
                </a:gs>
              </a:gsLst>
              <a:lin ang="5400000" scaled="1"/>
            </a:gradFill>
            <a:prstDash val="solid"/>
            <a:round/>
          </a:ln>
          <a:effectLst/>
        </p:spPr>
      </p:cxnSp>
      <p:cxnSp>
        <p:nvCxnSpPr>
          <p:cNvPr id="146" name="PA-直接连接符 31"/>
          <p:cNvCxnSpPr/>
          <p:nvPr>
            <p:custDataLst>
              <p:tags r:id="rId16"/>
            </p:custDataLst>
          </p:nvPr>
        </p:nvCxnSpPr>
        <p:spPr>
          <a:xfrm flipV="1">
            <a:off x="7646099" y="4596709"/>
            <a:ext cx="315585" cy="179789"/>
          </a:xfrm>
          <a:prstGeom prst="line">
            <a:avLst/>
          </a:prstGeom>
          <a:noFill/>
          <a:ln w="69850" cap="rnd" cmpd="sng" algn="ctr">
            <a:gradFill>
              <a:gsLst>
                <a:gs pos="0">
                  <a:srgbClr val="FFFFFF">
                    <a:alpha val="77000"/>
                  </a:srgbClr>
                </a:gs>
                <a:gs pos="100000">
                  <a:srgbClr val="014B30"/>
                </a:gs>
              </a:gsLst>
              <a:lin ang="5400000" scaled="1"/>
            </a:gradFill>
            <a:prstDash val="solid"/>
            <a:round/>
          </a:ln>
          <a:effectLst/>
        </p:spPr>
      </p:cxnSp>
      <p:cxnSp>
        <p:nvCxnSpPr>
          <p:cNvPr id="147" name="PA-直接连接符 33"/>
          <p:cNvCxnSpPr/>
          <p:nvPr/>
        </p:nvCxnSpPr>
        <p:spPr>
          <a:xfrm flipV="1">
            <a:off x="6970741" y="5579561"/>
            <a:ext cx="574917" cy="277128"/>
          </a:xfrm>
          <a:prstGeom prst="line">
            <a:avLst/>
          </a:prstGeom>
          <a:noFill/>
          <a:ln w="47625" cap="rnd" cmpd="sng" algn="ctr">
            <a:gradFill>
              <a:gsLst>
                <a:gs pos="0">
                  <a:srgbClr val="FFFFFF">
                    <a:alpha val="0"/>
                  </a:srgbClr>
                </a:gs>
                <a:gs pos="100000">
                  <a:srgbClr val="014B30"/>
                </a:gs>
              </a:gsLst>
              <a:lin ang="5400000" scaled="1"/>
            </a:gradFill>
            <a:prstDash val="solid"/>
            <a:round/>
          </a:ln>
          <a:effectLst/>
        </p:spPr>
      </p:cxnSp>
      <p:cxnSp>
        <p:nvCxnSpPr>
          <p:cNvPr id="148" name="PA-直接连接符 36"/>
          <p:cNvCxnSpPr/>
          <p:nvPr/>
        </p:nvCxnSpPr>
        <p:spPr>
          <a:xfrm flipH="1">
            <a:off x="9035548" y="2496875"/>
            <a:ext cx="301333" cy="171668"/>
          </a:xfrm>
          <a:prstGeom prst="line">
            <a:avLst/>
          </a:prstGeom>
          <a:noFill/>
          <a:ln w="47625" cap="rnd" cmpd="sng" algn="ctr">
            <a:gradFill>
              <a:gsLst>
                <a:gs pos="0">
                  <a:srgbClr val="FFFFFF">
                    <a:alpha val="74000"/>
                  </a:srgbClr>
                </a:gs>
                <a:gs pos="100000">
                  <a:srgbClr val="014B30"/>
                </a:gs>
              </a:gsLst>
              <a:lin ang="5400000" scaled="1"/>
            </a:gradFill>
            <a:prstDash val="solid"/>
            <a:round/>
          </a:ln>
          <a:effectLst/>
        </p:spPr>
      </p:cxnSp>
      <p:grpSp>
        <p:nvGrpSpPr>
          <p:cNvPr id="149" name="组合 23"/>
          <p:cNvGrpSpPr/>
          <p:nvPr/>
        </p:nvGrpSpPr>
        <p:grpSpPr>
          <a:xfrm>
            <a:off x="357611" y="1592658"/>
            <a:ext cx="4378398" cy="3207306"/>
            <a:chOff x="1043940" y="2140627"/>
            <a:chExt cx="4000500" cy="2930484"/>
          </a:xfrm>
        </p:grpSpPr>
        <p:sp>
          <p:nvSpPr>
            <p:cNvPr id="150" name="PA-右中括号 1"/>
            <p:cNvSpPr/>
            <p:nvPr/>
          </p:nvSpPr>
          <p:spPr>
            <a:xfrm rot="16200000">
              <a:off x="2712720" y="1310047"/>
              <a:ext cx="662940" cy="2324100"/>
            </a:xfrm>
            <a:prstGeom prst="rightBracket">
              <a:avLst>
                <a:gd name="adj" fmla="val 0"/>
              </a:avLst>
            </a:prstGeom>
            <a:noFill/>
            <a:ln w="38100" cap="flat" cmpd="sng" algn="ctr">
              <a:solidFill>
                <a:srgbClr val="FFFFFF"/>
              </a:solidFill>
              <a:prstDash val="solid"/>
              <a:miter lim="800000"/>
            </a:ln>
            <a:effectLst/>
          </p:spPr>
          <p:txBody>
            <a:bodyPr rtlCol="0" anchor="ctr"/>
            <a:lstStyle/>
            <a:p>
              <a:pPr algn="ctr">
                <a:defRPr/>
              </a:pPr>
              <a:endParaRPr lang="zh-CN" altLang="en-US" kern="0" dirty="0">
                <a:solidFill>
                  <a:srgbClr val="000000"/>
                </a:solidFill>
                <a:latin typeface="Arial" panose="020B0604020202020204"/>
                <a:ea typeface="微软雅黑" panose="020B0503020204020204" pitchFamily="34" charset="-122"/>
                <a:cs typeface="+mn-ea"/>
                <a:sym typeface="+mn-lt"/>
              </a:endParaRPr>
            </a:p>
          </p:txBody>
        </p:sp>
        <p:sp>
          <p:nvSpPr>
            <p:cNvPr id="151" name="PA-右中括号 3"/>
            <p:cNvSpPr/>
            <p:nvPr/>
          </p:nvSpPr>
          <p:spPr>
            <a:xfrm rot="5400000" flipV="1">
              <a:off x="2712720" y="3577591"/>
              <a:ext cx="662940" cy="2324100"/>
            </a:xfrm>
            <a:prstGeom prst="rightBracket">
              <a:avLst>
                <a:gd name="adj" fmla="val 0"/>
              </a:avLst>
            </a:prstGeom>
            <a:noFill/>
            <a:ln w="38100" cap="flat" cmpd="sng" algn="ctr">
              <a:solidFill>
                <a:srgbClr val="FFFFFF"/>
              </a:solidFill>
              <a:prstDash val="solid"/>
              <a:miter lim="800000"/>
            </a:ln>
            <a:effectLst/>
          </p:spPr>
          <p:txBody>
            <a:bodyPr rtlCol="0" anchor="ctr"/>
            <a:lstStyle/>
            <a:p>
              <a:pPr algn="ctr">
                <a:defRPr/>
              </a:pPr>
              <a:endParaRPr lang="zh-CN" altLang="en-US" kern="0">
                <a:solidFill>
                  <a:srgbClr val="000000"/>
                </a:solidFill>
                <a:latin typeface="Arial" panose="020B0604020202020204"/>
                <a:ea typeface="微软雅黑" panose="020B0503020204020204" pitchFamily="34" charset="-122"/>
                <a:cs typeface="+mn-ea"/>
                <a:sym typeface="+mn-lt"/>
              </a:endParaRPr>
            </a:p>
          </p:txBody>
        </p:sp>
        <p:sp>
          <p:nvSpPr>
            <p:cNvPr id="152" name="PA-矩形 4"/>
            <p:cNvSpPr/>
            <p:nvPr/>
          </p:nvSpPr>
          <p:spPr>
            <a:xfrm>
              <a:off x="1043940" y="2951479"/>
              <a:ext cx="4000500" cy="1087120"/>
            </a:xfrm>
            <a:prstGeom prst="rect">
              <a:avLst/>
            </a:prstGeom>
            <a:solidFill>
              <a:srgbClr val="FFFFFF">
                <a:alpha val="35000"/>
              </a:srgbClr>
            </a:solidFill>
            <a:ln w="12700" cap="flat" cmpd="sng" algn="ctr">
              <a:gradFill>
                <a:gsLst>
                  <a:gs pos="0">
                    <a:srgbClr val="00723E">
                      <a:lumMod val="5000"/>
                      <a:lumOff val="95000"/>
                    </a:srgbClr>
                  </a:gs>
                  <a:gs pos="69400">
                    <a:srgbClr val="FAFFFD">
                      <a:alpha val="33000"/>
                    </a:srgbClr>
                  </a:gs>
                  <a:gs pos="32000">
                    <a:srgbClr val="F3FFFA">
                      <a:alpha val="0"/>
                    </a:srgbClr>
                  </a:gs>
                  <a:gs pos="100000">
                    <a:srgbClr val="FFFFFF">
                      <a:alpha val="94000"/>
                    </a:srgbClr>
                  </a:gs>
                </a:gsLst>
                <a:lin ang="5400000" scaled="1"/>
              </a:gradFill>
              <a:prstDash val="solid"/>
              <a:miter lim="800000"/>
            </a:ln>
            <a:effectLst/>
          </p:spPr>
          <p:txBody>
            <a:bodyPr rtlCol="0" anchor="ctr"/>
            <a:lstStyle/>
            <a:p>
              <a:pPr algn="ctr">
                <a:defRPr/>
              </a:pPr>
              <a:endParaRPr lang="zh-CN" altLang="en-US" kern="0">
                <a:solidFill>
                  <a:srgbClr val="FFFFFF"/>
                </a:solidFill>
                <a:latin typeface="Arial" panose="020B0604020202020204"/>
                <a:ea typeface="微软雅黑" panose="020B0503020204020204" pitchFamily="34" charset="-122"/>
                <a:cs typeface="+mn-ea"/>
                <a:sym typeface="+mn-lt"/>
              </a:endParaRPr>
            </a:p>
          </p:txBody>
        </p:sp>
        <p:sp>
          <p:nvSpPr>
            <p:cNvPr id="153" name="PA-文本框 5"/>
            <p:cNvSpPr txBox="1"/>
            <p:nvPr/>
          </p:nvSpPr>
          <p:spPr>
            <a:xfrm>
              <a:off x="1993900" y="2986360"/>
              <a:ext cx="2100580" cy="1168466"/>
            </a:xfrm>
            <a:prstGeom prst="rect">
              <a:avLst/>
            </a:prstGeom>
            <a:noFill/>
          </p:spPr>
          <p:txBody>
            <a:bodyPr wrap="square" rtlCol="0">
              <a:spAutoFit/>
            </a:bodyPr>
            <a:lstStyle/>
            <a:p>
              <a:pPr algn="dist">
                <a:defRPr/>
              </a:pPr>
              <a:r>
                <a:rPr lang="zh-CN" altLang="en-US" sz="6600" b="1" kern="0" dirty="0">
                  <a:solidFill>
                    <a:srgbClr val="FFFFFF"/>
                  </a:solidFill>
                  <a:latin typeface="Arial" panose="020B0604020202020204"/>
                  <a:ea typeface="微软雅黑" panose="020B0503020204020204" pitchFamily="34" charset="-122"/>
                  <a:cs typeface="+mn-ea"/>
                  <a:sym typeface="+mn-lt"/>
                </a:rPr>
                <a:t>目录</a:t>
              </a:r>
              <a:endParaRPr lang="zh-CN" altLang="en-US" sz="6600" b="1" kern="0" dirty="0">
                <a:solidFill>
                  <a:srgbClr val="FFFFFF"/>
                </a:solidFill>
                <a:latin typeface="Arial" panose="020B0604020202020204"/>
                <a:ea typeface="微软雅黑" panose="020B0503020204020204" pitchFamily="34" charset="-122"/>
                <a:cs typeface="+mn-ea"/>
                <a:sym typeface="+mn-lt"/>
              </a:endParaRPr>
            </a:p>
          </p:txBody>
        </p:sp>
        <p:sp>
          <p:nvSpPr>
            <p:cNvPr id="154" name="PA-文本框 6"/>
            <p:cNvSpPr txBox="1"/>
            <p:nvPr/>
          </p:nvSpPr>
          <p:spPr>
            <a:xfrm>
              <a:off x="2094230" y="4223504"/>
              <a:ext cx="1899920" cy="369332"/>
            </a:xfrm>
            <a:prstGeom prst="rect">
              <a:avLst/>
            </a:prstGeom>
            <a:noFill/>
          </p:spPr>
          <p:txBody>
            <a:bodyPr wrap="square" rtlCol="0">
              <a:spAutoFit/>
            </a:bodyPr>
            <a:lstStyle/>
            <a:p>
              <a:pPr algn="dist">
                <a:defRPr/>
              </a:pPr>
              <a:r>
                <a:rPr lang="en-US" altLang="zh-CN" kern="0" dirty="0">
                  <a:solidFill>
                    <a:srgbClr val="FFFFFF"/>
                  </a:solidFill>
                  <a:latin typeface="Arial" panose="020B0604020202020204"/>
                  <a:ea typeface="微软雅黑" panose="020B0503020204020204" pitchFamily="34" charset="-122"/>
                  <a:cs typeface="+mn-ea"/>
                  <a:sym typeface="+mn-lt"/>
                </a:rPr>
                <a:t>CONTEXT</a:t>
              </a:r>
              <a:endParaRPr lang="zh-CN" altLang="en-US" kern="0" dirty="0">
                <a:solidFill>
                  <a:srgbClr val="FFFFFF"/>
                </a:solidFill>
                <a:latin typeface="Arial" panose="020B0604020202020204"/>
                <a:ea typeface="微软雅黑" panose="020B0503020204020204" pitchFamily="34" charset="-122"/>
                <a:cs typeface="+mn-ea"/>
                <a:sym typeface="+mn-lt"/>
              </a:endParaRPr>
            </a:p>
          </p:txBody>
        </p:sp>
        <p:cxnSp>
          <p:nvCxnSpPr>
            <p:cNvPr id="155" name="PA-直接连接符 42"/>
            <p:cNvCxnSpPr/>
            <p:nvPr/>
          </p:nvCxnSpPr>
          <p:spPr>
            <a:xfrm>
              <a:off x="2170176" y="4174352"/>
              <a:ext cx="1737360" cy="0"/>
            </a:xfrm>
            <a:prstGeom prst="line">
              <a:avLst/>
            </a:prstGeom>
            <a:noFill/>
            <a:ln w="9525" cap="flat" cmpd="sng" algn="ctr">
              <a:solidFill>
                <a:srgbClr val="FFFFFF"/>
              </a:solidFill>
              <a:prstDash val="solid"/>
              <a:miter lim="800000"/>
            </a:ln>
            <a:effectLst/>
          </p:spPr>
        </p:cxnSp>
        <p:grpSp>
          <p:nvGrpSpPr>
            <p:cNvPr id="156" name="PA-组合 54"/>
            <p:cNvGrpSpPr/>
            <p:nvPr/>
          </p:nvGrpSpPr>
          <p:grpSpPr>
            <a:xfrm>
              <a:off x="4200650" y="3381742"/>
              <a:ext cx="221996" cy="292636"/>
              <a:chOff x="4206240" y="3385284"/>
              <a:chExt cx="221996" cy="292636"/>
            </a:xfrm>
          </p:grpSpPr>
          <p:cxnSp>
            <p:nvCxnSpPr>
              <p:cNvPr id="157" name="PA-直接连接符 47"/>
              <p:cNvCxnSpPr/>
              <p:nvPr/>
            </p:nvCxnSpPr>
            <p:spPr>
              <a:xfrm>
                <a:off x="4206240" y="3385284"/>
                <a:ext cx="0" cy="292636"/>
              </a:xfrm>
              <a:prstGeom prst="line">
                <a:avLst/>
              </a:prstGeom>
              <a:noFill/>
              <a:ln w="22225" cap="rnd" cmpd="sng" algn="ctr">
                <a:solidFill>
                  <a:srgbClr val="FFFFFF"/>
                </a:solidFill>
                <a:prstDash val="solid"/>
                <a:miter lim="800000"/>
              </a:ln>
              <a:effectLst/>
            </p:spPr>
          </p:cxnSp>
          <p:cxnSp>
            <p:nvCxnSpPr>
              <p:cNvPr id="158" name="PA-直接连接符 48"/>
              <p:cNvCxnSpPr/>
              <p:nvPr/>
            </p:nvCxnSpPr>
            <p:spPr>
              <a:xfrm>
                <a:off x="4322064" y="3429000"/>
                <a:ext cx="0" cy="198120"/>
              </a:xfrm>
              <a:prstGeom prst="line">
                <a:avLst/>
              </a:prstGeom>
              <a:noFill/>
              <a:ln w="22225" cap="rnd" cmpd="sng" algn="ctr">
                <a:solidFill>
                  <a:srgbClr val="FFFFFF"/>
                </a:solidFill>
                <a:prstDash val="solid"/>
                <a:miter lim="800000"/>
              </a:ln>
              <a:effectLst/>
            </p:spPr>
          </p:cxnSp>
          <p:cxnSp>
            <p:nvCxnSpPr>
              <p:cNvPr id="159" name="PA-直接连接符 49"/>
              <p:cNvCxnSpPr/>
              <p:nvPr/>
            </p:nvCxnSpPr>
            <p:spPr>
              <a:xfrm>
                <a:off x="4428236" y="3459480"/>
                <a:ext cx="0" cy="144561"/>
              </a:xfrm>
              <a:prstGeom prst="line">
                <a:avLst/>
              </a:prstGeom>
              <a:noFill/>
              <a:ln w="22225" cap="rnd" cmpd="sng" algn="ctr">
                <a:solidFill>
                  <a:srgbClr val="FFFFFF"/>
                </a:solidFill>
                <a:prstDash val="solid"/>
                <a:miter lim="800000"/>
              </a:ln>
              <a:effectLst/>
            </p:spPr>
          </p:cxnSp>
        </p:grpSp>
        <p:grpSp>
          <p:nvGrpSpPr>
            <p:cNvPr id="160" name="PA-组合 55"/>
            <p:cNvGrpSpPr/>
            <p:nvPr/>
          </p:nvGrpSpPr>
          <p:grpSpPr>
            <a:xfrm flipH="1">
              <a:off x="1665733" y="3381742"/>
              <a:ext cx="221996" cy="292636"/>
              <a:chOff x="4206240" y="3385284"/>
              <a:chExt cx="221996" cy="292636"/>
            </a:xfrm>
          </p:grpSpPr>
          <p:cxnSp>
            <p:nvCxnSpPr>
              <p:cNvPr id="161" name="PA-直接连接符 56"/>
              <p:cNvCxnSpPr/>
              <p:nvPr/>
            </p:nvCxnSpPr>
            <p:spPr>
              <a:xfrm>
                <a:off x="4206240" y="3385284"/>
                <a:ext cx="0" cy="292636"/>
              </a:xfrm>
              <a:prstGeom prst="line">
                <a:avLst/>
              </a:prstGeom>
              <a:noFill/>
              <a:ln w="22225" cap="rnd" cmpd="sng" algn="ctr">
                <a:solidFill>
                  <a:srgbClr val="FFFFFF"/>
                </a:solidFill>
                <a:prstDash val="solid"/>
                <a:miter lim="800000"/>
              </a:ln>
              <a:effectLst/>
            </p:spPr>
          </p:cxnSp>
          <p:cxnSp>
            <p:nvCxnSpPr>
              <p:cNvPr id="162" name="PA-直接连接符 57"/>
              <p:cNvCxnSpPr/>
              <p:nvPr/>
            </p:nvCxnSpPr>
            <p:spPr>
              <a:xfrm>
                <a:off x="4322064" y="3429000"/>
                <a:ext cx="0" cy="198120"/>
              </a:xfrm>
              <a:prstGeom prst="line">
                <a:avLst/>
              </a:prstGeom>
              <a:noFill/>
              <a:ln w="22225" cap="rnd" cmpd="sng" algn="ctr">
                <a:solidFill>
                  <a:srgbClr val="FFFFFF"/>
                </a:solidFill>
                <a:prstDash val="solid"/>
                <a:miter lim="800000"/>
              </a:ln>
              <a:effectLst/>
            </p:spPr>
          </p:cxnSp>
          <p:cxnSp>
            <p:nvCxnSpPr>
              <p:cNvPr id="163" name="PA-直接连接符 58"/>
              <p:cNvCxnSpPr/>
              <p:nvPr/>
            </p:nvCxnSpPr>
            <p:spPr>
              <a:xfrm>
                <a:off x="4428236" y="3459480"/>
                <a:ext cx="0" cy="144561"/>
              </a:xfrm>
              <a:prstGeom prst="line">
                <a:avLst/>
              </a:prstGeom>
              <a:noFill/>
              <a:ln w="22225" cap="rnd" cmpd="sng" algn="ctr">
                <a:solidFill>
                  <a:srgbClr val="FFFFFF"/>
                </a:solidFill>
                <a:prstDash val="solid"/>
                <a:miter lim="800000"/>
              </a:ln>
              <a:effectLst/>
            </p:spPr>
          </p:cxnSp>
        </p:grpSp>
      </p:grpSp>
      <p:pic>
        <p:nvPicPr>
          <p:cNvPr id="164" name="图片 38"/>
          <p:cNvPicPr>
            <a:picLocks noChangeAspect="1"/>
          </p:cNvPicPr>
          <p:nvPr/>
        </p:nvPicPr>
        <p:blipFill>
          <a:blip r:embed="rId17"/>
          <a:srcRect/>
          <a:stretch>
            <a:fillRect/>
          </a:stretch>
        </p:blipFill>
        <p:spPr>
          <a:xfrm>
            <a:off x="9627257" y="6396953"/>
            <a:ext cx="2293308" cy="317350"/>
          </a:xfrm>
          <a:prstGeom prst="rect">
            <a:avLst/>
          </a:prstGeom>
        </p:spPr>
      </p:pic>
      <p:grpSp>
        <p:nvGrpSpPr>
          <p:cNvPr id="165" name="组合 39"/>
          <p:cNvGrpSpPr/>
          <p:nvPr/>
        </p:nvGrpSpPr>
        <p:grpSpPr>
          <a:xfrm>
            <a:off x="9479461" y="192898"/>
            <a:ext cx="2487599" cy="771929"/>
            <a:chOff x="4077923" y="171807"/>
            <a:chExt cx="4420435" cy="1371709"/>
          </a:xfrm>
        </p:grpSpPr>
        <p:grpSp>
          <p:nvGrpSpPr>
            <p:cNvPr id="166" name="组合 40"/>
            <p:cNvGrpSpPr/>
            <p:nvPr/>
          </p:nvGrpSpPr>
          <p:grpSpPr>
            <a:xfrm>
              <a:off x="4077923" y="171807"/>
              <a:ext cx="4260493" cy="1371709"/>
              <a:chOff x="6331308" y="1189619"/>
              <a:chExt cx="5481392" cy="1764794"/>
            </a:xfrm>
          </p:grpSpPr>
          <p:pic>
            <p:nvPicPr>
              <p:cNvPr id="167" name="图片 42"/>
              <p:cNvPicPr>
                <a:picLocks noChangeAspect="1"/>
              </p:cNvPicPr>
              <p:nvPr/>
            </p:nvPicPr>
            <p:blipFill>
              <a:blip r:embed="rId18"/>
              <a:srcRect/>
              <a:stretch>
                <a:fillRect/>
              </a:stretch>
            </p:blipFill>
            <p:spPr>
              <a:xfrm>
                <a:off x="6331308" y="1189619"/>
                <a:ext cx="1791803" cy="1764794"/>
              </a:xfrm>
              <a:prstGeom prst="rect">
                <a:avLst/>
              </a:prstGeom>
            </p:spPr>
          </p:pic>
          <p:pic>
            <p:nvPicPr>
              <p:cNvPr id="168" name="图片 43"/>
              <p:cNvPicPr>
                <a:picLocks noChangeAspect="1"/>
              </p:cNvPicPr>
              <p:nvPr/>
            </p:nvPicPr>
            <p:blipFill>
              <a:blip r:embed="rId19"/>
              <a:srcRect/>
              <a:stretch>
                <a:fillRect/>
              </a:stretch>
            </p:blipFill>
            <p:spPr>
              <a:xfrm>
                <a:off x="8302517" y="1422328"/>
                <a:ext cx="3510183" cy="965303"/>
              </a:xfrm>
              <a:prstGeom prst="rect">
                <a:avLst/>
              </a:prstGeom>
            </p:spPr>
          </p:pic>
        </p:grpSp>
        <p:sp>
          <p:nvSpPr>
            <p:cNvPr id="169" name="矩形 41"/>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宋体" panose="02010600030101010101" pitchFamily="2" charset="-122"/>
                </a:rPr>
                <a:t>WUHAN UNIVERSITY</a:t>
              </a:r>
              <a:endParaRPr lang="en-US" altLang="zh-CN" sz="900" b="1" dirty="0">
                <a:solidFill>
                  <a:prstClr val="black"/>
                </a:solidFill>
                <a:latin typeface="Calibri" panose="020F0502020204030204"/>
                <a:ea typeface="宋体" panose="02010600030101010101" pitchFamily="2" charset="-122"/>
              </a:endParaRPr>
            </a:p>
          </p:txBody>
        </p:sp>
      </p:grpSp>
      <p:sp>
        <p:nvSpPr>
          <p:cNvPr id="170" name="PA-文本框 23"/>
          <p:cNvSpPr txBox="1"/>
          <p:nvPr>
            <p:custDataLst>
              <p:tags r:id="rId20"/>
            </p:custDataLst>
          </p:nvPr>
        </p:nvSpPr>
        <p:spPr>
          <a:xfrm>
            <a:off x="7173123" y="4800473"/>
            <a:ext cx="3611122" cy="583565"/>
          </a:xfrm>
          <a:prstGeom prst="rect">
            <a:avLst/>
          </a:prstGeom>
          <a:noFill/>
        </p:spPr>
        <p:txBody>
          <a:bodyPr wrap="square" rtlCol="0">
            <a:spAutoFit/>
          </a:bodyPr>
          <a:lstStyle/>
          <a:p>
            <a:r>
              <a:rPr lang="zh-CN" altLang="en-US" sz="3200" dirty="0">
                <a:solidFill>
                  <a:srgbClr val="768394">
                    <a:lumMod val="75000"/>
                  </a:srgbClr>
                </a:solidFill>
                <a:latin typeface="Arial" panose="020B0604020202020204"/>
                <a:ea typeface="微软雅黑" panose="020B0503020204020204" pitchFamily="34" charset="-122"/>
                <a:cs typeface="+mn-ea"/>
                <a:sym typeface="+mn-lt"/>
              </a:rPr>
              <a:t>总结</a:t>
            </a:r>
            <a:r>
              <a:rPr lang="zh-CN" altLang="en-US" sz="3200" dirty="0">
                <a:solidFill>
                  <a:srgbClr val="768394">
                    <a:lumMod val="75000"/>
                  </a:srgbClr>
                </a:solidFill>
                <a:latin typeface="Arial" panose="020B0604020202020204"/>
                <a:ea typeface="微软雅黑" panose="020B0503020204020204" pitchFamily="34" charset="-122"/>
                <a:cs typeface="+mn-ea"/>
                <a:sym typeface="+mn-lt"/>
              </a:rPr>
              <a:t>展望</a:t>
            </a:r>
            <a:endParaRPr lang="zh-CN" altLang="en-US" sz="3200" dirty="0">
              <a:solidFill>
                <a:srgbClr val="768394">
                  <a:lumMod val="75000"/>
                </a:srgbClr>
              </a:solidFill>
              <a:latin typeface="Arial" panose="020B0604020202020204"/>
              <a:ea typeface="微软雅黑" panose="020B0503020204020204" pitchFamily="34" charset="-122"/>
              <a:cs typeface="+mn-ea"/>
              <a:sym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3859"/>
            <a:ext cx="12219295" cy="1013221"/>
            <a:chOff x="-128871" y="-71960"/>
            <a:chExt cx="12219295" cy="1013221"/>
          </a:xfrm>
        </p:grpSpPr>
        <p:grpSp>
          <p:nvGrpSpPr>
            <p:cNvPr id="586" name="组合 67"/>
            <p:cNvGrpSpPr/>
            <p:nvPr/>
          </p:nvGrpSpPr>
          <p:grpSpPr>
            <a:xfrm>
              <a:off x="-128871" y="-71960"/>
              <a:ext cx="12219295" cy="1013221"/>
              <a:chOff x="-128871" y="-71960"/>
              <a:chExt cx="12219295" cy="1013221"/>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2326353" y="-71960"/>
                <a:ext cx="2203382" cy="773252"/>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项目管理</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宋体" panose="02010600030101010101" pitchFamily="2" charset="-122"/>
                </a:rPr>
                <a:t>WUHAN UNIVERSITY</a:t>
              </a:r>
              <a:endParaRPr lang="en-US" altLang="zh-CN" sz="900" b="1" dirty="0">
                <a:solidFill>
                  <a:prstClr val="black"/>
                </a:solidFill>
                <a:latin typeface="Calibri" panose="020F0502020204030204"/>
                <a:ea typeface="宋体" panose="02010600030101010101" pitchFamily="2" charset="-122"/>
              </a:endParaRPr>
            </a:p>
          </p:txBody>
        </p:sp>
      </p:grpSp>
      <p:sp>
        <p:nvSpPr>
          <p:cNvPr id="2" name="ïṣ1ïḑê"/>
          <p:cNvSpPr>
            <a:spLocks noGrp="1"/>
          </p:cNvSpPr>
          <p:nvPr/>
        </p:nvSpPr>
        <p:spPr>
          <a:xfrm>
            <a:off x="308610" y="862330"/>
            <a:ext cx="4801235" cy="58737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sz="2700" dirty="0">
                <a:solidFill>
                  <a:srgbClr val="005825"/>
                </a:solidFill>
              </a:rPr>
              <a:t>1.1</a:t>
            </a:r>
            <a:r>
              <a:rPr lang="zh-CN" altLang="en-US" sz="2700" dirty="0">
                <a:solidFill>
                  <a:srgbClr val="005825"/>
                </a:solidFill>
              </a:rPr>
              <a:t>应用背景</a:t>
            </a:r>
            <a:r>
              <a:rPr lang="en-US" altLang="zh-CN" sz="2700" dirty="0">
                <a:solidFill>
                  <a:srgbClr val="002060"/>
                </a:solidFill>
              </a:rPr>
              <a:t>|</a:t>
            </a:r>
            <a:r>
              <a:rPr lang="zh-CN" altLang="en-US" sz="2700" dirty="0"/>
              <a:t>城市交通问题</a:t>
            </a:r>
            <a:endParaRPr lang="zh-CN" altLang="en-US" sz="2700" dirty="0"/>
          </a:p>
        </p:txBody>
      </p:sp>
      <p:pic>
        <p:nvPicPr>
          <p:cNvPr id="7" name="图形 6" descr="前引号"/>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450676" y="1254125"/>
            <a:ext cx="914400" cy="914400"/>
          </a:xfrm>
          <a:prstGeom prst="rect">
            <a:avLst/>
          </a:prstGeom>
        </p:spPr>
      </p:pic>
      <p:sp>
        <p:nvSpPr>
          <p:cNvPr id="3" name="Title"/>
          <p:cNvSpPr/>
          <p:nvPr/>
        </p:nvSpPr>
        <p:spPr>
          <a:xfrm>
            <a:off x="1419885" y="1449705"/>
            <a:ext cx="10053295" cy="885618"/>
          </a:xfrm>
          <a:prstGeom prst="rect">
            <a:avLst/>
          </a:prstGeom>
          <a:noFill/>
          <a:ln>
            <a:noFill/>
          </a:ln>
        </p:spPr>
        <p:style>
          <a:lnRef idx="2">
            <a:srgbClr val="111A51">
              <a:shade val="50000"/>
            </a:srgbClr>
          </a:lnRef>
          <a:fillRef idx="1">
            <a:srgbClr val="111A51"/>
          </a:fillRef>
          <a:effectRef idx="0">
            <a:srgbClr val="111A51"/>
          </a:effectRef>
          <a:fontRef idx="minor">
            <a:srgbClr val="FFFFFF"/>
          </a:fontRef>
        </p:style>
        <p:txBody>
          <a:bodyPr wrap="square" lIns="91440" tIns="45720" rIns="91440" bIns="45720" rtlCol="0" anchor="b" anchorCtr="0">
            <a:normAutofit/>
          </a:bodyPr>
          <a:lstStyle/>
          <a:p>
            <a:r>
              <a:rPr kumimoji="1" lang="zh-CN" altLang="en-US" sz="24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城市交通问题是城市发展的关键挑战，其本质是资源分配失衡与需求增长过快之间的矛盾</a:t>
            </a:r>
            <a:endParaRPr kumimoji="1" lang="zh-CN" altLang="en-US" sz="24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p:txBody>
      </p:sp>
      <p:pic>
        <p:nvPicPr>
          <p:cNvPr id="48" name="图片 47"/>
          <p:cNvPicPr>
            <a:picLocks noChangeAspect="1"/>
          </p:cNvPicPr>
          <p:nvPr/>
        </p:nvPicPr>
        <p:blipFill>
          <a:blip r:embed="rId6" cstate="print">
            <a:extLst>
              <a:ext uri="{28A0092B-C50C-407E-A947-70E740481C1C}">
                <a14:useLocalDpi xmlns:a14="http://schemas.microsoft.com/office/drawing/2010/main" val="0"/>
              </a:ext>
            </a:extLst>
          </a:blip>
          <a:srcRect l="19620" r="19620"/>
          <a:stretch>
            <a:fillRect/>
          </a:stretch>
        </p:blipFill>
        <p:spPr>
          <a:xfrm>
            <a:off x="666726" y="4645797"/>
            <a:ext cx="1548124" cy="1548124"/>
          </a:xfrm>
          <a:custGeom>
            <a:avLst/>
            <a:gdLst>
              <a:gd name="connsiteX0" fmla="*/ 774062 w 1548124"/>
              <a:gd name="connsiteY0" fmla="*/ 0 h 1548124"/>
              <a:gd name="connsiteX1" fmla="*/ 1548124 w 1548124"/>
              <a:gd name="connsiteY1" fmla="*/ 774062 h 1548124"/>
              <a:gd name="connsiteX2" fmla="*/ 774062 w 1548124"/>
              <a:gd name="connsiteY2" fmla="*/ 1548124 h 1548124"/>
              <a:gd name="connsiteX3" fmla="*/ 0 w 1548124"/>
              <a:gd name="connsiteY3" fmla="*/ 774062 h 1548124"/>
              <a:gd name="connsiteX4" fmla="*/ 774062 w 1548124"/>
              <a:gd name="connsiteY4" fmla="*/ 0 h 15481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8124" h="1548124">
                <a:moveTo>
                  <a:pt x="774062" y="0"/>
                </a:moveTo>
                <a:cubicBezTo>
                  <a:pt x="1201565" y="0"/>
                  <a:pt x="1548124" y="346559"/>
                  <a:pt x="1548124" y="774062"/>
                </a:cubicBezTo>
                <a:cubicBezTo>
                  <a:pt x="1548124" y="1201565"/>
                  <a:pt x="1201565" y="1548124"/>
                  <a:pt x="774062" y="1548124"/>
                </a:cubicBezTo>
                <a:cubicBezTo>
                  <a:pt x="346559" y="1548124"/>
                  <a:pt x="0" y="1201565"/>
                  <a:pt x="0" y="774062"/>
                </a:cubicBezTo>
                <a:cubicBezTo>
                  <a:pt x="0" y="346559"/>
                  <a:pt x="346559" y="0"/>
                  <a:pt x="774062" y="0"/>
                </a:cubicBezTo>
                <a:close/>
              </a:path>
            </a:pathLst>
          </a:custGeom>
        </p:spPr>
      </p:pic>
      <p:grpSp>
        <p:nvGrpSpPr>
          <p:cNvPr id="8" name="组合 7"/>
          <p:cNvGrpSpPr/>
          <p:nvPr/>
        </p:nvGrpSpPr>
        <p:grpSpPr>
          <a:xfrm>
            <a:off x="1551539" y="4657226"/>
            <a:ext cx="4212543" cy="1548001"/>
            <a:chOff x="877169" y="2450279"/>
            <a:chExt cx="5048326" cy="1548001"/>
          </a:xfrm>
        </p:grpSpPr>
        <p:sp>
          <p:nvSpPr>
            <p:cNvPr id="9" name="矩形: 圆角 42"/>
            <p:cNvSpPr/>
            <p:nvPr/>
          </p:nvSpPr>
          <p:spPr>
            <a:xfrm>
              <a:off x="877169" y="2450279"/>
              <a:ext cx="5048326" cy="1548001"/>
            </a:xfrm>
            <a:prstGeom prst="roundRect">
              <a:avLst>
                <a:gd name="adj" fmla="val 8000"/>
              </a:avLst>
            </a:prstGeom>
            <a:solidFill>
              <a:srgbClr val="000000">
                <a:lumMod val="25000"/>
                <a:lumOff val="75000"/>
                <a:alpha val="20000"/>
              </a:srgbClr>
            </a:solidFill>
            <a:ln w="6055" cap="flat">
              <a:noFill/>
              <a:prstDash val="solid"/>
              <a:miter/>
            </a:ln>
          </p:spPr>
          <p:txBody>
            <a:bodyPr rtlCol="0" anchor="ctr"/>
            <a:lstStyle/>
            <a:p>
              <a:endParaRPr lang="zh-CN" altLang="en-US">
                <a:cs typeface="微软雅黑" panose="020B0503020204020204" pitchFamily="34" charset="-122"/>
                <a:sym typeface="Arial" panose="020B0604020202020204" pitchFamily="34" charset="0"/>
              </a:endParaRPr>
            </a:p>
          </p:txBody>
        </p:sp>
        <p:sp>
          <p:nvSpPr>
            <p:cNvPr id="10" name="Bullet1"/>
            <p:cNvSpPr/>
            <p:nvPr/>
          </p:nvSpPr>
          <p:spPr>
            <a:xfrm>
              <a:off x="1654657" y="2583320"/>
              <a:ext cx="4270838" cy="445291"/>
            </a:xfrm>
            <a:prstGeom prst="rect">
              <a:avLst/>
            </a:prstGeom>
            <a:noFill/>
            <a:ln>
              <a:noFill/>
            </a:ln>
          </p:spPr>
          <p:style>
            <a:lnRef idx="2">
              <a:srgbClr val="111A51">
                <a:shade val="50000"/>
              </a:srgbClr>
            </a:lnRef>
            <a:fillRef idx="1">
              <a:srgbClr val="111A51"/>
            </a:fillRef>
            <a:effectRef idx="0">
              <a:srgbClr val="111A51"/>
            </a:effectRef>
            <a:fontRef idx="minor">
              <a:srgbClr val="FFFFFF"/>
            </a:fontRef>
          </p:style>
          <p:txBody>
            <a:bodyPr wrap="square" lIns="91440" tIns="45720" rIns="91440" bIns="45720" rtlCol="0" anchor="b" anchorCtr="0">
              <a:normAutofit lnSpcReduction="10000"/>
            </a:bodyPr>
            <a:lstStyle/>
            <a:p>
              <a:pPr algn="ctr"/>
              <a:r>
                <a:rPr kumimoji="1" lang="zh-CN" altLang="en-US" sz="2400" b="1" dirty="0">
                  <a:solidFill>
                    <a:schemeClr val="tx1"/>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停车资源短缺</a:t>
              </a:r>
              <a:endParaRPr kumimoji="1" lang="zh-CN" altLang="en-US" sz="2400" b="1" dirty="0">
                <a:solidFill>
                  <a:schemeClr val="tx1"/>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p:txBody>
        </p:sp>
        <p:sp>
          <p:nvSpPr>
            <p:cNvPr id="11" name="Text1"/>
            <p:cNvSpPr/>
            <p:nvPr/>
          </p:nvSpPr>
          <p:spPr>
            <a:xfrm>
              <a:off x="1654656" y="2990800"/>
              <a:ext cx="4270839" cy="932318"/>
            </a:xfrm>
            <a:prstGeom prst="rect">
              <a:avLst/>
            </a:prstGeom>
            <a:noFill/>
            <a:ln>
              <a:noFill/>
            </a:ln>
          </p:spPr>
          <p:style>
            <a:lnRef idx="2">
              <a:srgbClr val="111A51">
                <a:shade val="50000"/>
              </a:srgbClr>
            </a:lnRef>
            <a:fillRef idx="1">
              <a:srgbClr val="111A51"/>
            </a:fillRef>
            <a:effectRef idx="0">
              <a:srgbClr val="111A51"/>
            </a:effectRef>
            <a:fontRef idx="minor">
              <a:srgbClr val="FFFFFF"/>
            </a:fontRef>
          </p:style>
          <p:txBody>
            <a:bodyPr wrap="square" lIns="91440" tIns="45720" rIns="91440" bIns="45720" rtlCol="0" anchor="t" anchorCtr="0">
              <a:noAutofit/>
            </a:bodyPr>
            <a:lstStyle/>
            <a:p>
              <a:pPr marL="285750" indent="-285750">
                <a:lnSpc>
                  <a:spcPct val="120000"/>
                </a:lnSpc>
                <a:buFont typeface="Wingdings" panose="05000000000000000000" pitchFamily="2" charset="2"/>
                <a:buChar char="p"/>
              </a:pPr>
              <a:r>
                <a:rPr kumimoji="1" lang="zh-CN" altLang="en-US" sz="16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停车位紧张</a:t>
              </a:r>
              <a:endParaRPr kumimoji="1" lang="en-US" altLang="zh-CN" sz="1600" b="1" dirty="0">
                <a:solidFill>
                  <a:srgbClr val="000000"/>
                </a:solidFill>
                <a:cs typeface="微软雅黑" panose="020B0503020204020204" pitchFamily="34" charset="-122"/>
                <a:sym typeface="Arial" panose="020B0604020202020204" pitchFamily="34" charset="0"/>
              </a:endParaRPr>
            </a:p>
            <a:p>
              <a:pPr marL="285750" indent="-285750">
                <a:lnSpc>
                  <a:spcPct val="120000"/>
                </a:lnSpc>
                <a:buFont typeface="Wingdings" panose="05000000000000000000" pitchFamily="2" charset="2"/>
                <a:buChar char="p"/>
              </a:pPr>
              <a:r>
                <a:rPr kumimoji="1" lang="zh-CN" altLang="en-US" sz="16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停车成本高</a:t>
              </a:r>
              <a:endParaRPr kumimoji="1" lang="en-US" altLang="zh-CN" sz="1600" b="1" dirty="0">
                <a:solidFill>
                  <a:srgbClr val="000000"/>
                </a:solidFill>
                <a:cs typeface="微软雅黑" panose="020B0503020204020204" pitchFamily="34" charset="-122"/>
                <a:sym typeface="Arial" panose="020B0604020202020204" pitchFamily="34" charset="0"/>
              </a:endParaRPr>
            </a:p>
            <a:p>
              <a:pPr marL="285750" indent="-285750">
                <a:lnSpc>
                  <a:spcPct val="120000"/>
                </a:lnSpc>
                <a:buFont typeface="Wingdings" panose="05000000000000000000" pitchFamily="2" charset="2"/>
                <a:buChar char="p"/>
              </a:pPr>
              <a:r>
                <a:rPr kumimoji="1" lang="zh-CN" altLang="en-US" sz="16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占道停车严重</a:t>
              </a:r>
              <a:endParaRPr kumimoji="1" lang="zh-CN" altLang="en-US" sz="16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p:txBody>
        </p:sp>
      </p:grpSp>
      <p:pic>
        <p:nvPicPr>
          <p:cNvPr id="12" name="图片 11"/>
          <p:cNvPicPr>
            <a:picLocks noChangeAspect="1"/>
          </p:cNvPicPr>
          <p:nvPr/>
        </p:nvPicPr>
        <p:blipFill>
          <a:blip r:embed="rId7" cstate="print">
            <a:extLst>
              <a:ext uri="{28A0092B-C50C-407E-A947-70E740481C1C}">
                <a14:useLocalDpi xmlns:a14="http://schemas.microsoft.com/office/drawing/2010/main" val="0"/>
              </a:ext>
            </a:extLst>
          </a:blip>
          <a:srcRect l="10000" r="10000"/>
          <a:stretch>
            <a:fillRect/>
          </a:stretch>
        </p:blipFill>
        <p:spPr>
          <a:xfrm>
            <a:off x="6266180" y="2411730"/>
            <a:ext cx="1548130" cy="1548130"/>
          </a:xfrm>
          <a:prstGeom prst="ellipse">
            <a:avLst/>
          </a:prstGeom>
        </p:spPr>
      </p:pic>
      <p:grpSp>
        <p:nvGrpSpPr>
          <p:cNvPr id="13" name="组合 12"/>
          <p:cNvGrpSpPr/>
          <p:nvPr/>
        </p:nvGrpSpPr>
        <p:grpSpPr>
          <a:xfrm>
            <a:off x="7151320" y="2450279"/>
            <a:ext cx="4301540" cy="1556301"/>
            <a:chOff x="877169" y="2450279"/>
            <a:chExt cx="5154980" cy="1556301"/>
          </a:xfrm>
        </p:grpSpPr>
        <p:sp>
          <p:nvSpPr>
            <p:cNvPr id="14" name="矩形: 圆角 46"/>
            <p:cNvSpPr/>
            <p:nvPr/>
          </p:nvSpPr>
          <p:spPr>
            <a:xfrm>
              <a:off x="877169" y="2450279"/>
              <a:ext cx="5048326" cy="1548001"/>
            </a:xfrm>
            <a:prstGeom prst="roundRect">
              <a:avLst>
                <a:gd name="adj" fmla="val 8000"/>
              </a:avLst>
            </a:prstGeom>
            <a:solidFill>
              <a:srgbClr val="000000">
                <a:lumMod val="25000"/>
                <a:lumOff val="75000"/>
                <a:alpha val="20000"/>
              </a:srgbClr>
            </a:solidFill>
            <a:ln w="6055" cap="flat">
              <a:noFill/>
              <a:prstDash val="solid"/>
              <a:miter/>
            </a:ln>
          </p:spPr>
          <p:txBody>
            <a:bodyPr rtlCol="0" anchor="ctr"/>
            <a:lstStyle/>
            <a:p>
              <a:endParaRPr lang="zh-CN" altLang="en-US">
                <a:cs typeface="微软雅黑" panose="020B0503020204020204" pitchFamily="34" charset="-122"/>
                <a:sym typeface="Arial" panose="020B0604020202020204" pitchFamily="34" charset="0"/>
              </a:endParaRPr>
            </a:p>
          </p:txBody>
        </p:sp>
        <p:sp>
          <p:nvSpPr>
            <p:cNvPr id="16" name="Bullet1"/>
            <p:cNvSpPr/>
            <p:nvPr/>
          </p:nvSpPr>
          <p:spPr>
            <a:xfrm>
              <a:off x="1654657" y="2550596"/>
              <a:ext cx="4270838" cy="445291"/>
            </a:xfrm>
            <a:prstGeom prst="rect">
              <a:avLst/>
            </a:prstGeom>
            <a:noFill/>
            <a:ln>
              <a:noFill/>
            </a:ln>
          </p:spPr>
          <p:style>
            <a:lnRef idx="2">
              <a:srgbClr val="111A51">
                <a:shade val="50000"/>
              </a:srgbClr>
            </a:lnRef>
            <a:fillRef idx="1">
              <a:srgbClr val="111A51"/>
            </a:fillRef>
            <a:effectRef idx="0">
              <a:srgbClr val="111A51"/>
            </a:effectRef>
            <a:fontRef idx="minor">
              <a:srgbClr val="FFFFFF"/>
            </a:fontRef>
          </p:style>
          <p:txBody>
            <a:bodyPr wrap="square" lIns="91440" tIns="45720" rIns="91440" bIns="45720" rtlCol="0" anchor="b" anchorCtr="0">
              <a:normAutofit lnSpcReduction="10000"/>
            </a:bodyPr>
            <a:lstStyle/>
            <a:p>
              <a:pPr algn="ctr"/>
              <a:r>
                <a:rPr kumimoji="1" lang="zh-CN" altLang="en-US" sz="2400" b="1" dirty="0">
                  <a:solidFill>
                    <a:schemeClr val="tx1"/>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交通混乱与事故频发</a:t>
              </a:r>
              <a:endParaRPr kumimoji="1" lang="zh-CN" altLang="en-US" sz="2400" b="1" dirty="0">
                <a:solidFill>
                  <a:schemeClr val="tx1"/>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p:txBody>
        </p:sp>
        <p:sp>
          <p:nvSpPr>
            <p:cNvPr id="17" name="Text1"/>
            <p:cNvSpPr/>
            <p:nvPr/>
          </p:nvSpPr>
          <p:spPr>
            <a:xfrm>
              <a:off x="1654656" y="2995887"/>
              <a:ext cx="4377493" cy="1010693"/>
            </a:xfrm>
            <a:prstGeom prst="rect">
              <a:avLst/>
            </a:prstGeom>
            <a:noFill/>
            <a:ln>
              <a:noFill/>
            </a:ln>
          </p:spPr>
          <p:style>
            <a:lnRef idx="2">
              <a:srgbClr val="111A51">
                <a:shade val="50000"/>
              </a:srgbClr>
            </a:lnRef>
            <a:fillRef idx="1">
              <a:srgbClr val="111A51"/>
            </a:fillRef>
            <a:effectRef idx="0">
              <a:srgbClr val="111A51"/>
            </a:effectRef>
            <a:fontRef idx="minor">
              <a:srgbClr val="FFFFFF"/>
            </a:fontRef>
          </p:style>
          <p:txBody>
            <a:bodyPr wrap="square" lIns="91440" tIns="45720" rIns="91440" bIns="45720" rtlCol="0" anchor="t" anchorCtr="0">
              <a:noAutofit/>
            </a:bodyPr>
            <a:lstStyle/>
            <a:p>
              <a:pPr marL="285750" indent="-285750">
                <a:lnSpc>
                  <a:spcPct val="120000"/>
                </a:lnSpc>
                <a:buFont typeface="Wingdings" panose="05000000000000000000" pitchFamily="2" charset="2"/>
                <a:buChar char="p"/>
              </a:pPr>
              <a:r>
                <a:rPr lang="zh-CN" altLang="en-US" sz="16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车流量激增</a:t>
              </a:r>
              <a:endParaRPr lang="en-US" altLang="zh-CN" sz="1600" b="1" dirty="0">
                <a:solidFill>
                  <a:srgbClr val="000000"/>
                </a:solidFill>
                <a:cs typeface="微软雅黑" panose="020B0503020204020204" pitchFamily="34" charset="-122"/>
                <a:sym typeface="Arial" panose="020B0604020202020204" pitchFamily="34" charset="0"/>
              </a:endParaRPr>
            </a:p>
            <a:p>
              <a:pPr marL="285750" indent="-285750">
                <a:lnSpc>
                  <a:spcPct val="120000"/>
                </a:lnSpc>
                <a:buFont typeface="Wingdings" panose="05000000000000000000" pitchFamily="2" charset="2"/>
                <a:buChar char="p"/>
              </a:pPr>
              <a:r>
                <a:rPr lang="zh-CN" altLang="en-US" sz="16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非机动车乱行</a:t>
              </a:r>
              <a:endParaRPr lang="en-US" altLang="zh-CN" sz="1600" b="1" dirty="0">
                <a:solidFill>
                  <a:srgbClr val="000000"/>
                </a:solidFill>
                <a:cs typeface="微软雅黑" panose="020B0503020204020204" pitchFamily="34" charset="-122"/>
                <a:sym typeface="Arial" panose="020B0604020202020204" pitchFamily="34" charset="0"/>
              </a:endParaRPr>
            </a:p>
            <a:p>
              <a:pPr marL="285750" indent="-285750">
                <a:lnSpc>
                  <a:spcPct val="120000"/>
                </a:lnSpc>
                <a:buFont typeface="Wingdings" panose="05000000000000000000" pitchFamily="2" charset="2"/>
                <a:buChar char="p"/>
              </a:pPr>
              <a:r>
                <a:rPr lang="zh-CN" altLang="en-US" sz="16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行人横穿马路</a:t>
              </a:r>
              <a:endParaRPr lang="zh-CN" altLang="en-US" sz="16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p:txBody>
        </p:sp>
      </p:grpSp>
      <p:pic>
        <p:nvPicPr>
          <p:cNvPr id="18" name="图片 17"/>
          <p:cNvPicPr>
            <a:picLocks noChangeAspect="1"/>
          </p:cNvPicPr>
          <p:nvPr/>
        </p:nvPicPr>
        <p:blipFill>
          <a:blip r:embed="rId8" cstate="print">
            <a:extLst>
              <a:ext uri="{28A0092B-C50C-407E-A947-70E740481C1C}">
                <a14:useLocalDpi xmlns:a14="http://schemas.microsoft.com/office/drawing/2010/main" val="0"/>
              </a:ext>
            </a:extLst>
          </a:blip>
          <a:srcRect l="16903" r="16903"/>
          <a:stretch>
            <a:fillRect/>
          </a:stretch>
        </p:blipFill>
        <p:spPr>
          <a:xfrm>
            <a:off x="6236335" y="4616450"/>
            <a:ext cx="1577975" cy="1577975"/>
          </a:xfrm>
          <a:prstGeom prst="ellipse">
            <a:avLst/>
          </a:prstGeom>
        </p:spPr>
      </p:pic>
      <p:grpSp>
        <p:nvGrpSpPr>
          <p:cNvPr id="19" name="组合 18"/>
          <p:cNvGrpSpPr/>
          <p:nvPr/>
        </p:nvGrpSpPr>
        <p:grpSpPr>
          <a:xfrm>
            <a:off x="7151320" y="4657418"/>
            <a:ext cx="4301540" cy="1639219"/>
            <a:chOff x="877169" y="2450279"/>
            <a:chExt cx="5154980" cy="1639219"/>
          </a:xfrm>
        </p:grpSpPr>
        <p:sp>
          <p:nvSpPr>
            <p:cNvPr id="20" name="矩形: 圆角 57"/>
            <p:cNvSpPr/>
            <p:nvPr/>
          </p:nvSpPr>
          <p:spPr>
            <a:xfrm>
              <a:off x="877169" y="2450279"/>
              <a:ext cx="5048326" cy="1548001"/>
            </a:xfrm>
            <a:prstGeom prst="roundRect">
              <a:avLst>
                <a:gd name="adj" fmla="val 8000"/>
              </a:avLst>
            </a:prstGeom>
            <a:solidFill>
              <a:srgbClr val="000000">
                <a:lumMod val="25000"/>
                <a:lumOff val="75000"/>
                <a:alpha val="20000"/>
              </a:srgbClr>
            </a:solidFill>
            <a:ln w="6055" cap="flat">
              <a:noFill/>
              <a:prstDash val="solid"/>
              <a:miter/>
            </a:ln>
          </p:spPr>
          <p:txBody>
            <a:bodyPr rtlCol="0" anchor="ctr"/>
            <a:lstStyle/>
            <a:p>
              <a:endParaRPr lang="zh-CN" altLang="en-US">
                <a:cs typeface="微软雅黑" panose="020B0503020204020204" pitchFamily="34" charset="-122"/>
                <a:sym typeface="Arial" panose="020B0604020202020204" pitchFamily="34" charset="0"/>
              </a:endParaRPr>
            </a:p>
          </p:txBody>
        </p:sp>
        <p:sp>
          <p:nvSpPr>
            <p:cNvPr id="21" name="Bullet1"/>
            <p:cNvSpPr/>
            <p:nvPr/>
          </p:nvSpPr>
          <p:spPr>
            <a:xfrm>
              <a:off x="1654657" y="2565266"/>
              <a:ext cx="4270838" cy="445291"/>
            </a:xfrm>
            <a:prstGeom prst="rect">
              <a:avLst/>
            </a:prstGeom>
            <a:noFill/>
            <a:ln>
              <a:noFill/>
            </a:ln>
          </p:spPr>
          <p:style>
            <a:lnRef idx="2">
              <a:srgbClr val="111A51">
                <a:shade val="50000"/>
              </a:srgbClr>
            </a:lnRef>
            <a:fillRef idx="1">
              <a:srgbClr val="111A51"/>
            </a:fillRef>
            <a:effectRef idx="0">
              <a:srgbClr val="111A51"/>
            </a:effectRef>
            <a:fontRef idx="minor">
              <a:srgbClr val="FFFFFF"/>
            </a:fontRef>
          </p:style>
          <p:txBody>
            <a:bodyPr wrap="square" lIns="91440" tIns="45720" rIns="91440" bIns="45720" rtlCol="0" anchor="b" anchorCtr="0">
              <a:normAutofit lnSpcReduction="10000"/>
            </a:bodyPr>
            <a:lstStyle/>
            <a:p>
              <a:pPr algn="ctr"/>
              <a:r>
                <a:rPr kumimoji="1" lang="zh-CN" altLang="en-US" sz="2400" b="1" dirty="0">
                  <a:solidFill>
                    <a:schemeClr val="tx1"/>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环境污染与能源消耗严重</a:t>
              </a:r>
              <a:endParaRPr kumimoji="1" lang="zh-CN" altLang="en-US" sz="2400" b="1" dirty="0">
                <a:solidFill>
                  <a:schemeClr val="tx1"/>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p:txBody>
        </p:sp>
        <p:sp>
          <p:nvSpPr>
            <p:cNvPr id="22" name="Text1"/>
            <p:cNvSpPr/>
            <p:nvPr/>
          </p:nvSpPr>
          <p:spPr>
            <a:xfrm>
              <a:off x="1654656" y="3010557"/>
              <a:ext cx="4377493" cy="1078941"/>
            </a:xfrm>
            <a:prstGeom prst="rect">
              <a:avLst/>
            </a:prstGeom>
            <a:noFill/>
            <a:ln>
              <a:noFill/>
            </a:ln>
          </p:spPr>
          <p:style>
            <a:lnRef idx="2">
              <a:srgbClr val="111A51">
                <a:shade val="50000"/>
              </a:srgbClr>
            </a:lnRef>
            <a:fillRef idx="1">
              <a:srgbClr val="111A51"/>
            </a:fillRef>
            <a:effectRef idx="0">
              <a:srgbClr val="111A51"/>
            </a:effectRef>
            <a:fontRef idx="minor">
              <a:srgbClr val="FFFFFF"/>
            </a:fontRef>
          </p:style>
          <p:txBody>
            <a:bodyPr wrap="square" lIns="91440" tIns="45720" rIns="91440" bIns="45720" rtlCol="0" anchor="t" anchorCtr="0">
              <a:noAutofit/>
            </a:bodyPr>
            <a:lstStyle/>
            <a:p>
              <a:pPr marL="285750" indent="-285750">
                <a:lnSpc>
                  <a:spcPct val="120000"/>
                </a:lnSpc>
                <a:buFont typeface="Wingdings" panose="05000000000000000000" pitchFamily="2" charset="2"/>
                <a:buChar char="p"/>
              </a:pPr>
              <a:r>
                <a:rPr lang="zh-CN" altLang="en-US" sz="16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尾气排放污染</a:t>
              </a:r>
              <a:endParaRPr lang="en-US" altLang="zh-CN" sz="1600" b="1" dirty="0">
                <a:solidFill>
                  <a:srgbClr val="000000"/>
                </a:solidFill>
                <a:cs typeface="微软雅黑" panose="020B0503020204020204" pitchFamily="34" charset="-122"/>
                <a:sym typeface="Arial" panose="020B0604020202020204" pitchFamily="34" charset="0"/>
              </a:endParaRPr>
            </a:p>
            <a:p>
              <a:pPr marL="285750" indent="-285750">
                <a:lnSpc>
                  <a:spcPct val="120000"/>
                </a:lnSpc>
                <a:buFont typeface="Wingdings" panose="05000000000000000000" pitchFamily="2" charset="2"/>
                <a:buChar char="p"/>
              </a:pPr>
              <a:r>
                <a:rPr lang="zh-CN" altLang="en-US" sz="16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噪音污染</a:t>
              </a:r>
              <a:endParaRPr lang="en-US" altLang="zh-CN" sz="1600" b="1" dirty="0">
                <a:solidFill>
                  <a:srgbClr val="000000"/>
                </a:solidFill>
                <a:cs typeface="微软雅黑" panose="020B0503020204020204" pitchFamily="34" charset="-122"/>
                <a:sym typeface="Arial" panose="020B0604020202020204" pitchFamily="34" charset="0"/>
              </a:endParaRPr>
            </a:p>
            <a:p>
              <a:pPr marL="285750" indent="-285750">
                <a:lnSpc>
                  <a:spcPct val="120000"/>
                </a:lnSpc>
                <a:buFont typeface="Wingdings" panose="05000000000000000000" pitchFamily="2" charset="2"/>
                <a:buChar char="p"/>
              </a:pPr>
              <a:r>
                <a:rPr lang="zh-CN" altLang="en-US" sz="16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能源消耗加剧</a:t>
              </a:r>
              <a:endParaRPr lang="zh-CN" altLang="en-US" sz="16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p:txBody>
        </p:sp>
      </p:grpSp>
      <p:grpSp>
        <p:nvGrpSpPr>
          <p:cNvPr id="23" name="组合 22"/>
          <p:cNvGrpSpPr/>
          <p:nvPr/>
        </p:nvGrpSpPr>
        <p:grpSpPr>
          <a:xfrm>
            <a:off x="1551539" y="2450279"/>
            <a:ext cx="4212543" cy="1548001"/>
            <a:chOff x="877169" y="2450279"/>
            <a:chExt cx="5048326" cy="1548001"/>
          </a:xfrm>
        </p:grpSpPr>
        <p:sp>
          <p:nvSpPr>
            <p:cNvPr id="24" name="矩形: 圆角 27"/>
            <p:cNvSpPr/>
            <p:nvPr/>
          </p:nvSpPr>
          <p:spPr>
            <a:xfrm>
              <a:off x="877169" y="2450279"/>
              <a:ext cx="5048326" cy="1548001"/>
            </a:xfrm>
            <a:prstGeom prst="roundRect">
              <a:avLst>
                <a:gd name="adj" fmla="val 8000"/>
              </a:avLst>
            </a:prstGeom>
            <a:solidFill>
              <a:srgbClr val="000000">
                <a:lumMod val="25000"/>
                <a:lumOff val="75000"/>
                <a:alpha val="20000"/>
              </a:srgbClr>
            </a:solidFill>
            <a:ln w="6055" cap="flat">
              <a:noFill/>
              <a:prstDash val="solid"/>
              <a:miter/>
            </a:ln>
          </p:spPr>
          <p:txBody>
            <a:bodyPr rtlCol="0" anchor="ctr"/>
            <a:lstStyle/>
            <a:p>
              <a:endParaRPr lang="zh-CN" altLang="en-US">
                <a:cs typeface="微软雅黑" panose="020B0503020204020204" pitchFamily="34" charset="-122"/>
                <a:sym typeface="Arial" panose="020B0604020202020204" pitchFamily="34" charset="0"/>
              </a:endParaRPr>
            </a:p>
          </p:txBody>
        </p:sp>
        <p:sp>
          <p:nvSpPr>
            <p:cNvPr id="25" name="Bullet1"/>
            <p:cNvSpPr/>
            <p:nvPr/>
          </p:nvSpPr>
          <p:spPr>
            <a:xfrm>
              <a:off x="1654657" y="2535926"/>
              <a:ext cx="4270838" cy="445291"/>
            </a:xfrm>
            <a:prstGeom prst="rect">
              <a:avLst/>
            </a:prstGeom>
            <a:noFill/>
            <a:ln>
              <a:noFill/>
            </a:ln>
          </p:spPr>
          <p:style>
            <a:lnRef idx="2">
              <a:srgbClr val="111A51">
                <a:shade val="50000"/>
              </a:srgbClr>
            </a:lnRef>
            <a:fillRef idx="1">
              <a:srgbClr val="111A51"/>
            </a:fillRef>
            <a:effectRef idx="0">
              <a:srgbClr val="111A51"/>
            </a:effectRef>
            <a:fontRef idx="minor">
              <a:srgbClr val="FFFFFF"/>
            </a:fontRef>
          </p:style>
          <p:txBody>
            <a:bodyPr wrap="square" lIns="91440" tIns="45720" rIns="91440" bIns="45720" rtlCol="0" anchor="b" anchorCtr="0">
              <a:normAutofit lnSpcReduction="10000"/>
            </a:bodyPr>
            <a:lstStyle/>
            <a:p>
              <a:pPr algn="ctr"/>
              <a:r>
                <a:rPr kumimoji="1" lang="zh-CN" altLang="en-US" sz="2400" b="1" dirty="0">
                  <a:solidFill>
                    <a:schemeClr val="tx1"/>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城市交通拥堵</a:t>
              </a:r>
              <a:endParaRPr kumimoji="1" lang="zh-CN" altLang="en-US" sz="2400" b="1" dirty="0">
                <a:solidFill>
                  <a:schemeClr val="tx1"/>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p:txBody>
        </p:sp>
        <p:sp>
          <p:nvSpPr>
            <p:cNvPr id="26" name="Text1"/>
            <p:cNvSpPr/>
            <p:nvPr/>
          </p:nvSpPr>
          <p:spPr>
            <a:xfrm>
              <a:off x="1654656" y="2981217"/>
              <a:ext cx="4270839" cy="942233"/>
            </a:xfrm>
            <a:prstGeom prst="rect">
              <a:avLst/>
            </a:prstGeom>
            <a:noFill/>
            <a:ln>
              <a:noFill/>
            </a:ln>
          </p:spPr>
          <p:style>
            <a:lnRef idx="2">
              <a:srgbClr val="111A51">
                <a:shade val="50000"/>
              </a:srgbClr>
            </a:lnRef>
            <a:fillRef idx="1">
              <a:srgbClr val="111A51"/>
            </a:fillRef>
            <a:effectRef idx="0">
              <a:srgbClr val="111A51"/>
            </a:effectRef>
            <a:fontRef idx="minor">
              <a:srgbClr val="FFFFFF"/>
            </a:fontRef>
          </p:style>
          <p:txBody>
            <a:bodyPr wrap="square" lIns="91440" tIns="45720" rIns="91440" bIns="45720" rtlCol="0" anchor="t" anchorCtr="0">
              <a:noAutofit/>
            </a:bodyPr>
            <a:lstStyle/>
            <a:p>
              <a:pPr marL="285750" indent="-285750">
                <a:lnSpc>
                  <a:spcPct val="120000"/>
                </a:lnSpc>
                <a:buFont typeface="Wingdings" panose="05000000000000000000" pitchFamily="2" charset="2"/>
                <a:buChar char="p"/>
              </a:pPr>
              <a:r>
                <a:rPr lang="zh-CN" altLang="en-US" sz="16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高峰时段瘫痪</a:t>
              </a:r>
              <a:endParaRPr lang="en-US" altLang="zh-CN" sz="1600" b="1" dirty="0">
                <a:solidFill>
                  <a:srgbClr val="000000"/>
                </a:solidFill>
                <a:cs typeface="微软雅黑" panose="020B0503020204020204" pitchFamily="34" charset="-122"/>
                <a:sym typeface="Arial" panose="020B0604020202020204" pitchFamily="34" charset="0"/>
              </a:endParaRPr>
            </a:p>
            <a:p>
              <a:pPr marL="285750" indent="-285750">
                <a:lnSpc>
                  <a:spcPct val="120000"/>
                </a:lnSpc>
                <a:buFont typeface="Wingdings" panose="05000000000000000000" pitchFamily="2" charset="2"/>
                <a:buChar char="p"/>
              </a:pPr>
              <a:r>
                <a:rPr lang="zh-CN" altLang="en-US" sz="16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通行效率下降</a:t>
              </a:r>
              <a:endParaRPr lang="en-US" altLang="zh-CN" sz="1600" b="1" dirty="0">
                <a:solidFill>
                  <a:srgbClr val="000000"/>
                </a:solidFill>
                <a:cs typeface="微软雅黑" panose="020B0503020204020204" pitchFamily="34" charset="-122"/>
                <a:sym typeface="Arial" panose="020B0604020202020204" pitchFamily="34" charset="0"/>
              </a:endParaRPr>
            </a:p>
            <a:p>
              <a:pPr marL="285750" indent="-285750">
                <a:lnSpc>
                  <a:spcPct val="120000"/>
                </a:lnSpc>
                <a:buFont typeface="Wingdings" panose="05000000000000000000" pitchFamily="2" charset="2"/>
                <a:buChar char="p"/>
              </a:pPr>
              <a:r>
                <a:rPr lang="zh-CN" altLang="en-US" sz="16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公交效率低下</a:t>
              </a:r>
              <a:endParaRPr lang="zh-CN" altLang="en-US" sz="1600" b="1" dirty="0">
                <a:solidFill>
                  <a:srgbClr val="000000"/>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p:txBody>
        </p:sp>
      </p:grpSp>
      <p:pic>
        <p:nvPicPr>
          <p:cNvPr id="27" name="图片 26"/>
          <p:cNvPicPr>
            <a:picLocks noChangeAspect="1"/>
          </p:cNvPicPr>
          <p:nvPr/>
        </p:nvPicPr>
        <p:blipFill>
          <a:blip r:embed="rId9" cstate="print">
            <a:extLst>
              <a:ext uri="{28A0092B-C50C-407E-A947-70E740481C1C}">
                <a14:useLocalDpi xmlns:a14="http://schemas.microsoft.com/office/drawing/2010/main" val="0"/>
              </a:ext>
            </a:extLst>
          </a:blip>
          <a:srcRect t="21852" b="21852"/>
          <a:stretch>
            <a:fillRect/>
          </a:stretch>
        </p:blipFill>
        <p:spPr>
          <a:xfrm>
            <a:off x="688340" y="2431415"/>
            <a:ext cx="1526540" cy="1526540"/>
          </a:xfrm>
          <a:prstGeom prst="ellipse">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3859"/>
            <a:ext cx="12219295" cy="1013221"/>
            <a:chOff x="-128871" y="-71960"/>
            <a:chExt cx="12219295" cy="1013221"/>
          </a:xfrm>
        </p:grpSpPr>
        <p:grpSp>
          <p:nvGrpSpPr>
            <p:cNvPr id="586" name="组合 67"/>
            <p:cNvGrpSpPr/>
            <p:nvPr/>
          </p:nvGrpSpPr>
          <p:grpSpPr>
            <a:xfrm>
              <a:off x="-128871" y="-71960"/>
              <a:ext cx="12219295" cy="1013221"/>
              <a:chOff x="-128871" y="-71960"/>
              <a:chExt cx="12219295" cy="1013221"/>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2326353" y="-71960"/>
                <a:ext cx="2203382" cy="773252"/>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项目管理</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宋体" panose="02010600030101010101" pitchFamily="2" charset="-122"/>
                </a:rPr>
                <a:t>WUHAN UNIVERSITY</a:t>
              </a:r>
              <a:endParaRPr lang="en-US" altLang="zh-CN" sz="900" b="1" dirty="0">
                <a:solidFill>
                  <a:prstClr val="black"/>
                </a:solidFill>
                <a:latin typeface="Calibri" panose="020F0502020204030204"/>
                <a:ea typeface="宋体" panose="02010600030101010101" pitchFamily="2" charset="-122"/>
              </a:endParaRPr>
            </a:p>
          </p:txBody>
        </p:sp>
      </p:grpSp>
      <p:sp>
        <p:nvSpPr>
          <p:cNvPr id="2" name="ïṣ1ïḑê"/>
          <p:cNvSpPr>
            <a:spLocks noGrp="1"/>
          </p:cNvSpPr>
          <p:nvPr/>
        </p:nvSpPr>
        <p:spPr>
          <a:xfrm>
            <a:off x="308610" y="938530"/>
            <a:ext cx="3986530" cy="58737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latin typeface="微软雅黑" panose="020B0503020204020204" pitchFamily="34" charset="-122"/>
                <a:cs typeface="微软雅黑" panose="020B0503020204020204" pitchFamily="34" charset="-122"/>
              </a:rPr>
              <a:t>1.2</a:t>
            </a:r>
            <a:r>
              <a:rPr lang="zh-CN" altLang="en-US" dirty="0">
                <a:solidFill>
                  <a:srgbClr val="005825"/>
                </a:solidFill>
                <a:latin typeface="微软雅黑" panose="020B0503020204020204" pitchFamily="34" charset="-122"/>
                <a:cs typeface="微软雅黑" panose="020B0503020204020204" pitchFamily="34" charset="-122"/>
              </a:rPr>
              <a:t>理论背景</a:t>
            </a:r>
            <a:r>
              <a:rPr lang="en-US" altLang="zh-CN" dirty="0">
                <a:solidFill>
                  <a:srgbClr val="002060"/>
                </a:solidFill>
                <a:latin typeface="微软雅黑" panose="020B0503020204020204" pitchFamily="34" charset="-122"/>
                <a:cs typeface="微软雅黑" panose="020B0503020204020204" pitchFamily="34" charset="-122"/>
              </a:rPr>
              <a:t>|</a:t>
            </a:r>
            <a:r>
              <a:rPr lang="zh-CN" altLang="en-US" dirty="0">
                <a:solidFill>
                  <a:schemeClr val="tx1"/>
                </a:solidFill>
                <a:latin typeface="微软雅黑" panose="020B0503020204020204" pitchFamily="34" charset="-122"/>
                <a:cs typeface="微软雅黑" panose="020B0503020204020204" pitchFamily="34" charset="-122"/>
              </a:rPr>
              <a:t>相关研究</a:t>
            </a:r>
            <a:endParaRPr lang="zh-CN" altLang="en-US" dirty="0">
              <a:solidFill>
                <a:schemeClr val="tx1"/>
              </a:solidFill>
              <a:latin typeface="微软雅黑" panose="020B0503020204020204" pitchFamily="34" charset="-122"/>
              <a:cs typeface="微软雅黑" panose="020B0503020204020204" pitchFamily="34" charset="-122"/>
            </a:endParaRPr>
          </a:p>
        </p:txBody>
      </p:sp>
      <p:pic>
        <p:nvPicPr>
          <p:cNvPr id="39" name="图片 38" descr="R-C (1)"/>
          <p:cNvPicPr>
            <a:picLocks noChangeAspect="1"/>
          </p:cNvPicPr>
          <p:nvPr>
            <p:custDataLst>
              <p:tags r:id="rId4"/>
            </p:custDataLst>
          </p:nvPr>
        </p:nvPicPr>
        <p:blipFill>
          <a:blip r:embed="rId5"/>
          <a:stretch>
            <a:fillRect/>
          </a:stretch>
        </p:blipFill>
        <p:spPr>
          <a:xfrm>
            <a:off x="8900160" y="2040890"/>
            <a:ext cx="2617470" cy="2146935"/>
          </a:xfrm>
          <a:prstGeom prst="rect">
            <a:avLst/>
          </a:prstGeom>
        </p:spPr>
      </p:pic>
      <p:pic>
        <p:nvPicPr>
          <p:cNvPr id="40" name="图片 39" descr="R-C"/>
          <p:cNvPicPr>
            <a:picLocks noChangeAspect="1"/>
          </p:cNvPicPr>
          <p:nvPr>
            <p:custDataLst>
              <p:tags r:id="rId6"/>
            </p:custDataLst>
          </p:nvPr>
        </p:nvPicPr>
        <p:blipFill>
          <a:blip r:embed="rId7"/>
          <a:stretch>
            <a:fillRect/>
          </a:stretch>
        </p:blipFill>
        <p:spPr>
          <a:xfrm>
            <a:off x="3408045" y="2040890"/>
            <a:ext cx="2617470" cy="2151380"/>
          </a:xfrm>
          <a:prstGeom prst="rect">
            <a:avLst/>
          </a:prstGeom>
        </p:spPr>
      </p:pic>
      <p:pic>
        <p:nvPicPr>
          <p:cNvPr id="41" name="图片 40" descr="图片2"/>
          <p:cNvPicPr>
            <a:picLocks noChangeAspect="1"/>
          </p:cNvPicPr>
          <p:nvPr>
            <p:custDataLst>
              <p:tags r:id="rId8"/>
            </p:custDataLst>
          </p:nvPr>
        </p:nvPicPr>
        <p:blipFill>
          <a:blip r:embed="rId9"/>
          <a:stretch>
            <a:fillRect/>
          </a:stretch>
        </p:blipFill>
        <p:spPr>
          <a:xfrm>
            <a:off x="661670" y="2046605"/>
            <a:ext cx="2617470" cy="2145665"/>
          </a:xfrm>
          <a:prstGeom prst="rect">
            <a:avLst/>
          </a:prstGeom>
        </p:spPr>
      </p:pic>
      <p:sp>
        <p:nvSpPr>
          <p:cNvPr id="42" name="Number1"/>
          <p:cNvSpPr/>
          <p:nvPr>
            <p:custDataLst>
              <p:tags r:id="rId10"/>
            </p:custDataLst>
          </p:nvPr>
        </p:nvSpPr>
        <p:spPr>
          <a:xfrm>
            <a:off x="811915" y="1816101"/>
            <a:ext cx="360000" cy="351648"/>
          </a:xfrm>
          <a:prstGeom prst="rect">
            <a:avLst/>
          </a:prstGeom>
          <a:solidFill>
            <a:srgbClr val="000000"/>
          </a:solidFill>
          <a:ln>
            <a:noFill/>
          </a:ln>
        </p:spPr>
        <p:style>
          <a:lnRef idx="0">
            <a:scrgbClr r="0" g="0" b="0"/>
          </a:lnRef>
          <a:fillRef idx="0">
            <a:scrgbClr r="0" g="0" b="0"/>
          </a:fillRef>
          <a:effectRef idx="0">
            <a:scrgbClr r="0" g="0" b="0"/>
          </a:effectRef>
          <a:fontRef idx="minor">
            <a:srgbClr val="FFFFFF"/>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rgbClr val="FFFFFF"/>
                </a:solidFill>
              </a:defRPr>
            </a:lvl1pPr>
            <a:lvl2pPr marL="457200" algn="l" defTabSz="914400" rtl="0" eaLnBrk="1" latinLnBrk="0" hangingPunct="1">
              <a:defRPr sz="1800" kern="1200">
                <a:solidFill>
                  <a:srgbClr val="FFFFFF"/>
                </a:solidFill>
              </a:defRPr>
            </a:lvl2pPr>
            <a:lvl3pPr marL="914400" algn="l" defTabSz="914400" rtl="0" eaLnBrk="1" latinLnBrk="0" hangingPunct="1">
              <a:defRPr sz="1800" kern="1200">
                <a:solidFill>
                  <a:srgbClr val="FFFFFF"/>
                </a:solidFill>
              </a:defRPr>
            </a:lvl3pPr>
            <a:lvl4pPr marL="1371600" algn="l" defTabSz="914400" rtl="0" eaLnBrk="1" latinLnBrk="0" hangingPunct="1">
              <a:defRPr sz="1800" kern="1200">
                <a:solidFill>
                  <a:srgbClr val="FFFFFF"/>
                </a:solidFill>
              </a:defRPr>
            </a:lvl4pPr>
            <a:lvl5pPr marL="1828800" algn="l" defTabSz="914400" rtl="0" eaLnBrk="1" latinLnBrk="0" hangingPunct="1">
              <a:defRPr sz="1800" kern="1200">
                <a:solidFill>
                  <a:srgbClr val="FFFFFF"/>
                </a:solidFill>
              </a:defRPr>
            </a:lvl5pPr>
            <a:lvl6pPr marL="2286000" algn="l" defTabSz="914400" rtl="0" eaLnBrk="1" latinLnBrk="0" hangingPunct="1">
              <a:defRPr sz="1800" kern="1200">
                <a:solidFill>
                  <a:srgbClr val="FFFFFF"/>
                </a:solidFill>
              </a:defRPr>
            </a:lvl6pPr>
            <a:lvl7pPr marL="2743200" algn="l" defTabSz="914400" rtl="0" eaLnBrk="1" latinLnBrk="0" hangingPunct="1">
              <a:defRPr sz="1800" kern="1200">
                <a:solidFill>
                  <a:srgbClr val="FFFFFF"/>
                </a:solidFill>
              </a:defRPr>
            </a:lvl7pPr>
            <a:lvl8pPr marL="3200400" algn="l" defTabSz="914400" rtl="0" eaLnBrk="1" latinLnBrk="0" hangingPunct="1">
              <a:defRPr sz="1800" kern="1200">
                <a:solidFill>
                  <a:srgbClr val="FFFFFF"/>
                </a:solidFill>
              </a:defRPr>
            </a:lvl8pPr>
            <a:lvl9pPr marL="3657600" algn="l" defTabSz="914400" rtl="0" eaLnBrk="1" latinLnBrk="0" hangingPunct="1">
              <a:defRPr sz="1800" kern="1200">
                <a:solidFill>
                  <a:srgbClr val="FFFFFF"/>
                </a:solidFill>
              </a:defRPr>
            </a:lvl9pPr>
          </a:lstStyle>
          <a:p>
            <a:pPr algn="ctr" defTabSz="914400"/>
            <a:r>
              <a:rPr lang="en-US" altLang="zh-CN" sz="2000" b="1" dirty="0">
                <a:solidFill>
                  <a:srgbClr val="FFFFFF"/>
                </a:solidFill>
                <a:latin typeface="Arial" panose="020B0604020202020204" pitchFamily="34" charset="0"/>
                <a:ea typeface="微软雅黑" panose="020B0503020204020204" pitchFamily="34" charset="-122"/>
              </a:rPr>
              <a:t>01</a:t>
            </a:r>
            <a:endParaRPr lang="zh-CN" altLang="en-US" sz="2000" b="1" dirty="0">
              <a:solidFill>
                <a:srgbClr val="FFFFFF"/>
              </a:solidFill>
              <a:latin typeface="Arial" panose="020B0604020202020204" pitchFamily="34" charset="0"/>
              <a:ea typeface="微软雅黑" panose="020B0503020204020204" pitchFamily="34" charset="-122"/>
            </a:endParaRPr>
          </a:p>
        </p:txBody>
      </p:sp>
      <p:sp>
        <p:nvSpPr>
          <p:cNvPr id="43" name="Bullet1"/>
          <p:cNvSpPr txBox="1"/>
          <p:nvPr>
            <p:custDataLst>
              <p:tags r:id="rId11"/>
            </p:custDataLst>
          </p:nvPr>
        </p:nvSpPr>
        <p:spPr>
          <a:xfrm>
            <a:off x="660398" y="4273550"/>
            <a:ext cx="2630766" cy="525465"/>
          </a:xfrm>
          <a:prstGeom prst="rect">
            <a:avLst/>
          </a:prstGeom>
          <a:noFill/>
          <a:ln>
            <a:noFill/>
          </a:ln>
        </p:spPr>
        <p:txBody>
          <a:bodyPr wrap="square" lIns="91440" tIns="45720" rIns="91440" bIns="45720" anchor="b" anchorCtr="0">
            <a:normAutofit/>
          </a:bodyPr>
          <a:lstStyle>
            <a:defPPr>
              <a:defRPr lang="zh-CN"/>
            </a:defPPr>
            <a:lvl1pPr marL="0" algn="l" defTabSz="914400" rtl="0" eaLnBrk="1" latinLnBrk="0" hangingPunct="1">
              <a:defRPr sz="1800" kern="1200">
                <a:solidFill>
                  <a:srgbClr val="000000"/>
                </a:solidFill>
              </a:defRPr>
            </a:lvl1pPr>
            <a:lvl2pPr marL="457200" algn="l" defTabSz="914400" rtl="0" eaLnBrk="1" latinLnBrk="0" hangingPunct="1">
              <a:defRPr sz="1800" kern="1200">
                <a:solidFill>
                  <a:srgbClr val="000000"/>
                </a:solidFill>
              </a:defRPr>
            </a:lvl2pPr>
            <a:lvl3pPr marL="914400" algn="l" defTabSz="914400" rtl="0" eaLnBrk="1" latinLnBrk="0" hangingPunct="1">
              <a:defRPr sz="1800" kern="1200">
                <a:solidFill>
                  <a:srgbClr val="000000"/>
                </a:solidFill>
              </a:defRPr>
            </a:lvl3pPr>
            <a:lvl4pPr marL="1371600" algn="l" defTabSz="914400" rtl="0" eaLnBrk="1" latinLnBrk="0" hangingPunct="1">
              <a:defRPr sz="1800" kern="1200">
                <a:solidFill>
                  <a:srgbClr val="000000"/>
                </a:solidFill>
              </a:defRPr>
            </a:lvl4pPr>
            <a:lvl5pPr marL="1828800" algn="l" defTabSz="914400" rtl="0" eaLnBrk="1" latinLnBrk="0" hangingPunct="1">
              <a:defRPr sz="1800" kern="1200">
                <a:solidFill>
                  <a:srgbClr val="000000"/>
                </a:solidFill>
              </a:defRPr>
            </a:lvl5pPr>
            <a:lvl6pPr marL="2286000" algn="l" defTabSz="914400" rtl="0" eaLnBrk="1" latinLnBrk="0" hangingPunct="1">
              <a:defRPr sz="1800" kern="1200">
                <a:solidFill>
                  <a:srgbClr val="000000"/>
                </a:solidFill>
              </a:defRPr>
            </a:lvl6pPr>
            <a:lvl7pPr marL="2743200" algn="l" defTabSz="914400" rtl="0" eaLnBrk="1" latinLnBrk="0" hangingPunct="1">
              <a:defRPr sz="1800" kern="1200">
                <a:solidFill>
                  <a:srgbClr val="000000"/>
                </a:solidFill>
              </a:defRPr>
            </a:lvl7pPr>
            <a:lvl8pPr marL="3200400" algn="l" defTabSz="914400" rtl="0" eaLnBrk="1" latinLnBrk="0" hangingPunct="1">
              <a:defRPr sz="1800" kern="1200">
                <a:solidFill>
                  <a:srgbClr val="000000"/>
                </a:solidFill>
              </a:defRPr>
            </a:lvl8pPr>
            <a:lvl9pPr marL="3657600" algn="l" defTabSz="914400" rtl="0" eaLnBrk="1" latinLnBrk="0" hangingPunct="1">
              <a:defRPr sz="1800" kern="1200">
                <a:solidFill>
                  <a:srgbClr val="000000"/>
                </a:solidFill>
              </a:defRPr>
            </a:lvl9pPr>
          </a:lstStyle>
          <a:p>
            <a:pPr marL="0" marR="0" lvl="0" indent="0" defTabSz="913765" rtl="0" eaLnBrk="1" fontAlgn="auto" latinLnBrk="0" hangingPunct="1">
              <a:spcBef>
                <a:spcPts val="0"/>
              </a:spcBef>
              <a:spcAft>
                <a:spcPts val="0"/>
              </a:spcAft>
              <a:buClrTx/>
              <a:buSzPct val="25000"/>
              <a:buFontTx/>
              <a:buNone/>
              <a:defRPr/>
            </a:pPr>
            <a:r>
              <a:rPr kumimoji="0" lang="zh-CN" altLang="en-US" sz="2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交通</a:t>
            </a:r>
            <a:r>
              <a:rPr kumimoji="0" lang="zh-CN" altLang="en-US" sz="2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Arial" panose="020B0604020202020204" pitchFamily="34" charset="0"/>
              </a:rPr>
              <a:t>模式识别</a:t>
            </a:r>
            <a:endParaRPr kumimoji="0" lang="en-US" sz="2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44" name="Text1"/>
          <p:cNvSpPr/>
          <p:nvPr>
            <p:custDataLst>
              <p:tags r:id="rId12"/>
            </p:custDataLst>
          </p:nvPr>
        </p:nvSpPr>
        <p:spPr>
          <a:xfrm flipH="1">
            <a:off x="660397" y="4880302"/>
            <a:ext cx="2630766" cy="1342698"/>
          </a:xfrm>
          <a:prstGeom prst="rect">
            <a:avLst/>
          </a:prstGeom>
          <a:ln>
            <a:noFill/>
          </a:ln>
        </p:spPr>
        <p:txBody>
          <a:bodyPr wrap="square" lIns="91440" tIns="45720" rIns="91440" bIns="45720" anchor="t" anchorCtr="0">
            <a:noAutofit/>
          </a:bodyPr>
          <a:lstStyle>
            <a:defPPr>
              <a:defRPr lang="zh-CN"/>
            </a:defPPr>
            <a:lvl1pPr marL="0" algn="l" defTabSz="914400" rtl="0" eaLnBrk="1" latinLnBrk="0" hangingPunct="1">
              <a:defRPr sz="1800" kern="1200">
                <a:solidFill>
                  <a:srgbClr val="000000"/>
                </a:solidFill>
              </a:defRPr>
            </a:lvl1pPr>
            <a:lvl2pPr marL="457200" algn="l" defTabSz="914400" rtl="0" eaLnBrk="1" latinLnBrk="0" hangingPunct="1">
              <a:defRPr sz="1800" kern="1200">
                <a:solidFill>
                  <a:srgbClr val="000000"/>
                </a:solidFill>
              </a:defRPr>
            </a:lvl2pPr>
            <a:lvl3pPr marL="914400" algn="l" defTabSz="914400" rtl="0" eaLnBrk="1" latinLnBrk="0" hangingPunct="1">
              <a:defRPr sz="1800" kern="1200">
                <a:solidFill>
                  <a:srgbClr val="000000"/>
                </a:solidFill>
              </a:defRPr>
            </a:lvl3pPr>
            <a:lvl4pPr marL="1371600" algn="l" defTabSz="914400" rtl="0" eaLnBrk="1" latinLnBrk="0" hangingPunct="1">
              <a:defRPr sz="1800" kern="1200">
                <a:solidFill>
                  <a:srgbClr val="000000"/>
                </a:solidFill>
              </a:defRPr>
            </a:lvl4pPr>
            <a:lvl5pPr marL="1828800" algn="l" defTabSz="914400" rtl="0" eaLnBrk="1" latinLnBrk="0" hangingPunct="1">
              <a:defRPr sz="1800" kern="1200">
                <a:solidFill>
                  <a:srgbClr val="000000"/>
                </a:solidFill>
              </a:defRPr>
            </a:lvl5pPr>
            <a:lvl6pPr marL="2286000" algn="l" defTabSz="914400" rtl="0" eaLnBrk="1" latinLnBrk="0" hangingPunct="1">
              <a:defRPr sz="1800" kern="1200">
                <a:solidFill>
                  <a:srgbClr val="000000"/>
                </a:solidFill>
              </a:defRPr>
            </a:lvl6pPr>
            <a:lvl7pPr marL="2743200" algn="l" defTabSz="914400" rtl="0" eaLnBrk="1" latinLnBrk="0" hangingPunct="1">
              <a:defRPr sz="1800" kern="1200">
                <a:solidFill>
                  <a:srgbClr val="000000"/>
                </a:solidFill>
              </a:defRPr>
            </a:lvl7pPr>
            <a:lvl8pPr marL="3200400" algn="l" defTabSz="914400" rtl="0" eaLnBrk="1" latinLnBrk="0" hangingPunct="1">
              <a:defRPr sz="1800" kern="1200">
                <a:solidFill>
                  <a:srgbClr val="000000"/>
                </a:solidFill>
              </a:defRPr>
            </a:lvl8pPr>
            <a:lvl9pPr marL="3657600" algn="l" defTabSz="914400" rtl="0" eaLnBrk="1" latinLnBrk="0" hangingPunct="1">
              <a:defRPr sz="1800" kern="1200">
                <a:solidFill>
                  <a:srgbClr val="000000"/>
                </a:solidFill>
              </a:defRPr>
            </a:lvl9pPr>
          </a:lstStyle>
          <a:p>
            <a:pPr marL="0" marR="0" lvl="0" indent="0" defTabSz="913765" rtl="0" eaLnBrk="1" fontAlgn="auto" latinLnBrk="0" hangingPunct="1">
              <a:lnSpc>
                <a:spcPct val="120000"/>
              </a:lnSpc>
              <a:spcBef>
                <a:spcPts val="0"/>
              </a:spcBef>
              <a:spcAft>
                <a:spcPts val="0"/>
              </a:spcAft>
              <a:buClrTx/>
              <a:buSzPct val="25000"/>
              <a:buFontTx/>
              <a:buNone/>
              <a:defRPr/>
            </a:pPr>
            <a:r>
              <a:rPr kumimoji="0" lang="zh-CN" altLang="en-US" sz="16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基于GPS轨迹数据的拥堵识别，时空分布模式探究、拥堵传播，拥堵预测，拥堵控制优化</a:t>
            </a:r>
            <a:endParaRPr kumimoji="0" lang="zh-CN" altLang="en-US" sz="16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5" name="Bullet2"/>
          <p:cNvSpPr txBox="1"/>
          <p:nvPr>
            <p:custDataLst>
              <p:tags r:id="rId13"/>
            </p:custDataLst>
          </p:nvPr>
        </p:nvSpPr>
        <p:spPr>
          <a:xfrm>
            <a:off x="3419917" y="4273550"/>
            <a:ext cx="2618060" cy="525465"/>
          </a:xfrm>
          <a:prstGeom prst="rect">
            <a:avLst/>
          </a:prstGeom>
          <a:noFill/>
          <a:ln>
            <a:noFill/>
          </a:ln>
        </p:spPr>
        <p:txBody>
          <a:bodyPr wrap="square" lIns="91440" tIns="45720" rIns="91440" bIns="45720" anchor="b" anchorCtr="0">
            <a:normAutofit/>
          </a:bodyPr>
          <a:lstStyle>
            <a:defPPr>
              <a:defRPr lang="zh-CN"/>
            </a:defPPr>
            <a:lvl1pPr marL="0" algn="l" defTabSz="914400" rtl="0" eaLnBrk="1" latinLnBrk="0" hangingPunct="1">
              <a:defRPr sz="1800" kern="1200">
                <a:solidFill>
                  <a:srgbClr val="000000"/>
                </a:solidFill>
              </a:defRPr>
            </a:lvl1pPr>
            <a:lvl2pPr marL="457200" algn="l" defTabSz="914400" rtl="0" eaLnBrk="1" latinLnBrk="0" hangingPunct="1">
              <a:defRPr sz="1800" kern="1200">
                <a:solidFill>
                  <a:srgbClr val="000000"/>
                </a:solidFill>
              </a:defRPr>
            </a:lvl2pPr>
            <a:lvl3pPr marL="914400" algn="l" defTabSz="914400" rtl="0" eaLnBrk="1" latinLnBrk="0" hangingPunct="1">
              <a:defRPr sz="1800" kern="1200">
                <a:solidFill>
                  <a:srgbClr val="000000"/>
                </a:solidFill>
              </a:defRPr>
            </a:lvl3pPr>
            <a:lvl4pPr marL="1371600" algn="l" defTabSz="914400" rtl="0" eaLnBrk="1" latinLnBrk="0" hangingPunct="1">
              <a:defRPr sz="1800" kern="1200">
                <a:solidFill>
                  <a:srgbClr val="000000"/>
                </a:solidFill>
              </a:defRPr>
            </a:lvl4pPr>
            <a:lvl5pPr marL="1828800" algn="l" defTabSz="914400" rtl="0" eaLnBrk="1" latinLnBrk="0" hangingPunct="1">
              <a:defRPr sz="1800" kern="1200">
                <a:solidFill>
                  <a:srgbClr val="000000"/>
                </a:solidFill>
              </a:defRPr>
            </a:lvl5pPr>
            <a:lvl6pPr marL="2286000" algn="l" defTabSz="914400" rtl="0" eaLnBrk="1" latinLnBrk="0" hangingPunct="1">
              <a:defRPr sz="1800" kern="1200">
                <a:solidFill>
                  <a:srgbClr val="000000"/>
                </a:solidFill>
              </a:defRPr>
            </a:lvl6pPr>
            <a:lvl7pPr marL="2743200" algn="l" defTabSz="914400" rtl="0" eaLnBrk="1" latinLnBrk="0" hangingPunct="1">
              <a:defRPr sz="1800" kern="1200">
                <a:solidFill>
                  <a:srgbClr val="000000"/>
                </a:solidFill>
              </a:defRPr>
            </a:lvl7pPr>
            <a:lvl8pPr marL="3200400" algn="l" defTabSz="914400" rtl="0" eaLnBrk="1" latinLnBrk="0" hangingPunct="1">
              <a:defRPr sz="1800" kern="1200">
                <a:solidFill>
                  <a:srgbClr val="000000"/>
                </a:solidFill>
              </a:defRPr>
            </a:lvl8pPr>
            <a:lvl9pPr marL="3657600" algn="l" defTabSz="914400" rtl="0" eaLnBrk="1" latinLnBrk="0" hangingPunct="1">
              <a:defRPr sz="1800" kern="1200">
                <a:solidFill>
                  <a:srgbClr val="000000"/>
                </a:solidFill>
              </a:defRPr>
            </a:lvl9pPr>
          </a:lstStyle>
          <a:p>
            <a:pPr marL="0" marR="0" lvl="0" algn="l" defTabSz="913765" rtl="0" eaLnBrk="1" fontAlgn="auto" latinLnBrk="0" hangingPunct="1">
              <a:spcBef>
                <a:spcPts val="0"/>
              </a:spcBef>
              <a:spcAft>
                <a:spcPts val="0"/>
              </a:spcAft>
              <a:buClrTx/>
              <a:buSzPct val="25000"/>
              <a:buFontTx/>
              <a:buNone/>
              <a:defRPr/>
            </a:pPr>
            <a:r>
              <a:rPr kumimoji="0" lang="zh-CN" altLang="en-US" sz="2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交通流预测</a:t>
            </a:r>
            <a:endParaRPr kumimoji="0" lang="zh-CN" altLang="en-US" sz="2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46" name="Text2"/>
          <p:cNvSpPr/>
          <p:nvPr>
            <p:custDataLst>
              <p:tags r:id="rId14"/>
            </p:custDataLst>
          </p:nvPr>
        </p:nvSpPr>
        <p:spPr>
          <a:xfrm flipH="1">
            <a:off x="3279110" y="4880314"/>
            <a:ext cx="2746801" cy="1248717"/>
          </a:xfrm>
          <a:prstGeom prst="rect">
            <a:avLst/>
          </a:prstGeom>
          <a:ln>
            <a:noFill/>
          </a:ln>
        </p:spPr>
        <p:txBody>
          <a:bodyPr wrap="square" lIns="91440" tIns="45720" rIns="91440" bIns="45720" anchor="t" anchorCtr="0">
            <a:noAutofit/>
          </a:bodyPr>
          <a:lstStyle>
            <a:defPPr>
              <a:defRPr lang="zh-CN"/>
            </a:defPPr>
            <a:lvl1pPr marL="0" algn="l" defTabSz="914400" rtl="0" eaLnBrk="1" latinLnBrk="0" hangingPunct="1">
              <a:defRPr sz="1800" kern="1200">
                <a:solidFill>
                  <a:srgbClr val="000000"/>
                </a:solidFill>
              </a:defRPr>
            </a:lvl1pPr>
            <a:lvl2pPr marL="457200" algn="l" defTabSz="914400" rtl="0" eaLnBrk="1" latinLnBrk="0" hangingPunct="1">
              <a:defRPr sz="1800" kern="1200">
                <a:solidFill>
                  <a:srgbClr val="000000"/>
                </a:solidFill>
              </a:defRPr>
            </a:lvl2pPr>
            <a:lvl3pPr marL="914400" algn="l" defTabSz="914400" rtl="0" eaLnBrk="1" latinLnBrk="0" hangingPunct="1">
              <a:defRPr sz="1800" kern="1200">
                <a:solidFill>
                  <a:srgbClr val="000000"/>
                </a:solidFill>
              </a:defRPr>
            </a:lvl3pPr>
            <a:lvl4pPr marL="1371600" algn="l" defTabSz="914400" rtl="0" eaLnBrk="1" latinLnBrk="0" hangingPunct="1">
              <a:defRPr sz="1800" kern="1200">
                <a:solidFill>
                  <a:srgbClr val="000000"/>
                </a:solidFill>
              </a:defRPr>
            </a:lvl4pPr>
            <a:lvl5pPr marL="1828800" algn="l" defTabSz="914400" rtl="0" eaLnBrk="1" latinLnBrk="0" hangingPunct="1">
              <a:defRPr sz="1800" kern="1200">
                <a:solidFill>
                  <a:srgbClr val="000000"/>
                </a:solidFill>
              </a:defRPr>
            </a:lvl5pPr>
            <a:lvl6pPr marL="2286000" algn="l" defTabSz="914400" rtl="0" eaLnBrk="1" latinLnBrk="0" hangingPunct="1">
              <a:defRPr sz="1800" kern="1200">
                <a:solidFill>
                  <a:srgbClr val="000000"/>
                </a:solidFill>
              </a:defRPr>
            </a:lvl6pPr>
            <a:lvl7pPr marL="2743200" algn="l" defTabSz="914400" rtl="0" eaLnBrk="1" latinLnBrk="0" hangingPunct="1">
              <a:defRPr sz="1800" kern="1200">
                <a:solidFill>
                  <a:srgbClr val="000000"/>
                </a:solidFill>
              </a:defRPr>
            </a:lvl7pPr>
            <a:lvl8pPr marL="3200400" algn="l" defTabSz="914400" rtl="0" eaLnBrk="1" latinLnBrk="0" hangingPunct="1">
              <a:defRPr sz="1800" kern="1200">
                <a:solidFill>
                  <a:srgbClr val="000000"/>
                </a:solidFill>
              </a:defRPr>
            </a:lvl8pPr>
            <a:lvl9pPr marL="3657600" algn="l" defTabSz="914400" rtl="0" eaLnBrk="1" latinLnBrk="0" hangingPunct="1">
              <a:defRPr sz="1800" kern="1200">
                <a:solidFill>
                  <a:srgbClr val="000000"/>
                </a:solidFill>
              </a:defRPr>
            </a:lvl9pPr>
          </a:lstStyle>
          <a:p>
            <a:pPr marL="0" marR="0" lvl="0" algn="l" defTabSz="913765" rtl="0" eaLnBrk="1" fontAlgn="auto" latinLnBrk="0" hangingPunct="1">
              <a:lnSpc>
                <a:spcPct val="120000"/>
              </a:lnSpc>
              <a:spcBef>
                <a:spcPts val="0"/>
              </a:spcBef>
              <a:spcAft>
                <a:spcPts val="0"/>
              </a:spcAft>
              <a:buClrTx/>
              <a:buSzPct val="25000"/>
              <a:buFontTx/>
              <a:buNone/>
              <a:defRPr/>
            </a:pPr>
            <a:r>
              <a:rPr lang="zh-CN" altLang="en-US"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基于图卷积神经网络和LSTM的长</a:t>
            </a:r>
            <a:r>
              <a:rPr kumimoji="0" lang="zh-CN" altLang="en-US" sz="16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短时交通流预测、时空关联性深度挖掘、多源数据融合方法</a:t>
            </a:r>
            <a:endParaRPr kumimoji="0" lang="zh-CN" altLang="en-US" sz="16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 name="Number2"/>
          <p:cNvSpPr/>
          <p:nvPr>
            <p:custDataLst>
              <p:tags r:id="rId15"/>
            </p:custDataLst>
          </p:nvPr>
        </p:nvSpPr>
        <p:spPr>
          <a:xfrm>
            <a:off x="3560728" y="1816101"/>
            <a:ext cx="360000" cy="351648"/>
          </a:xfrm>
          <a:prstGeom prst="rect">
            <a:avLst/>
          </a:prstGeom>
          <a:solidFill>
            <a:srgbClr val="E60012"/>
          </a:solidFill>
          <a:ln w="12700" cap="rnd">
            <a:noFill/>
            <a:prstDash val="solid"/>
            <a:round/>
          </a:ln>
          <a:effectLst>
            <a:outerShdw blurRad="254000" dist="127000" algn="ctr" rotWithShape="0">
              <a:srgbClr val="E60012">
                <a:alpha val="32000"/>
              </a:srgbClr>
            </a:outerShdw>
          </a:effectLst>
        </p:spPr>
        <p:style>
          <a:lnRef idx="2">
            <a:srgbClr val="111A51">
              <a:shade val="50000"/>
            </a:srgbClr>
          </a:lnRef>
          <a:fillRef idx="1">
            <a:srgbClr val="111A51"/>
          </a:fillRef>
          <a:effectRef idx="0">
            <a:srgbClr val="111A51"/>
          </a:effectRef>
          <a:fontRef idx="minor">
            <a:srgbClr val="FFFFFF"/>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rgbClr val="FFFFFF"/>
                </a:solidFill>
              </a:defRPr>
            </a:lvl1pPr>
            <a:lvl2pPr marL="457200" algn="l" defTabSz="914400" rtl="0" eaLnBrk="1" latinLnBrk="0" hangingPunct="1">
              <a:defRPr sz="1800" kern="1200">
                <a:solidFill>
                  <a:srgbClr val="FFFFFF"/>
                </a:solidFill>
              </a:defRPr>
            </a:lvl2pPr>
            <a:lvl3pPr marL="914400" algn="l" defTabSz="914400" rtl="0" eaLnBrk="1" latinLnBrk="0" hangingPunct="1">
              <a:defRPr sz="1800" kern="1200">
                <a:solidFill>
                  <a:srgbClr val="FFFFFF"/>
                </a:solidFill>
              </a:defRPr>
            </a:lvl3pPr>
            <a:lvl4pPr marL="1371600" algn="l" defTabSz="914400" rtl="0" eaLnBrk="1" latinLnBrk="0" hangingPunct="1">
              <a:defRPr sz="1800" kern="1200">
                <a:solidFill>
                  <a:srgbClr val="FFFFFF"/>
                </a:solidFill>
              </a:defRPr>
            </a:lvl4pPr>
            <a:lvl5pPr marL="1828800" algn="l" defTabSz="914400" rtl="0" eaLnBrk="1" latinLnBrk="0" hangingPunct="1">
              <a:defRPr sz="1800" kern="1200">
                <a:solidFill>
                  <a:srgbClr val="FFFFFF"/>
                </a:solidFill>
              </a:defRPr>
            </a:lvl5pPr>
            <a:lvl6pPr marL="2286000" algn="l" defTabSz="914400" rtl="0" eaLnBrk="1" latinLnBrk="0" hangingPunct="1">
              <a:defRPr sz="1800" kern="1200">
                <a:solidFill>
                  <a:srgbClr val="FFFFFF"/>
                </a:solidFill>
              </a:defRPr>
            </a:lvl6pPr>
            <a:lvl7pPr marL="2743200" algn="l" defTabSz="914400" rtl="0" eaLnBrk="1" latinLnBrk="0" hangingPunct="1">
              <a:defRPr sz="1800" kern="1200">
                <a:solidFill>
                  <a:srgbClr val="FFFFFF"/>
                </a:solidFill>
              </a:defRPr>
            </a:lvl7pPr>
            <a:lvl8pPr marL="3200400" algn="l" defTabSz="914400" rtl="0" eaLnBrk="1" latinLnBrk="0" hangingPunct="1">
              <a:defRPr sz="1800" kern="1200">
                <a:solidFill>
                  <a:srgbClr val="FFFFFF"/>
                </a:solidFill>
              </a:defRPr>
            </a:lvl8pPr>
            <a:lvl9pPr marL="3657600" algn="l" defTabSz="914400" rtl="0" eaLnBrk="1" latinLnBrk="0" hangingPunct="1">
              <a:defRPr sz="1800" kern="1200">
                <a:solidFill>
                  <a:srgbClr val="FFFFFF"/>
                </a:solidFill>
              </a:defRPr>
            </a:lvl9pPr>
          </a:lstStyle>
          <a:p>
            <a:pPr algn="ctr" defTabSz="914400"/>
            <a:r>
              <a:rPr lang="en-US" altLang="zh-CN" sz="2000" b="1" dirty="0">
                <a:solidFill>
                  <a:srgbClr val="FFFFFF"/>
                </a:solidFill>
                <a:latin typeface="Arial" panose="020B0604020202020204" pitchFamily="34" charset="0"/>
                <a:ea typeface="微软雅黑" panose="020B0503020204020204" pitchFamily="34" charset="-122"/>
              </a:rPr>
              <a:t>02</a:t>
            </a:r>
            <a:endParaRPr lang="zh-CN" altLang="en-US" sz="2000" b="1" dirty="0">
              <a:solidFill>
                <a:srgbClr val="FFFFFF"/>
              </a:solidFill>
              <a:latin typeface="Arial" panose="020B0604020202020204" pitchFamily="34" charset="0"/>
              <a:ea typeface="微软雅黑" panose="020B0503020204020204" pitchFamily="34" charset="-122"/>
            </a:endParaRPr>
          </a:p>
        </p:txBody>
      </p:sp>
      <p:sp>
        <p:nvSpPr>
          <p:cNvPr id="49" name="Picture3"/>
          <p:cNvSpPr/>
          <p:nvPr>
            <p:custDataLst>
              <p:tags r:id="rId16"/>
            </p:custDataLst>
          </p:nvPr>
        </p:nvSpPr>
        <p:spPr>
          <a:xfrm>
            <a:off x="6154026" y="2045977"/>
            <a:ext cx="2618062" cy="2146286"/>
          </a:xfrm>
          <a:prstGeom prst="rect">
            <a:avLst/>
          </a:prstGeom>
          <a:blipFill>
            <a:blip r:embed="rId17"/>
            <a:stretch>
              <a:fillRect l="-11541" r="-11429"/>
            </a:stretch>
          </a:blipFill>
          <a:ln w="38100">
            <a:noFill/>
            <a:round/>
          </a:ln>
          <a:effectLst/>
        </p:spPr>
        <p:style>
          <a:lnRef idx="2">
            <a:srgbClr val="111A51">
              <a:shade val="50000"/>
            </a:srgbClr>
          </a:lnRef>
          <a:fillRef idx="1">
            <a:srgbClr val="111A51"/>
          </a:fillRef>
          <a:effectRef idx="0">
            <a:srgbClr val="111A51"/>
          </a:effectRef>
          <a:fontRef idx="minor">
            <a:srgbClr val="FFFFFF"/>
          </a:fontRef>
        </p:style>
        <p:txBody>
          <a:bodyPr rot="0" spcFirstLastPara="0" vert="horz" wrap="square" lIns="91440" tIns="45720" rIns="91440" bIns="45720" numCol="1" spcCol="0" rtlCol="0" fromWordArt="0" anchor="t" anchorCtr="0" forceAA="0" compatLnSpc="1">
            <a:noAutofit/>
          </a:bodyPr>
          <a:lstStyle>
            <a:defPPr>
              <a:defRPr lang="zh-CN"/>
            </a:defPPr>
            <a:lvl1pPr marL="0" algn="l" defTabSz="914400" rtl="0" eaLnBrk="1" latinLnBrk="0" hangingPunct="1">
              <a:defRPr sz="1800" kern="1200">
                <a:solidFill>
                  <a:srgbClr val="FFFFFF"/>
                </a:solidFill>
              </a:defRPr>
            </a:lvl1pPr>
            <a:lvl2pPr marL="457200" algn="l" defTabSz="914400" rtl="0" eaLnBrk="1" latinLnBrk="0" hangingPunct="1">
              <a:defRPr sz="1800" kern="1200">
                <a:solidFill>
                  <a:srgbClr val="FFFFFF"/>
                </a:solidFill>
              </a:defRPr>
            </a:lvl2pPr>
            <a:lvl3pPr marL="914400" algn="l" defTabSz="914400" rtl="0" eaLnBrk="1" latinLnBrk="0" hangingPunct="1">
              <a:defRPr sz="1800" kern="1200">
                <a:solidFill>
                  <a:srgbClr val="FFFFFF"/>
                </a:solidFill>
              </a:defRPr>
            </a:lvl3pPr>
            <a:lvl4pPr marL="1371600" algn="l" defTabSz="914400" rtl="0" eaLnBrk="1" latinLnBrk="0" hangingPunct="1">
              <a:defRPr sz="1800" kern="1200">
                <a:solidFill>
                  <a:srgbClr val="FFFFFF"/>
                </a:solidFill>
              </a:defRPr>
            </a:lvl4pPr>
            <a:lvl5pPr marL="1828800" algn="l" defTabSz="914400" rtl="0" eaLnBrk="1" latinLnBrk="0" hangingPunct="1">
              <a:defRPr sz="1800" kern="1200">
                <a:solidFill>
                  <a:srgbClr val="FFFFFF"/>
                </a:solidFill>
              </a:defRPr>
            </a:lvl5pPr>
            <a:lvl6pPr marL="2286000" algn="l" defTabSz="914400" rtl="0" eaLnBrk="1" latinLnBrk="0" hangingPunct="1">
              <a:defRPr sz="1800" kern="1200">
                <a:solidFill>
                  <a:srgbClr val="FFFFFF"/>
                </a:solidFill>
              </a:defRPr>
            </a:lvl6pPr>
            <a:lvl7pPr marL="2743200" algn="l" defTabSz="914400" rtl="0" eaLnBrk="1" latinLnBrk="0" hangingPunct="1">
              <a:defRPr sz="1800" kern="1200">
                <a:solidFill>
                  <a:srgbClr val="FFFFFF"/>
                </a:solidFill>
              </a:defRPr>
            </a:lvl7pPr>
            <a:lvl8pPr marL="3200400" algn="l" defTabSz="914400" rtl="0" eaLnBrk="1" latinLnBrk="0" hangingPunct="1">
              <a:defRPr sz="1800" kern="1200">
                <a:solidFill>
                  <a:srgbClr val="FFFFFF"/>
                </a:solidFill>
              </a:defRPr>
            </a:lvl8pPr>
            <a:lvl9pPr marL="3657600" algn="l" defTabSz="914400" rtl="0" eaLnBrk="1" latinLnBrk="0" hangingPunct="1">
              <a:defRPr sz="1800" kern="1200">
                <a:solidFill>
                  <a:srgbClr val="FFFFFF"/>
                </a:solidFill>
              </a:defRPr>
            </a:lvl9pPr>
          </a:lstStyle>
          <a:p>
            <a:pPr algn="ctr"/>
            <a:endParaRPr lang="zh-CN" altLang="en-US">
              <a:solidFill>
                <a:srgbClr val="FFFFFF"/>
              </a:solidFill>
              <a:latin typeface="Arial" panose="020B0604020202020204" pitchFamily="34" charset="0"/>
              <a:ea typeface="微软雅黑" panose="020B0503020204020204" pitchFamily="34" charset="-122"/>
            </a:endParaRPr>
          </a:p>
        </p:txBody>
      </p:sp>
      <p:sp>
        <p:nvSpPr>
          <p:cNvPr id="50" name="Bullet3"/>
          <p:cNvSpPr txBox="1"/>
          <p:nvPr>
            <p:custDataLst>
              <p:tags r:id="rId18"/>
            </p:custDataLst>
          </p:nvPr>
        </p:nvSpPr>
        <p:spPr>
          <a:xfrm>
            <a:off x="6154024" y="4273550"/>
            <a:ext cx="2630766" cy="525465"/>
          </a:xfrm>
          <a:prstGeom prst="rect">
            <a:avLst/>
          </a:prstGeom>
          <a:noFill/>
          <a:ln>
            <a:noFill/>
          </a:ln>
        </p:spPr>
        <p:txBody>
          <a:bodyPr wrap="square" lIns="91440" tIns="45720" rIns="91440" bIns="45720" anchor="b" anchorCtr="0">
            <a:noAutofit/>
          </a:bodyPr>
          <a:lstStyle>
            <a:defPPr>
              <a:defRPr lang="zh-CN"/>
            </a:defPPr>
            <a:lvl1pPr marL="0" algn="l" defTabSz="914400" rtl="0" eaLnBrk="1" latinLnBrk="0" hangingPunct="1">
              <a:defRPr sz="1800" kern="1200">
                <a:solidFill>
                  <a:srgbClr val="000000"/>
                </a:solidFill>
              </a:defRPr>
            </a:lvl1pPr>
            <a:lvl2pPr marL="457200" algn="l" defTabSz="914400" rtl="0" eaLnBrk="1" latinLnBrk="0" hangingPunct="1">
              <a:defRPr sz="1800" kern="1200">
                <a:solidFill>
                  <a:srgbClr val="000000"/>
                </a:solidFill>
              </a:defRPr>
            </a:lvl2pPr>
            <a:lvl3pPr marL="914400" algn="l" defTabSz="914400" rtl="0" eaLnBrk="1" latinLnBrk="0" hangingPunct="1">
              <a:defRPr sz="1800" kern="1200">
                <a:solidFill>
                  <a:srgbClr val="000000"/>
                </a:solidFill>
              </a:defRPr>
            </a:lvl3pPr>
            <a:lvl4pPr marL="1371600" algn="l" defTabSz="914400" rtl="0" eaLnBrk="1" latinLnBrk="0" hangingPunct="1">
              <a:defRPr sz="1800" kern="1200">
                <a:solidFill>
                  <a:srgbClr val="000000"/>
                </a:solidFill>
              </a:defRPr>
            </a:lvl4pPr>
            <a:lvl5pPr marL="1828800" algn="l" defTabSz="914400" rtl="0" eaLnBrk="1" latinLnBrk="0" hangingPunct="1">
              <a:defRPr sz="1800" kern="1200">
                <a:solidFill>
                  <a:srgbClr val="000000"/>
                </a:solidFill>
              </a:defRPr>
            </a:lvl5pPr>
            <a:lvl6pPr marL="2286000" algn="l" defTabSz="914400" rtl="0" eaLnBrk="1" latinLnBrk="0" hangingPunct="1">
              <a:defRPr sz="1800" kern="1200">
                <a:solidFill>
                  <a:srgbClr val="000000"/>
                </a:solidFill>
              </a:defRPr>
            </a:lvl6pPr>
            <a:lvl7pPr marL="2743200" algn="l" defTabSz="914400" rtl="0" eaLnBrk="1" latinLnBrk="0" hangingPunct="1">
              <a:defRPr sz="1800" kern="1200">
                <a:solidFill>
                  <a:srgbClr val="000000"/>
                </a:solidFill>
              </a:defRPr>
            </a:lvl7pPr>
            <a:lvl8pPr marL="3200400" algn="l" defTabSz="914400" rtl="0" eaLnBrk="1" latinLnBrk="0" hangingPunct="1">
              <a:defRPr sz="1800" kern="1200">
                <a:solidFill>
                  <a:srgbClr val="000000"/>
                </a:solidFill>
              </a:defRPr>
            </a:lvl8pPr>
            <a:lvl9pPr marL="3657600" algn="l" defTabSz="914400" rtl="0" eaLnBrk="1" latinLnBrk="0" hangingPunct="1">
              <a:defRPr sz="1800" kern="1200">
                <a:solidFill>
                  <a:srgbClr val="000000"/>
                </a:solidFill>
              </a:defRPr>
            </a:lvl9pPr>
          </a:lstStyle>
          <a:p>
            <a:pPr marL="0" marR="0" lvl="0" algn="l" defTabSz="913765" rtl="0" eaLnBrk="1" fontAlgn="auto" latinLnBrk="0" hangingPunct="1">
              <a:spcBef>
                <a:spcPts val="0"/>
              </a:spcBef>
              <a:spcAft>
                <a:spcPts val="0"/>
              </a:spcAft>
              <a:buClrTx/>
              <a:buSzPct val="25000"/>
              <a:buFontTx/>
              <a:buNone/>
              <a:defRPr/>
            </a:pPr>
            <a:r>
              <a:rPr kumimoji="0" lang="zh-CN" altLang="en-US" sz="2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行程时间预测</a:t>
            </a:r>
            <a:endParaRPr kumimoji="0" lang="zh-CN" altLang="en-US" sz="2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51" name="Text3"/>
          <p:cNvSpPr/>
          <p:nvPr>
            <p:custDataLst>
              <p:tags r:id="rId19"/>
            </p:custDataLst>
          </p:nvPr>
        </p:nvSpPr>
        <p:spPr>
          <a:xfrm flipH="1">
            <a:off x="6038016" y="4880314"/>
            <a:ext cx="2902369" cy="1495099"/>
          </a:xfrm>
          <a:prstGeom prst="rect">
            <a:avLst/>
          </a:prstGeom>
          <a:ln>
            <a:noFill/>
          </a:ln>
        </p:spPr>
        <p:txBody>
          <a:bodyPr wrap="square" lIns="91440" tIns="45720" rIns="91440" bIns="45720" anchor="t" anchorCtr="0">
            <a:noAutofit/>
          </a:bodyPr>
          <a:lstStyle>
            <a:defPPr>
              <a:defRPr lang="zh-CN"/>
            </a:defPPr>
            <a:lvl1pPr marL="0" algn="l" defTabSz="914400" rtl="0" eaLnBrk="1" latinLnBrk="0" hangingPunct="1">
              <a:defRPr sz="1800" kern="1200">
                <a:solidFill>
                  <a:srgbClr val="000000"/>
                </a:solidFill>
              </a:defRPr>
            </a:lvl1pPr>
            <a:lvl2pPr marL="457200" algn="l" defTabSz="914400" rtl="0" eaLnBrk="1" latinLnBrk="0" hangingPunct="1">
              <a:defRPr sz="1800" kern="1200">
                <a:solidFill>
                  <a:srgbClr val="000000"/>
                </a:solidFill>
              </a:defRPr>
            </a:lvl2pPr>
            <a:lvl3pPr marL="914400" algn="l" defTabSz="914400" rtl="0" eaLnBrk="1" latinLnBrk="0" hangingPunct="1">
              <a:defRPr sz="1800" kern="1200">
                <a:solidFill>
                  <a:srgbClr val="000000"/>
                </a:solidFill>
              </a:defRPr>
            </a:lvl3pPr>
            <a:lvl4pPr marL="1371600" algn="l" defTabSz="914400" rtl="0" eaLnBrk="1" latinLnBrk="0" hangingPunct="1">
              <a:defRPr sz="1800" kern="1200">
                <a:solidFill>
                  <a:srgbClr val="000000"/>
                </a:solidFill>
              </a:defRPr>
            </a:lvl4pPr>
            <a:lvl5pPr marL="1828800" algn="l" defTabSz="914400" rtl="0" eaLnBrk="1" latinLnBrk="0" hangingPunct="1">
              <a:defRPr sz="1800" kern="1200">
                <a:solidFill>
                  <a:srgbClr val="000000"/>
                </a:solidFill>
              </a:defRPr>
            </a:lvl5pPr>
            <a:lvl6pPr marL="2286000" algn="l" defTabSz="914400" rtl="0" eaLnBrk="1" latinLnBrk="0" hangingPunct="1">
              <a:defRPr sz="1800" kern="1200">
                <a:solidFill>
                  <a:srgbClr val="000000"/>
                </a:solidFill>
              </a:defRPr>
            </a:lvl6pPr>
            <a:lvl7pPr marL="2743200" algn="l" defTabSz="914400" rtl="0" eaLnBrk="1" latinLnBrk="0" hangingPunct="1">
              <a:defRPr sz="1800" kern="1200">
                <a:solidFill>
                  <a:srgbClr val="000000"/>
                </a:solidFill>
              </a:defRPr>
            </a:lvl7pPr>
            <a:lvl8pPr marL="3200400" algn="l" defTabSz="914400" rtl="0" eaLnBrk="1" latinLnBrk="0" hangingPunct="1">
              <a:defRPr sz="1800" kern="1200">
                <a:solidFill>
                  <a:srgbClr val="000000"/>
                </a:solidFill>
              </a:defRPr>
            </a:lvl8pPr>
            <a:lvl9pPr marL="3657600" algn="l" defTabSz="914400" rtl="0" eaLnBrk="1" latinLnBrk="0" hangingPunct="1">
              <a:defRPr sz="1800" kern="1200">
                <a:solidFill>
                  <a:srgbClr val="000000"/>
                </a:solidFill>
              </a:defRPr>
            </a:lvl9pPr>
          </a:lstStyle>
          <a:p>
            <a:pPr marL="0" marR="0" lvl="0" algn="l" defTabSz="913765" rtl="0" eaLnBrk="1" fontAlgn="auto" latinLnBrk="0" hangingPunct="1">
              <a:lnSpc>
                <a:spcPct val="120000"/>
              </a:lnSpc>
              <a:spcBef>
                <a:spcPts val="0"/>
              </a:spcBef>
              <a:spcAft>
                <a:spcPts val="0"/>
              </a:spcAft>
              <a:buClrTx/>
              <a:buSzPct val="25000"/>
              <a:buFontTx/>
              <a:buNone/>
              <a:defRPr/>
            </a:pPr>
            <a:r>
              <a:rPr lang="zh-CN" altLang="en-US"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耦合历史OD矩阵与实时路况的深度强化学习模型；行程时间的预测，行程时间延误与可靠性估计，路径推荐方法</a:t>
            </a:r>
            <a:endParaRPr lang="zh-CN" altLang="en-US"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2" name="Number3"/>
          <p:cNvSpPr/>
          <p:nvPr>
            <p:custDataLst>
              <p:tags r:id="rId20"/>
            </p:custDataLst>
          </p:nvPr>
        </p:nvSpPr>
        <p:spPr>
          <a:xfrm>
            <a:off x="6309540" y="1816101"/>
            <a:ext cx="360000" cy="351648"/>
          </a:xfrm>
          <a:prstGeom prst="rect">
            <a:avLst/>
          </a:prstGeom>
          <a:solidFill>
            <a:srgbClr val="343D74"/>
          </a:solidFill>
          <a:ln w="12700" cap="rnd">
            <a:noFill/>
            <a:prstDash val="solid"/>
            <a:round/>
          </a:ln>
          <a:effectLst>
            <a:outerShdw blurRad="254000" dist="127000" algn="ctr" rotWithShape="0">
              <a:srgbClr val="343D74">
                <a:alpha val="32000"/>
              </a:srgbClr>
            </a:outerShdw>
          </a:effectLst>
        </p:spPr>
        <p:style>
          <a:lnRef idx="2">
            <a:srgbClr val="111A51">
              <a:shade val="50000"/>
            </a:srgbClr>
          </a:lnRef>
          <a:fillRef idx="1">
            <a:srgbClr val="111A51"/>
          </a:fillRef>
          <a:effectRef idx="0">
            <a:srgbClr val="111A51"/>
          </a:effectRef>
          <a:fontRef idx="minor">
            <a:srgbClr val="FFFFFF"/>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rgbClr val="FFFFFF"/>
                </a:solidFill>
              </a:defRPr>
            </a:lvl1pPr>
            <a:lvl2pPr marL="457200" algn="l" defTabSz="914400" rtl="0" eaLnBrk="1" latinLnBrk="0" hangingPunct="1">
              <a:defRPr sz="1800" kern="1200">
                <a:solidFill>
                  <a:srgbClr val="FFFFFF"/>
                </a:solidFill>
              </a:defRPr>
            </a:lvl2pPr>
            <a:lvl3pPr marL="914400" algn="l" defTabSz="914400" rtl="0" eaLnBrk="1" latinLnBrk="0" hangingPunct="1">
              <a:defRPr sz="1800" kern="1200">
                <a:solidFill>
                  <a:srgbClr val="FFFFFF"/>
                </a:solidFill>
              </a:defRPr>
            </a:lvl3pPr>
            <a:lvl4pPr marL="1371600" algn="l" defTabSz="914400" rtl="0" eaLnBrk="1" latinLnBrk="0" hangingPunct="1">
              <a:defRPr sz="1800" kern="1200">
                <a:solidFill>
                  <a:srgbClr val="FFFFFF"/>
                </a:solidFill>
              </a:defRPr>
            </a:lvl4pPr>
            <a:lvl5pPr marL="1828800" algn="l" defTabSz="914400" rtl="0" eaLnBrk="1" latinLnBrk="0" hangingPunct="1">
              <a:defRPr sz="1800" kern="1200">
                <a:solidFill>
                  <a:srgbClr val="FFFFFF"/>
                </a:solidFill>
              </a:defRPr>
            </a:lvl5pPr>
            <a:lvl6pPr marL="2286000" algn="l" defTabSz="914400" rtl="0" eaLnBrk="1" latinLnBrk="0" hangingPunct="1">
              <a:defRPr sz="1800" kern="1200">
                <a:solidFill>
                  <a:srgbClr val="FFFFFF"/>
                </a:solidFill>
              </a:defRPr>
            </a:lvl6pPr>
            <a:lvl7pPr marL="2743200" algn="l" defTabSz="914400" rtl="0" eaLnBrk="1" latinLnBrk="0" hangingPunct="1">
              <a:defRPr sz="1800" kern="1200">
                <a:solidFill>
                  <a:srgbClr val="FFFFFF"/>
                </a:solidFill>
              </a:defRPr>
            </a:lvl7pPr>
            <a:lvl8pPr marL="3200400" algn="l" defTabSz="914400" rtl="0" eaLnBrk="1" latinLnBrk="0" hangingPunct="1">
              <a:defRPr sz="1800" kern="1200">
                <a:solidFill>
                  <a:srgbClr val="FFFFFF"/>
                </a:solidFill>
              </a:defRPr>
            </a:lvl8pPr>
            <a:lvl9pPr marL="3657600" algn="l" defTabSz="914400" rtl="0" eaLnBrk="1" latinLnBrk="0" hangingPunct="1">
              <a:defRPr sz="1800" kern="1200">
                <a:solidFill>
                  <a:srgbClr val="FFFFFF"/>
                </a:solidFill>
              </a:defRPr>
            </a:lvl9pPr>
          </a:lstStyle>
          <a:p>
            <a:pPr algn="ctr" defTabSz="914400"/>
            <a:r>
              <a:rPr lang="en-US" altLang="zh-CN" sz="2000" b="1" dirty="0">
                <a:solidFill>
                  <a:srgbClr val="FFFFFF"/>
                </a:solidFill>
                <a:latin typeface="Arial" panose="020B0604020202020204" pitchFamily="34" charset="0"/>
                <a:ea typeface="微软雅黑" panose="020B0503020204020204" pitchFamily="34" charset="-122"/>
              </a:rPr>
              <a:t>03</a:t>
            </a:r>
            <a:endParaRPr lang="en-US" altLang="zh-CN" sz="2000" b="1" dirty="0">
              <a:solidFill>
                <a:srgbClr val="FFFFFF"/>
              </a:solidFill>
              <a:latin typeface="Arial" panose="020B0604020202020204" pitchFamily="34" charset="0"/>
              <a:ea typeface="微软雅黑" panose="020B0503020204020204" pitchFamily="34" charset="-122"/>
            </a:endParaRPr>
          </a:p>
        </p:txBody>
      </p:sp>
      <p:sp>
        <p:nvSpPr>
          <p:cNvPr id="53" name="Bullet4"/>
          <p:cNvSpPr txBox="1"/>
          <p:nvPr>
            <p:custDataLst>
              <p:tags r:id="rId21"/>
            </p:custDataLst>
          </p:nvPr>
        </p:nvSpPr>
        <p:spPr>
          <a:xfrm>
            <a:off x="8900840" y="4273550"/>
            <a:ext cx="2618060" cy="525465"/>
          </a:xfrm>
          <a:prstGeom prst="rect">
            <a:avLst/>
          </a:prstGeom>
          <a:noFill/>
          <a:ln>
            <a:noFill/>
          </a:ln>
        </p:spPr>
        <p:txBody>
          <a:bodyPr wrap="square" lIns="91440" tIns="45720" rIns="91440" bIns="45720" anchor="b" anchorCtr="0">
            <a:normAutofit/>
          </a:bodyPr>
          <a:lstStyle>
            <a:defPPr>
              <a:defRPr lang="zh-CN"/>
            </a:defPPr>
            <a:lvl1pPr marL="0" algn="l" defTabSz="914400" rtl="0" eaLnBrk="1" latinLnBrk="0" hangingPunct="1">
              <a:defRPr sz="1800" kern="1200">
                <a:solidFill>
                  <a:srgbClr val="000000"/>
                </a:solidFill>
              </a:defRPr>
            </a:lvl1pPr>
            <a:lvl2pPr marL="457200" algn="l" defTabSz="914400" rtl="0" eaLnBrk="1" latinLnBrk="0" hangingPunct="1">
              <a:defRPr sz="1800" kern="1200">
                <a:solidFill>
                  <a:srgbClr val="000000"/>
                </a:solidFill>
              </a:defRPr>
            </a:lvl2pPr>
            <a:lvl3pPr marL="914400" algn="l" defTabSz="914400" rtl="0" eaLnBrk="1" latinLnBrk="0" hangingPunct="1">
              <a:defRPr sz="1800" kern="1200">
                <a:solidFill>
                  <a:srgbClr val="000000"/>
                </a:solidFill>
              </a:defRPr>
            </a:lvl3pPr>
            <a:lvl4pPr marL="1371600" algn="l" defTabSz="914400" rtl="0" eaLnBrk="1" latinLnBrk="0" hangingPunct="1">
              <a:defRPr sz="1800" kern="1200">
                <a:solidFill>
                  <a:srgbClr val="000000"/>
                </a:solidFill>
              </a:defRPr>
            </a:lvl4pPr>
            <a:lvl5pPr marL="1828800" algn="l" defTabSz="914400" rtl="0" eaLnBrk="1" latinLnBrk="0" hangingPunct="1">
              <a:defRPr sz="1800" kern="1200">
                <a:solidFill>
                  <a:srgbClr val="000000"/>
                </a:solidFill>
              </a:defRPr>
            </a:lvl5pPr>
            <a:lvl6pPr marL="2286000" algn="l" defTabSz="914400" rtl="0" eaLnBrk="1" latinLnBrk="0" hangingPunct="1">
              <a:defRPr sz="1800" kern="1200">
                <a:solidFill>
                  <a:srgbClr val="000000"/>
                </a:solidFill>
              </a:defRPr>
            </a:lvl6pPr>
            <a:lvl7pPr marL="2743200" algn="l" defTabSz="914400" rtl="0" eaLnBrk="1" latinLnBrk="0" hangingPunct="1">
              <a:defRPr sz="1800" kern="1200">
                <a:solidFill>
                  <a:srgbClr val="000000"/>
                </a:solidFill>
              </a:defRPr>
            </a:lvl7pPr>
            <a:lvl8pPr marL="3200400" algn="l" defTabSz="914400" rtl="0" eaLnBrk="1" latinLnBrk="0" hangingPunct="1">
              <a:defRPr sz="1800" kern="1200">
                <a:solidFill>
                  <a:srgbClr val="000000"/>
                </a:solidFill>
              </a:defRPr>
            </a:lvl8pPr>
            <a:lvl9pPr marL="3657600" algn="l" defTabSz="914400" rtl="0" eaLnBrk="1" latinLnBrk="0" hangingPunct="1">
              <a:defRPr sz="1800" kern="1200">
                <a:solidFill>
                  <a:srgbClr val="000000"/>
                </a:solidFill>
              </a:defRPr>
            </a:lvl9pPr>
          </a:lstStyle>
          <a:p>
            <a:pPr marL="0" marR="0" lvl="0" algn="l" defTabSz="913765" rtl="0" eaLnBrk="1" fontAlgn="auto" latinLnBrk="0" hangingPunct="1">
              <a:spcBef>
                <a:spcPts val="0"/>
              </a:spcBef>
              <a:spcAft>
                <a:spcPts val="0"/>
              </a:spcAft>
              <a:buClrTx/>
              <a:buSzPct val="25000"/>
              <a:buFontTx/>
              <a:buNone/>
              <a:defRPr/>
            </a:pPr>
            <a:r>
              <a:rPr lang="zh-CN" altLang="en-US" sz="2400" b="1" noProof="0" dirty="0">
                <a:ln>
                  <a:noFill/>
                </a:ln>
                <a:effectLst/>
                <a:uLnTx/>
                <a:uFillTx/>
                <a:latin typeface="微软雅黑" panose="020B0503020204020204" pitchFamily="34" charset="-122"/>
                <a:ea typeface="微软雅黑" panose="020B0503020204020204" pitchFamily="34" charset="-122"/>
              </a:rPr>
              <a:t>拥堵</a:t>
            </a:r>
            <a:r>
              <a:rPr kumimoji="0" lang="zh-CN" altLang="en-US" sz="2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rPr>
              <a:t>碳排放研究</a:t>
            </a:r>
            <a:endParaRPr kumimoji="0" lang="zh-CN" altLang="en-US" sz="2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54" name="Text4"/>
          <p:cNvSpPr/>
          <p:nvPr>
            <p:custDataLst>
              <p:tags r:id="rId22"/>
            </p:custDataLst>
          </p:nvPr>
        </p:nvSpPr>
        <p:spPr>
          <a:xfrm flipH="1">
            <a:off x="8900112" y="4880314"/>
            <a:ext cx="2860570" cy="1561377"/>
          </a:xfrm>
          <a:prstGeom prst="rect">
            <a:avLst/>
          </a:prstGeom>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rgbClr val="000000"/>
                </a:solidFill>
              </a:defRPr>
            </a:lvl1pPr>
            <a:lvl2pPr marL="457200" algn="l" defTabSz="914400" rtl="0" eaLnBrk="1" latinLnBrk="0" hangingPunct="1">
              <a:defRPr sz="1800" kern="1200">
                <a:solidFill>
                  <a:srgbClr val="000000"/>
                </a:solidFill>
              </a:defRPr>
            </a:lvl2pPr>
            <a:lvl3pPr marL="914400" algn="l" defTabSz="914400" rtl="0" eaLnBrk="1" latinLnBrk="0" hangingPunct="1">
              <a:defRPr sz="1800" kern="1200">
                <a:solidFill>
                  <a:srgbClr val="000000"/>
                </a:solidFill>
              </a:defRPr>
            </a:lvl3pPr>
            <a:lvl4pPr marL="1371600" algn="l" defTabSz="914400" rtl="0" eaLnBrk="1" latinLnBrk="0" hangingPunct="1">
              <a:defRPr sz="1800" kern="1200">
                <a:solidFill>
                  <a:srgbClr val="000000"/>
                </a:solidFill>
              </a:defRPr>
            </a:lvl4pPr>
            <a:lvl5pPr marL="1828800" algn="l" defTabSz="914400" rtl="0" eaLnBrk="1" latinLnBrk="0" hangingPunct="1">
              <a:defRPr sz="1800" kern="1200">
                <a:solidFill>
                  <a:srgbClr val="000000"/>
                </a:solidFill>
              </a:defRPr>
            </a:lvl5pPr>
            <a:lvl6pPr marL="2286000" algn="l" defTabSz="914400" rtl="0" eaLnBrk="1" latinLnBrk="0" hangingPunct="1">
              <a:defRPr sz="1800" kern="1200">
                <a:solidFill>
                  <a:srgbClr val="000000"/>
                </a:solidFill>
              </a:defRPr>
            </a:lvl6pPr>
            <a:lvl7pPr marL="2743200" algn="l" defTabSz="914400" rtl="0" eaLnBrk="1" latinLnBrk="0" hangingPunct="1">
              <a:defRPr sz="1800" kern="1200">
                <a:solidFill>
                  <a:srgbClr val="000000"/>
                </a:solidFill>
              </a:defRPr>
            </a:lvl7pPr>
            <a:lvl8pPr marL="3200400" algn="l" defTabSz="914400" rtl="0" eaLnBrk="1" latinLnBrk="0" hangingPunct="1">
              <a:defRPr sz="1800" kern="1200">
                <a:solidFill>
                  <a:srgbClr val="000000"/>
                </a:solidFill>
              </a:defRPr>
            </a:lvl8pPr>
            <a:lvl9pPr marL="3657600" algn="l" defTabSz="914400" rtl="0" eaLnBrk="1" latinLnBrk="0" hangingPunct="1">
              <a:defRPr sz="1800" kern="1200">
                <a:solidFill>
                  <a:srgbClr val="000000"/>
                </a:solidFill>
              </a:defRPr>
            </a:lvl9pPr>
          </a:lstStyle>
          <a:p>
            <a:pPr marL="0" marR="0" lvl="0" algn="l" defTabSz="913765" rtl="0" eaLnBrk="1" fontAlgn="auto" latinLnBrk="0" hangingPunct="1">
              <a:lnSpc>
                <a:spcPct val="120000"/>
              </a:lnSpc>
              <a:spcBef>
                <a:spcPts val="0"/>
              </a:spcBef>
              <a:spcAft>
                <a:spcPts val="0"/>
              </a:spcAft>
              <a:buClrTx/>
              <a:buSzPct val="25000"/>
              <a:buFontTx/>
              <a:buNone/>
              <a:defRPr/>
            </a:pPr>
            <a:r>
              <a:rPr lang="zh-CN" altLang="en-US"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MOVES模型计算单车排放因子；LEAP模型构建城市交通碳账户；交通拥堵碳排放环境影响，政策引导，技术优化</a:t>
            </a:r>
            <a:endParaRPr lang="zh-CN" altLang="en-US" sz="16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defTabSz="913765" rtl="0" eaLnBrk="1" fontAlgn="auto" latinLnBrk="0" hangingPunct="1">
              <a:lnSpc>
                <a:spcPct val="120000"/>
              </a:lnSpc>
              <a:spcBef>
                <a:spcPts val="0"/>
              </a:spcBef>
              <a:spcAft>
                <a:spcPts val="0"/>
              </a:spcAft>
              <a:buClrTx/>
              <a:buSzPct val="25000"/>
              <a:buFontTx/>
              <a:buNone/>
              <a:defRPr/>
            </a:pPr>
            <a:endParaRPr lang="zh-CN" altLang="en-US" sz="1600" dirty="0"/>
          </a:p>
        </p:txBody>
      </p:sp>
      <p:sp>
        <p:nvSpPr>
          <p:cNvPr id="55" name="Number4"/>
          <p:cNvSpPr/>
          <p:nvPr>
            <p:custDataLst>
              <p:tags r:id="rId23"/>
            </p:custDataLst>
          </p:nvPr>
        </p:nvSpPr>
        <p:spPr>
          <a:xfrm>
            <a:off x="9056352" y="1816101"/>
            <a:ext cx="360000" cy="351648"/>
          </a:xfrm>
          <a:prstGeom prst="rect">
            <a:avLst/>
          </a:prstGeom>
          <a:solidFill>
            <a:srgbClr val="7980B5"/>
          </a:solidFill>
          <a:ln w="12700" cap="rnd">
            <a:noFill/>
            <a:prstDash val="solid"/>
            <a:round/>
          </a:ln>
          <a:effectLst>
            <a:outerShdw blurRad="254000" dist="127000" algn="ctr" rotWithShape="0">
              <a:srgbClr val="7980B5">
                <a:alpha val="32000"/>
              </a:srgbClr>
            </a:outerShdw>
          </a:effectLst>
        </p:spPr>
        <p:style>
          <a:lnRef idx="2">
            <a:srgbClr val="111A51">
              <a:shade val="50000"/>
            </a:srgbClr>
          </a:lnRef>
          <a:fillRef idx="1">
            <a:srgbClr val="111A51"/>
          </a:fillRef>
          <a:effectRef idx="0">
            <a:srgbClr val="111A51"/>
          </a:effectRef>
          <a:fontRef idx="minor">
            <a:srgbClr val="FFFFFF"/>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rgbClr val="FFFFFF"/>
                </a:solidFill>
              </a:defRPr>
            </a:lvl1pPr>
            <a:lvl2pPr marL="457200" algn="l" defTabSz="914400" rtl="0" eaLnBrk="1" latinLnBrk="0" hangingPunct="1">
              <a:defRPr sz="1800" kern="1200">
                <a:solidFill>
                  <a:srgbClr val="FFFFFF"/>
                </a:solidFill>
              </a:defRPr>
            </a:lvl2pPr>
            <a:lvl3pPr marL="914400" algn="l" defTabSz="914400" rtl="0" eaLnBrk="1" latinLnBrk="0" hangingPunct="1">
              <a:defRPr sz="1800" kern="1200">
                <a:solidFill>
                  <a:srgbClr val="FFFFFF"/>
                </a:solidFill>
              </a:defRPr>
            </a:lvl3pPr>
            <a:lvl4pPr marL="1371600" algn="l" defTabSz="914400" rtl="0" eaLnBrk="1" latinLnBrk="0" hangingPunct="1">
              <a:defRPr sz="1800" kern="1200">
                <a:solidFill>
                  <a:srgbClr val="FFFFFF"/>
                </a:solidFill>
              </a:defRPr>
            </a:lvl4pPr>
            <a:lvl5pPr marL="1828800" algn="l" defTabSz="914400" rtl="0" eaLnBrk="1" latinLnBrk="0" hangingPunct="1">
              <a:defRPr sz="1800" kern="1200">
                <a:solidFill>
                  <a:srgbClr val="FFFFFF"/>
                </a:solidFill>
              </a:defRPr>
            </a:lvl5pPr>
            <a:lvl6pPr marL="2286000" algn="l" defTabSz="914400" rtl="0" eaLnBrk="1" latinLnBrk="0" hangingPunct="1">
              <a:defRPr sz="1800" kern="1200">
                <a:solidFill>
                  <a:srgbClr val="FFFFFF"/>
                </a:solidFill>
              </a:defRPr>
            </a:lvl6pPr>
            <a:lvl7pPr marL="2743200" algn="l" defTabSz="914400" rtl="0" eaLnBrk="1" latinLnBrk="0" hangingPunct="1">
              <a:defRPr sz="1800" kern="1200">
                <a:solidFill>
                  <a:srgbClr val="FFFFFF"/>
                </a:solidFill>
              </a:defRPr>
            </a:lvl7pPr>
            <a:lvl8pPr marL="3200400" algn="l" defTabSz="914400" rtl="0" eaLnBrk="1" latinLnBrk="0" hangingPunct="1">
              <a:defRPr sz="1800" kern="1200">
                <a:solidFill>
                  <a:srgbClr val="FFFFFF"/>
                </a:solidFill>
              </a:defRPr>
            </a:lvl8pPr>
            <a:lvl9pPr marL="3657600" algn="l" defTabSz="914400" rtl="0" eaLnBrk="1" latinLnBrk="0" hangingPunct="1">
              <a:defRPr sz="1800" kern="1200">
                <a:solidFill>
                  <a:srgbClr val="FFFFFF"/>
                </a:solidFill>
              </a:defRPr>
            </a:lvl9pPr>
          </a:lstStyle>
          <a:p>
            <a:pPr algn="ctr" defTabSz="914400"/>
            <a:r>
              <a:rPr lang="en-US" altLang="zh-CN" sz="2000" b="1" dirty="0">
                <a:solidFill>
                  <a:srgbClr val="FFFFFF"/>
                </a:solidFill>
                <a:latin typeface="Arial" panose="020B0604020202020204" pitchFamily="34" charset="0"/>
                <a:ea typeface="微软雅黑" panose="020B0503020204020204" pitchFamily="34" charset="-122"/>
              </a:rPr>
              <a:t>04</a:t>
            </a:r>
            <a:endParaRPr lang="en-US" altLang="zh-CN" sz="2000" b="1" dirty="0">
              <a:solidFill>
                <a:srgbClr val="FFFFFF"/>
              </a:solidFill>
              <a:latin typeface="Arial" panose="020B0604020202020204" pitchFamily="34" charset="0"/>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 name="组合 0"/>
          <p:cNvGrpSpPr/>
          <p:nvPr/>
        </p:nvGrpSpPr>
        <p:grpSpPr>
          <a:xfrm>
            <a:off x="-26670" y="0"/>
            <a:ext cx="12218670" cy="1013460"/>
            <a:chOff x="0" y="6"/>
            <a:chExt cx="19242" cy="1596"/>
          </a:xfrm>
        </p:grpSpPr>
        <p:grpSp>
          <p:nvGrpSpPr>
            <p:cNvPr id="585" name="组合 68"/>
            <p:cNvGrpSpPr/>
            <p:nvPr/>
          </p:nvGrpSpPr>
          <p:grpSpPr>
            <a:xfrm>
              <a:off x="0" y="6"/>
              <a:ext cx="19243" cy="1596"/>
              <a:chOff x="-128871" y="-71960"/>
              <a:chExt cx="12219295" cy="1013221"/>
            </a:xfrm>
          </p:grpSpPr>
          <p:grpSp>
            <p:nvGrpSpPr>
              <p:cNvPr id="586" name="组合 67"/>
              <p:cNvGrpSpPr/>
              <p:nvPr/>
            </p:nvGrpSpPr>
            <p:grpSpPr>
              <a:xfrm>
                <a:off x="-128871" y="-71960"/>
                <a:ext cx="12219295" cy="1013221"/>
                <a:chOff x="-128871" y="-71960"/>
                <a:chExt cx="12219295" cy="1013221"/>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2326353" y="-71960"/>
                  <a:ext cx="2203382" cy="773252"/>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项目管理</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596" name="组合 13"/>
            <p:cNvGrpSpPr/>
            <p:nvPr/>
          </p:nvGrpSpPr>
          <p:grpSpPr>
            <a:xfrm>
              <a:off x="323" y="129"/>
              <a:ext cx="3149" cy="93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宋体" panose="02010600030101010101" pitchFamily="2" charset="-122"/>
                  </a:rPr>
                  <a:t>WUHAN UNIVERSITY</a:t>
                </a:r>
                <a:endParaRPr lang="en-US" altLang="zh-CN" sz="900" b="1" dirty="0">
                  <a:solidFill>
                    <a:prstClr val="black"/>
                  </a:solidFill>
                  <a:latin typeface="Calibri" panose="020F0502020204030204"/>
                  <a:ea typeface="宋体" panose="02010600030101010101" pitchFamily="2" charset="-122"/>
                </a:endParaRPr>
              </a:p>
            </p:txBody>
          </p:sp>
        </p:grpSp>
      </p:grpSp>
      <p:sp>
        <p:nvSpPr>
          <p:cNvPr id="2" name="ïṣ1ïḑê"/>
          <p:cNvSpPr>
            <a:spLocks noGrp="1"/>
          </p:cNvSpPr>
          <p:nvPr/>
        </p:nvSpPr>
        <p:spPr>
          <a:xfrm>
            <a:off x="308610" y="938530"/>
            <a:ext cx="5710555" cy="58737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sz="2700" dirty="0">
                <a:solidFill>
                  <a:srgbClr val="005825"/>
                </a:solidFill>
                <a:latin typeface="微软雅黑" panose="020B0503020204020204" pitchFamily="34" charset="-122"/>
                <a:cs typeface="微软雅黑" panose="020B0503020204020204" pitchFamily="34" charset="-122"/>
              </a:rPr>
              <a:t>1.3</a:t>
            </a:r>
            <a:r>
              <a:rPr lang="zh-CN" altLang="en-US" sz="2700" dirty="0">
                <a:solidFill>
                  <a:srgbClr val="005825"/>
                </a:solidFill>
                <a:latin typeface="微软雅黑" panose="020B0503020204020204" pitchFamily="34" charset="-122"/>
                <a:cs typeface="微软雅黑" panose="020B0503020204020204" pitchFamily="34" charset="-122"/>
              </a:rPr>
              <a:t>研究背景</a:t>
            </a:r>
            <a:r>
              <a:rPr lang="en-US" altLang="zh-CN" sz="2700" dirty="0">
                <a:solidFill>
                  <a:srgbClr val="002060"/>
                </a:solidFill>
                <a:latin typeface="微软雅黑" panose="020B0503020204020204" pitchFamily="34" charset="-122"/>
                <a:cs typeface="微软雅黑" panose="020B0503020204020204" pitchFamily="34" charset="-122"/>
              </a:rPr>
              <a:t>|</a:t>
            </a:r>
            <a:r>
              <a:rPr lang="zh-CN" altLang="en-US" sz="2700" dirty="0">
                <a:solidFill>
                  <a:schemeClr val="tx1"/>
                </a:solidFill>
                <a:latin typeface="微软雅黑" panose="020B0503020204020204" pitchFamily="34" charset="-122"/>
                <a:cs typeface="微软雅黑" panose="020B0503020204020204" pitchFamily="34" charset="-122"/>
              </a:rPr>
              <a:t>研究目的及意义</a:t>
            </a:r>
            <a:endParaRPr lang="zh-CN" altLang="en-US" sz="2700" dirty="0">
              <a:solidFill>
                <a:schemeClr val="tx1"/>
              </a:solidFill>
              <a:latin typeface="微软雅黑" panose="020B0503020204020204" pitchFamily="34" charset="-122"/>
              <a:cs typeface="微软雅黑" panose="020B0503020204020204" pitchFamily="34" charset="-122"/>
            </a:endParaRPr>
          </a:p>
        </p:txBody>
      </p:sp>
      <p:sp>
        <p:nvSpPr>
          <p:cNvPr id="3" name="文本框 2"/>
          <p:cNvSpPr txBox="1"/>
          <p:nvPr userDrawn="1"/>
        </p:nvSpPr>
        <p:spPr>
          <a:xfrm>
            <a:off x="1198783" y="1713271"/>
            <a:ext cx="10181886" cy="1126461"/>
          </a:xfrm>
          <a:prstGeom prst="rect">
            <a:avLst/>
          </a:prstGeom>
          <a:noFill/>
          <a:ln>
            <a:noFill/>
          </a:ln>
        </p:spPr>
        <p:style>
          <a:lnRef idx="2">
            <a:srgbClr val="111A51">
              <a:shade val="50000"/>
            </a:srgbClr>
          </a:lnRef>
          <a:fillRef idx="1">
            <a:srgbClr val="111A51"/>
          </a:fillRef>
          <a:effectRef idx="0">
            <a:srgbClr val="111A51"/>
          </a:effectRef>
          <a:fontRef idx="minor">
            <a:srgbClr val="FFFFFF"/>
          </a:fontRef>
        </p:style>
        <p:txBody>
          <a:bodyPr wrap="square" lIns="91440" tIns="45720" rIns="91440" bIns="45720" rtlCol="0" anchor="b" anchorCtr="0">
            <a:normAutofit/>
          </a:bodyPr>
          <a:lstStyle>
            <a:defPPr>
              <a:defRPr lang="zh-CN"/>
            </a:defPPr>
            <a:lvl1pPr>
              <a:defRPr kumimoji="1" sz="2400" b="1">
                <a:cs typeface="微软雅黑" panose="020B0503020204020204" pitchFamily="34" charset="-122"/>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vl6pPr>
              <a:defRPr>
                <a:solidFill>
                  <a:srgbClr val="FFFFFF"/>
                </a:solidFill>
              </a:defRPr>
            </a:lvl6pPr>
            <a:lvl7pPr>
              <a:defRPr>
                <a:solidFill>
                  <a:srgbClr val="FFFFFF"/>
                </a:solidFill>
              </a:defRPr>
            </a:lvl7pPr>
            <a:lvl8pPr>
              <a:defRPr>
                <a:solidFill>
                  <a:srgbClr val="FFFFFF"/>
                </a:solidFill>
              </a:defRPr>
            </a:lvl8pPr>
            <a:lvl9pPr>
              <a:defRPr>
                <a:solidFill>
                  <a:srgbClr val="FFFFFF"/>
                </a:solidFill>
              </a:defRPr>
            </a:lvl9pPr>
          </a:lstStyle>
          <a:p>
            <a:r>
              <a:rPr lang="zh-CN" altLang="en-US" sz="2000" b="0" dirty="0">
                <a:solidFill>
                  <a:srgbClr val="000000"/>
                </a:solidFill>
                <a:latin typeface="Arial" panose="020B0604020202020204" pitchFamily="34" charset="0"/>
                <a:ea typeface="微软雅黑" panose="020B0503020204020204" pitchFamily="34" charset="-122"/>
              </a:rPr>
              <a:t>虽然基于</a:t>
            </a:r>
            <a:r>
              <a:rPr lang="en-US" altLang="zh-CN" sz="2000" b="0" dirty="0">
                <a:solidFill>
                  <a:srgbClr val="000000"/>
                </a:solidFill>
                <a:latin typeface="Arial" panose="020B0604020202020204" pitchFamily="34" charset="0"/>
                <a:ea typeface="微软雅黑" panose="020B0503020204020204" pitchFamily="34" charset="-122"/>
              </a:rPr>
              <a:t>GPS</a:t>
            </a:r>
            <a:r>
              <a:rPr lang="zh-CN" altLang="en-US" sz="2000" b="0" dirty="0">
                <a:solidFill>
                  <a:srgbClr val="000000"/>
                </a:solidFill>
                <a:latin typeface="Arial" panose="020B0604020202020204" pitchFamily="34" charset="0"/>
                <a:ea typeface="微软雅黑" panose="020B0503020204020204" pitchFamily="34" charset="-122"/>
              </a:rPr>
              <a:t>轨迹大数据的城市交通拥堵相关研究取得了显著进展，但是建成环境对城市拥堵的影响机制研究尚存不足：表现在</a:t>
            </a:r>
            <a:r>
              <a:rPr lang="zh-CN" altLang="en-US" sz="2000" dirty="0">
                <a:solidFill>
                  <a:srgbClr val="000000"/>
                </a:solidFill>
                <a:latin typeface="Arial" panose="020B0604020202020204" pitchFamily="34" charset="0"/>
                <a:ea typeface="微软雅黑" panose="020B0503020204020204" pitchFamily="34" charset="-122"/>
              </a:rPr>
              <a:t>现有评价体系系统性不足</a:t>
            </a:r>
            <a:r>
              <a:rPr lang="zh-CN" altLang="en-US" sz="2000" b="0" dirty="0">
                <a:solidFill>
                  <a:srgbClr val="000000"/>
                </a:solidFill>
                <a:latin typeface="Arial" panose="020B0604020202020204" pitchFamily="34" charset="0"/>
                <a:ea typeface="微软雅黑" panose="020B0503020204020204" pitchFamily="34" charset="-122"/>
              </a:rPr>
              <a:t>，往往孤立分析单一要素忽视多要素耦合效应；</a:t>
            </a:r>
            <a:r>
              <a:rPr lang="zh-CN" altLang="en-US" sz="2000" dirty="0">
                <a:solidFill>
                  <a:srgbClr val="000000"/>
                </a:solidFill>
                <a:latin typeface="Arial" panose="020B0604020202020204" pitchFamily="34" charset="0"/>
                <a:ea typeface="微软雅黑" panose="020B0503020204020204" pitchFamily="34" charset="-122"/>
              </a:rPr>
              <a:t>分析方法鲁棒性不足</a:t>
            </a:r>
            <a:r>
              <a:rPr lang="zh-CN" altLang="en-US" sz="2000" b="0" dirty="0">
                <a:solidFill>
                  <a:srgbClr val="000000"/>
                </a:solidFill>
                <a:latin typeface="Arial" panose="020B0604020202020204" pitchFamily="34" charset="0"/>
                <a:ea typeface="微软雅黑" panose="020B0503020204020204" pitchFamily="34" charset="-122"/>
              </a:rPr>
              <a:t>，对异常值敏感且难以处理高维异构数据。</a:t>
            </a:r>
            <a:endParaRPr lang="zh-CN" altLang="en-US" sz="2000" b="0" dirty="0">
              <a:solidFill>
                <a:srgbClr val="000000"/>
              </a:solidFill>
              <a:latin typeface="Arial" panose="020B0604020202020204" pitchFamily="34" charset="0"/>
              <a:ea typeface="微软雅黑" panose="020B0503020204020204" pitchFamily="34" charset="-122"/>
            </a:endParaRPr>
          </a:p>
        </p:txBody>
      </p:sp>
      <p:pic>
        <p:nvPicPr>
          <p:cNvPr id="34" name="图形 6" descr="前引号"/>
          <p:cNvPicPr>
            <a:picLocks noChangeAspect="1"/>
          </p:cNvPicPr>
          <p:nvPr/>
        </p:nvPicPr>
        <p:blipFill>
          <a:blip r:embed="rId4" cstate="print">
            <a:extLst>
              <a:ext uri="{96DAC541-7B7A-43D3-8B79-37D633B846F1}">
                <asvg:svgBlip xmlns:asvg="http://schemas.microsoft.com/office/drawing/2016/SVG/main" r:embed="rId5"/>
              </a:ext>
            </a:extLst>
          </a:blip>
          <a:stretch>
            <a:fillRect/>
          </a:stretch>
        </p:blipFill>
        <p:spPr>
          <a:xfrm>
            <a:off x="308436" y="1423035"/>
            <a:ext cx="914400" cy="914400"/>
          </a:xfrm>
          <a:prstGeom prst="rect">
            <a:avLst/>
          </a:prstGeom>
        </p:spPr>
      </p:pic>
      <p:sp>
        <p:nvSpPr>
          <p:cNvPr id="4" name="文本框 3"/>
          <p:cNvSpPr txBox="1"/>
          <p:nvPr/>
        </p:nvSpPr>
        <p:spPr>
          <a:xfrm>
            <a:off x="808355" y="5209540"/>
            <a:ext cx="10827385" cy="1181100"/>
          </a:xfrm>
          <a:prstGeom prst="rect">
            <a:avLst/>
          </a:prstGeom>
        </p:spPr>
        <p:txBody>
          <a:bodyPr wrap="square" rtlCol="0">
            <a:noAutofit/>
          </a:bodyPr>
          <a:lstStyle/>
          <a:p>
            <a:pPr algn="just"/>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创新构建</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主成分地理加权随机森林</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（PCA-GWRF）复合模型，深度融合</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地理空间权重</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与</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可解释机器学习算法</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，系统揭示</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多维建成环境因素</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与交通拥堵之间的非线性耦合机制及</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空间异质</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特征，为智慧城市背景下的交通空间治理提供理论与实践范式。</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5" name="组合 24"/>
          <p:cNvGrpSpPr/>
          <p:nvPr>
            <p:custDataLst>
              <p:tags r:id="rId6"/>
            </p:custDataLst>
          </p:nvPr>
        </p:nvGrpSpPr>
        <p:grpSpPr>
          <a:xfrm>
            <a:off x="782708" y="3115432"/>
            <a:ext cx="10696536" cy="1747706"/>
            <a:chOff x="751411" y="3474459"/>
            <a:chExt cx="10696536" cy="1747706"/>
          </a:xfrm>
        </p:grpSpPr>
        <p:grpSp>
          <p:nvGrpSpPr>
            <p:cNvPr id="28" name="组合 27"/>
            <p:cNvGrpSpPr/>
            <p:nvPr>
              <p:custDataLst>
                <p:tags r:id="rId7"/>
              </p:custDataLst>
            </p:nvPr>
          </p:nvGrpSpPr>
          <p:grpSpPr>
            <a:xfrm>
              <a:off x="751411" y="3474459"/>
              <a:ext cx="10696536" cy="1747706"/>
              <a:chOff x="747732" y="1757443"/>
              <a:chExt cx="10696536" cy="1747706"/>
            </a:xfrm>
          </p:grpSpPr>
          <p:sp>
            <p:nvSpPr>
              <p:cNvPr id="31" name="ComponentBackground4"/>
              <p:cNvSpPr/>
              <p:nvPr>
                <p:custDataLst>
                  <p:tags r:id="rId8"/>
                </p:custDataLst>
              </p:nvPr>
            </p:nvSpPr>
            <p:spPr bwMode="auto">
              <a:xfrm>
                <a:off x="9204471" y="2294496"/>
                <a:ext cx="2214811" cy="1210653"/>
              </a:xfrm>
              <a:prstGeom prst="rect">
                <a:avLst/>
              </a:prstGeom>
              <a:solidFill>
                <a:srgbClr val="778495">
                  <a:alpha val="10000"/>
                </a:srgbClr>
              </a:solidFill>
              <a:ln w="19050">
                <a:noFill/>
                <a:round/>
              </a:ln>
            </p:spPr>
            <p:txBody>
              <a:bodyPr wrap="square" lIns="91440" tIns="45720" rIns="91440" bIns="45720" anchor="ctr">
                <a:normAutofit/>
              </a:bodyPr>
              <a:lstStyle/>
              <a:p>
                <a:pPr algn="ctr"/>
                <a:endParaRPr sz="1100" dirty="0"/>
              </a:p>
            </p:txBody>
          </p:sp>
          <p:sp>
            <p:nvSpPr>
              <p:cNvPr id="48" name="îṥḷîḋê"/>
              <p:cNvSpPr/>
              <p:nvPr>
                <p:custDataLst>
                  <p:tags r:id="rId9"/>
                </p:custDataLst>
              </p:nvPr>
            </p:nvSpPr>
            <p:spPr bwMode="auto">
              <a:xfrm rot="5400000">
                <a:off x="8208334" y="2504023"/>
                <a:ext cx="1388690" cy="613562"/>
              </a:xfrm>
              <a:prstGeom prst="parallelogram">
                <a:avLst>
                  <a:gd name="adj" fmla="val 29933"/>
                </a:avLst>
              </a:prstGeom>
              <a:solidFill>
                <a:srgbClr val="111A51">
                  <a:lumMod val="75000"/>
                </a:srgbClr>
              </a:solidFill>
              <a:ln w="19050">
                <a:noFill/>
                <a:round/>
              </a:ln>
            </p:spPr>
            <p:txBody>
              <a:bodyPr wrap="square" lIns="91440" tIns="45720" rIns="91440" bIns="45720" anchor="ctr">
                <a:normAutofit/>
              </a:bodyPr>
              <a:lstStyle/>
              <a:p>
                <a:pPr algn="ctr"/>
              </a:p>
            </p:txBody>
          </p:sp>
          <p:sp>
            <p:nvSpPr>
              <p:cNvPr id="56" name="ïŝ1ïḍe"/>
              <p:cNvSpPr/>
              <p:nvPr>
                <p:custDataLst>
                  <p:tags r:id="rId10"/>
                </p:custDataLst>
              </p:nvPr>
            </p:nvSpPr>
            <p:spPr bwMode="auto">
              <a:xfrm rot="5400000">
                <a:off x="9218000" y="3081623"/>
                <a:ext cx="247299" cy="274357"/>
              </a:xfrm>
              <a:prstGeom prst="triangle">
                <a:avLst/>
              </a:prstGeom>
              <a:solidFill>
                <a:srgbClr val="111A51">
                  <a:lumMod val="75000"/>
                </a:srgbClr>
              </a:solidFill>
              <a:ln w="19050">
                <a:noFill/>
                <a:round/>
              </a:ln>
            </p:spPr>
            <p:txBody>
              <a:bodyPr wrap="square" lIns="91440" tIns="45720" rIns="91440" bIns="45720" anchor="ctr">
                <a:normAutofit fontScale="25000" lnSpcReduction="20000"/>
              </a:bodyPr>
              <a:lstStyle/>
              <a:p>
                <a:pPr algn="ctr"/>
              </a:p>
            </p:txBody>
          </p:sp>
          <p:sp>
            <p:nvSpPr>
              <p:cNvPr id="57" name="íslïḋe"/>
              <p:cNvSpPr/>
              <p:nvPr>
                <p:custDataLst>
                  <p:tags r:id="rId11"/>
                </p:custDataLst>
              </p:nvPr>
            </p:nvSpPr>
            <p:spPr bwMode="auto">
              <a:xfrm rot="5400000">
                <a:off x="5396153" y="2320329"/>
                <a:ext cx="1388690" cy="613562"/>
              </a:xfrm>
              <a:prstGeom prst="parallelogram">
                <a:avLst>
                  <a:gd name="adj" fmla="val 29519"/>
                </a:avLst>
              </a:prstGeom>
              <a:solidFill>
                <a:srgbClr val="778495"/>
              </a:solidFill>
              <a:ln w="19050">
                <a:noFill/>
                <a:round/>
              </a:ln>
            </p:spPr>
            <p:txBody>
              <a:bodyPr wrap="square" lIns="91440" tIns="45720" rIns="91440" bIns="45720" anchor="ctr">
                <a:normAutofit/>
              </a:bodyPr>
              <a:lstStyle/>
              <a:p>
                <a:pPr algn="ctr"/>
              </a:p>
            </p:txBody>
          </p:sp>
          <p:sp>
            <p:nvSpPr>
              <p:cNvPr id="58" name="îŝḷíde"/>
              <p:cNvSpPr/>
              <p:nvPr>
                <p:custDataLst>
                  <p:tags r:id="rId12"/>
                </p:custDataLst>
              </p:nvPr>
            </p:nvSpPr>
            <p:spPr bwMode="auto">
              <a:xfrm rot="5400000">
                <a:off x="6413019" y="3007598"/>
                <a:ext cx="247299" cy="274357"/>
              </a:xfrm>
              <a:prstGeom prst="triangle">
                <a:avLst/>
              </a:prstGeom>
              <a:solidFill>
                <a:srgbClr val="FFFFFF">
                  <a:lumMod val="75000"/>
                </a:srgbClr>
              </a:solidFill>
              <a:ln w="19050">
                <a:noFill/>
                <a:round/>
              </a:ln>
            </p:spPr>
            <p:txBody>
              <a:bodyPr wrap="square" lIns="91440" tIns="45720" rIns="91440" bIns="45720" anchor="ctr">
                <a:normAutofit fontScale="25000" lnSpcReduction="20000"/>
              </a:bodyPr>
              <a:lstStyle/>
              <a:p>
                <a:pPr algn="ctr"/>
              </a:p>
            </p:txBody>
          </p:sp>
          <p:sp>
            <p:nvSpPr>
              <p:cNvPr id="59" name="îṣlîḓe"/>
              <p:cNvSpPr/>
              <p:nvPr>
                <p:custDataLst>
                  <p:tags r:id="rId13"/>
                </p:custDataLst>
              </p:nvPr>
            </p:nvSpPr>
            <p:spPr bwMode="auto">
              <a:xfrm rot="5400000">
                <a:off x="2574978" y="2145008"/>
                <a:ext cx="1388690" cy="613562"/>
              </a:xfrm>
              <a:prstGeom prst="parallelogram">
                <a:avLst>
                  <a:gd name="adj" fmla="val 30347"/>
                </a:avLst>
              </a:prstGeom>
              <a:solidFill>
                <a:srgbClr val="005825"/>
              </a:solidFill>
              <a:ln w="19050">
                <a:noFill/>
                <a:round/>
              </a:ln>
            </p:spPr>
            <p:txBody>
              <a:bodyPr wrap="square" lIns="91440" tIns="45720" rIns="91440" bIns="45720" anchor="ctr">
                <a:normAutofit/>
              </a:bodyPr>
              <a:lstStyle/>
              <a:p>
                <a:pPr algn="ctr"/>
              </a:p>
            </p:txBody>
          </p:sp>
          <p:sp>
            <p:nvSpPr>
              <p:cNvPr id="60" name="iṣlídé"/>
              <p:cNvSpPr/>
              <p:nvPr>
                <p:custDataLst>
                  <p:tags r:id="rId14"/>
                </p:custDataLst>
              </p:nvPr>
            </p:nvSpPr>
            <p:spPr bwMode="auto">
              <a:xfrm rot="5400000">
                <a:off x="3584644" y="2703311"/>
                <a:ext cx="247299" cy="274357"/>
              </a:xfrm>
              <a:prstGeom prst="triangle">
                <a:avLst/>
              </a:prstGeom>
              <a:solidFill>
                <a:srgbClr val="111A51">
                  <a:lumMod val="75000"/>
                </a:srgbClr>
              </a:solidFill>
              <a:ln w="19050">
                <a:noFill/>
                <a:round/>
              </a:ln>
            </p:spPr>
            <p:txBody>
              <a:bodyPr wrap="square" lIns="91440" tIns="45720" rIns="91440" bIns="45720" anchor="ctr">
                <a:normAutofit fontScale="25000" lnSpcReduction="20000"/>
              </a:bodyPr>
              <a:lstStyle/>
              <a:p>
                <a:pPr algn="ctr"/>
              </a:p>
            </p:txBody>
          </p:sp>
          <p:sp>
            <p:nvSpPr>
              <p:cNvPr id="61" name="ComponentBackground1"/>
              <p:cNvSpPr/>
              <p:nvPr>
                <p:custDataLst>
                  <p:tags r:id="rId15"/>
                </p:custDataLst>
              </p:nvPr>
            </p:nvSpPr>
            <p:spPr bwMode="auto">
              <a:xfrm>
                <a:off x="747732" y="1757443"/>
                <a:ext cx="2214811" cy="1210653"/>
              </a:xfrm>
              <a:prstGeom prst="rect">
                <a:avLst/>
              </a:prstGeom>
              <a:solidFill>
                <a:srgbClr val="005825"/>
              </a:solidFill>
              <a:ln w="19050">
                <a:noFill/>
                <a:round/>
              </a:ln>
            </p:spPr>
            <p:txBody>
              <a:bodyPr wrap="square" lIns="91440" tIns="45720" rIns="91440" bIns="45720" anchor="ctr">
                <a:normAutofit/>
              </a:bodyPr>
              <a:lstStyle/>
              <a:p>
                <a:pPr algn="ctr"/>
                <a:endParaRPr sz="1100" dirty="0"/>
              </a:p>
            </p:txBody>
          </p:sp>
          <p:sp>
            <p:nvSpPr>
              <p:cNvPr id="65" name="ComponentBackground2"/>
              <p:cNvSpPr/>
              <p:nvPr>
                <p:custDataLst>
                  <p:tags r:id="rId16"/>
                </p:custDataLst>
              </p:nvPr>
            </p:nvSpPr>
            <p:spPr bwMode="auto">
              <a:xfrm>
                <a:off x="3570702" y="1934123"/>
                <a:ext cx="2214811" cy="1210653"/>
              </a:xfrm>
              <a:prstGeom prst="rect">
                <a:avLst/>
              </a:prstGeom>
              <a:solidFill>
                <a:srgbClr val="778495">
                  <a:alpha val="10000"/>
                </a:srgbClr>
              </a:solidFill>
              <a:ln w="19050">
                <a:noFill/>
                <a:round/>
              </a:ln>
            </p:spPr>
            <p:txBody>
              <a:bodyPr wrap="square" lIns="91440" tIns="45720" rIns="91440" bIns="45720" anchor="ctr">
                <a:normAutofit/>
              </a:bodyPr>
              <a:lstStyle/>
              <a:p>
                <a:pPr algn="ctr"/>
                <a:endParaRPr sz="1100" dirty="0"/>
              </a:p>
            </p:txBody>
          </p:sp>
          <p:sp>
            <p:nvSpPr>
              <p:cNvPr id="69" name="Bullet2"/>
              <p:cNvSpPr txBox="1"/>
              <p:nvPr>
                <p:custDataLst>
                  <p:tags r:id="rId17"/>
                </p:custDataLst>
              </p:nvPr>
            </p:nvSpPr>
            <p:spPr bwMode="auto">
              <a:xfrm>
                <a:off x="3624059" y="2111843"/>
                <a:ext cx="2149811" cy="887935"/>
              </a:xfrm>
              <a:prstGeom prst="rect">
                <a:avLst/>
              </a:prstGeom>
              <a:noFill/>
            </p:spPr>
            <p:txBody>
              <a:bodyPr wrap="square" lIns="91440" tIns="45720" rIns="91440" bIns="45720" anchor="b" anchorCtr="1">
                <a:normAutofit/>
              </a:bodyPr>
              <a:lstStyle/>
              <a:p>
                <a:pPr algn="ctr" latinLnBrk="0"/>
                <a:r>
                  <a:rPr lang="zh-CN" altLang="en-US" sz="1700" b="1" dirty="0"/>
                  <a:t>基于建成环境</a:t>
                </a:r>
                <a:r>
                  <a:rPr lang="en-US" altLang="zh-CN" sz="1700" b="1" dirty="0"/>
                  <a:t>7D</a:t>
                </a:r>
                <a:endParaRPr lang="en-US" altLang="zh-CN" sz="1700" b="1" dirty="0"/>
              </a:p>
              <a:p>
                <a:pPr algn="ctr" latinLnBrk="0"/>
                <a:r>
                  <a:rPr lang="zh-CN" altLang="en-US" sz="1700" b="1" dirty="0"/>
                  <a:t>模型的城市</a:t>
                </a:r>
                <a:r>
                  <a:rPr lang="zh-CN" altLang="en-US" sz="1700" b="1" dirty="0">
                    <a:effectLst/>
                  </a:rPr>
                  <a:t>交通拥堵评价体系构建</a:t>
                </a:r>
                <a:endParaRPr lang="zh-CN" altLang="en-US" sz="1700" b="1" dirty="0">
                  <a:effectLst/>
                </a:endParaRPr>
              </a:p>
            </p:txBody>
          </p:sp>
          <p:sp>
            <p:nvSpPr>
              <p:cNvPr id="70" name="ComponentBackground3"/>
              <p:cNvSpPr/>
              <p:nvPr>
                <p:custDataLst>
                  <p:tags r:id="rId18"/>
                </p:custDataLst>
              </p:nvPr>
            </p:nvSpPr>
            <p:spPr bwMode="auto">
              <a:xfrm>
                <a:off x="6390081" y="2111513"/>
                <a:ext cx="2214811" cy="1210653"/>
              </a:xfrm>
              <a:prstGeom prst="rect">
                <a:avLst/>
              </a:prstGeom>
              <a:solidFill>
                <a:srgbClr val="111A51"/>
              </a:solidFill>
              <a:ln w="19050">
                <a:noFill/>
                <a:round/>
              </a:ln>
            </p:spPr>
            <p:txBody>
              <a:bodyPr wrap="square" lIns="91440" tIns="45720" rIns="91440" bIns="45720" anchor="ctr">
                <a:normAutofit/>
              </a:bodyPr>
              <a:lstStyle/>
              <a:p>
                <a:pPr algn="ctr"/>
                <a:endParaRPr sz="1100" dirty="0"/>
              </a:p>
            </p:txBody>
          </p:sp>
          <p:sp>
            <p:nvSpPr>
              <p:cNvPr id="74" name="Bullet3"/>
              <p:cNvSpPr txBox="1"/>
              <p:nvPr>
                <p:custDataLst>
                  <p:tags r:id="rId19"/>
                </p:custDataLst>
              </p:nvPr>
            </p:nvSpPr>
            <p:spPr bwMode="auto">
              <a:xfrm>
                <a:off x="888496" y="1932773"/>
                <a:ext cx="2181483" cy="737276"/>
              </a:xfrm>
              <a:prstGeom prst="rect">
                <a:avLst/>
              </a:prstGeom>
              <a:noFill/>
            </p:spPr>
            <p:txBody>
              <a:bodyPr wrap="square" lIns="91440" tIns="45720" rIns="91440" bIns="45720" anchor="b" anchorCtr="1">
                <a:normAutofit fontScale="92500"/>
              </a:bodyPr>
              <a:lstStyle/>
              <a:p>
                <a:pPr algn="ctr" latinLnBrk="0"/>
                <a:r>
                  <a:rPr lang="zh-CN" altLang="en-US" b="1" dirty="0">
                    <a:solidFill>
                      <a:srgbClr val="FFFFFF"/>
                    </a:solidFill>
                    <a:effectLst/>
                  </a:rPr>
                  <a:t>基于海量轨迹数据的</a:t>
                </a:r>
                <a:endParaRPr lang="en-US" altLang="zh-CN" b="1" dirty="0">
                  <a:solidFill>
                    <a:srgbClr val="FFFFFF"/>
                  </a:solidFill>
                  <a:effectLst/>
                </a:endParaRPr>
              </a:p>
              <a:p>
                <a:pPr algn="ctr" latinLnBrk="0"/>
                <a:r>
                  <a:rPr lang="zh-CN" altLang="en-US" b="1" dirty="0">
                    <a:solidFill>
                      <a:srgbClr val="FFFFFF"/>
                    </a:solidFill>
                    <a:effectLst/>
                  </a:rPr>
                  <a:t>交通拥堵指数计算</a:t>
                </a:r>
                <a:endParaRPr lang="zh-CN" altLang="en-US" b="1" dirty="0">
                  <a:solidFill>
                    <a:srgbClr val="FFFFFF"/>
                  </a:solidFill>
                  <a:effectLst/>
                </a:endParaRPr>
              </a:p>
            </p:txBody>
          </p:sp>
          <p:sp>
            <p:nvSpPr>
              <p:cNvPr id="78" name="Bullet4"/>
              <p:cNvSpPr txBox="1"/>
              <p:nvPr>
                <p:custDataLst>
                  <p:tags r:id="rId20"/>
                </p:custDataLst>
              </p:nvPr>
            </p:nvSpPr>
            <p:spPr bwMode="auto">
              <a:xfrm>
                <a:off x="9240262" y="2456895"/>
                <a:ext cx="2204006" cy="767188"/>
              </a:xfrm>
              <a:prstGeom prst="rect">
                <a:avLst/>
              </a:prstGeom>
              <a:noFill/>
            </p:spPr>
            <p:txBody>
              <a:bodyPr wrap="square" lIns="91440" tIns="45720" rIns="91440" bIns="45720" anchor="b" anchorCtr="1">
                <a:normAutofit/>
              </a:bodyPr>
              <a:lstStyle/>
              <a:p>
                <a:pPr algn="ctr" latinLnBrk="0"/>
                <a:r>
                  <a:rPr lang="zh-CN" altLang="en-US" b="1" dirty="0">
                    <a:effectLst/>
                  </a:rPr>
                  <a:t>影响因素</a:t>
                </a:r>
                <a:endParaRPr lang="en-US" altLang="zh-CN" b="1" dirty="0">
                  <a:effectLst/>
                </a:endParaRPr>
              </a:p>
              <a:p>
                <a:pPr algn="ctr" latinLnBrk="0"/>
                <a:r>
                  <a:rPr lang="zh-CN" altLang="en-US" b="1" dirty="0">
                    <a:effectLst/>
                  </a:rPr>
                  <a:t>探究与分析</a:t>
                </a:r>
                <a:endParaRPr lang="zh-CN" altLang="en-US" b="1" dirty="0">
                  <a:effectLst/>
                </a:endParaRPr>
              </a:p>
            </p:txBody>
          </p:sp>
        </p:grpSp>
        <p:sp>
          <p:nvSpPr>
            <p:cNvPr id="79" name="Bullet3"/>
            <p:cNvSpPr txBox="1"/>
            <p:nvPr>
              <p:custDataLst>
                <p:tags r:id="rId21"/>
              </p:custDataLst>
            </p:nvPr>
          </p:nvSpPr>
          <p:spPr bwMode="auto">
            <a:xfrm>
              <a:off x="6439617" y="4011509"/>
              <a:ext cx="2204085" cy="688759"/>
            </a:xfrm>
            <a:prstGeom prst="rect">
              <a:avLst/>
            </a:prstGeom>
            <a:noFill/>
          </p:spPr>
          <p:txBody>
            <a:bodyPr wrap="square" lIns="91440" tIns="45720" rIns="91440" bIns="45720" anchor="b" anchorCtr="1">
              <a:normAutofit fontScale="92500"/>
            </a:bodyPr>
            <a:lstStyle/>
            <a:p>
              <a:pPr algn="ctr" latinLnBrk="0"/>
              <a:r>
                <a:rPr lang="zh-CN" altLang="en-US" b="1" dirty="0">
                  <a:solidFill>
                    <a:srgbClr val="FFFFFF"/>
                  </a:solidFill>
                  <a:effectLst/>
                </a:rPr>
                <a:t>主成分地理加权随机森林分析模型构建</a:t>
              </a:r>
              <a:endParaRPr lang="zh-CN" altLang="en-US" b="1" dirty="0">
                <a:solidFill>
                  <a:srgbClr val="FFFFFF"/>
                </a:solidFill>
                <a:effectLst/>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项目管理</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宋体" panose="02010600030101010101" pitchFamily="2" charset="-122"/>
                </a:rPr>
                <a:t>WUHAN UNIVERSITY</a:t>
              </a:r>
              <a:endParaRPr lang="en-US" altLang="zh-CN" sz="900" b="1" dirty="0">
                <a:solidFill>
                  <a:prstClr val="black"/>
                </a:solidFill>
                <a:latin typeface="Calibri" panose="020F0502020204030204"/>
                <a:ea typeface="宋体" panose="02010600030101010101" pitchFamily="2" charset="-122"/>
              </a:endParaRPr>
            </a:p>
          </p:txBody>
        </p:sp>
      </p:grpSp>
      <p:sp>
        <p:nvSpPr>
          <p:cNvPr id="66" name="矩形 65"/>
          <p:cNvSpPr/>
          <p:nvPr/>
        </p:nvSpPr>
        <p:spPr>
          <a:xfrm>
            <a:off x="2580538" y="1525151"/>
            <a:ext cx="3487993" cy="832613"/>
          </a:xfrm>
          <a:prstGeom prst="rect">
            <a:avLst/>
          </a:prstGeom>
          <a:solidFill>
            <a:schemeClr val="accent6">
              <a:lumMod val="20000"/>
              <a:lumOff val="80000"/>
            </a:schemeClr>
          </a:solidFill>
        </p:spPr>
        <p:style>
          <a:lnRef idx="2">
            <a:srgbClr val="7980B5">
              <a:shade val="50000"/>
            </a:srgbClr>
          </a:lnRef>
          <a:fillRef idx="1">
            <a:srgbClr val="7980B5"/>
          </a:fillRef>
          <a:effectRef idx="0">
            <a:srgbClr val="7980B5"/>
          </a:effectRef>
          <a:fontRef idx="minor">
            <a:srgbClr val="FFFFFF"/>
          </a:fontRef>
        </p:style>
        <p:txBody>
          <a:bodyPr rtlCol="0" anchor="ctr"/>
          <a:lstStyle/>
          <a:p>
            <a:pPr algn="ctr"/>
            <a:endParaRPr lang="zh-CN" altLang="en-US" dirty="0">
              <a:solidFill>
                <a:srgbClr val="000000"/>
              </a:solidFill>
              <a:latin typeface="微软雅黑" panose="020B0503020204020204" pitchFamily="34" charset="-122"/>
              <a:ea typeface="微软雅黑" panose="020B0503020204020204" pitchFamily="34" charset="-122"/>
            </a:endParaRPr>
          </a:p>
        </p:txBody>
      </p:sp>
      <p:sp>
        <p:nvSpPr>
          <p:cNvPr id="68" name="矩形 67"/>
          <p:cNvSpPr/>
          <p:nvPr/>
        </p:nvSpPr>
        <p:spPr>
          <a:xfrm>
            <a:off x="6462522" y="1605824"/>
            <a:ext cx="1638996" cy="677696"/>
          </a:xfrm>
          <a:prstGeom prst="rect">
            <a:avLst/>
          </a:prstGeom>
          <a:solidFill>
            <a:schemeClr val="accent6">
              <a:lumMod val="20000"/>
              <a:lumOff val="80000"/>
            </a:schemeClr>
          </a:solidFill>
        </p:spPr>
        <p:style>
          <a:lnRef idx="2">
            <a:srgbClr val="7980B5">
              <a:shade val="50000"/>
            </a:srgbClr>
          </a:lnRef>
          <a:fillRef idx="1">
            <a:srgbClr val="7980B5"/>
          </a:fillRef>
          <a:effectRef idx="0">
            <a:srgbClr val="7980B5"/>
          </a:effectRef>
          <a:fontRef idx="minor">
            <a:srgbClr val="FFFFFF"/>
          </a:fontRef>
        </p:style>
        <p:txBody>
          <a:bodyPr rtlCol="0" anchor="ctr"/>
          <a:lstStyle/>
          <a:p>
            <a:pPr algn="ctr"/>
            <a:r>
              <a:rPr lang="zh-CN" altLang="en-US" dirty="0">
                <a:solidFill>
                  <a:srgbClr val="000000"/>
                </a:solidFill>
                <a:latin typeface="微软雅黑" panose="020B0503020204020204" pitchFamily="34" charset="-122"/>
                <a:ea typeface="微软雅黑" panose="020B0503020204020204" pitchFamily="34" charset="-122"/>
              </a:rPr>
              <a:t>城市路网数据</a:t>
            </a:r>
            <a:endParaRPr lang="zh-CN" altLang="en-US" dirty="0">
              <a:solidFill>
                <a:srgbClr val="000000"/>
              </a:solidFill>
              <a:latin typeface="微软雅黑" panose="020B0503020204020204" pitchFamily="34" charset="-122"/>
              <a:ea typeface="微软雅黑" panose="020B0503020204020204" pitchFamily="34" charset="-122"/>
            </a:endParaRPr>
          </a:p>
        </p:txBody>
      </p:sp>
      <p:sp>
        <p:nvSpPr>
          <p:cNvPr id="69" name="矩形 68"/>
          <p:cNvSpPr/>
          <p:nvPr/>
        </p:nvSpPr>
        <p:spPr>
          <a:xfrm>
            <a:off x="8822264" y="1605824"/>
            <a:ext cx="1638996" cy="677696"/>
          </a:xfrm>
          <a:prstGeom prst="rect">
            <a:avLst/>
          </a:prstGeom>
          <a:solidFill>
            <a:schemeClr val="accent6">
              <a:lumMod val="20000"/>
              <a:lumOff val="80000"/>
            </a:schemeClr>
          </a:solidFill>
        </p:spPr>
        <p:style>
          <a:lnRef idx="2">
            <a:srgbClr val="7980B5">
              <a:shade val="50000"/>
            </a:srgbClr>
          </a:lnRef>
          <a:fillRef idx="1">
            <a:srgbClr val="7980B5"/>
          </a:fillRef>
          <a:effectRef idx="0">
            <a:srgbClr val="7980B5"/>
          </a:effectRef>
          <a:fontRef idx="minor">
            <a:srgbClr val="FFFFFF"/>
          </a:fontRef>
        </p:style>
        <p:txBody>
          <a:bodyPr rtlCol="0" anchor="ctr"/>
          <a:lstStyle/>
          <a:p>
            <a:pPr algn="ctr"/>
            <a:r>
              <a:rPr lang="zh-CN" altLang="en-US" dirty="0">
                <a:solidFill>
                  <a:srgbClr val="000000"/>
                </a:solidFill>
                <a:latin typeface="微软雅黑" panose="020B0503020204020204" pitchFamily="34" charset="-122"/>
                <a:ea typeface="微软雅黑" panose="020B0503020204020204" pitchFamily="34" charset="-122"/>
              </a:rPr>
              <a:t>轨迹数据</a:t>
            </a:r>
            <a:endParaRPr lang="zh-CN" altLang="en-US" dirty="0">
              <a:solidFill>
                <a:srgbClr val="000000"/>
              </a:solidFill>
              <a:latin typeface="微软雅黑" panose="020B0503020204020204" pitchFamily="34" charset="-122"/>
              <a:ea typeface="微软雅黑" panose="020B0503020204020204" pitchFamily="34" charset="-122"/>
            </a:endParaRPr>
          </a:p>
        </p:txBody>
      </p:sp>
      <p:sp>
        <p:nvSpPr>
          <p:cNvPr id="70" name="矩形 69"/>
          <p:cNvSpPr/>
          <p:nvPr/>
        </p:nvSpPr>
        <p:spPr>
          <a:xfrm>
            <a:off x="6462522" y="2923346"/>
            <a:ext cx="1638996" cy="677696"/>
          </a:xfrm>
          <a:prstGeom prst="rect">
            <a:avLst/>
          </a:prstGeom>
          <a:solidFill>
            <a:schemeClr val="accent6">
              <a:lumMod val="20000"/>
              <a:lumOff val="80000"/>
            </a:schemeClr>
          </a:solidFill>
        </p:spPr>
        <p:style>
          <a:lnRef idx="2">
            <a:srgbClr val="7980B5">
              <a:shade val="50000"/>
            </a:srgbClr>
          </a:lnRef>
          <a:fillRef idx="1">
            <a:srgbClr val="7980B5"/>
          </a:fillRef>
          <a:effectRef idx="0">
            <a:srgbClr val="7980B5"/>
          </a:effectRef>
          <a:fontRef idx="minor">
            <a:srgbClr val="FFFFFF"/>
          </a:fontRef>
        </p:style>
        <p:txBody>
          <a:bodyPr rtlCol="0" anchor="ctr"/>
          <a:lstStyle/>
          <a:p>
            <a:pPr algn="ctr"/>
            <a:r>
              <a:rPr lang="zh-CN" altLang="en-US" dirty="0">
                <a:solidFill>
                  <a:srgbClr val="000000"/>
                </a:solidFill>
                <a:latin typeface="微软雅黑" panose="020B0503020204020204" pitchFamily="34" charset="-122"/>
                <a:ea typeface="微软雅黑" panose="020B0503020204020204" pitchFamily="34" charset="-122"/>
              </a:rPr>
              <a:t>交通小区提取</a:t>
            </a:r>
            <a:endParaRPr lang="en-US" altLang="zh-CN" dirty="0">
              <a:solidFill>
                <a:srgbClr val="000000"/>
              </a:solidFill>
              <a:latin typeface="微软雅黑" panose="020B0503020204020204" pitchFamily="34" charset="-122"/>
              <a:ea typeface="微软雅黑" panose="020B0503020204020204" pitchFamily="34" charset="-122"/>
            </a:endParaRPr>
          </a:p>
          <a:p>
            <a:pPr algn="ctr"/>
            <a:r>
              <a:rPr lang="zh-CN" altLang="en-US" dirty="0">
                <a:solidFill>
                  <a:srgbClr val="000000"/>
                </a:solidFill>
                <a:latin typeface="微软雅黑" panose="020B0503020204020204" pitchFamily="34" charset="-122"/>
                <a:ea typeface="微软雅黑" panose="020B0503020204020204" pitchFamily="34" charset="-122"/>
              </a:rPr>
              <a:t>缓冲区构建</a:t>
            </a:r>
            <a:endParaRPr lang="zh-CN" altLang="en-US" dirty="0">
              <a:solidFill>
                <a:srgbClr val="000000"/>
              </a:solidFill>
              <a:latin typeface="微软雅黑" panose="020B0503020204020204" pitchFamily="34" charset="-122"/>
              <a:ea typeface="微软雅黑" panose="020B0503020204020204" pitchFamily="34" charset="-122"/>
            </a:endParaRPr>
          </a:p>
        </p:txBody>
      </p:sp>
      <p:sp>
        <p:nvSpPr>
          <p:cNvPr id="71" name="矩形 70"/>
          <p:cNvSpPr/>
          <p:nvPr/>
        </p:nvSpPr>
        <p:spPr>
          <a:xfrm>
            <a:off x="8822264" y="2923346"/>
            <a:ext cx="1638996" cy="677696"/>
          </a:xfrm>
          <a:prstGeom prst="rect">
            <a:avLst/>
          </a:prstGeom>
          <a:solidFill>
            <a:schemeClr val="accent6">
              <a:lumMod val="20000"/>
              <a:lumOff val="80000"/>
            </a:schemeClr>
          </a:solidFill>
        </p:spPr>
        <p:style>
          <a:lnRef idx="2">
            <a:srgbClr val="7980B5">
              <a:shade val="50000"/>
            </a:srgbClr>
          </a:lnRef>
          <a:fillRef idx="1">
            <a:srgbClr val="7980B5"/>
          </a:fillRef>
          <a:effectRef idx="0">
            <a:srgbClr val="7980B5"/>
          </a:effectRef>
          <a:fontRef idx="minor">
            <a:srgbClr val="FFFFFF"/>
          </a:fontRef>
        </p:style>
        <p:txBody>
          <a:bodyPr rtlCol="0" anchor="ctr"/>
          <a:lstStyle/>
          <a:p>
            <a:pPr algn="ctr"/>
            <a:r>
              <a:rPr lang="zh-CN" altLang="en-US" dirty="0">
                <a:solidFill>
                  <a:srgbClr val="000000"/>
                </a:solidFill>
                <a:latin typeface="微软雅黑" panose="020B0503020204020204" pitchFamily="34" charset="-122"/>
                <a:ea typeface="微软雅黑" panose="020B0503020204020204" pitchFamily="34" charset="-122"/>
              </a:rPr>
              <a:t>拥堵指数计算</a:t>
            </a:r>
            <a:endParaRPr lang="zh-CN" altLang="en-US" dirty="0">
              <a:solidFill>
                <a:srgbClr val="000000"/>
              </a:solidFill>
              <a:latin typeface="微软雅黑" panose="020B0503020204020204" pitchFamily="34" charset="-122"/>
              <a:ea typeface="微软雅黑" panose="020B0503020204020204" pitchFamily="34" charset="-122"/>
            </a:endParaRPr>
          </a:p>
        </p:txBody>
      </p:sp>
      <p:grpSp>
        <p:nvGrpSpPr>
          <p:cNvPr id="72" name="组合 71"/>
          <p:cNvGrpSpPr/>
          <p:nvPr/>
        </p:nvGrpSpPr>
        <p:grpSpPr>
          <a:xfrm>
            <a:off x="2671222" y="1605824"/>
            <a:ext cx="3308987" cy="677696"/>
            <a:chOff x="1174523" y="1523568"/>
            <a:chExt cx="3308987" cy="677696"/>
          </a:xfrm>
          <a:solidFill>
            <a:schemeClr val="accent6">
              <a:lumMod val="20000"/>
              <a:lumOff val="80000"/>
            </a:schemeClr>
          </a:solidFill>
        </p:grpSpPr>
        <p:sp>
          <p:nvSpPr>
            <p:cNvPr id="73" name="矩形 72"/>
            <p:cNvSpPr/>
            <p:nvPr/>
          </p:nvSpPr>
          <p:spPr>
            <a:xfrm>
              <a:off x="2860016" y="1525195"/>
              <a:ext cx="1623494" cy="304599"/>
            </a:xfrm>
            <a:prstGeom prst="rect">
              <a:avLst/>
            </a:prstGeom>
            <a:grpFill/>
          </p:spPr>
          <p:style>
            <a:lnRef idx="2">
              <a:srgbClr val="7980B5">
                <a:shade val="50000"/>
              </a:srgbClr>
            </a:lnRef>
            <a:fillRef idx="1">
              <a:srgbClr val="7980B5"/>
            </a:fillRef>
            <a:effectRef idx="0">
              <a:srgbClr val="7980B5"/>
            </a:effectRef>
            <a:fontRef idx="minor">
              <a:srgbClr val="FFFFFF"/>
            </a:fontRef>
          </p:style>
          <p:txBody>
            <a:bodyPr rtlCol="0" anchor="ctr"/>
            <a:lstStyle/>
            <a:p>
              <a:pPr algn="ctr"/>
              <a:r>
                <a:rPr lang="zh-CN" altLang="en-US" dirty="0">
                  <a:solidFill>
                    <a:srgbClr val="000000"/>
                  </a:solidFill>
                  <a:latin typeface="微软雅黑" panose="020B0503020204020204" pitchFamily="34" charset="-122"/>
                  <a:ea typeface="微软雅黑" panose="020B0503020204020204" pitchFamily="34" charset="-122"/>
                </a:rPr>
                <a:t>人口数据</a:t>
              </a:r>
              <a:endParaRPr lang="zh-CN" altLang="en-US" dirty="0">
                <a:solidFill>
                  <a:srgbClr val="000000"/>
                </a:solidFill>
                <a:latin typeface="微软雅黑" panose="020B0503020204020204" pitchFamily="34" charset="-122"/>
                <a:ea typeface="微软雅黑" panose="020B0503020204020204" pitchFamily="34" charset="-122"/>
              </a:endParaRPr>
            </a:p>
          </p:txBody>
        </p:sp>
        <p:sp>
          <p:nvSpPr>
            <p:cNvPr id="74" name="矩形 73"/>
            <p:cNvSpPr/>
            <p:nvPr/>
          </p:nvSpPr>
          <p:spPr>
            <a:xfrm>
              <a:off x="1174523" y="1523568"/>
              <a:ext cx="1623494" cy="304599"/>
            </a:xfrm>
            <a:prstGeom prst="rect">
              <a:avLst/>
            </a:prstGeom>
            <a:grpFill/>
          </p:spPr>
          <p:style>
            <a:lnRef idx="2">
              <a:srgbClr val="7980B5">
                <a:shade val="50000"/>
              </a:srgbClr>
            </a:lnRef>
            <a:fillRef idx="1">
              <a:srgbClr val="7980B5"/>
            </a:fillRef>
            <a:effectRef idx="0">
              <a:srgbClr val="7980B5"/>
            </a:effectRef>
            <a:fontRef idx="minor">
              <a:srgbClr val="FFFFFF"/>
            </a:fontRef>
          </p:style>
          <p:txBody>
            <a:bodyPr rtlCol="0" anchor="ctr"/>
            <a:lstStyle/>
            <a:p>
              <a:pPr algn="ctr"/>
              <a:r>
                <a:rPr lang="en-US" altLang="zh-CN"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POI</a:t>
              </a:r>
              <a:r>
                <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数据</a:t>
              </a:r>
              <a:endPar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6" name="矩形 75"/>
            <p:cNvSpPr/>
            <p:nvPr/>
          </p:nvSpPr>
          <p:spPr>
            <a:xfrm>
              <a:off x="2860016" y="1896665"/>
              <a:ext cx="1623494" cy="304599"/>
            </a:xfrm>
            <a:prstGeom prst="rect">
              <a:avLst/>
            </a:prstGeom>
            <a:grpFill/>
          </p:spPr>
          <p:style>
            <a:lnRef idx="2">
              <a:srgbClr val="7980B5">
                <a:shade val="50000"/>
              </a:srgbClr>
            </a:lnRef>
            <a:fillRef idx="1">
              <a:srgbClr val="7980B5"/>
            </a:fillRef>
            <a:effectRef idx="0">
              <a:srgbClr val="7980B5"/>
            </a:effectRef>
            <a:fontRef idx="minor">
              <a:srgbClr val="FFFFFF"/>
            </a:fontRef>
          </p:style>
          <p:txBody>
            <a:bodyPr rtlCol="0" anchor="ctr"/>
            <a:lstStyle/>
            <a:p>
              <a:pPr algn="ctr"/>
              <a:r>
                <a:rPr lang="zh-CN" altLang="en-US" dirty="0">
                  <a:solidFill>
                    <a:srgbClr val="000000"/>
                  </a:solidFill>
                  <a:latin typeface="微软雅黑" panose="020B0503020204020204" pitchFamily="34" charset="-122"/>
                  <a:ea typeface="微软雅黑" panose="020B0503020204020204" pitchFamily="34" charset="-122"/>
                </a:rPr>
                <a:t>土地利用数据</a:t>
              </a:r>
              <a:endParaRPr lang="zh-CN" altLang="en-US" dirty="0">
                <a:solidFill>
                  <a:srgbClr val="000000"/>
                </a:solidFill>
                <a:latin typeface="微软雅黑" panose="020B0503020204020204" pitchFamily="34" charset="-122"/>
                <a:ea typeface="微软雅黑" panose="020B0503020204020204" pitchFamily="34" charset="-122"/>
              </a:endParaRPr>
            </a:p>
          </p:txBody>
        </p:sp>
        <p:sp>
          <p:nvSpPr>
            <p:cNvPr id="77" name="矩形 76"/>
            <p:cNvSpPr/>
            <p:nvPr/>
          </p:nvSpPr>
          <p:spPr>
            <a:xfrm>
              <a:off x="1174523" y="1896665"/>
              <a:ext cx="1623494" cy="304599"/>
            </a:xfrm>
            <a:prstGeom prst="rect">
              <a:avLst/>
            </a:prstGeom>
            <a:grpFill/>
          </p:spPr>
          <p:style>
            <a:lnRef idx="2">
              <a:srgbClr val="7980B5">
                <a:shade val="50000"/>
              </a:srgbClr>
            </a:lnRef>
            <a:fillRef idx="1">
              <a:srgbClr val="7980B5"/>
            </a:fillRef>
            <a:effectRef idx="0">
              <a:srgbClr val="7980B5"/>
            </a:effectRef>
            <a:fontRef idx="minor">
              <a:srgbClr val="FFFFFF"/>
            </a:fontRef>
          </p:style>
          <p:txBody>
            <a:bodyPr rtlCol="0" anchor="ctr"/>
            <a:lstStyle/>
            <a:p>
              <a:pPr algn="ctr"/>
              <a:r>
                <a:rPr lang="zh-CN" altLang="en-US" dirty="0">
                  <a:solidFill>
                    <a:srgbClr val="000000"/>
                  </a:solidFill>
                  <a:latin typeface="微软雅黑" panose="020B0503020204020204" pitchFamily="34" charset="-122"/>
                  <a:ea typeface="微软雅黑" panose="020B0503020204020204" pitchFamily="34" charset="-122"/>
                </a:rPr>
                <a:t>房价数据</a:t>
              </a:r>
              <a:endParaRPr lang="zh-CN" altLang="en-US" dirty="0">
                <a:solidFill>
                  <a:srgbClr val="000000"/>
                </a:solidFill>
                <a:latin typeface="微软雅黑" panose="020B0503020204020204" pitchFamily="34" charset="-122"/>
                <a:ea typeface="微软雅黑" panose="020B0503020204020204" pitchFamily="34" charset="-122"/>
              </a:endParaRPr>
            </a:p>
          </p:txBody>
        </p:sp>
      </p:grpSp>
      <p:sp>
        <p:nvSpPr>
          <p:cNvPr id="78" name="矩形 77"/>
          <p:cNvSpPr/>
          <p:nvPr/>
        </p:nvSpPr>
        <p:spPr>
          <a:xfrm>
            <a:off x="3507721" y="2923346"/>
            <a:ext cx="1638996" cy="677696"/>
          </a:xfrm>
          <a:prstGeom prst="rect">
            <a:avLst/>
          </a:prstGeom>
          <a:solidFill>
            <a:schemeClr val="accent6">
              <a:lumMod val="20000"/>
              <a:lumOff val="80000"/>
            </a:schemeClr>
          </a:solidFill>
        </p:spPr>
        <p:style>
          <a:lnRef idx="2">
            <a:srgbClr val="7980B5">
              <a:shade val="50000"/>
            </a:srgbClr>
          </a:lnRef>
          <a:fillRef idx="1">
            <a:srgbClr val="7980B5"/>
          </a:fillRef>
          <a:effectRef idx="0">
            <a:srgbClr val="7980B5"/>
          </a:effectRef>
          <a:fontRef idx="minor">
            <a:srgbClr val="FFFFFF"/>
          </a:fontRef>
        </p:style>
        <p:txBody>
          <a:bodyPr rtlCol="0" anchor="ctr"/>
          <a:lstStyle/>
          <a:p>
            <a:pPr algn="ctr"/>
            <a:r>
              <a:rPr lang="zh-CN" altLang="en-US" dirty="0">
                <a:solidFill>
                  <a:srgbClr val="000000"/>
                </a:solidFill>
                <a:latin typeface="微软雅黑" panose="020B0503020204020204" pitchFamily="34" charset="-122"/>
                <a:ea typeface="微软雅黑" panose="020B0503020204020204" pitchFamily="34" charset="-122"/>
              </a:rPr>
              <a:t>评价体系构建</a:t>
            </a:r>
            <a:endParaRPr lang="zh-CN" altLang="en-US" dirty="0">
              <a:solidFill>
                <a:srgbClr val="000000"/>
              </a:solidFill>
              <a:latin typeface="微软雅黑" panose="020B0503020204020204" pitchFamily="34" charset="-122"/>
              <a:ea typeface="微软雅黑" panose="020B0503020204020204" pitchFamily="34" charset="-122"/>
            </a:endParaRPr>
          </a:p>
        </p:txBody>
      </p:sp>
      <p:sp>
        <p:nvSpPr>
          <p:cNvPr id="80" name="矩形 79"/>
          <p:cNvSpPr/>
          <p:nvPr/>
        </p:nvSpPr>
        <p:spPr>
          <a:xfrm>
            <a:off x="3537216" y="3858282"/>
            <a:ext cx="6924043" cy="1658646"/>
          </a:xfrm>
          <a:prstGeom prst="rect">
            <a:avLst/>
          </a:prstGeom>
          <a:solidFill>
            <a:schemeClr val="accent6">
              <a:lumMod val="20000"/>
              <a:lumOff val="80000"/>
            </a:schemeClr>
          </a:solidFill>
        </p:spPr>
        <p:style>
          <a:lnRef idx="2">
            <a:srgbClr val="7980B5">
              <a:shade val="50000"/>
            </a:srgbClr>
          </a:lnRef>
          <a:fillRef idx="1">
            <a:srgbClr val="7980B5"/>
          </a:fillRef>
          <a:effectRef idx="0">
            <a:srgbClr val="7980B5"/>
          </a:effectRef>
          <a:fontRef idx="minor">
            <a:srgbClr val="FFFFFF"/>
          </a:fontRef>
        </p:style>
        <p:txBody>
          <a:bodyPr rtlCol="0" anchor="ctr"/>
          <a:lstStyle/>
          <a:p>
            <a:pPr algn="ctr"/>
            <a:endParaRPr lang="zh-CN" altLang="en-US" dirty="0">
              <a:solidFill>
                <a:srgbClr val="FFFFFF"/>
              </a:solidFill>
              <a:latin typeface="微软雅黑" panose="020B0503020204020204" pitchFamily="34" charset="-122"/>
              <a:ea typeface="微软雅黑" panose="020B0503020204020204" pitchFamily="34" charset="-122"/>
            </a:endParaRPr>
          </a:p>
        </p:txBody>
      </p:sp>
      <p:sp>
        <p:nvSpPr>
          <p:cNvPr id="81" name="文本框 80"/>
          <p:cNvSpPr txBox="1"/>
          <p:nvPr/>
        </p:nvSpPr>
        <p:spPr>
          <a:xfrm>
            <a:off x="3531164" y="5202782"/>
            <a:ext cx="3154051" cy="307777"/>
          </a:xfrm>
          <a:prstGeom prst="rect">
            <a:avLst/>
          </a:prstGeom>
          <a:noFill/>
        </p:spPr>
        <p:txBody>
          <a:bodyPr wrap="square">
            <a:spAutoFit/>
          </a:bodyPr>
          <a:lstStyle/>
          <a:p>
            <a:pPr algn="ct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主成分地理加权随机森林 </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PCA-GWRF</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2" name="矩形 81"/>
          <p:cNvSpPr/>
          <p:nvPr/>
        </p:nvSpPr>
        <p:spPr>
          <a:xfrm>
            <a:off x="3778108" y="4069841"/>
            <a:ext cx="1671159" cy="436811"/>
          </a:xfrm>
          <a:prstGeom prst="rect">
            <a:avLst/>
          </a:prstGeom>
          <a:solidFill>
            <a:schemeClr val="accent6">
              <a:lumMod val="75000"/>
            </a:schemeClr>
          </a:solidFill>
        </p:spPr>
        <p:style>
          <a:lnRef idx="2">
            <a:srgbClr val="7980B5">
              <a:shade val="50000"/>
            </a:srgbClr>
          </a:lnRef>
          <a:fillRef idx="1">
            <a:srgbClr val="7980B5"/>
          </a:fillRef>
          <a:effectRef idx="0">
            <a:srgbClr val="7980B5"/>
          </a:effectRef>
          <a:fontRef idx="minor">
            <a:srgbClr val="FFFFFF"/>
          </a:fontRef>
        </p:style>
        <p:txBody>
          <a:bodyPr rtlCol="0" anchor="ctr"/>
          <a:lstStyle/>
          <a:p>
            <a:pPr algn="ctr"/>
            <a:r>
              <a:rPr lang="zh-CN" altLang="en-US" dirty="0">
                <a:solidFill>
                  <a:srgbClr val="FFFFFF"/>
                </a:solidFill>
                <a:latin typeface="微软雅黑" panose="020B0503020204020204" pitchFamily="34" charset="-122"/>
                <a:ea typeface="微软雅黑" panose="020B0503020204020204" pitchFamily="34" charset="-122"/>
              </a:rPr>
              <a:t>主成分分析</a:t>
            </a:r>
            <a:endParaRPr lang="zh-CN" altLang="en-US" dirty="0">
              <a:solidFill>
                <a:srgbClr val="FFFFFF"/>
              </a:solidFill>
              <a:latin typeface="微软雅黑" panose="020B0503020204020204" pitchFamily="34" charset="-122"/>
              <a:ea typeface="微软雅黑" panose="020B0503020204020204" pitchFamily="34" charset="-122"/>
            </a:endParaRPr>
          </a:p>
        </p:txBody>
      </p:sp>
      <p:sp>
        <p:nvSpPr>
          <p:cNvPr id="83" name="矩形 82"/>
          <p:cNvSpPr/>
          <p:nvPr/>
        </p:nvSpPr>
        <p:spPr>
          <a:xfrm>
            <a:off x="7927214" y="4069841"/>
            <a:ext cx="2308384" cy="436811"/>
          </a:xfrm>
          <a:prstGeom prst="rect">
            <a:avLst/>
          </a:prstGeom>
          <a:solidFill>
            <a:schemeClr val="accent6">
              <a:lumMod val="75000"/>
            </a:schemeClr>
          </a:solidFill>
        </p:spPr>
        <p:style>
          <a:lnRef idx="2">
            <a:srgbClr val="7980B5">
              <a:shade val="50000"/>
            </a:srgbClr>
          </a:lnRef>
          <a:fillRef idx="1">
            <a:srgbClr val="7980B5"/>
          </a:fillRef>
          <a:effectRef idx="0">
            <a:srgbClr val="7980B5"/>
          </a:effectRef>
          <a:fontRef idx="minor">
            <a:srgbClr val="FFFFFF"/>
          </a:fontRef>
        </p:style>
        <p:txBody>
          <a:bodyPr rtlCol="0" anchor="ctr"/>
          <a:lstStyle/>
          <a:p>
            <a:pPr algn="ctr"/>
            <a:r>
              <a:rPr lang="zh-CN" altLang="en-US" dirty="0">
                <a:solidFill>
                  <a:srgbClr val="FFFFFF"/>
                </a:solidFill>
                <a:latin typeface="微软雅黑" panose="020B0503020204020204" pitchFamily="34" charset="-122"/>
                <a:ea typeface="微软雅黑" panose="020B0503020204020204" pitchFamily="34" charset="-122"/>
              </a:rPr>
              <a:t>地理加权随机森林</a:t>
            </a:r>
            <a:endParaRPr lang="zh-CN" altLang="en-US" dirty="0">
              <a:solidFill>
                <a:srgbClr val="FFFFFF"/>
              </a:solidFill>
              <a:latin typeface="微软雅黑" panose="020B0503020204020204" pitchFamily="34" charset="-122"/>
              <a:ea typeface="微软雅黑" panose="020B0503020204020204" pitchFamily="34" charset="-122"/>
            </a:endParaRPr>
          </a:p>
        </p:txBody>
      </p:sp>
      <p:sp>
        <p:nvSpPr>
          <p:cNvPr id="84" name="矩形 83"/>
          <p:cNvSpPr/>
          <p:nvPr/>
        </p:nvSpPr>
        <p:spPr>
          <a:xfrm>
            <a:off x="5944101" y="4754795"/>
            <a:ext cx="2104221" cy="436811"/>
          </a:xfrm>
          <a:prstGeom prst="rect">
            <a:avLst/>
          </a:prstGeom>
          <a:solidFill>
            <a:schemeClr val="accent6">
              <a:lumMod val="75000"/>
            </a:schemeClr>
          </a:solidFill>
        </p:spPr>
        <p:style>
          <a:lnRef idx="2">
            <a:srgbClr val="7980B5">
              <a:shade val="50000"/>
            </a:srgbClr>
          </a:lnRef>
          <a:fillRef idx="1">
            <a:srgbClr val="7980B5"/>
          </a:fillRef>
          <a:effectRef idx="0">
            <a:srgbClr val="7980B5"/>
          </a:effectRef>
          <a:fontRef idx="minor">
            <a:srgbClr val="FFFFFF"/>
          </a:fontRef>
        </p:style>
        <p:txBody>
          <a:bodyPr rtlCol="0" anchor="ctr"/>
          <a:lstStyle/>
          <a:p>
            <a:pPr algn="ctr"/>
            <a:r>
              <a:rPr lang="en-US" altLang="zh-CN"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SHAP</a:t>
            </a:r>
            <a:r>
              <a:rPr lang="zh-CN" altLang="en-US"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可解释器</a:t>
            </a:r>
            <a:endParaRPr lang="zh-CN" altLang="en-US"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5" name="矩形 84"/>
          <p:cNvSpPr/>
          <p:nvPr/>
        </p:nvSpPr>
        <p:spPr>
          <a:xfrm>
            <a:off x="3537216" y="5734835"/>
            <a:ext cx="6924043" cy="677696"/>
          </a:xfrm>
          <a:prstGeom prst="rect">
            <a:avLst/>
          </a:prstGeom>
          <a:solidFill>
            <a:schemeClr val="accent6">
              <a:lumMod val="75000"/>
            </a:schemeClr>
          </a:solidFill>
        </p:spPr>
        <p:style>
          <a:lnRef idx="2">
            <a:srgbClr val="7980B5">
              <a:shade val="50000"/>
            </a:srgbClr>
          </a:lnRef>
          <a:fillRef idx="1">
            <a:srgbClr val="7980B5"/>
          </a:fillRef>
          <a:effectRef idx="0">
            <a:srgbClr val="7980B5"/>
          </a:effectRef>
          <a:fontRef idx="minor">
            <a:srgbClr val="FFFFFF"/>
          </a:fontRef>
        </p:style>
        <p:txBody>
          <a:bodyPr rtlCol="0" anchor="ctr"/>
          <a:lstStyle/>
          <a:p>
            <a:pPr algn="ctr"/>
            <a:r>
              <a:rPr lang="zh-CN" altLang="en-US"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亲和力传播聚类分析 </a:t>
            </a:r>
            <a:r>
              <a:rPr lang="en-US" altLang="zh-CN"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Affinity Propagation</a:t>
            </a:r>
            <a:r>
              <a:rPr lang="zh-CN" altLang="en-US"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87" name="直接箭头连接符 86"/>
          <p:cNvCxnSpPr>
            <a:stCxn id="66" idx="2"/>
            <a:endCxn id="78" idx="0"/>
          </p:cNvCxnSpPr>
          <p:nvPr/>
        </p:nvCxnSpPr>
        <p:spPr>
          <a:xfrm>
            <a:off x="4324535" y="2357764"/>
            <a:ext cx="2684" cy="565582"/>
          </a:xfrm>
          <a:prstGeom prst="straightConnector1">
            <a:avLst/>
          </a:prstGeom>
          <a:ln>
            <a:solidFill>
              <a:srgbClr val="04640B"/>
            </a:solidFill>
            <a:tailEnd type="triangle"/>
          </a:ln>
        </p:spPr>
        <p:style>
          <a:lnRef idx="1">
            <a:srgbClr val="111A51"/>
          </a:lnRef>
          <a:fillRef idx="0">
            <a:srgbClr val="111A51"/>
          </a:fillRef>
          <a:effectRef idx="0">
            <a:srgbClr val="111A51"/>
          </a:effectRef>
          <a:fontRef idx="minor">
            <a:srgbClr val="000000"/>
          </a:fontRef>
        </p:style>
      </p:cxnSp>
      <p:cxnSp>
        <p:nvCxnSpPr>
          <p:cNvPr id="88" name="连接符: 肘形 27"/>
          <p:cNvCxnSpPr>
            <a:stCxn id="68" idx="2"/>
            <a:endCxn id="78" idx="0"/>
          </p:cNvCxnSpPr>
          <p:nvPr/>
        </p:nvCxnSpPr>
        <p:spPr>
          <a:xfrm rot="5400000">
            <a:off x="5484707" y="1126033"/>
            <a:ext cx="639826" cy="2954801"/>
          </a:xfrm>
          <a:prstGeom prst="bentConnector3">
            <a:avLst/>
          </a:prstGeom>
          <a:ln>
            <a:solidFill>
              <a:srgbClr val="04640B"/>
            </a:solidFill>
            <a:tailEnd type="triangle"/>
          </a:ln>
        </p:spPr>
        <p:style>
          <a:lnRef idx="1">
            <a:srgbClr val="111A51"/>
          </a:lnRef>
          <a:fillRef idx="0">
            <a:srgbClr val="111A51"/>
          </a:fillRef>
          <a:effectRef idx="0">
            <a:srgbClr val="111A51"/>
          </a:effectRef>
          <a:fontRef idx="minor">
            <a:srgbClr val="000000"/>
          </a:fontRef>
        </p:style>
      </p:cxnSp>
      <p:cxnSp>
        <p:nvCxnSpPr>
          <p:cNvPr id="89" name="直接箭头连接符 88"/>
          <p:cNvCxnSpPr>
            <a:stCxn id="82" idx="3"/>
            <a:endCxn id="105" idx="1"/>
          </p:cNvCxnSpPr>
          <p:nvPr/>
        </p:nvCxnSpPr>
        <p:spPr>
          <a:xfrm>
            <a:off x="5449267" y="4288247"/>
            <a:ext cx="403394" cy="0"/>
          </a:xfrm>
          <a:prstGeom prst="straightConnector1">
            <a:avLst/>
          </a:prstGeom>
          <a:ln>
            <a:prstDash val="dash"/>
            <a:tailEnd type="triangle"/>
          </a:ln>
        </p:spPr>
        <p:style>
          <a:lnRef idx="1">
            <a:srgbClr val="111A51"/>
          </a:lnRef>
          <a:fillRef idx="0">
            <a:srgbClr val="111A51"/>
          </a:fillRef>
          <a:effectRef idx="0">
            <a:srgbClr val="111A51"/>
          </a:effectRef>
          <a:fontRef idx="minor">
            <a:srgbClr val="000000"/>
          </a:fontRef>
        </p:style>
      </p:cxnSp>
      <p:cxnSp>
        <p:nvCxnSpPr>
          <p:cNvPr id="91" name="直接箭头连接符 90"/>
          <p:cNvCxnSpPr/>
          <p:nvPr/>
        </p:nvCxnSpPr>
        <p:spPr>
          <a:xfrm>
            <a:off x="5449267" y="4374607"/>
            <a:ext cx="2477947" cy="0"/>
          </a:xfrm>
          <a:prstGeom prst="straightConnector1">
            <a:avLst/>
          </a:prstGeom>
          <a:ln>
            <a:prstDash val="dash"/>
            <a:tailEnd type="triangle"/>
          </a:ln>
        </p:spPr>
        <p:style>
          <a:lnRef idx="1">
            <a:srgbClr val="111A51"/>
          </a:lnRef>
          <a:fillRef idx="0">
            <a:srgbClr val="111A51"/>
          </a:fillRef>
          <a:effectRef idx="0">
            <a:srgbClr val="111A51"/>
          </a:effectRef>
          <a:fontRef idx="minor">
            <a:srgbClr val="000000"/>
          </a:fontRef>
        </p:style>
      </p:cxnSp>
      <p:cxnSp>
        <p:nvCxnSpPr>
          <p:cNvPr id="92" name="直接箭头连接符 91"/>
          <p:cNvCxnSpPr/>
          <p:nvPr/>
        </p:nvCxnSpPr>
        <p:spPr>
          <a:xfrm>
            <a:off x="7350600" y="2283520"/>
            <a:ext cx="0" cy="639826"/>
          </a:xfrm>
          <a:prstGeom prst="straightConnector1">
            <a:avLst/>
          </a:prstGeom>
          <a:ln>
            <a:tailEnd type="triangle"/>
          </a:ln>
        </p:spPr>
        <p:style>
          <a:lnRef idx="1">
            <a:srgbClr val="111A51"/>
          </a:lnRef>
          <a:fillRef idx="0">
            <a:srgbClr val="111A51"/>
          </a:fillRef>
          <a:effectRef idx="0">
            <a:srgbClr val="111A51"/>
          </a:effectRef>
          <a:fontRef idx="minor">
            <a:srgbClr val="000000"/>
          </a:fontRef>
        </p:style>
      </p:cxnSp>
      <p:cxnSp>
        <p:nvCxnSpPr>
          <p:cNvPr id="93" name="直接箭头连接符 92"/>
          <p:cNvCxnSpPr>
            <a:stCxn id="69" idx="2"/>
            <a:endCxn id="71" idx="0"/>
          </p:cNvCxnSpPr>
          <p:nvPr/>
        </p:nvCxnSpPr>
        <p:spPr>
          <a:xfrm>
            <a:off x="9641762" y="2283520"/>
            <a:ext cx="0" cy="639826"/>
          </a:xfrm>
          <a:prstGeom prst="straightConnector1">
            <a:avLst/>
          </a:prstGeom>
          <a:ln>
            <a:solidFill>
              <a:srgbClr val="E60012">
                <a:lumMod val="50000"/>
              </a:srgbClr>
            </a:solidFill>
            <a:tailEnd type="triangle"/>
          </a:ln>
        </p:spPr>
        <p:style>
          <a:lnRef idx="1">
            <a:srgbClr val="111A51"/>
          </a:lnRef>
          <a:fillRef idx="0">
            <a:srgbClr val="111A51"/>
          </a:fillRef>
          <a:effectRef idx="0">
            <a:srgbClr val="111A51"/>
          </a:effectRef>
          <a:fontRef idx="minor">
            <a:srgbClr val="000000"/>
          </a:fontRef>
        </p:style>
      </p:cxnSp>
      <p:cxnSp>
        <p:nvCxnSpPr>
          <p:cNvPr id="94" name="连接符: 肘形 42"/>
          <p:cNvCxnSpPr>
            <a:stCxn id="78" idx="3"/>
            <a:endCxn id="70" idx="1"/>
          </p:cNvCxnSpPr>
          <p:nvPr/>
        </p:nvCxnSpPr>
        <p:spPr>
          <a:xfrm>
            <a:off x="5146717" y="3262194"/>
            <a:ext cx="1315805" cy="0"/>
          </a:xfrm>
          <a:prstGeom prst="straightConnector1">
            <a:avLst/>
          </a:prstGeom>
          <a:ln>
            <a:solidFill>
              <a:srgbClr val="04640B"/>
            </a:solidFill>
            <a:tailEnd type="triangle"/>
          </a:ln>
        </p:spPr>
        <p:style>
          <a:lnRef idx="1">
            <a:srgbClr val="111A51"/>
          </a:lnRef>
          <a:fillRef idx="0">
            <a:srgbClr val="111A51"/>
          </a:fillRef>
          <a:effectRef idx="0">
            <a:srgbClr val="111A51"/>
          </a:effectRef>
          <a:fontRef idx="minor">
            <a:srgbClr val="000000"/>
          </a:fontRef>
        </p:style>
      </p:cxnSp>
      <p:cxnSp>
        <p:nvCxnSpPr>
          <p:cNvPr id="95" name="连接符: 肘形 45"/>
          <p:cNvCxnSpPr>
            <a:stCxn id="71" idx="1"/>
            <a:endCxn id="70" idx="3"/>
          </p:cNvCxnSpPr>
          <p:nvPr/>
        </p:nvCxnSpPr>
        <p:spPr>
          <a:xfrm flipH="1">
            <a:off x="8101518" y="3262194"/>
            <a:ext cx="720746" cy="0"/>
          </a:xfrm>
          <a:prstGeom prst="straightConnector1">
            <a:avLst/>
          </a:prstGeom>
          <a:ln>
            <a:solidFill>
              <a:srgbClr val="E60012">
                <a:lumMod val="50000"/>
              </a:srgbClr>
            </a:solidFill>
            <a:tailEnd type="triangle"/>
          </a:ln>
        </p:spPr>
        <p:style>
          <a:lnRef idx="1">
            <a:srgbClr val="111A51"/>
          </a:lnRef>
          <a:fillRef idx="0">
            <a:srgbClr val="111A51"/>
          </a:fillRef>
          <a:effectRef idx="0">
            <a:srgbClr val="111A51"/>
          </a:effectRef>
          <a:fontRef idx="minor">
            <a:srgbClr val="000000"/>
          </a:fontRef>
        </p:style>
      </p:cxnSp>
      <p:cxnSp>
        <p:nvCxnSpPr>
          <p:cNvPr id="96" name="直接箭头连接符 48"/>
          <p:cNvCxnSpPr/>
          <p:nvPr/>
        </p:nvCxnSpPr>
        <p:spPr>
          <a:xfrm rot="16200000" flipH="1">
            <a:off x="8130061" y="1566105"/>
            <a:ext cx="634409" cy="2069238"/>
          </a:xfrm>
          <a:prstGeom prst="bentConnector3">
            <a:avLst>
              <a:gd name="adj1" fmla="val 50000"/>
            </a:avLst>
          </a:prstGeom>
          <a:ln>
            <a:solidFill>
              <a:srgbClr val="E60012">
                <a:lumMod val="50000"/>
              </a:srgbClr>
            </a:solidFill>
            <a:tailEnd type="triangle"/>
          </a:ln>
        </p:spPr>
        <p:style>
          <a:lnRef idx="1">
            <a:srgbClr val="111A51"/>
          </a:lnRef>
          <a:fillRef idx="0">
            <a:srgbClr val="111A51"/>
          </a:fillRef>
          <a:effectRef idx="0">
            <a:srgbClr val="111A51"/>
          </a:effectRef>
          <a:fontRef idx="minor">
            <a:srgbClr val="000000"/>
          </a:fontRef>
        </p:style>
      </p:cxnSp>
      <p:cxnSp>
        <p:nvCxnSpPr>
          <p:cNvPr id="97" name="直接箭头连接符 54"/>
          <p:cNvCxnSpPr/>
          <p:nvPr/>
        </p:nvCxnSpPr>
        <p:spPr>
          <a:xfrm rot="5400000">
            <a:off x="5625825" y="2501275"/>
            <a:ext cx="468799" cy="2668332"/>
          </a:xfrm>
          <a:prstGeom prst="bentConnector3">
            <a:avLst>
              <a:gd name="adj1" fmla="val 31795"/>
            </a:avLst>
          </a:prstGeom>
          <a:ln>
            <a:solidFill>
              <a:srgbClr val="04640B"/>
            </a:solidFill>
            <a:tailEnd type="triangle"/>
          </a:ln>
        </p:spPr>
        <p:style>
          <a:lnRef idx="1">
            <a:srgbClr val="111A51"/>
          </a:lnRef>
          <a:fillRef idx="0">
            <a:srgbClr val="111A51"/>
          </a:fillRef>
          <a:effectRef idx="0">
            <a:srgbClr val="111A51"/>
          </a:effectRef>
          <a:fontRef idx="minor">
            <a:srgbClr val="000000"/>
          </a:fontRef>
        </p:style>
      </p:cxnSp>
      <p:cxnSp>
        <p:nvCxnSpPr>
          <p:cNvPr id="98" name="直接箭头连接符 97"/>
          <p:cNvCxnSpPr>
            <a:stCxn id="105" idx="2"/>
          </p:cNvCxnSpPr>
          <p:nvPr/>
        </p:nvCxnSpPr>
        <p:spPr>
          <a:xfrm>
            <a:off x="6688241" y="4506652"/>
            <a:ext cx="0" cy="248143"/>
          </a:xfrm>
          <a:prstGeom prst="straightConnector1">
            <a:avLst/>
          </a:prstGeom>
          <a:ln>
            <a:tailEnd type="triangle"/>
          </a:ln>
        </p:spPr>
        <p:style>
          <a:lnRef idx="1">
            <a:srgbClr val="111A51"/>
          </a:lnRef>
          <a:fillRef idx="0">
            <a:srgbClr val="111A51"/>
          </a:fillRef>
          <a:effectRef idx="0">
            <a:srgbClr val="111A51"/>
          </a:effectRef>
          <a:fontRef idx="minor">
            <a:srgbClr val="000000"/>
          </a:fontRef>
        </p:style>
      </p:cxnSp>
      <p:cxnSp>
        <p:nvCxnSpPr>
          <p:cNvPr id="99" name="直接箭头连接符 61"/>
          <p:cNvCxnSpPr>
            <a:stCxn id="83" idx="2"/>
            <a:endCxn id="84" idx="0"/>
          </p:cNvCxnSpPr>
          <p:nvPr/>
        </p:nvCxnSpPr>
        <p:spPr>
          <a:xfrm rot="5400000">
            <a:off x="7914738" y="3588126"/>
            <a:ext cx="248143" cy="2085194"/>
          </a:xfrm>
          <a:prstGeom prst="bentConnector3">
            <a:avLst>
              <a:gd name="adj1" fmla="val 50000"/>
            </a:avLst>
          </a:prstGeom>
          <a:ln>
            <a:tailEnd type="triangle"/>
          </a:ln>
        </p:spPr>
        <p:style>
          <a:lnRef idx="1">
            <a:srgbClr val="111A51"/>
          </a:lnRef>
          <a:fillRef idx="0">
            <a:srgbClr val="111A51"/>
          </a:fillRef>
          <a:effectRef idx="0">
            <a:srgbClr val="111A51"/>
          </a:effectRef>
          <a:fontRef idx="minor">
            <a:srgbClr val="000000"/>
          </a:fontRef>
        </p:style>
      </p:cxnSp>
      <p:cxnSp>
        <p:nvCxnSpPr>
          <p:cNvPr id="100" name="直接箭头连接符 99"/>
          <p:cNvCxnSpPr>
            <a:stCxn id="84" idx="2"/>
            <a:endCxn id="85" idx="0"/>
          </p:cNvCxnSpPr>
          <p:nvPr/>
        </p:nvCxnSpPr>
        <p:spPr>
          <a:xfrm>
            <a:off x="6996212" y="5191606"/>
            <a:ext cx="3026" cy="543229"/>
          </a:xfrm>
          <a:prstGeom prst="straightConnector1">
            <a:avLst/>
          </a:prstGeom>
          <a:ln>
            <a:tailEnd type="triangle"/>
          </a:ln>
        </p:spPr>
        <p:style>
          <a:lnRef idx="1">
            <a:srgbClr val="111A51"/>
          </a:lnRef>
          <a:fillRef idx="0">
            <a:srgbClr val="111A51"/>
          </a:fillRef>
          <a:effectRef idx="0">
            <a:srgbClr val="111A51"/>
          </a:effectRef>
          <a:fontRef idx="minor">
            <a:srgbClr val="000000"/>
          </a:fontRef>
        </p:style>
      </p:cxnSp>
      <p:cxnSp>
        <p:nvCxnSpPr>
          <p:cNvPr id="101" name="连接符: 肘形 45"/>
          <p:cNvCxnSpPr>
            <a:stCxn id="70" idx="2"/>
            <a:endCxn id="105" idx="0"/>
          </p:cNvCxnSpPr>
          <p:nvPr/>
        </p:nvCxnSpPr>
        <p:spPr>
          <a:xfrm rot="5400000">
            <a:off x="6750732" y="3538552"/>
            <a:ext cx="468799" cy="593779"/>
          </a:xfrm>
          <a:prstGeom prst="bentConnector3">
            <a:avLst>
              <a:gd name="adj1" fmla="val 40112"/>
            </a:avLst>
          </a:prstGeom>
          <a:ln>
            <a:solidFill>
              <a:srgbClr val="E60012">
                <a:lumMod val="50000"/>
              </a:srgbClr>
            </a:solidFill>
            <a:tailEnd type="triangle"/>
          </a:ln>
        </p:spPr>
        <p:style>
          <a:lnRef idx="1">
            <a:srgbClr val="111A51"/>
          </a:lnRef>
          <a:fillRef idx="0">
            <a:srgbClr val="111A51"/>
          </a:fillRef>
          <a:effectRef idx="0">
            <a:srgbClr val="111A51"/>
          </a:effectRef>
          <a:fontRef idx="minor">
            <a:srgbClr val="000000"/>
          </a:fontRef>
        </p:style>
      </p:cxnSp>
      <p:cxnSp>
        <p:nvCxnSpPr>
          <p:cNvPr id="102" name="连接符: 肘形 45"/>
          <p:cNvCxnSpPr>
            <a:stCxn id="70" idx="2"/>
            <a:endCxn id="83" idx="0"/>
          </p:cNvCxnSpPr>
          <p:nvPr/>
        </p:nvCxnSpPr>
        <p:spPr>
          <a:xfrm rot="16200000" flipH="1">
            <a:off x="7947314" y="2935748"/>
            <a:ext cx="468799" cy="1799386"/>
          </a:xfrm>
          <a:prstGeom prst="bentConnector3">
            <a:avLst>
              <a:gd name="adj1" fmla="val 40112"/>
            </a:avLst>
          </a:prstGeom>
          <a:ln>
            <a:solidFill>
              <a:srgbClr val="E60012">
                <a:lumMod val="50000"/>
              </a:srgbClr>
            </a:solidFill>
            <a:tailEnd type="triangle"/>
          </a:ln>
        </p:spPr>
        <p:style>
          <a:lnRef idx="1">
            <a:srgbClr val="111A51"/>
          </a:lnRef>
          <a:fillRef idx="0">
            <a:srgbClr val="111A51"/>
          </a:fillRef>
          <a:effectRef idx="0">
            <a:srgbClr val="111A51"/>
          </a:effectRef>
          <a:fontRef idx="minor">
            <a:srgbClr val="000000"/>
          </a:fontRef>
        </p:style>
      </p:cxnSp>
      <p:sp>
        <p:nvSpPr>
          <p:cNvPr id="103" name="文本框 102"/>
          <p:cNvSpPr txBox="1"/>
          <p:nvPr/>
        </p:nvSpPr>
        <p:spPr>
          <a:xfrm>
            <a:off x="7327727" y="2647936"/>
            <a:ext cx="761747" cy="246221"/>
          </a:xfrm>
          <a:prstGeom prst="rect">
            <a:avLst/>
          </a:prstGeom>
          <a:noFill/>
        </p:spPr>
        <p:txBody>
          <a:bodyPr wrap="none" rtlCol="0">
            <a:spAutoFit/>
          </a:bodyPr>
          <a:lstStyle/>
          <a:p>
            <a:r>
              <a:rPr lang="en-US" altLang="zh-CN" sz="1000" b="1" dirty="0" err="1">
                <a:solidFill>
                  <a:srgbClr val="343D74">
                    <a:lumMod val="75000"/>
                  </a:srgbClr>
                </a:solidFill>
                <a:latin typeface="微软雅黑" panose="020B0503020204020204" pitchFamily="34" charset="-122"/>
                <a:ea typeface="微软雅黑" panose="020B0503020204020204" pitchFamily="34" charset="-122"/>
                <a:cs typeface="Times New Roman" panose="02020603050405020304" pitchFamily="18" charset="0"/>
              </a:rPr>
              <a:t>MakeTAZ</a:t>
            </a:r>
            <a:endParaRPr lang="en-US" altLang="zh-CN" sz="1000" b="1" dirty="0" err="1">
              <a:solidFill>
                <a:srgbClr val="343D74">
                  <a:lumMod val="75000"/>
                </a:srgb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4" name="文本框 103"/>
          <p:cNvSpPr txBox="1"/>
          <p:nvPr/>
        </p:nvSpPr>
        <p:spPr>
          <a:xfrm>
            <a:off x="8767946" y="2328623"/>
            <a:ext cx="963429" cy="246221"/>
          </a:xfrm>
          <a:prstGeom prst="rect">
            <a:avLst/>
          </a:prstGeom>
          <a:noFill/>
        </p:spPr>
        <p:txBody>
          <a:bodyPr wrap="square" rtlCol="0">
            <a:spAutoFit/>
          </a:bodyPr>
          <a:lstStyle/>
          <a:p>
            <a:r>
              <a:rPr lang="zh-CN" altLang="en-US" sz="1000" b="1" dirty="0">
                <a:solidFill>
                  <a:srgbClr val="E60012">
                    <a:lumMod val="50000"/>
                  </a:srgbClr>
                </a:solidFill>
                <a:latin typeface="微软雅黑" panose="020B0503020204020204" pitchFamily="34" charset="-122"/>
                <a:ea typeface="微软雅黑" panose="020B0503020204020204" pitchFamily="34" charset="-122"/>
                <a:cs typeface="Times New Roman" panose="02020603050405020304" pitchFamily="18" charset="0"/>
              </a:rPr>
              <a:t>轨迹还原方法</a:t>
            </a:r>
            <a:endParaRPr lang="zh-CN" altLang="en-US" sz="1000" b="1" dirty="0">
              <a:solidFill>
                <a:srgbClr val="E60012">
                  <a:lumMod val="50000"/>
                </a:srgb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5" name="矩形 104"/>
          <p:cNvSpPr/>
          <p:nvPr/>
        </p:nvSpPr>
        <p:spPr>
          <a:xfrm>
            <a:off x="5852661" y="4069841"/>
            <a:ext cx="1671159" cy="436811"/>
          </a:xfrm>
          <a:prstGeom prst="rect">
            <a:avLst/>
          </a:prstGeom>
          <a:solidFill>
            <a:schemeClr val="accent6">
              <a:lumMod val="75000"/>
            </a:schemeClr>
          </a:solidFill>
        </p:spPr>
        <p:style>
          <a:lnRef idx="2">
            <a:srgbClr val="7980B5">
              <a:shade val="50000"/>
            </a:srgbClr>
          </a:lnRef>
          <a:fillRef idx="1">
            <a:srgbClr val="7980B5"/>
          </a:fillRef>
          <a:effectRef idx="0">
            <a:srgbClr val="7980B5"/>
          </a:effectRef>
          <a:fontRef idx="minor">
            <a:srgbClr val="FFFFFF"/>
          </a:fontRef>
        </p:style>
        <p:txBody>
          <a:bodyPr rtlCol="0" anchor="ctr"/>
          <a:lstStyle/>
          <a:p>
            <a:pPr algn="ctr"/>
            <a:r>
              <a:rPr lang="zh-CN" altLang="en-US" dirty="0">
                <a:solidFill>
                  <a:srgbClr val="FFFFFF"/>
                </a:solidFill>
                <a:latin typeface="微软雅黑" panose="020B0503020204020204" pitchFamily="34" charset="-122"/>
                <a:ea typeface="微软雅黑" panose="020B0503020204020204" pitchFamily="34" charset="-122"/>
              </a:rPr>
              <a:t>随机森林</a:t>
            </a:r>
            <a:endParaRPr lang="zh-CN" altLang="en-US" dirty="0">
              <a:solidFill>
                <a:srgbClr val="FFFFFF"/>
              </a:solidFill>
              <a:latin typeface="微软雅黑" panose="020B0503020204020204" pitchFamily="34" charset="-122"/>
              <a:ea typeface="微软雅黑" panose="020B0503020204020204" pitchFamily="34" charset="-122"/>
            </a:endParaRPr>
          </a:p>
        </p:txBody>
      </p:sp>
      <p:sp>
        <p:nvSpPr>
          <p:cNvPr id="107" name="文本框 106"/>
          <p:cNvSpPr txBox="1"/>
          <p:nvPr/>
        </p:nvSpPr>
        <p:spPr>
          <a:xfrm>
            <a:off x="205105" y="843280"/>
            <a:ext cx="2646045" cy="521970"/>
          </a:xfrm>
          <a:prstGeom prst="rect">
            <a:avLst/>
          </a:prstGeom>
          <a:noFill/>
        </p:spPr>
        <p:txBody>
          <a:bodyPr wrap="square" rtlCol="0" anchor="t">
            <a:spAutoFit/>
          </a:bodyPr>
          <a:p>
            <a:r>
              <a:rPr lang="en-US" altLang="zh-CN"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2.1</a:t>
            </a:r>
            <a:r>
              <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技术路线</a:t>
            </a:r>
            <a:endPar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项目管理</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宋体" panose="02010600030101010101" pitchFamily="2" charset="-122"/>
                </a:rPr>
                <a:t>WUHAN UNIVERSITY</a:t>
              </a:r>
              <a:endParaRPr lang="en-US" altLang="zh-CN" sz="900" b="1" dirty="0">
                <a:solidFill>
                  <a:prstClr val="black"/>
                </a:solidFill>
                <a:latin typeface="Calibri" panose="020F0502020204030204"/>
                <a:ea typeface="宋体" panose="02010600030101010101" pitchFamily="2" charset="-122"/>
              </a:endParaRPr>
            </a:p>
          </p:txBody>
        </p:sp>
      </p:grpSp>
      <p:sp>
        <p:nvSpPr>
          <p:cNvPr id="107" name="文本框 106"/>
          <p:cNvSpPr txBox="1"/>
          <p:nvPr/>
        </p:nvSpPr>
        <p:spPr>
          <a:xfrm>
            <a:off x="205105" y="843280"/>
            <a:ext cx="5324475" cy="521970"/>
          </a:xfrm>
          <a:prstGeom prst="rect">
            <a:avLst/>
          </a:prstGeom>
          <a:noFill/>
        </p:spPr>
        <p:txBody>
          <a:bodyPr wrap="square" rtlCol="0" anchor="t">
            <a:spAutoFit/>
          </a:bodyPr>
          <a:p>
            <a:r>
              <a:rPr lang="en-US" altLang="zh-CN"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2.2 </a:t>
            </a:r>
            <a:r>
              <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交通拥堵指数计算</a:t>
            </a:r>
            <a:r>
              <a:rPr lang="en-US" altLang="zh-CN"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研究区域</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p:cNvSpPr txBox="1"/>
          <p:nvPr/>
        </p:nvSpPr>
        <p:spPr>
          <a:xfrm>
            <a:off x="1156952" y="5275925"/>
            <a:ext cx="4544300" cy="968420"/>
          </a:xfrm>
          <a:prstGeom prst="rect">
            <a:avLst/>
          </a:prstGeom>
          <a:noFill/>
        </p:spPr>
        <p:txBody>
          <a:bodyPr wrap="square" rtlCol="0">
            <a:noAutofit/>
          </a:bodyPr>
          <a:lstStyle/>
          <a:p>
            <a:pPr marL="285750" indent="-285750" algn="just">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聚焦于杭州市中心城区，拥堵问题严重</a:t>
            </a:r>
            <a:endParaRPr lang="zh-CN" altLang="en-US" dirty="0">
              <a:latin typeface="微软雅黑" panose="020B0503020204020204" pitchFamily="34" charset="-122"/>
              <a:ea typeface="微软雅黑" panose="020B0503020204020204" pitchFamily="34" charset="-122"/>
            </a:endParaRPr>
          </a:p>
          <a:p>
            <a:pPr marL="285750" indent="-285750" algn="just">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设施健全、人口密度高、商业活动集中</a:t>
            </a:r>
            <a:endParaRPr lang="zh-CN" altLang="en-US" dirty="0">
              <a:latin typeface="微软雅黑" panose="020B0503020204020204" pitchFamily="34" charset="-122"/>
              <a:ea typeface="微软雅黑" panose="020B0503020204020204" pitchFamily="34" charset="-122"/>
            </a:endParaRPr>
          </a:p>
          <a:p>
            <a:pPr marL="285750" indent="-285750" algn="just">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城市交通规划和管理的核心区域</a:t>
            </a:r>
            <a:endParaRPr lang="zh-CN" altLang="en-US" dirty="0">
              <a:latin typeface="微软雅黑" panose="020B0503020204020204" pitchFamily="34" charset="-122"/>
              <a:ea typeface="微软雅黑" panose="020B0503020204020204" pitchFamily="34" charset="-122"/>
            </a:endParaRPr>
          </a:p>
        </p:txBody>
      </p:sp>
      <p:pic>
        <p:nvPicPr>
          <p:cNvPr id="5" name="图片 8"/>
          <p:cNvPicPr>
            <a:picLocks noChangeAspect="1"/>
          </p:cNvPicPr>
          <p:nvPr/>
        </p:nvPicPr>
        <p:blipFill>
          <a:blip r:embed="rId4"/>
          <a:stretch>
            <a:fillRect/>
          </a:stretch>
        </p:blipFill>
        <p:spPr>
          <a:xfrm>
            <a:off x="895978" y="1425561"/>
            <a:ext cx="5362158" cy="3790099"/>
          </a:xfrm>
          <a:prstGeom prst="rect">
            <a:avLst/>
          </a:prstGeom>
          <a:noFill/>
          <a:ln>
            <a:noFill/>
          </a:ln>
        </p:spPr>
      </p:pic>
      <p:pic>
        <p:nvPicPr>
          <p:cNvPr id="6" name="图片 5" descr="upload_post_object_v2_1656112747"/>
          <p:cNvPicPr>
            <a:picLocks noChangeAspect="1"/>
          </p:cNvPicPr>
          <p:nvPr/>
        </p:nvPicPr>
        <p:blipFill>
          <a:blip r:embed="rId5"/>
          <a:srcRect l="-773" t="668" r="773" b="37719"/>
          <a:stretch>
            <a:fillRect/>
          </a:stretch>
        </p:blipFill>
        <p:spPr>
          <a:xfrm>
            <a:off x="6373060" y="1666889"/>
            <a:ext cx="5302375" cy="2521945"/>
          </a:xfrm>
          <a:prstGeom prst="rect">
            <a:avLst/>
          </a:prstGeom>
        </p:spPr>
      </p:pic>
      <p:pic>
        <p:nvPicPr>
          <p:cNvPr id="8" name="图片 7" descr="upload_post_object_v2_2221896915"/>
          <p:cNvPicPr>
            <a:picLocks noChangeAspect="1"/>
          </p:cNvPicPr>
          <p:nvPr/>
        </p:nvPicPr>
        <p:blipFill>
          <a:blip r:embed="rId6"/>
          <a:stretch>
            <a:fillRect/>
          </a:stretch>
        </p:blipFill>
        <p:spPr>
          <a:xfrm>
            <a:off x="6453498" y="4287442"/>
            <a:ext cx="2366543" cy="2236275"/>
          </a:xfrm>
          <a:prstGeom prst="rect">
            <a:avLst/>
          </a:prstGeom>
          <a:ln w="28575"/>
        </p:spPr>
      </p:pic>
      <p:pic>
        <p:nvPicPr>
          <p:cNvPr id="9" name="图片 8" descr="upload_post_object_v2_184702840"/>
          <p:cNvPicPr>
            <a:picLocks noChangeAspect="1"/>
          </p:cNvPicPr>
          <p:nvPr/>
        </p:nvPicPr>
        <p:blipFill>
          <a:blip r:embed="rId7"/>
          <a:stretch>
            <a:fillRect/>
          </a:stretch>
        </p:blipFill>
        <p:spPr>
          <a:xfrm>
            <a:off x="8887786" y="4287428"/>
            <a:ext cx="2974364" cy="221999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项目管理</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宋体" panose="02010600030101010101" pitchFamily="2" charset="-122"/>
                </a:rPr>
                <a:t>WUHAN UNIVERSITY</a:t>
              </a:r>
              <a:endParaRPr lang="en-US" altLang="zh-CN" sz="900" b="1" dirty="0">
                <a:solidFill>
                  <a:prstClr val="black"/>
                </a:solidFill>
                <a:latin typeface="Calibri" panose="020F0502020204030204"/>
                <a:ea typeface="宋体" panose="02010600030101010101" pitchFamily="2" charset="-122"/>
              </a:endParaRPr>
            </a:p>
          </p:txBody>
        </p:sp>
      </p:grpSp>
      <p:sp>
        <p:nvSpPr>
          <p:cNvPr id="107" name="文本框 106"/>
          <p:cNvSpPr txBox="1"/>
          <p:nvPr/>
        </p:nvSpPr>
        <p:spPr>
          <a:xfrm>
            <a:off x="205105" y="843280"/>
            <a:ext cx="5324475" cy="521970"/>
          </a:xfrm>
          <a:prstGeom prst="rect">
            <a:avLst/>
          </a:prstGeom>
          <a:noFill/>
        </p:spPr>
        <p:txBody>
          <a:bodyPr wrap="square" rtlCol="0" anchor="t">
            <a:spAutoFit/>
          </a:bodyPr>
          <a:p>
            <a:r>
              <a:rPr lang="en-US" altLang="zh-CN"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2.2 </a:t>
            </a:r>
            <a:r>
              <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交通拥堵指数计算</a:t>
            </a:r>
            <a:r>
              <a:rPr lang="en-US" altLang="zh-CN"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分析单元</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文本框 9"/>
          <p:cNvSpPr txBox="1"/>
          <p:nvPr/>
        </p:nvSpPr>
        <p:spPr>
          <a:xfrm>
            <a:off x="446404" y="1615916"/>
            <a:ext cx="10723895" cy="706755"/>
          </a:xfrm>
          <a:prstGeom prst="rect">
            <a:avLst/>
          </a:prstGeom>
          <a:noFill/>
        </p:spPr>
        <p:txBody>
          <a:bodyPr wrap="square" rtlCol="0">
            <a:spAutoFit/>
          </a:bodyPr>
          <a:lstStyle/>
          <a:p>
            <a:pPr algn="just"/>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交通分析区（</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Traffic Analysis Zone, TAZ</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是城市交通规划中用于收集数据、分析交通需求的基本地理单元，也是</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OD</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出行量（起点</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终点出行需求）的集计单元</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ïšļídè"/>
          <p:cNvSpPr>
            <a:spLocks noGrp="1"/>
          </p:cNvSpPr>
          <p:nvPr/>
        </p:nvSpPr>
        <p:spPr>
          <a:xfrm>
            <a:off x="8775699" y="6634163"/>
            <a:ext cx="2909888" cy="206381"/>
          </a:xfrm>
          <a:prstGeom prst="rect">
            <a:avLst/>
          </a:prstGeom>
        </p:spPr>
        <p:txBody>
          <a:bodyPr vert="horz" lIns="91440" tIns="45720" rIns="91440" bIns="45720" rtlCol="0" anchor="ctr"/>
          <a:lstStyle>
            <a:defPPr>
              <a:defRPr lang="zh-CN"/>
            </a:defPPr>
            <a:lvl1pPr marL="0" algn="r" defTabSz="914400" rtl="0" eaLnBrk="1" latinLnBrk="0" hangingPunct="1">
              <a:defRPr sz="1000" kern="1200">
                <a:solidFill>
                  <a:srgbClr val="000000">
                    <a:lumMod val="50000"/>
                    <a:lumOff val="50000"/>
                  </a:srgbClr>
                </a:solidFill>
                <a:latin typeface="Arial" panose="020B0604020202020204" pitchFamily="34" charset="0"/>
                <a:ea typeface="微软雅黑" panose="020B0503020204020204" pitchFamily="3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9pPr>
          </a:lstStyle>
          <a:p>
            <a:fld id="{5DD3DB80-B894-403A-B48E-6FDC1A72010E}" type="slidenum">
              <a:rPr lang="zh-CN" altLang="en-US" smtClean="0">
                <a:latin typeface="微软雅黑" panose="020B0503020204020204" pitchFamily="34" charset="-122"/>
              </a:rPr>
            </a:fld>
            <a:endParaRPr lang="zh-CN" altLang="en-US" smtClean="0">
              <a:latin typeface="微软雅黑" panose="020B0503020204020204" pitchFamily="34" charset="-122"/>
            </a:endParaRPr>
          </a:p>
        </p:txBody>
      </p:sp>
      <p:sp>
        <p:nvSpPr>
          <p:cNvPr id="12" name="矩形 11"/>
          <p:cNvSpPr/>
          <p:nvPr/>
        </p:nvSpPr>
        <p:spPr>
          <a:xfrm>
            <a:off x="446403" y="2408997"/>
            <a:ext cx="10850563" cy="706755"/>
          </a:xfrm>
          <a:prstGeom prst="rect">
            <a:avLst/>
          </a:prstGeom>
        </p:spPr>
        <p:txBody>
          <a:bodyPr wrap="square">
            <a:spAutoFit/>
          </a:bodyPr>
          <a:lstStyle/>
          <a:p>
            <a:pPr algn="just"/>
            <a:r>
              <a:rPr lang="zh-CN" altLang="en-US" sz="2000" dirty="0">
                <a:solidFill>
                  <a:srgbClr val="06071F"/>
                </a:solidFill>
                <a:latin typeface="微软雅黑" panose="020B0503020204020204" pitchFamily="34" charset="-122"/>
                <a:ea typeface="微软雅黑" panose="020B0503020204020204" pitchFamily="34" charset="-122"/>
                <a:cs typeface="微软雅黑" panose="020B0503020204020204" pitchFamily="34" charset="-122"/>
              </a:rPr>
              <a:t>本研究基于</a:t>
            </a:r>
            <a:r>
              <a:rPr lang="zh-CN" altLang="en-US" sz="2000" b="1" dirty="0">
                <a:solidFill>
                  <a:srgbClr val="06071F"/>
                </a:solidFill>
                <a:latin typeface="微软雅黑" panose="020B0503020204020204" pitchFamily="34" charset="-122"/>
                <a:ea typeface="微软雅黑" panose="020B0503020204020204" pitchFamily="34" charset="-122"/>
                <a:cs typeface="微软雅黑" panose="020B0503020204020204" pitchFamily="34" charset="-122"/>
              </a:rPr>
              <a:t>研究区域边界，城市主要道路和河流</a:t>
            </a:r>
            <a:r>
              <a:rPr lang="zh-CN" altLang="en-US" sz="2000" dirty="0">
                <a:solidFill>
                  <a:srgbClr val="06071F"/>
                </a:solidFill>
                <a:latin typeface="微软雅黑" panose="020B0503020204020204" pitchFamily="34" charset="-122"/>
                <a:ea typeface="微软雅黑" panose="020B0503020204020204" pitchFamily="34" charset="-122"/>
                <a:cs typeface="微软雅黑" panose="020B0503020204020204" pitchFamily="34" charset="-122"/>
              </a:rPr>
              <a:t>的等空间数据，利用</a:t>
            </a:r>
            <a:r>
              <a:rPr lang="en-US" altLang="zh-CN" sz="2000" b="1" dirty="0" err="1">
                <a:solidFill>
                  <a:srgbClr val="06071F"/>
                </a:solidFill>
                <a:latin typeface="微软雅黑" panose="020B0503020204020204" pitchFamily="34" charset="-122"/>
                <a:ea typeface="微软雅黑" panose="020B0503020204020204" pitchFamily="34" charset="-122"/>
                <a:cs typeface="微软雅黑" panose="020B0503020204020204" pitchFamily="34" charset="-122"/>
              </a:rPr>
              <a:t>MakeTAZ</a:t>
            </a:r>
            <a:r>
              <a:rPr lang="zh-CN" altLang="en-US" sz="2000" dirty="0">
                <a:solidFill>
                  <a:srgbClr val="06071F"/>
                </a:solidFill>
                <a:latin typeface="微软雅黑" panose="020B0503020204020204" pitchFamily="34" charset="-122"/>
                <a:ea typeface="微软雅黑" panose="020B0503020204020204" pitchFamily="34" charset="-122"/>
                <a:cs typeface="微软雅黑" panose="020B0503020204020204" pitchFamily="34" charset="-122"/>
              </a:rPr>
              <a:t>项目的自动化算法生成交通分析单元，并</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充分顾及了河流屏障的空间阻隔效应。最终共构建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542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个交通分析区。</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3" name="图片 12"/>
          <p:cNvPicPr>
            <a:picLocks noChangeAspect="1"/>
          </p:cNvPicPr>
          <p:nvPr/>
        </p:nvPicPr>
        <p:blipFill>
          <a:blip r:embed="rId4"/>
          <a:stretch>
            <a:fillRect/>
          </a:stretch>
        </p:blipFill>
        <p:spPr>
          <a:xfrm>
            <a:off x="6553200" y="3429000"/>
            <a:ext cx="3332480" cy="3075940"/>
          </a:xfrm>
          <a:prstGeom prst="rect">
            <a:avLst/>
          </a:prstGeom>
        </p:spPr>
      </p:pic>
      <p:pic>
        <p:nvPicPr>
          <p:cNvPr id="17" name="图片 10"/>
          <p:cNvPicPr>
            <a:picLocks noChangeAspect="1"/>
          </p:cNvPicPr>
          <p:nvPr/>
        </p:nvPicPr>
        <p:blipFill>
          <a:blip r:embed="rId5"/>
          <a:srcRect l="6992" t="21252" r="8122" b="18732"/>
          <a:stretch>
            <a:fillRect/>
          </a:stretch>
        </p:blipFill>
        <p:spPr>
          <a:xfrm>
            <a:off x="1737995" y="3290570"/>
            <a:ext cx="3375025" cy="3375025"/>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项目管理</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宋体" panose="02010600030101010101" pitchFamily="2" charset="-122"/>
                </a:rPr>
                <a:t>WUHAN UNIVERSITY</a:t>
              </a:r>
              <a:endParaRPr lang="en-US" altLang="zh-CN" sz="900" b="1" dirty="0">
                <a:solidFill>
                  <a:prstClr val="black"/>
                </a:solidFill>
                <a:latin typeface="Calibri" panose="020F0502020204030204"/>
                <a:ea typeface="宋体" panose="02010600030101010101" pitchFamily="2" charset="-122"/>
              </a:endParaRPr>
            </a:p>
          </p:txBody>
        </p:sp>
      </p:grpSp>
      <p:sp>
        <p:nvSpPr>
          <p:cNvPr id="107" name="文本框 106"/>
          <p:cNvSpPr txBox="1"/>
          <p:nvPr/>
        </p:nvSpPr>
        <p:spPr>
          <a:xfrm>
            <a:off x="205105" y="843280"/>
            <a:ext cx="8515350" cy="521970"/>
          </a:xfrm>
          <a:prstGeom prst="rect">
            <a:avLst/>
          </a:prstGeom>
          <a:noFill/>
        </p:spPr>
        <p:txBody>
          <a:bodyPr wrap="square" rtlCol="0" anchor="t">
            <a:spAutoFit/>
          </a:bodyPr>
          <a:p>
            <a:r>
              <a:rPr lang="en-US" altLang="zh-CN"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2.2 </a:t>
            </a:r>
            <a:r>
              <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交通拥堵指数计算</a:t>
            </a:r>
            <a:r>
              <a:rPr lang="en-US" altLang="zh-CN"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地图匹配算法</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1" name="ïšļídè"/>
          <p:cNvSpPr>
            <a:spLocks noGrp="1"/>
          </p:cNvSpPr>
          <p:nvPr/>
        </p:nvSpPr>
        <p:spPr>
          <a:xfrm>
            <a:off x="8775699" y="6634163"/>
            <a:ext cx="2909888" cy="206381"/>
          </a:xfrm>
          <a:prstGeom prst="rect">
            <a:avLst/>
          </a:prstGeom>
        </p:spPr>
        <p:txBody>
          <a:bodyPr vert="horz" lIns="91440" tIns="45720" rIns="91440" bIns="45720" rtlCol="0" anchor="ctr"/>
          <a:lstStyle>
            <a:defPPr>
              <a:defRPr lang="zh-CN"/>
            </a:defPPr>
            <a:lvl1pPr marL="0" algn="r" defTabSz="914400" rtl="0" eaLnBrk="1" latinLnBrk="0" hangingPunct="1">
              <a:defRPr sz="1000" kern="1200">
                <a:solidFill>
                  <a:srgbClr val="000000">
                    <a:lumMod val="50000"/>
                    <a:lumOff val="50000"/>
                  </a:srgbClr>
                </a:solidFill>
                <a:latin typeface="Arial" panose="020B0604020202020204" pitchFamily="34" charset="0"/>
                <a:ea typeface="微软雅黑" panose="020B0503020204020204" pitchFamily="34" charset="-122"/>
                <a:cs typeface="+mn-ea"/>
              </a:defRPr>
            </a:lvl1pPr>
            <a:lvl2pPr marL="457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2pPr>
            <a:lvl3pPr marL="914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3pPr>
            <a:lvl4pPr marL="1371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4pPr>
            <a:lvl5pPr marL="18288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5pPr>
            <a:lvl6pPr marL="22860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6pPr>
            <a:lvl7pPr marL="27432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7pPr>
            <a:lvl8pPr marL="32004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8pPr>
            <a:lvl9pPr marL="3657600" algn="l" defTabSz="914400" rtl="0" eaLnBrk="1" latinLnBrk="0" hangingPunct="1">
              <a:defRPr sz="1800" kern="1200">
                <a:solidFill>
                  <a:srgbClr val="000000"/>
                </a:solidFill>
                <a:latin typeface="Arial" panose="020B0604020202020204" pitchFamily="34" charset="0"/>
                <a:ea typeface="微软雅黑" panose="020B0503020204020204" pitchFamily="34" charset="-122"/>
                <a:cs typeface="+mn-ea"/>
              </a:defRPr>
            </a:lvl9pPr>
          </a:lstStyle>
          <a:p>
            <a:fld id="{5DD3DB80-B894-403A-B48E-6FDC1A72010E}" type="slidenum">
              <a:rPr lang="zh-CN" altLang="en-US" smtClean="0">
                <a:latin typeface="微软雅黑" panose="020B0503020204020204" pitchFamily="34" charset="-122"/>
              </a:rPr>
            </a:fld>
            <a:endParaRPr lang="zh-CN" altLang="en-US" smtClean="0">
              <a:latin typeface="微软雅黑" panose="020B0503020204020204" pitchFamily="34" charset="-122"/>
            </a:endParaRPr>
          </a:p>
        </p:txBody>
      </p:sp>
      <p:sp>
        <p:nvSpPr>
          <p:cNvPr id="1" name="文本框 0"/>
          <p:cNvSpPr txBox="1"/>
          <p:nvPr/>
        </p:nvSpPr>
        <p:spPr>
          <a:xfrm>
            <a:off x="538480" y="5944957"/>
            <a:ext cx="5954395" cy="369332"/>
          </a:xfrm>
          <a:prstGeom prst="rect">
            <a:avLst/>
          </a:prstGeom>
          <a:noFill/>
        </p:spPr>
        <p:txBody>
          <a:bodyPr wrap="square" rtlCol="0">
            <a:spAutoFit/>
          </a:bodyPr>
          <a:lstStyle/>
          <a:p>
            <a:r>
              <a:rPr lang="zh-CN" altLang="en-US" b="1" dirty="0">
                <a:solidFill>
                  <a:srgbClr val="C00000"/>
                </a:solidFill>
              </a:rPr>
              <a:t>出租车</a:t>
            </a:r>
            <a:r>
              <a:rPr lang="en-US" altLang="zh-CN" b="1" dirty="0">
                <a:solidFill>
                  <a:srgbClr val="C00000"/>
                </a:solidFill>
              </a:rPr>
              <a:t>GPS</a:t>
            </a:r>
            <a:r>
              <a:rPr lang="zh-CN" altLang="en-US" b="1" dirty="0">
                <a:solidFill>
                  <a:srgbClr val="C00000"/>
                </a:solidFill>
              </a:rPr>
              <a:t>轨迹数据（杭州市</a:t>
            </a:r>
            <a:r>
              <a:rPr lang="en-US" altLang="zh-CN" b="1" dirty="0">
                <a:solidFill>
                  <a:srgbClr val="C00000"/>
                </a:solidFill>
              </a:rPr>
              <a:t>2017</a:t>
            </a:r>
            <a:r>
              <a:rPr lang="zh-CN" altLang="en-US" b="1" dirty="0">
                <a:solidFill>
                  <a:srgbClr val="C00000"/>
                </a:solidFill>
              </a:rPr>
              <a:t>年</a:t>
            </a:r>
            <a:r>
              <a:rPr lang="en-US" altLang="zh-CN" b="1" dirty="0">
                <a:solidFill>
                  <a:srgbClr val="C00000"/>
                </a:solidFill>
              </a:rPr>
              <a:t>12</a:t>
            </a:r>
            <a:r>
              <a:rPr lang="zh-CN" altLang="en-US" b="1" dirty="0">
                <a:solidFill>
                  <a:srgbClr val="C00000"/>
                </a:solidFill>
              </a:rPr>
              <a:t>月</a:t>
            </a:r>
            <a:r>
              <a:rPr lang="en-US" altLang="zh-CN" b="1" dirty="0">
                <a:solidFill>
                  <a:srgbClr val="C00000"/>
                </a:solidFill>
              </a:rPr>
              <a:t>4</a:t>
            </a:r>
            <a:r>
              <a:rPr lang="zh-CN" altLang="en-US" b="1" dirty="0">
                <a:solidFill>
                  <a:srgbClr val="C00000"/>
                </a:solidFill>
              </a:rPr>
              <a:t>日</a:t>
            </a:r>
            <a:r>
              <a:rPr lang="en-US" altLang="zh-CN" b="1" dirty="0">
                <a:solidFill>
                  <a:srgbClr val="C00000"/>
                </a:solidFill>
              </a:rPr>
              <a:t>-12</a:t>
            </a:r>
            <a:r>
              <a:rPr lang="zh-CN" altLang="en-US" b="1" dirty="0">
                <a:solidFill>
                  <a:srgbClr val="C00000"/>
                </a:solidFill>
              </a:rPr>
              <a:t>月</a:t>
            </a:r>
            <a:r>
              <a:rPr lang="en-US" altLang="zh-CN" b="1" dirty="0">
                <a:solidFill>
                  <a:srgbClr val="C00000"/>
                </a:solidFill>
              </a:rPr>
              <a:t>10</a:t>
            </a:r>
            <a:r>
              <a:rPr lang="zh-CN" altLang="en-US" b="1" dirty="0">
                <a:solidFill>
                  <a:srgbClr val="C00000"/>
                </a:solidFill>
              </a:rPr>
              <a:t>日）</a:t>
            </a:r>
            <a:endParaRPr lang="zh-CN" altLang="en-US" b="1" dirty="0">
              <a:solidFill>
                <a:srgbClr val="C00000"/>
              </a:solidFill>
            </a:endParaRPr>
          </a:p>
        </p:txBody>
      </p:sp>
      <p:sp>
        <p:nvSpPr>
          <p:cNvPr id="2" name="矩形 1"/>
          <p:cNvSpPr/>
          <p:nvPr/>
        </p:nvSpPr>
        <p:spPr>
          <a:xfrm>
            <a:off x="538480" y="1393825"/>
            <a:ext cx="3148330" cy="2882900"/>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2288364" y="3795071"/>
            <a:ext cx="1554480" cy="368300"/>
          </a:xfrm>
          <a:prstGeom prst="rect">
            <a:avLst/>
          </a:prstGeom>
          <a:noFill/>
        </p:spPr>
        <p:txBody>
          <a:bodyPr wrap="none" rtlCol="0">
            <a:spAutoFit/>
          </a:bodyPr>
          <a:lstStyle/>
          <a:p>
            <a:r>
              <a:rPr lang="zh-CN" altLang="en-US" b="1" dirty="0">
                <a:solidFill>
                  <a:srgbClr val="C00000"/>
                </a:solidFill>
              </a:rPr>
              <a:t>道路网络数据</a:t>
            </a:r>
            <a:endParaRPr lang="zh-CN" altLang="en-US" b="1" dirty="0">
              <a:solidFill>
                <a:srgbClr val="C00000"/>
              </a:solidFill>
            </a:endParaRPr>
          </a:p>
        </p:txBody>
      </p:sp>
      <p:graphicFrame>
        <p:nvGraphicFramePr>
          <p:cNvPr id="14" name="对象 13"/>
          <p:cNvGraphicFramePr>
            <a:graphicFrameLocks noChangeAspect="1"/>
          </p:cNvGraphicFramePr>
          <p:nvPr/>
        </p:nvGraphicFramePr>
        <p:xfrm>
          <a:off x="5623208" y="1368284"/>
          <a:ext cx="6131912" cy="3534802"/>
        </p:xfrm>
        <a:graphic>
          <a:graphicData uri="http://schemas.openxmlformats.org/presentationml/2006/ole">
            <mc:AlternateContent xmlns:mc="http://schemas.openxmlformats.org/markup-compatibility/2006">
              <mc:Choice xmlns:v="urn:schemas-microsoft-com:vml" Requires="v">
                <p:oleObj spid="_x0000_s3" name="Visio" r:id="rId4" imgW="13027025" imgH="7514590" progId="Visio.Drawing.15">
                  <p:embed/>
                </p:oleObj>
              </mc:Choice>
              <mc:Fallback>
                <p:oleObj name="Visio" r:id="rId4" imgW="13027025" imgH="7514590"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23208" y="1368284"/>
                        <a:ext cx="6131912" cy="3534802"/>
                      </a:xfrm>
                      <a:prstGeom prst="rect">
                        <a:avLst/>
                      </a:prstGeom>
                      <a:noFill/>
                    </p:spPr>
                  </p:pic>
                </p:oleObj>
              </mc:Fallback>
            </mc:AlternateContent>
          </a:graphicData>
        </a:graphic>
      </p:graphicFrame>
      <p:sp>
        <p:nvSpPr>
          <p:cNvPr id="26" name="文本框 25"/>
          <p:cNvSpPr txBox="1"/>
          <p:nvPr/>
        </p:nvSpPr>
        <p:spPr>
          <a:xfrm>
            <a:off x="6835793" y="4944489"/>
            <a:ext cx="3877985" cy="369332"/>
          </a:xfrm>
          <a:prstGeom prst="rect">
            <a:avLst/>
          </a:prstGeom>
          <a:noFill/>
        </p:spPr>
        <p:txBody>
          <a:bodyPr wrap="none" rtlCol="0">
            <a:spAutoFit/>
          </a:bodyPr>
          <a:lstStyle/>
          <a:p>
            <a:r>
              <a:rPr lang="zh-CN" altLang="en-US" b="1" dirty="0">
                <a:solidFill>
                  <a:srgbClr val="C00000"/>
                </a:solidFill>
              </a:rPr>
              <a:t>基于隐马尔科夫模型的轨迹还原方法</a:t>
            </a:r>
            <a:endParaRPr lang="zh-CN" altLang="en-US" b="1" dirty="0">
              <a:solidFill>
                <a:srgbClr val="C00000"/>
              </a:solidFill>
            </a:endParaRPr>
          </a:p>
        </p:txBody>
      </p:sp>
      <p:sp>
        <p:nvSpPr>
          <p:cNvPr id="28" name="文本框 27"/>
          <p:cNvSpPr txBox="1"/>
          <p:nvPr/>
        </p:nvSpPr>
        <p:spPr>
          <a:xfrm>
            <a:off x="6716095" y="5655213"/>
            <a:ext cx="4376830" cy="46166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各路段的车流量及车速信息</a:t>
            </a:r>
            <a:endParaRPr lang="zh-CN" altLang="en-US" dirty="0"/>
          </a:p>
        </p:txBody>
      </p:sp>
      <p:pic>
        <p:nvPicPr>
          <p:cNvPr id="22" name="图片 21"/>
          <p:cNvPicPr>
            <a:picLocks noChangeAspect="1"/>
          </p:cNvPicPr>
          <p:nvPr/>
        </p:nvPicPr>
        <p:blipFill>
          <a:blip r:embed="rId6"/>
          <a:stretch>
            <a:fillRect/>
          </a:stretch>
        </p:blipFill>
        <p:spPr>
          <a:xfrm>
            <a:off x="1268032" y="4182716"/>
            <a:ext cx="3927673" cy="1734366"/>
          </a:xfrm>
          <a:prstGeom prst="rect">
            <a:avLst/>
          </a:prstGeom>
        </p:spPr>
      </p:pic>
      <p:sp>
        <p:nvSpPr>
          <p:cNvPr id="24" name="箭头: 右 23"/>
          <p:cNvSpPr/>
          <p:nvPr/>
        </p:nvSpPr>
        <p:spPr>
          <a:xfrm>
            <a:off x="4841152" y="3156003"/>
            <a:ext cx="634189" cy="517525"/>
          </a:xfrm>
          <a:prstGeom prst="rightArrow">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右 34"/>
          <p:cNvSpPr/>
          <p:nvPr/>
        </p:nvSpPr>
        <p:spPr>
          <a:xfrm rot="5400000">
            <a:off x="8754668" y="5199715"/>
            <a:ext cx="284445" cy="5175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片 682"/>
          <p:cNvPicPr>
            <a:picLocks noChangeAspect="1"/>
          </p:cNvPicPr>
          <p:nvPr/>
        </p:nvPicPr>
        <p:blipFill>
          <a:blip r:embed="rId7"/>
          <a:srcRect l="7568" t="20000" r="7568" b="20000"/>
          <a:stretch>
            <a:fillRect/>
          </a:stretch>
        </p:blipFill>
        <p:spPr>
          <a:xfrm>
            <a:off x="1767840" y="1384300"/>
            <a:ext cx="2438400" cy="2438400"/>
          </a:xfrm>
          <a:prstGeom prst="rect">
            <a:avLst/>
          </a:prstGeom>
          <a:noFill/>
          <a:ln>
            <a:noFill/>
          </a:ln>
        </p:spPr>
      </p:pic>
      <p:sp>
        <p:nvSpPr>
          <p:cNvPr id="34" name="文本框 33"/>
          <p:cNvSpPr txBox="1"/>
          <p:nvPr/>
        </p:nvSpPr>
        <p:spPr>
          <a:xfrm>
            <a:off x="0" y="6390489"/>
            <a:ext cx="12192000" cy="461665"/>
          </a:xfrm>
          <a:prstGeom prst="rect">
            <a:avLst/>
          </a:prstGeom>
          <a:solidFill>
            <a:schemeClr val="accent6">
              <a:lumMod val="50000"/>
            </a:schemeClr>
          </a:solidFill>
        </p:spPr>
        <p:txBody>
          <a:bodyPr wrap="square">
            <a:spAutoFit/>
          </a:bodyPr>
          <a:lstStyle/>
          <a:p>
            <a:pPr>
              <a:spcAft>
                <a:spcPts val="600"/>
              </a:spcAft>
            </a:pPr>
            <a:r>
              <a:rPr lang="en-US" altLang="zh-CN" sz="1200" b="1" dirty="0">
                <a:solidFill>
                  <a:schemeClr val="bg1"/>
                </a:solidFill>
                <a:latin typeface="Times New Roman" panose="02020603050405020304" pitchFamily="18" charset="0"/>
                <a:ea typeface="宋体" panose="02010600030101010101" pitchFamily="2" charset="-122"/>
              </a:rPr>
              <a:t>Li </a:t>
            </a:r>
            <a:r>
              <a:rPr lang="en-US" altLang="zh-CN" sz="1200" b="1" dirty="0" err="1">
                <a:solidFill>
                  <a:schemeClr val="bg1"/>
                </a:solidFill>
                <a:latin typeface="Times New Roman" panose="02020603050405020304" pitchFamily="18" charset="0"/>
                <a:ea typeface="宋体" panose="02010600030101010101" pitchFamily="2" charset="-122"/>
              </a:rPr>
              <a:t>Bozhao</a:t>
            </a:r>
            <a:r>
              <a:rPr lang="en-US" altLang="zh-CN" sz="1200" b="1" dirty="0">
                <a:solidFill>
                  <a:schemeClr val="bg1"/>
                </a:solidFill>
                <a:latin typeface="Times New Roman" panose="02020603050405020304" pitchFamily="18" charset="0"/>
                <a:ea typeface="宋体" panose="02010600030101010101" pitchFamily="2" charset="-122"/>
              </a:rPr>
              <a:t>, Cai </a:t>
            </a:r>
            <a:r>
              <a:rPr lang="en-US" altLang="zh-CN" sz="1200" b="1" dirty="0" err="1">
                <a:solidFill>
                  <a:schemeClr val="bg1"/>
                </a:solidFill>
                <a:latin typeface="Times New Roman" panose="02020603050405020304" pitchFamily="18" charset="0"/>
                <a:ea typeface="宋体" panose="02010600030101010101" pitchFamily="2" charset="-122"/>
              </a:rPr>
              <a:t>Zhongliang</a:t>
            </a:r>
            <a:r>
              <a:rPr lang="en-US" altLang="zh-CN" sz="1200" b="1" dirty="0">
                <a:solidFill>
                  <a:schemeClr val="bg1"/>
                </a:solidFill>
                <a:latin typeface="Times New Roman" panose="02020603050405020304" pitchFamily="18" charset="0"/>
                <a:ea typeface="宋体" panose="02010600030101010101" pitchFamily="2" charset="-122"/>
              </a:rPr>
              <a:t>, Kang </a:t>
            </a:r>
            <a:r>
              <a:rPr lang="en-US" altLang="zh-CN" sz="1200" b="1" dirty="0" err="1">
                <a:solidFill>
                  <a:schemeClr val="bg1"/>
                </a:solidFill>
                <a:latin typeface="Times New Roman" panose="02020603050405020304" pitchFamily="18" charset="0"/>
                <a:ea typeface="宋体" panose="02010600030101010101" pitchFamily="2" charset="-122"/>
              </a:rPr>
              <a:t>Mengjun</a:t>
            </a:r>
            <a:r>
              <a:rPr lang="en-US" altLang="zh-CN" sz="1200" b="1" dirty="0">
                <a:solidFill>
                  <a:schemeClr val="bg1"/>
                </a:solidFill>
                <a:latin typeface="Times New Roman" panose="02020603050405020304" pitchFamily="18" charset="0"/>
                <a:ea typeface="宋体" panose="02010600030101010101" pitchFamily="2" charset="-122"/>
              </a:rPr>
              <a:t>, </a:t>
            </a:r>
            <a:r>
              <a:rPr lang="en-US" altLang="zh-CN" sz="1200" b="1" dirty="0" err="1">
                <a:solidFill>
                  <a:schemeClr val="bg1"/>
                </a:solidFill>
                <a:latin typeface="Times New Roman" panose="02020603050405020304" pitchFamily="18" charset="0"/>
                <a:ea typeface="宋体" panose="02010600030101010101" pitchFamily="2" charset="-122"/>
              </a:rPr>
              <a:t>Su</a:t>
            </a:r>
            <a:r>
              <a:rPr lang="en-US" altLang="zh-CN" sz="1200" b="1" dirty="0">
                <a:solidFill>
                  <a:schemeClr val="bg1"/>
                </a:solidFill>
                <a:latin typeface="Times New Roman" panose="02020603050405020304" pitchFamily="18" charset="0"/>
                <a:ea typeface="宋体" panose="02010600030101010101" pitchFamily="2" charset="-122"/>
              </a:rPr>
              <a:t> </a:t>
            </a:r>
            <a:r>
              <a:rPr lang="en-US" altLang="zh-CN" sz="1200" b="1" dirty="0" err="1">
                <a:solidFill>
                  <a:schemeClr val="bg1"/>
                </a:solidFill>
                <a:latin typeface="Times New Roman" panose="02020603050405020304" pitchFamily="18" charset="0"/>
                <a:ea typeface="宋体" panose="02010600030101010101" pitchFamily="2" charset="-122"/>
              </a:rPr>
              <a:t>Shiliang</a:t>
            </a:r>
            <a:r>
              <a:rPr lang="en-US" altLang="zh-CN" sz="1200" b="1" dirty="0">
                <a:solidFill>
                  <a:schemeClr val="bg1"/>
                </a:solidFill>
                <a:latin typeface="Times New Roman" panose="02020603050405020304" pitchFamily="18" charset="0"/>
                <a:ea typeface="宋体" panose="02010600030101010101" pitchFamily="2" charset="-122"/>
              </a:rPr>
              <a:t>, Jiang Lili, Ge Yong &amp; </a:t>
            </a:r>
            <a:r>
              <a:rPr lang="en-US" altLang="zh-CN" sz="1200" b="1" dirty="0" err="1">
                <a:solidFill>
                  <a:schemeClr val="bg1"/>
                </a:solidFill>
                <a:latin typeface="Times New Roman" panose="02020603050405020304" pitchFamily="18" charset="0"/>
                <a:ea typeface="宋体" panose="02010600030101010101" pitchFamily="2" charset="-122"/>
              </a:rPr>
              <a:t>Niu</a:t>
            </a:r>
            <a:r>
              <a:rPr lang="en-US" altLang="zh-CN" sz="1200" b="1" dirty="0">
                <a:solidFill>
                  <a:schemeClr val="bg1"/>
                </a:solidFill>
                <a:latin typeface="Times New Roman" panose="02020603050405020304" pitchFamily="18" charset="0"/>
                <a:ea typeface="宋体" panose="02010600030101010101" pitchFamily="2" charset="-122"/>
              </a:rPr>
              <a:t> </a:t>
            </a:r>
            <a:r>
              <a:rPr lang="en-US" altLang="zh-CN" sz="1200" b="1" dirty="0" err="1">
                <a:solidFill>
                  <a:schemeClr val="bg1"/>
                </a:solidFill>
                <a:latin typeface="Times New Roman" panose="02020603050405020304" pitchFamily="18" charset="0"/>
                <a:ea typeface="宋体" panose="02010600030101010101" pitchFamily="2" charset="-122"/>
              </a:rPr>
              <a:t>Yanfen</a:t>
            </a:r>
            <a:r>
              <a:rPr lang="en-US" altLang="zh-CN" sz="1200" b="1" dirty="0">
                <a:solidFill>
                  <a:schemeClr val="bg1"/>
                </a:solidFill>
                <a:latin typeface="Times New Roman" panose="02020603050405020304" pitchFamily="18" charset="0"/>
                <a:ea typeface="宋体" panose="02010600030101010101" pitchFamily="2" charset="-122"/>
              </a:rPr>
              <a:t>. An improved hidden Markov model-based map matching algorithm considering candidate point grouping and trajectory connectivity[J]. Cartography and Geographic Information Science, 2022. </a:t>
            </a:r>
            <a:r>
              <a:rPr lang="en-US" altLang="zh-CN" sz="1200" b="1" dirty="0">
                <a:solidFill>
                  <a:schemeClr val="bg1"/>
                </a:solidFill>
                <a:latin typeface="Times New Roman" panose="02020603050405020304" pitchFamily="18" charset="0"/>
                <a:ea typeface="宋体" panose="02010600030101010101" pitchFamily="2" charset="-122"/>
                <a:hlinkClick r:id="rId8"/>
              </a:rPr>
              <a:t>https://doi.org/10.1080/15230406.2022.2135023</a:t>
            </a:r>
            <a:r>
              <a:rPr lang="en-US" altLang="zh-CN" sz="1200" b="1" dirty="0">
                <a:solidFill>
                  <a:schemeClr val="bg1"/>
                </a:solidFill>
                <a:latin typeface="Times New Roman" panose="02020603050405020304" pitchFamily="18" charset="0"/>
                <a:ea typeface="宋体" panose="02010600030101010101" pitchFamily="2" charset="-122"/>
              </a:rPr>
              <a:t>.</a:t>
            </a:r>
            <a:endParaRPr lang="zh-CN" altLang="zh-CN" sz="1200" b="1" dirty="0">
              <a:solidFill>
                <a:schemeClr val="bg1"/>
              </a:solidFill>
              <a:latin typeface="Times New Roman" panose="02020603050405020304" pitchFamily="18" charset="0"/>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项目管理</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宋体" panose="02010600030101010101" pitchFamily="2" charset="-122"/>
                </a:rPr>
                <a:t>WUHAN UNIVERSITY</a:t>
              </a:r>
              <a:endParaRPr lang="en-US" altLang="zh-CN" sz="900" b="1" dirty="0">
                <a:solidFill>
                  <a:prstClr val="black"/>
                </a:solidFill>
                <a:latin typeface="Calibri" panose="020F0502020204030204"/>
                <a:ea typeface="宋体" panose="02010600030101010101" pitchFamily="2" charset="-122"/>
              </a:endParaRPr>
            </a:p>
          </p:txBody>
        </p:sp>
      </p:grpSp>
      <p:sp>
        <p:nvSpPr>
          <p:cNvPr id="2" name="矩形 1"/>
          <p:cNvSpPr/>
          <p:nvPr/>
        </p:nvSpPr>
        <p:spPr>
          <a:xfrm>
            <a:off x="538480" y="1393825"/>
            <a:ext cx="3148330" cy="2882900"/>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2" name="文本框 11"/>
              <p:cNvSpPr txBox="1"/>
              <p:nvPr/>
            </p:nvSpPr>
            <p:spPr>
              <a:xfrm>
                <a:off x="897890" y="1393825"/>
                <a:ext cx="10597515" cy="3305810"/>
              </a:xfrm>
              <a:prstGeom prst="rect">
                <a:avLst/>
              </a:prstGeom>
              <a:noFill/>
            </p:spPr>
            <p:txBody>
              <a:bodyPr wrap="square" rtlCol="0">
                <a:noAutofit/>
              </a:bodyPr>
              <a:lstStyle/>
              <a:p>
                <a:pPr marL="285750" indent="-285750">
                  <a:lnSpc>
                    <a:spcPct val="150000"/>
                  </a:lnSpc>
                  <a:buFont typeface="Wingdings" panose="05000000000000000000" pitchFamily="2" charset="2"/>
                  <a:buChar char="p"/>
                </a:pP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交通拥堵指数</a:t>
                </a: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INRIX</a:t>
                </a: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基于路段速度和自由流速度计算拥堵指数</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285750" indent="-285750">
                  <a:lnSpc>
                    <a:spcPct val="150000"/>
                  </a:lnSpc>
                  <a:buFont typeface="Wingdings" panose="05000000000000000000" pitchFamily="2" charset="2"/>
                  <a:buChar char="p"/>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将每日的时间分割为多个统计间隔，选择</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INRIX</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指数作为拥堵指数指标，计算每个路段在各时段内的</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INRIX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指数值。其中</a:t>
                </a:r>
                <a14:m>
                  <m:oMath xmlns:m="http://schemas.openxmlformats.org/officeDocument/2006/math">
                    <m:sSub>
                      <m:sSubPr>
                        <m:ctrlPr>
                          <a:rPr lang="en-US" altLang="zh-CN" sz="2000" i="1" dirty="0" smtClean="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b="0" i="1" dirty="0" smtClean="0">
                            <a:latin typeface="Cambria Math" panose="02040503050406030204" pitchFamily="18" charset="0"/>
                            <a:ea typeface="微软雅黑" panose="020B0503020204020204" pitchFamily="34" charset="-122"/>
                            <a:cs typeface="Cambria Math" panose="02040503050406030204" pitchFamily="18" charset="0"/>
                          </a:rPr>
                          <m:t>𝑅</m:t>
                        </m:r>
                      </m:e>
                      <m:sub>
                        <m:r>
                          <a:rPr lang="en-US" altLang="zh-CN" sz="2000" b="0" i="1" dirty="0" smtClean="0">
                            <a:latin typeface="Cambria Math" panose="02040503050406030204" pitchFamily="18" charset="0"/>
                            <a:ea typeface="微软雅黑" panose="020B0503020204020204" pitchFamily="34" charset="-122"/>
                            <a:cs typeface="Cambria Math" panose="02040503050406030204" pitchFamily="18" charset="0"/>
                          </a:rPr>
                          <m:t>𝑖𝑗</m:t>
                        </m:r>
                      </m:sub>
                    </m:sSub>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表示路段</a:t>
                </a:r>
                <a14:m>
                  <m:oMath xmlns:m="http://schemas.openxmlformats.org/officeDocument/2006/math">
                    <m:r>
                      <a:rPr lang="en-US" altLang="zh-CN" sz="2000" i="1" dirty="0" smtClean="0">
                        <a:latin typeface="Cambria Math" panose="02040503050406030204" pitchFamily="18" charset="0"/>
                        <a:ea typeface="微软雅黑" panose="020B0503020204020204" pitchFamily="34" charset="-122"/>
                        <a:cs typeface="Cambria Math" panose="02040503050406030204" pitchFamily="18" charset="0"/>
                      </a:rPr>
                      <m:t>𝑖</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在第</a:t>
                </a:r>
                <a14:m>
                  <m:oMath xmlns:m="http://schemas.openxmlformats.org/officeDocument/2006/math">
                    <m:r>
                      <a:rPr lang="en-US" altLang="zh-CN" sz="2000" i="1" dirty="0" smtClean="0">
                        <a:latin typeface="Cambria Math" panose="02040503050406030204" pitchFamily="18" charset="0"/>
                        <a:ea typeface="微软雅黑" panose="020B0503020204020204" pitchFamily="34" charset="-122"/>
                        <a:cs typeface="Cambria Math" panose="02040503050406030204" pitchFamily="18" charset="0"/>
                      </a:rPr>
                      <m:t>𝑗</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个时刻的</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INRIX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指数，</a:t>
                </a:r>
                <a14:m>
                  <m:oMath xmlns:m="http://schemas.openxmlformats.org/officeDocument/2006/math">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b="0" i="1" dirty="0" smtClean="0">
                            <a:latin typeface="Cambria Math" panose="02040503050406030204" pitchFamily="18" charset="0"/>
                            <a:ea typeface="微软雅黑" panose="020B0503020204020204" pitchFamily="34" charset="-122"/>
                            <a:cs typeface="Cambria Math" panose="02040503050406030204" pitchFamily="18" charset="0"/>
                          </a:rPr>
                          <m:t>𝑅𝑆</m:t>
                        </m:r>
                      </m:e>
                      <m: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𝑖𝑗</m:t>
                        </m:r>
                      </m:sub>
                    </m:sSub>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表示路段</a:t>
                </a:r>
                <a14:m>
                  <m:oMath xmlns:m="http://schemas.openxmlformats.org/officeDocument/2006/math">
                    <m:r>
                      <a:rPr lang="en-US" altLang="zh-CN" sz="2000" i="1" dirty="0" smtClean="0">
                        <a:latin typeface="Cambria Math" panose="02040503050406030204" pitchFamily="18" charset="0"/>
                        <a:ea typeface="微软雅黑" panose="020B0503020204020204" pitchFamily="34" charset="-122"/>
                        <a:cs typeface="Cambria Math" panose="02040503050406030204" pitchFamily="18" charset="0"/>
                      </a:rPr>
                      <m:t>𝑖</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在第</a:t>
                </a:r>
                <a14:m>
                  <m:oMath xmlns:m="http://schemas.openxmlformats.org/officeDocument/2006/math">
                    <m:r>
                      <a:rPr lang="en-US" altLang="zh-CN" sz="2000" i="1" dirty="0" smtClean="0">
                        <a:latin typeface="Cambria Math" panose="02040503050406030204" pitchFamily="18" charset="0"/>
                        <a:ea typeface="微软雅黑" panose="020B0503020204020204" pitchFamily="34" charset="-122"/>
                        <a:cs typeface="Cambria Math" panose="02040503050406030204" pitchFamily="18" charset="0"/>
                      </a:rPr>
                      <m:t>𝑗</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个间隔内的参考速度，即自由流速度；</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14:m>
                  <m:oMath xmlns:m="http://schemas.openxmlformats.org/officeDocument/2006/math">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𝐶𝑆</m:t>
                        </m:r>
                      </m:e>
                      <m: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𝑖𝑗</m:t>
                        </m:r>
                      </m:sub>
                    </m:sSub>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表示路段</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在第</a:t>
                </a:r>
                <a14:m>
                  <m:oMath xmlns:m="http://schemas.openxmlformats.org/officeDocument/2006/math">
                    <m:r>
                      <a:rPr lang="en-US" altLang="zh-CN" sz="2000" i="1" dirty="0" smtClean="0">
                        <a:latin typeface="Cambria Math" panose="02040503050406030204" pitchFamily="18" charset="0"/>
                        <a:ea typeface="微软雅黑" panose="020B0503020204020204" pitchFamily="34" charset="-122"/>
                        <a:cs typeface="Cambria Math" panose="02040503050406030204" pitchFamily="18" charset="0"/>
                      </a:rPr>
                      <m:t>𝑗</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个时刻的计算速度，即路段在实际计算中得到的速度值。</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Wingdings" panose="05000000000000000000" pitchFamily="2" charset="2"/>
                  <a:buChar char="p"/>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区域内的</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INRIX</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指数，则是利用路段长度对区域内路段上的</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INRIX</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指数加权来计算。其中</a:t>
                </a:r>
                <a14:m>
                  <m:oMath xmlns:m="http://schemas.openxmlformats.org/officeDocument/2006/math">
                    <m:sSub>
                      <m:sSubPr>
                        <m:ctrlPr>
                          <a:rPr lang="en-US" altLang="zh-CN" sz="2000" i="1" dirty="0" smtClean="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b="0" i="1" dirty="0" smtClean="0">
                            <a:latin typeface="Cambria Math" panose="02040503050406030204" pitchFamily="18" charset="0"/>
                            <a:ea typeface="微软雅黑" panose="020B0503020204020204" pitchFamily="34" charset="-122"/>
                            <a:cs typeface="Cambria Math" panose="02040503050406030204" pitchFamily="18" charset="0"/>
                          </a:rPr>
                          <m:t>𝐴</m:t>
                        </m:r>
                      </m:e>
                      <m:sub>
                        <m:r>
                          <a:rPr lang="en-US" altLang="zh-CN" sz="2000" b="0" i="1" dirty="0" smtClean="0">
                            <a:latin typeface="Cambria Math" panose="02040503050406030204" pitchFamily="18" charset="0"/>
                            <a:ea typeface="微软雅黑" panose="020B0503020204020204" pitchFamily="34" charset="-122"/>
                            <a:cs typeface="Cambria Math" panose="02040503050406030204" pitchFamily="18" charset="0"/>
                          </a:rPr>
                          <m:t>𝑘𝑗</m:t>
                        </m:r>
                      </m:sub>
                    </m:sSub>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代表区域</a:t>
                </a:r>
                <a14:m>
                  <m:oMath xmlns:m="http://schemas.openxmlformats.org/officeDocument/2006/math">
                    <m:r>
                      <a:rPr lang="en-US" altLang="zh-CN" sz="2000" i="1" dirty="0" smtClean="0">
                        <a:latin typeface="Cambria Math" panose="02040503050406030204" pitchFamily="18" charset="0"/>
                        <a:ea typeface="微软雅黑" panose="020B0503020204020204" pitchFamily="34" charset="-122"/>
                        <a:cs typeface="Cambria Math" panose="02040503050406030204" pitchFamily="18" charset="0"/>
                      </a:rPr>
                      <m:t>𝑘</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在第</a:t>
                </a:r>
                <a14:m>
                  <m:oMath xmlns:m="http://schemas.openxmlformats.org/officeDocument/2006/math">
                    <m:r>
                      <a:rPr lang="en-US" altLang="zh-CN" sz="2000" i="1" dirty="0" smtClean="0">
                        <a:latin typeface="Cambria Math" panose="02040503050406030204" pitchFamily="18" charset="0"/>
                        <a:ea typeface="微软雅黑" panose="020B0503020204020204" pitchFamily="34" charset="-122"/>
                        <a:cs typeface="Cambria Math" panose="02040503050406030204" pitchFamily="18" charset="0"/>
                      </a:rPr>
                      <m:t>𝑗</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个时刻的的</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INRIX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指数，</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14:m>
                  <m:oMath xmlns:m="http://schemas.openxmlformats.org/officeDocument/2006/math">
                    <m:sSub>
                      <m:sSubPr>
                        <m:ctrlP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𝐿</m:t>
                        </m:r>
                      </m:e>
                      <m:sub>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𝑖</m:t>
                        </m:r>
                      </m:sub>
                    </m:sSub>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表示</a:t>
                </a:r>
                <a14:m>
                  <m:oMath xmlns:m="http://schemas.openxmlformats.org/officeDocument/2006/math">
                    <m:r>
                      <a:rPr lang="en-US" altLang="zh-CN" sz="2000" i="1" dirty="0" smtClean="0">
                        <a:latin typeface="Cambria Math" panose="02040503050406030204" pitchFamily="18" charset="0"/>
                        <a:ea typeface="微软雅黑" panose="020B0503020204020204" pitchFamily="34" charset="-122"/>
                        <a:cs typeface="Cambria Math" panose="02040503050406030204" pitchFamily="18" charset="0"/>
                      </a:rPr>
                      <m:t>𝑘</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区域内路段</a:t>
                </a:r>
                <a14:m>
                  <m:oMath xmlns:m="http://schemas.openxmlformats.org/officeDocument/2006/math">
                    <m:r>
                      <a:rPr lang="en-US" altLang="zh-CN" sz="2000" i="1" dirty="0">
                        <a:latin typeface="Cambria Math" panose="02040503050406030204" pitchFamily="18" charset="0"/>
                        <a:ea typeface="微软雅黑" panose="020B0503020204020204" pitchFamily="34" charset="-122"/>
                        <a:cs typeface="Cambria Math" panose="02040503050406030204" pitchFamily="18" charset="0"/>
                      </a:rPr>
                      <m:t>𝑖</m:t>
                    </m:r>
                  </m:oMath>
                </a14:m>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的长度。</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12" name="文本框 11"/>
              <p:cNvSpPr txBox="1">
                <a:spLocks noRot="1" noChangeAspect="1" noMove="1" noResize="1" noEditPoints="1" noAdjustHandles="1" noChangeArrowheads="1" noChangeShapeType="1" noTextEdit="1"/>
              </p:cNvSpPr>
              <p:nvPr/>
            </p:nvSpPr>
            <p:spPr>
              <a:xfrm>
                <a:off x="897890" y="1393825"/>
                <a:ext cx="10597515" cy="330581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1432560" y="4838700"/>
                <a:ext cx="2696210" cy="660400"/>
              </a:xfrm>
              <a:prstGeom prst="rect">
                <a:avLst/>
              </a:prstGeom>
              <a:noFill/>
            </p:spPr>
            <p:txBody>
              <a:bodyPr wrap="none" rtlCol="0">
                <a:noAutofit/>
              </a:bodyPr>
              <a:lstStyle/>
              <a:p>
                <a14:m>
                  <m:oMathPara xmlns:m="http://schemas.openxmlformats.org/officeDocument/2006/math">
                    <m:oMathParaPr>
                      <m:jc m:val="centerGroup"/>
                    </m:oMathParaPr>
                    <m:oMath xmlns:m="http://schemas.openxmlformats.org/officeDocument/2006/math">
                      <m:sSub>
                        <m:sSubPr>
                          <m:ctrlPr>
                            <a:rPr lang="en-US" altLang="zh-CN" sz="1800" i="1" dirty="0" smtClean="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b="0" i="1" dirty="0" smtClean="0">
                              <a:latin typeface="Cambria Math" panose="02040503050406030204" pitchFamily="18" charset="0"/>
                              <a:ea typeface="微软雅黑" panose="020B0503020204020204" pitchFamily="34" charset="-122"/>
                              <a:cs typeface="Cambria Math" panose="02040503050406030204" pitchFamily="18" charset="0"/>
                            </a:rPr>
                            <m:t>𝑅</m:t>
                          </m:r>
                        </m:e>
                        <m:sub>
                          <m:r>
                            <a:rPr lang="en-US" altLang="zh-CN" sz="1800" b="0" i="1" dirty="0" smtClean="0">
                              <a:latin typeface="Cambria Math" panose="02040503050406030204" pitchFamily="18" charset="0"/>
                              <a:ea typeface="微软雅黑" panose="020B0503020204020204" pitchFamily="34" charset="-122"/>
                              <a:cs typeface="Cambria Math" panose="02040503050406030204" pitchFamily="18" charset="0"/>
                            </a:rPr>
                            <m:t>𝑖𝑗</m:t>
                          </m:r>
                        </m:sub>
                      </m:sSub>
                      <m:r>
                        <a:rPr lang="en-US" altLang="zh-CN" sz="1800" b="0" i="1" dirty="0" smtClean="0">
                          <a:latin typeface="Cambria Math" panose="02040503050406030204" pitchFamily="18" charset="0"/>
                          <a:ea typeface="MS Mincho" charset="0"/>
                          <a:cs typeface="Cambria Math" panose="02040503050406030204" pitchFamily="18" charset="0"/>
                        </a:rPr>
                        <m:t>=</m:t>
                      </m:r>
                      <m:d>
                        <m:dPr>
                          <m:ctrlPr>
                            <a:rPr lang="en-US" altLang="zh-CN" sz="1800" b="0" i="1" dirty="0" smtClean="0">
                              <a:latin typeface="Cambria Math" panose="02040503050406030204" pitchFamily="18" charset="0"/>
                              <a:ea typeface="微软雅黑" panose="020B0503020204020204" pitchFamily="34" charset="-122"/>
                              <a:cs typeface="Cambria Math" panose="02040503050406030204" pitchFamily="18" charset="0"/>
                            </a:rPr>
                          </m:ctrlPr>
                        </m:dPr>
                        <m:e>
                          <m:f>
                            <m:fPr>
                              <m:ctrlPr>
                                <a:rPr lang="en-US" altLang="zh-CN" sz="1800" b="0" i="1" dirty="0" smtClean="0">
                                  <a:latin typeface="Cambria Math" panose="02040503050406030204" pitchFamily="18" charset="0"/>
                                  <a:ea typeface="微软雅黑" panose="020B0503020204020204" pitchFamily="34" charset="-122"/>
                                  <a:cs typeface="Cambria Math" panose="02040503050406030204" pitchFamily="18" charset="0"/>
                                </a:rPr>
                              </m:ctrlPr>
                            </m:fPr>
                            <m:num>
                              <m:sSub>
                                <m:sSubPr>
                                  <m:ctrlPr>
                                    <a:rPr lang="en-US" altLang="zh-CN"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i="1" dirty="0">
                                      <a:latin typeface="Cambria Math" panose="02040503050406030204" pitchFamily="18" charset="0"/>
                                      <a:ea typeface="微软雅黑" panose="020B0503020204020204" pitchFamily="34" charset="-122"/>
                                      <a:cs typeface="Cambria Math" panose="02040503050406030204" pitchFamily="18" charset="0"/>
                                    </a:rPr>
                                    <m:t>𝑅𝑆</m:t>
                                  </m:r>
                                </m:e>
                                <m:sub>
                                  <m:r>
                                    <a:rPr lang="en-US" altLang="zh-CN" i="1" dirty="0">
                                      <a:latin typeface="Cambria Math" panose="02040503050406030204" pitchFamily="18" charset="0"/>
                                      <a:ea typeface="微软雅黑" panose="020B0503020204020204" pitchFamily="34" charset="-122"/>
                                      <a:cs typeface="Cambria Math" panose="02040503050406030204" pitchFamily="18" charset="0"/>
                                    </a:rPr>
                                    <m:t>𝑖𝑗</m:t>
                                  </m:r>
                                </m:sub>
                              </m:sSub>
                            </m:num>
                            <m:den>
                              <m:sSub>
                                <m:sSubPr>
                                  <m:ctrlPr>
                                    <a:rPr lang="en-US" altLang="zh-CN"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i="1" dirty="0">
                                      <a:latin typeface="Cambria Math" panose="02040503050406030204" pitchFamily="18" charset="0"/>
                                      <a:ea typeface="微软雅黑" panose="020B0503020204020204" pitchFamily="34" charset="-122"/>
                                      <a:cs typeface="Cambria Math" panose="02040503050406030204" pitchFamily="18" charset="0"/>
                                    </a:rPr>
                                    <m:t>𝐶𝑆</m:t>
                                  </m:r>
                                </m:e>
                                <m:sub>
                                  <m:r>
                                    <a:rPr lang="en-US" altLang="zh-CN" i="1" dirty="0">
                                      <a:latin typeface="Cambria Math" panose="02040503050406030204" pitchFamily="18" charset="0"/>
                                      <a:ea typeface="微软雅黑" panose="020B0503020204020204" pitchFamily="34" charset="-122"/>
                                      <a:cs typeface="Cambria Math" panose="02040503050406030204" pitchFamily="18" charset="0"/>
                                    </a:rPr>
                                    <m:t>𝑖𝑗</m:t>
                                  </m:r>
                                </m:sub>
                              </m:sSub>
                            </m:den>
                          </m:f>
                          <m:r>
                            <a:rPr lang="en-US" altLang="zh-CN" sz="1800" b="0" i="1" dirty="0" smtClean="0">
                              <a:latin typeface="Cambria Math" panose="02040503050406030204" pitchFamily="18" charset="0"/>
                              <a:ea typeface="MS Mincho" charset="0"/>
                              <a:cs typeface="Cambria Math" panose="02040503050406030204" pitchFamily="18" charset="0"/>
                            </a:rPr>
                            <m:t>−</m:t>
                          </m:r>
                          <m:r>
                            <a:rPr lang="en-US" altLang="zh-CN" sz="1800" b="0" i="1" dirty="0" smtClean="0">
                              <a:latin typeface="Cambria Math" panose="02040503050406030204" pitchFamily="18" charset="0"/>
                              <a:ea typeface="MS Mincho" charset="0"/>
                              <a:cs typeface="Cambria Math" panose="02040503050406030204" pitchFamily="18" charset="0"/>
                            </a:rPr>
                            <m:t>1</m:t>
                          </m:r>
                        </m:e>
                      </m:d>
                      <m:r>
                        <a:rPr lang="en-US" altLang="zh-CN" sz="1800" b="0" i="1" dirty="0" smtClean="0">
                          <a:latin typeface="Cambria Math" panose="02040503050406030204" pitchFamily="18" charset="0"/>
                          <a:ea typeface="MS Mincho" charset="0"/>
                          <a:cs typeface="Cambria Math" panose="02040503050406030204" pitchFamily="18" charset="0"/>
                        </a:rPr>
                        <m:t>×</m:t>
                      </m:r>
                      <m:r>
                        <a:rPr lang="en-US" altLang="zh-CN" sz="1800" b="0" i="1" dirty="0" smtClean="0">
                          <a:latin typeface="Cambria Math" panose="02040503050406030204" pitchFamily="18" charset="0"/>
                          <a:ea typeface="MS Mincho" charset="0"/>
                          <a:cs typeface="Cambria Math" panose="02040503050406030204" pitchFamily="18" charset="0"/>
                        </a:rPr>
                        <m:t>100</m:t>
                      </m:r>
                      <m:r>
                        <a:rPr lang="en-US" altLang="zh-CN" sz="1800" b="0" i="1" dirty="0" smtClean="0">
                          <a:latin typeface="Cambria Math" panose="02040503050406030204" pitchFamily="18" charset="0"/>
                          <a:ea typeface="MS Mincho" charset="0"/>
                          <a:cs typeface="Cambria Math" panose="02040503050406030204" pitchFamily="18" charset="0"/>
                        </a:rPr>
                        <m:t>%</m:t>
                      </m:r>
                    </m:oMath>
                  </m:oMathPara>
                </a14:m>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13" name="文本框 12"/>
              <p:cNvSpPr txBox="1">
                <a:spLocks noRot="1" noChangeAspect="1" noMove="1" noResize="1" noEditPoints="1" noAdjustHandles="1" noChangeArrowheads="1" noChangeShapeType="1" noTextEdit="1"/>
              </p:cNvSpPr>
              <p:nvPr/>
            </p:nvSpPr>
            <p:spPr>
              <a:xfrm>
                <a:off x="1432560" y="4838700"/>
                <a:ext cx="2696210" cy="660400"/>
              </a:xfrm>
              <a:prstGeom prst="rect">
                <a:avLst/>
              </a:prstGeom>
              <a:blipFill rotWithShape="1">
                <a:blip r:embed="rId5"/>
                <a:stretch>
                  <a:fillRect r="-777" b="-38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1271905" y="5931535"/>
                <a:ext cx="3018155" cy="662305"/>
              </a:xfrm>
              <a:prstGeom prst="rect">
                <a:avLst/>
              </a:prstGeom>
              <a:noFill/>
            </p:spPr>
            <p:txBody>
              <a:bodyPr wrap="none" rtlCol="0">
                <a:noAutofit/>
              </a:bodyPr>
              <a:lstStyle/>
              <a:p>
                <a14:m>
                  <m:oMathPara xmlns:m="http://schemas.openxmlformats.org/officeDocument/2006/math">
                    <m:oMathParaPr>
                      <m:jc m:val="centerGroup"/>
                    </m:oMathParaPr>
                    <m:oMath xmlns:m="http://schemas.openxmlformats.org/officeDocument/2006/math">
                      <m:sSub>
                        <m:sSubPr>
                          <m:ctrlPr>
                            <a:rPr lang="en-US" altLang="zh-CN" sz="1800" i="1" dirty="0" smtClean="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sz="1800" b="0" i="1" dirty="0" smtClean="0">
                              <a:latin typeface="Cambria Math" panose="02040503050406030204" pitchFamily="18" charset="0"/>
                              <a:ea typeface="微软雅黑" panose="020B0503020204020204" pitchFamily="34" charset="-122"/>
                              <a:cs typeface="Cambria Math" panose="02040503050406030204" pitchFamily="18" charset="0"/>
                            </a:rPr>
                            <m:t>𝐴</m:t>
                          </m:r>
                        </m:e>
                        <m:sub>
                          <m:r>
                            <a:rPr lang="en-US" altLang="zh-CN" sz="1800" b="0" i="1" dirty="0" smtClean="0">
                              <a:latin typeface="Cambria Math" panose="02040503050406030204" pitchFamily="18" charset="0"/>
                              <a:ea typeface="微软雅黑" panose="020B0503020204020204" pitchFamily="34" charset="-122"/>
                              <a:cs typeface="Cambria Math" panose="02040503050406030204" pitchFamily="18" charset="0"/>
                            </a:rPr>
                            <m:t>𝑘𝑗</m:t>
                          </m:r>
                        </m:sub>
                      </m:sSub>
                      <m:r>
                        <a:rPr lang="en-US" altLang="zh-CN" sz="1800" b="0" i="1" dirty="0" smtClean="0">
                          <a:latin typeface="Cambria Math" panose="02040503050406030204" pitchFamily="18" charset="0"/>
                          <a:ea typeface="MS Mincho" charset="0"/>
                          <a:cs typeface="Cambria Math" panose="02040503050406030204" pitchFamily="18" charset="0"/>
                        </a:rPr>
                        <m:t>=</m:t>
                      </m:r>
                      <m:d>
                        <m:dPr>
                          <m:ctrlPr>
                            <a:rPr lang="en-US" altLang="zh-CN" sz="1800" b="0" i="1" dirty="0" smtClean="0">
                              <a:latin typeface="Cambria Math" panose="02040503050406030204" pitchFamily="18" charset="0"/>
                              <a:ea typeface="微软雅黑" panose="020B0503020204020204" pitchFamily="34" charset="-122"/>
                              <a:cs typeface="Cambria Math" panose="02040503050406030204" pitchFamily="18" charset="0"/>
                            </a:rPr>
                          </m:ctrlPr>
                        </m:dPr>
                        <m:e>
                          <m:f>
                            <m:fPr>
                              <m:ctrlPr>
                                <a:rPr lang="en-US" altLang="zh-CN" sz="1800" b="0" i="1" dirty="0" smtClean="0">
                                  <a:latin typeface="Cambria Math" panose="02040503050406030204" pitchFamily="18" charset="0"/>
                                  <a:ea typeface="微软雅黑" panose="020B0503020204020204" pitchFamily="34" charset="-122"/>
                                  <a:cs typeface="Cambria Math" panose="02040503050406030204" pitchFamily="18" charset="0"/>
                                </a:rPr>
                              </m:ctrlPr>
                            </m:fPr>
                            <m:num>
                              <m:nary>
                                <m:naryPr>
                                  <m:chr m:val="∑"/>
                                  <m:supHide m:val="on"/>
                                  <m:ctrlPr>
                                    <a:rPr lang="en-US" altLang="zh-CN" sz="1800" b="0" i="1" dirty="0" smtClean="0">
                                      <a:latin typeface="Cambria Math" panose="02040503050406030204" pitchFamily="18" charset="0"/>
                                      <a:ea typeface="微软雅黑" panose="020B0503020204020204" pitchFamily="34" charset="-122"/>
                                      <a:cs typeface="Cambria Math" panose="02040503050406030204" pitchFamily="18" charset="0"/>
                                    </a:rPr>
                                  </m:ctrlPr>
                                </m:naryPr>
                                <m:sub>
                                  <m:r>
                                    <m:rPr>
                                      <m:brk m:alnAt="7"/>
                                    </m:rPr>
                                    <a:rPr lang="en-US" altLang="zh-CN" sz="1800" b="0" i="1" dirty="0" smtClean="0">
                                      <a:latin typeface="Cambria Math" panose="02040503050406030204" pitchFamily="18" charset="0"/>
                                      <a:ea typeface="微软雅黑" panose="020B0503020204020204" pitchFamily="34" charset="-122"/>
                                      <a:cs typeface="Cambria Math" panose="02040503050406030204" pitchFamily="18" charset="0"/>
                                    </a:rPr>
                                    <m:t>𝑖</m:t>
                                  </m:r>
                                  <m:r>
                                    <a:rPr lang="en-US" altLang="zh-CN" sz="1800" b="0" i="1" dirty="0" smtClean="0">
                                      <a:latin typeface="Cambria Math" panose="02040503050406030204" pitchFamily="18" charset="0"/>
                                      <a:ea typeface="MS Mincho" charset="0"/>
                                      <a:cs typeface="Cambria Math" panose="02040503050406030204" pitchFamily="18" charset="0"/>
                                    </a:rPr>
                                    <m:t>(</m:t>
                                  </m:r>
                                  <m:r>
                                    <a:rPr lang="en-US" altLang="zh-CN" sz="1800" b="0" i="1" dirty="0" smtClean="0">
                                      <a:latin typeface="Cambria Math" panose="02040503050406030204" pitchFamily="18" charset="0"/>
                                      <a:ea typeface="微软雅黑" panose="020B0503020204020204" pitchFamily="34" charset="-122"/>
                                      <a:cs typeface="Cambria Math" panose="02040503050406030204" pitchFamily="18" charset="0"/>
                                    </a:rPr>
                                    <m:t>𝑖</m:t>
                                  </m:r>
                                  <m:r>
                                    <a:rPr lang="en-US" altLang="zh-CN" sz="1800" b="0" i="1" dirty="0" smtClean="0">
                                      <a:latin typeface="Cambria Math" panose="02040503050406030204" pitchFamily="18" charset="0"/>
                                      <a:ea typeface="MS Mincho" charset="0"/>
                                      <a:cs typeface="Cambria Math" panose="02040503050406030204" pitchFamily="18" charset="0"/>
                                    </a:rPr>
                                    <m:t>∈</m:t>
                                  </m:r>
                                  <m:r>
                                    <a:rPr lang="en-US" altLang="zh-CN" sz="1800" b="0" i="1" dirty="0" smtClean="0">
                                      <a:latin typeface="Cambria Math" panose="02040503050406030204" pitchFamily="18" charset="0"/>
                                      <a:ea typeface="微软雅黑" panose="020B0503020204020204" pitchFamily="34" charset="-122"/>
                                      <a:cs typeface="Cambria Math" panose="02040503050406030204" pitchFamily="18" charset="0"/>
                                    </a:rPr>
                                    <m:t>𝑘</m:t>
                                  </m:r>
                                  <m:r>
                                    <a:rPr lang="en-US" altLang="zh-CN" sz="1800" b="0" i="1" dirty="0" smtClean="0">
                                      <a:latin typeface="Cambria Math" panose="02040503050406030204" pitchFamily="18" charset="0"/>
                                      <a:ea typeface="MS Mincho" charset="0"/>
                                      <a:cs typeface="Cambria Math" panose="02040503050406030204" pitchFamily="18" charset="0"/>
                                    </a:rPr>
                                    <m:t>)</m:t>
                                  </m:r>
                                </m:sub>
                                <m:sup/>
                                <m:e>
                                  <m:sSub>
                                    <m:sSubPr>
                                      <m:ctrlPr>
                                        <a:rPr lang="en-US" altLang="zh-CN"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i="1" dirty="0">
                                          <a:latin typeface="Cambria Math" panose="02040503050406030204" pitchFamily="18" charset="0"/>
                                          <a:ea typeface="微软雅黑" panose="020B0503020204020204" pitchFamily="34" charset="-122"/>
                                          <a:cs typeface="Cambria Math" panose="02040503050406030204" pitchFamily="18" charset="0"/>
                                        </a:rPr>
                                        <m:t>𝑅</m:t>
                                      </m:r>
                                    </m:e>
                                    <m:sub>
                                      <m:r>
                                        <a:rPr lang="en-US" altLang="zh-CN" i="1" dirty="0">
                                          <a:latin typeface="Cambria Math" panose="02040503050406030204" pitchFamily="18" charset="0"/>
                                          <a:ea typeface="微软雅黑" panose="020B0503020204020204" pitchFamily="34" charset="-122"/>
                                          <a:cs typeface="Cambria Math" panose="02040503050406030204" pitchFamily="18" charset="0"/>
                                        </a:rPr>
                                        <m:t>𝑖𝑗</m:t>
                                      </m:r>
                                    </m:sub>
                                  </m:sSub>
                                  <m:sSub>
                                    <m:sSubPr>
                                      <m:ctrlPr>
                                        <a:rPr lang="en-US" altLang="zh-CN" i="1" dirty="0" smtClean="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b="0" i="1" dirty="0" smtClean="0">
                                          <a:latin typeface="Cambria Math" panose="02040503050406030204" pitchFamily="18" charset="0"/>
                                          <a:ea typeface="微软雅黑" panose="020B0503020204020204" pitchFamily="34" charset="-122"/>
                                          <a:cs typeface="Cambria Math" panose="02040503050406030204" pitchFamily="18" charset="0"/>
                                        </a:rPr>
                                        <m:t>𝐿</m:t>
                                      </m:r>
                                    </m:e>
                                    <m:sub>
                                      <m:r>
                                        <a:rPr lang="en-US" altLang="zh-CN" b="0" i="1" dirty="0" smtClean="0">
                                          <a:latin typeface="Cambria Math" panose="02040503050406030204" pitchFamily="18" charset="0"/>
                                          <a:ea typeface="微软雅黑" panose="020B0503020204020204" pitchFamily="34" charset="-122"/>
                                          <a:cs typeface="Cambria Math" panose="02040503050406030204" pitchFamily="18" charset="0"/>
                                        </a:rPr>
                                        <m:t>𝑖</m:t>
                                      </m:r>
                                    </m:sub>
                                  </m:sSub>
                                </m:e>
                              </m:nary>
                            </m:num>
                            <m:den>
                              <m:nary>
                                <m:naryPr>
                                  <m:chr m:val="∑"/>
                                  <m:supHide m:val="on"/>
                                  <m:ctrlPr>
                                    <a:rPr lang="en-US" altLang="zh-CN" i="1" dirty="0">
                                      <a:latin typeface="Cambria Math" panose="02040503050406030204" pitchFamily="18" charset="0"/>
                                      <a:ea typeface="微软雅黑" panose="020B0503020204020204" pitchFamily="34" charset="-122"/>
                                      <a:cs typeface="Cambria Math" panose="02040503050406030204" pitchFamily="18" charset="0"/>
                                    </a:rPr>
                                  </m:ctrlPr>
                                </m:naryPr>
                                <m:sub>
                                  <m:r>
                                    <m:rPr>
                                      <m:brk m:alnAt="7"/>
                                    </m:rPr>
                                    <a:rPr lang="en-US" altLang="zh-CN" i="1" dirty="0">
                                      <a:latin typeface="Cambria Math" panose="02040503050406030204" pitchFamily="18" charset="0"/>
                                      <a:ea typeface="微软雅黑" panose="020B0503020204020204" pitchFamily="34" charset="-122"/>
                                      <a:cs typeface="Cambria Math" panose="02040503050406030204" pitchFamily="18" charset="0"/>
                                    </a:rPr>
                                    <m:t>𝑖</m:t>
                                  </m:r>
                                </m:sub>
                                <m:sup/>
                                <m:e>
                                  <m:sSub>
                                    <m:sSubPr>
                                      <m:ctrlPr>
                                        <a:rPr lang="en-US" altLang="zh-CN" i="1" dirty="0">
                                          <a:latin typeface="Cambria Math" panose="02040503050406030204" pitchFamily="18" charset="0"/>
                                          <a:ea typeface="微软雅黑" panose="020B0503020204020204" pitchFamily="34" charset="-122"/>
                                          <a:cs typeface="Cambria Math" panose="02040503050406030204" pitchFamily="18" charset="0"/>
                                        </a:rPr>
                                      </m:ctrlPr>
                                    </m:sSubPr>
                                    <m:e>
                                      <m:r>
                                        <a:rPr lang="en-US" altLang="zh-CN" i="1" dirty="0">
                                          <a:latin typeface="Cambria Math" panose="02040503050406030204" pitchFamily="18" charset="0"/>
                                          <a:ea typeface="微软雅黑" panose="020B0503020204020204" pitchFamily="34" charset="-122"/>
                                          <a:cs typeface="Cambria Math" panose="02040503050406030204" pitchFamily="18" charset="0"/>
                                        </a:rPr>
                                        <m:t>𝐿</m:t>
                                      </m:r>
                                    </m:e>
                                    <m:sub>
                                      <m:r>
                                        <a:rPr lang="en-US" altLang="zh-CN" i="1" dirty="0">
                                          <a:latin typeface="Cambria Math" panose="02040503050406030204" pitchFamily="18" charset="0"/>
                                          <a:ea typeface="微软雅黑" panose="020B0503020204020204" pitchFamily="34" charset="-122"/>
                                          <a:cs typeface="Cambria Math" panose="02040503050406030204" pitchFamily="18" charset="0"/>
                                        </a:rPr>
                                        <m:t>𝑖</m:t>
                                      </m:r>
                                    </m:sub>
                                  </m:sSub>
                                </m:e>
                              </m:nary>
                            </m:den>
                          </m:f>
                        </m:e>
                      </m:d>
                      <m:r>
                        <a:rPr lang="en-US" altLang="zh-CN" sz="1800" b="0" i="1" dirty="0" smtClean="0">
                          <a:latin typeface="Cambria Math" panose="02040503050406030204" pitchFamily="18" charset="0"/>
                          <a:ea typeface="MS Mincho" charset="0"/>
                          <a:cs typeface="Cambria Math" panose="02040503050406030204" pitchFamily="18" charset="0"/>
                        </a:rPr>
                        <m:t>×</m:t>
                      </m:r>
                      <m:r>
                        <a:rPr lang="en-US" altLang="zh-CN" sz="1800" b="0" i="1" dirty="0" smtClean="0">
                          <a:latin typeface="Cambria Math" panose="02040503050406030204" pitchFamily="18" charset="0"/>
                          <a:ea typeface="MS Mincho" charset="0"/>
                          <a:cs typeface="Cambria Math" panose="02040503050406030204" pitchFamily="18" charset="0"/>
                        </a:rPr>
                        <m:t>100</m:t>
                      </m:r>
                      <m:r>
                        <a:rPr lang="en-US" altLang="zh-CN" sz="1800" b="0" i="1" dirty="0" smtClean="0">
                          <a:latin typeface="Cambria Math" panose="02040503050406030204" pitchFamily="18" charset="0"/>
                          <a:ea typeface="MS Mincho" charset="0"/>
                          <a:cs typeface="Cambria Math" panose="02040503050406030204" pitchFamily="18" charset="0"/>
                        </a:rPr>
                        <m:t>%</m:t>
                      </m:r>
                    </m:oMath>
                  </m:oMathPara>
                </a14:m>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p:sp>
            <p:nvSpPr>
              <p:cNvPr id="15" name="文本框 14"/>
              <p:cNvSpPr txBox="1">
                <a:spLocks noRot="1" noChangeAspect="1" noMove="1" noResize="1" noEditPoints="1" noAdjustHandles="1" noChangeArrowheads="1" noChangeShapeType="1" noTextEdit="1"/>
              </p:cNvSpPr>
              <p:nvPr/>
            </p:nvSpPr>
            <p:spPr>
              <a:xfrm>
                <a:off x="1271905" y="5931535"/>
                <a:ext cx="3018155" cy="662305"/>
              </a:xfrm>
              <a:prstGeom prst="rect">
                <a:avLst/>
              </a:prstGeom>
              <a:blipFill rotWithShape="1">
                <a:blip r:embed="rId6"/>
                <a:stretch>
                  <a:fillRect r="-1325" b="-5081"/>
                </a:stretch>
              </a:blipFill>
            </p:spPr>
            <p:txBody>
              <a:bodyPr/>
              <a:lstStyle/>
              <a:p>
                <a:r>
                  <a:rPr lang="zh-CN" altLang="en-US">
                    <a:noFill/>
                  </a:rPr>
                  <a:t> </a:t>
                </a:r>
              </a:p>
            </p:txBody>
          </p:sp>
        </mc:Fallback>
      </mc:AlternateContent>
      <p:graphicFrame>
        <p:nvGraphicFramePr>
          <p:cNvPr id="16" name="表格 9"/>
          <p:cNvGraphicFramePr>
            <a:graphicFrameLocks noGrp="1"/>
          </p:cNvGraphicFramePr>
          <p:nvPr/>
        </p:nvGraphicFramePr>
        <p:xfrm>
          <a:off x="5534025" y="4699635"/>
          <a:ext cx="5120640" cy="1986280"/>
        </p:xfrm>
        <a:graphic>
          <a:graphicData uri="http://schemas.openxmlformats.org/drawingml/2006/table">
            <a:tbl>
              <a:tblPr firstRow="1" bandRow="1">
                <a:effectLst/>
                <a:tableStyleId>{5940675A-B579-460E-94D1-54222C63F5DA}</a:tableStyleId>
              </a:tblPr>
              <a:tblGrid>
                <a:gridCol w="2272665"/>
                <a:gridCol w="1141095"/>
                <a:gridCol w="1706880"/>
              </a:tblGrid>
              <a:tr h="340360">
                <a:tc>
                  <a:txBody>
                    <a:bodyPr/>
                    <a:lstStyle/>
                    <a:p>
                      <a:r>
                        <a:rPr lang="zh-CN" altLang="en-US" sz="1400" b="1" dirty="0">
                          <a:solidFill>
                            <a:srgbClr val="FFFFFF"/>
                          </a:solidFill>
                          <a:latin typeface="微软雅黑" panose="020B0503020204020204" pitchFamily="34" charset="-122"/>
                          <a:ea typeface="微软雅黑" panose="020B0503020204020204" pitchFamily="34" charset="-122"/>
                        </a:rPr>
                        <a:t>道路类型</a:t>
                      </a:r>
                      <a:endParaRPr lang="zh-CN" altLang="en-US" sz="1400" b="1" dirty="0">
                        <a:solidFill>
                          <a:srgbClr val="FFFFFF"/>
                        </a:solidFill>
                        <a:latin typeface="微软雅黑" panose="020B0503020204020204" pitchFamily="34" charset="-122"/>
                        <a:ea typeface="微软雅黑" panose="020B0503020204020204" pitchFamily="34" charset="-122"/>
                      </a:endParaRP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solidFill>
                      <a:schemeClr val="accent6">
                        <a:lumMod val="50000"/>
                      </a:schemeClr>
                    </a:solidFill>
                  </a:tcPr>
                </a:tc>
                <a:tc>
                  <a:txBody>
                    <a:bodyPr/>
                    <a:lstStyle/>
                    <a:p>
                      <a:r>
                        <a:rPr lang="zh-CN" altLang="en-US" sz="1400" b="1" dirty="0">
                          <a:solidFill>
                            <a:srgbClr val="FFFFFF"/>
                          </a:solidFill>
                          <a:latin typeface="微软雅黑" panose="020B0503020204020204" pitchFamily="34" charset="-122"/>
                          <a:ea typeface="微软雅黑" panose="020B0503020204020204" pitchFamily="34" charset="-122"/>
                        </a:rPr>
                        <a:t>道路等级</a:t>
                      </a:r>
                      <a:endParaRPr lang="zh-CN" altLang="en-US" sz="1400" b="1" dirty="0">
                        <a:solidFill>
                          <a:srgbClr val="FFFFFF"/>
                        </a:solidFill>
                        <a:latin typeface="微软雅黑" panose="020B0503020204020204" pitchFamily="34" charset="-122"/>
                        <a:ea typeface="微软雅黑" panose="020B0503020204020204" pitchFamily="34" charset="-122"/>
                      </a:endParaRP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solidFill>
                      <a:schemeClr val="accent6">
                        <a:lumMod val="50000"/>
                      </a:schemeClr>
                    </a:solidFill>
                  </a:tcPr>
                </a:tc>
                <a:tc>
                  <a:txBody>
                    <a:bodyPr/>
                    <a:lstStyle/>
                    <a:p>
                      <a:r>
                        <a:rPr lang="zh-CN" altLang="en-US" sz="1400" b="1" dirty="0">
                          <a:solidFill>
                            <a:srgbClr val="FFFFFF"/>
                          </a:solidFill>
                          <a:latin typeface="微软雅黑" panose="020B0503020204020204" pitchFamily="34" charset="-122"/>
                          <a:ea typeface="微软雅黑" panose="020B0503020204020204" pitchFamily="34" charset="-122"/>
                        </a:rPr>
                        <a:t>道路限速</a:t>
                      </a:r>
                      <a:endParaRPr lang="zh-CN" altLang="en-US" sz="1400" b="1" dirty="0">
                        <a:solidFill>
                          <a:srgbClr val="FFFFFF"/>
                        </a:solidFill>
                        <a:latin typeface="微软雅黑" panose="020B0503020204020204" pitchFamily="34" charset="-122"/>
                        <a:ea typeface="微软雅黑" panose="020B0503020204020204" pitchFamily="34" charset="-122"/>
                      </a:endParaRP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solidFill>
                      <a:schemeClr val="accent6">
                        <a:lumMod val="50000"/>
                      </a:schemeClr>
                    </a:solidFill>
                  </a:tcPr>
                </a:tc>
              </a:tr>
              <a:tr h="274320">
                <a:tc>
                  <a:txBody>
                    <a:bodyPr/>
                    <a:lstStyle/>
                    <a:p>
                      <a:r>
                        <a:rPr lang="zh-CN" altLang="en-US" sz="1200" dirty="0">
                          <a:solidFill>
                            <a:srgbClr val="000000"/>
                          </a:solidFill>
                          <a:latin typeface="微软雅黑" panose="020B0503020204020204" pitchFamily="34" charset="-122"/>
                          <a:ea typeface="微软雅黑" panose="020B0503020204020204" pitchFamily="34" charset="-122"/>
                        </a:rPr>
                        <a:t>高速公路</a:t>
                      </a:r>
                      <a:endParaRPr lang="zh-CN" altLang="en-US" sz="1200" dirty="0">
                        <a:solidFill>
                          <a:srgbClr val="000000"/>
                        </a:solidFill>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solidFill>
                      <a:schemeClr val="accent6">
                        <a:lumMod val="40000"/>
                        <a:lumOff val="60000"/>
                      </a:schemeClr>
                    </a:solidFill>
                  </a:tcPr>
                </a:tc>
                <a:tc>
                  <a:txBody>
                    <a:bodyPr/>
                    <a:lstStyle/>
                    <a:p>
                      <a:r>
                        <a:rPr lang="en-US" altLang="zh-CN" sz="1200" dirty="0">
                          <a:solidFill>
                            <a:srgbClr val="000000"/>
                          </a:solidFill>
                          <a:latin typeface="微软雅黑" panose="020B0503020204020204" pitchFamily="34" charset="-122"/>
                          <a:ea typeface="微软雅黑" panose="020B0503020204020204" pitchFamily="34" charset="-122"/>
                        </a:rPr>
                        <a:t>2</a:t>
                      </a:r>
                      <a:endParaRPr lang="en-US" altLang="zh-CN" sz="1200" dirty="0">
                        <a:solidFill>
                          <a:srgbClr val="000000"/>
                        </a:solidFill>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solidFill>
                      <a:schemeClr val="accent6">
                        <a:lumMod val="40000"/>
                        <a:lumOff val="60000"/>
                      </a:schemeClr>
                    </a:solidFill>
                  </a:tcPr>
                </a:tc>
                <a:tc>
                  <a:txBody>
                    <a:bodyPr/>
                    <a:lstStyle/>
                    <a:p>
                      <a:r>
                        <a:rPr lang="en-US" altLang="zh-CN" sz="1200" dirty="0">
                          <a:solidFill>
                            <a:srgbClr val="000000"/>
                          </a:solidFill>
                          <a:latin typeface="微软雅黑" panose="020B0503020204020204" pitchFamily="34" charset="-122"/>
                          <a:ea typeface="微软雅黑" panose="020B0503020204020204" pitchFamily="34" charset="-122"/>
                        </a:rPr>
                        <a:t>120km/h</a:t>
                      </a:r>
                      <a:endParaRPr lang="en-US" altLang="zh-CN" sz="1200" dirty="0">
                        <a:solidFill>
                          <a:srgbClr val="000000"/>
                        </a:solidFill>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solidFill>
                      <a:schemeClr val="accent6">
                        <a:lumMod val="40000"/>
                        <a:lumOff val="60000"/>
                      </a:schemeClr>
                    </a:solidFill>
                  </a:tcPr>
                </a:tc>
              </a:tr>
              <a:tr h="274320">
                <a:tc>
                  <a:txBody>
                    <a:bodyPr/>
                    <a:lstStyle/>
                    <a:p>
                      <a:r>
                        <a:rPr lang="zh-CN" altLang="en-US" sz="1200" dirty="0">
                          <a:solidFill>
                            <a:srgbClr val="000000"/>
                          </a:solidFill>
                          <a:latin typeface="微软雅黑" panose="020B0503020204020204" pitchFamily="34" charset="-122"/>
                          <a:ea typeface="微软雅黑" panose="020B0503020204020204" pitchFamily="34" charset="-122"/>
                        </a:rPr>
                        <a:t>城市快速路</a:t>
                      </a:r>
                      <a:endParaRPr lang="zh-CN" altLang="en-US" sz="1200" dirty="0">
                        <a:solidFill>
                          <a:srgbClr val="000000"/>
                        </a:solidFill>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solidFill>
                      <a:schemeClr val="accent6">
                        <a:lumMod val="20000"/>
                        <a:lumOff val="80000"/>
                      </a:schemeClr>
                    </a:solidFill>
                  </a:tcPr>
                </a:tc>
                <a:tc>
                  <a:txBody>
                    <a:bodyPr/>
                    <a:lstStyle/>
                    <a:p>
                      <a:r>
                        <a:rPr lang="en-US" altLang="zh-CN" sz="1200" dirty="0">
                          <a:solidFill>
                            <a:srgbClr val="000000"/>
                          </a:solidFill>
                          <a:latin typeface="微软雅黑" panose="020B0503020204020204" pitchFamily="34" charset="-122"/>
                          <a:ea typeface="微软雅黑" panose="020B0503020204020204" pitchFamily="34" charset="-122"/>
                        </a:rPr>
                        <a:t>3</a:t>
                      </a:r>
                      <a:endParaRPr lang="en-US" altLang="zh-CN" sz="1200" dirty="0">
                        <a:solidFill>
                          <a:srgbClr val="000000"/>
                        </a:solidFill>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solidFill>
                      <a:schemeClr val="accent6">
                        <a:lumMod val="20000"/>
                        <a:lumOff val="80000"/>
                      </a:schemeClr>
                    </a:solidFill>
                  </a:tcPr>
                </a:tc>
                <a:tc>
                  <a:txBody>
                    <a:bodyPr/>
                    <a:lstStyle/>
                    <a:p>
                      <a:r>
                        <a:rPr lang="en-US" altLang="zh-CN" sz="1200" dirty="0">
                          <a:solidFill>
                            <a:srgbClr val="000000"/>
                          </a:solidFill>
                          <a:latin typeface="微软雅黑" panose="020B0503020204020204" pitchFamily="34" charset="-122"/>
                          <a:ea typeface="微软雅黑" panose="020B0503020204020204" pitchFamily="34" charset="-122"/>
                        </a:rPr>
                        <a:t>100km/h</a:t>
                      </a:r>
                      <a:endParaRPr lang="en-US" altLang="zh-CN" sz="1200" dirty="0">
                        <a:solidFill>
                          <a:srgbClr val="000000"/>
                        </a:solidFill>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solidFill>
                      <a:schemeClr val="accent6">
                        <a:lumMod val="20000"/>
                        <a:lumOff val="80000"/>
                      </a:schemeClr>
                    </a:solidFill>
                  </a:tcPr>
                </a:tc>
              </a:tr>
              <a:tr h="274320">
                <a:tc>
                  <a:txBody>
                    <a:bodyPr/>
                    <a:lstStyle/>
                    <a:p>
                      <a:r>
                        <a:rPr lang="zh-CN" altLang="en-US" sz="1200" dirty="0">
                          <a:solidFill>
                            <a:srgbClr val="000000"/>
                          </a:solidFill>
                          <a:latin typeface="微软雅黑" panose="020B0503020204020204" pitchFamily="34" charset="-122"/>
                          <a:ea typeface="微软雅黑" panose="020B0503020204020204" pitchFamily="34" charset="-122"/>
                        </a:rPr>
                        <a:t>城市主干道、国道、省道</a:t>
                      </a:r>
                      <a:endParaRPr lang="zh-CN" altLang="en-US" sz="1200" dirty="0">
                        <a:solidFill>
                          <a:srgbClr val="000000"/>
                        </a:solidFill>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solidFill>
                      <a:schemeClr val="accent6">
                        <a:lumMod val="40000"/>
                        <a:lumOff val="60000"/>
                      </a:schemeClr>
                    </a:solidFill>
                  </a:tcPr>
                </a:tc>
                <a:tc>
                  <a:txBody>
                    <a:bodyPr/>
                    <a:lstStyle/>
                    <a:p>
                      <a:r>
                        <a:rPr lang="en-US" altLang="zh-CN" sz="1200" dirty="0">
                          <a:solidFill>
                            <a:srgbClr val="000000"/>
                          </a:solidFill>
                          <a:latin typeface="微软雅黑" panose="020B0503020204020204" pitchFamily="34" charset="-122"/>
                          <a:ea typeface="微软雅黑" panose="020B0503020204020204" pitchFamily="34" charset="-122"/>
                        </a:rPr>
                        <a:t>4</a:t>
                      </a:r>
                      <a:endParaRPr lang="en-US" altLang="zh-CN" sz="1200" dirty="0">
                        <a:solidFill>
                          <a:srgbClr val="000000"/>
                        </a:solidFill>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solidFill>
                      <a:schemeClr val="accent6">
                        <a:lumMod val="40000"/>
                        <a:lumOff val="60000"/>
                      </a:schemeClr>
                    </a:solidFill>
                  </a:tcPr>
                </a:tc>
                <a:tc>
                  <a:txBody>
                    <a:bodyPr/>
                    <a:lstStyle/>
                    <a:p>
                      <a:r>
                        <a:rPr lang="en-US" altLang="zh-CN" sz="1200" dirty="0">
                          <a:solidFill>
                            <a:srgbClr val="000000"/>
                          </a:solidFill>
                          <a:latin typeface="微软雅黑" panose="020B0503020204020204" pitchFamily="34" charset="-122"/>
                          <a:ea typeface="微软雅黑" panose="020B0503020204020204" pitchFamily="34" charset="-122"/>
                        </a:rPr>
                        <a:t>80km/h</a:t>
                      </a:r>
                      <a:endParaRPr lang="en-US" altLang="zh-CN" sz="1200" dirty="0">
                        <a:solidFill>
                          <a:srgbClr val="000000"/>
                        </a:solidFill>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solidFill>
                      <a:schemeClr val="accent6">
                        <a:lumMod val="40000"/>
                        <a:lumOff val="60000"/>
                      </a:schemeClr>
                    </a:solidFill>
                  </a:tcPr>
                </a:tc>
              </a:tr>
              <a:tr h="274320">
                <a:tc>
                  <a:txBody>
                    <a:bodyPr/>
                    <a:lstStyle/>
                    <a:p>
                      <a:r>
                        <a:rPr lang="zh-CN" altLang="en-US" sz="1200" dirty="0">
                          <a:solidFill>
                            <a:srgbClr val="000000"/>
                          </a:solidFill>
                          <a:latin typeface="微软雅黑" panose="020B0503020204020204" pitchFamily="34" charset="-122"/>
                          <a:ea typeface="微软雅黑" panose="020B0503020204020204" pitchFamily="34" charset="-122"/>
                        </a:rPr>
                        <a:t>城市次干道、县道</a:t>
                      </a:r>
                      <a:endParaRPr lang="zh-CN" altLang="en-US" sz="1200" dirty="0">
                        <a:solidFill>
                          <a:srgbClr val="000000"/>
                        </a:solidFill>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solidFill>
                      <a:schemeClr val="accent6">
                        <a:lumMod val="20000"/>
                        <a:lumOff val="80000"/>
                      </a:schemeClr>
                    </a:solidFill>
                  </a:tcPr>
                </a:tc>
                <a:tc>
                  <a:txBody>
                    <a:bodyPr/>
                    <a:lstStyle/>
                    <a:p>
                      <a:r>
                        <a:rPr lang="en-US" altLang="zh-CN" sz="1200" dirty="0">
                          <a:solidFill>
                            <a:srgbClr val="000000"/>
                          </a:solidFill>
                          <a:latin typeface="微软雅黑" panose="020B0503020204020204" pitchFamily="34" charset="-122"/>
                          <a:ea typeface="微软雅黑" panose="020B0503020204020204" pitchFamily="34" charset="-122"/>
                        </a:rPr>
                        <a:t>5</a:t>
                      </a:r>
                      <a:endParaRPr lang="en-US" altLang="zh-CN" sz="1200" dirty="0">
                        <a:solidFill>
                          <a:srgbClr val="000000"/>
                        </a:solidFill>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solidFill>
                      <a:schemeClr val="accent6">
                        <a:lumMod val="20000"/>
                        <a:lumOff val="80000"/>
                      </a:schemeClr>
                    </a:solidFill>
                  </a:tcPr>
                </a:tc>
                <a:tc>
                  <a:txBody>
                    <a:bodyPr/>
                    <a:lstStyle/>
                    <a:p>
                      <a:r>
                        <a:rPr lang="en-US" altLang="zh-CN" sz="1200" dirty="0">
                          <a:solidFill>
                            <a:srgbClr val="000000"/>
                          </a:solidFill>
                          <a:latin typeface="微软雅黑" panose="020B0503020204020204" pitchFamily="34" charset="-122"/>
                          <a:ea typeface="微软雅黑" panose="020B0503020204020204" pitchFamily="34" charset="-122"/>
                        </a:rPr>
                        <a:t>60km/h</a:t>
                      </a:r>
                      <a:endParaRPr lang="en-US" altLang="zh-CN" sz="1200" dirty="0">
                        <a:solidFill>
                          <a:srgbClr val="000000"/>
                        </a:solidFill>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solidFill>
                      <a:schemeClr val="accent6">
                        <a:lumMod val="20000"/>
                        <a:lumOff val="80000"/>
                      </a:schemeClr>
                    </a:solidFill>
                  </a:tcPr>
                </a:tc>
              </a:tr>
              <a:tr h="274320">
                <a:tc>
                  <a:txBody>
                    <a:bodyPr/>
                    <a:lstStyle/>
                    <a:p>
                      <a:r>
                        <a:rPr lang="zh-CN" altLang="en-US" sz="1200" dirty="0">
                          <a:solidFill>
                            <a:srgbClr val="000000"/>
                          </a:solidFill>
                          <a:latin typeface="微软雅黑" panose="020B0503020204020204" pitchFamily="34" charset="-122"/>
                          <a:ea typeface="微软雅黑" panose="020B0503020204020204" pitchFamily="34" charset="-122"/>
                        </a:rPr>
                        <a:t>村道</a:t>
                      </a:r>
                      <a:endParaRPr lang="zh-CN" altLang="en-US" sz="1200" dirty="0">
                        <a:solidFill>
                          <a:srgbClr val="000000"/>
                        </a:solidFill>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solidFill>
                      <a:schemeClr val="accent6">
                        <a:lumMod val="40000"/>
                        <a:lumOff val="60000"/>
                      </a:schemeClr>
                    </a:solidFill>
                  </a:tcPr>
                </a:tc>
                <a:tc>
                  <a:txBody>
                    <a:bodyPr/>
                    <a:lstStyle/>
                    <a:p>
                      <a:r>
                        <a:rPr lang="en-US" altLang="zh-CN" sz="1200" dirty="0">
                          <a:solidFill>
                            <a:srgbClr val="000000"/>
                          </a:solidFill>
                          <a:latin typeface="微软雅黑" panose="020B0503020204020204" pitchFamily="34" charset="-122"/>
                          <a:ea typeface="微软雅黑" panose="020B0503020204020204" pitchFamily="34" charset="-122"/>
                        </a:rPr>
                        <a:t>6</a:t>
                      </a:r>
                      <a:endParaRPr lang="en-US" altLang="zh-CN" sz="1200" dirty="0">
                        <a:solidFill>
                          <a:srgbClr val="000000"/>
                        </a:solidFill>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solidFill>
                      <a:schemeClr val="accent6">
                        <a:lumMod val="40000"/>
                        <a:lumOff val="60000"/>
                      </a:schemeClr>
                    </a:solidFill>
                  </a:tcPr>
                </a:tc>
                <a:tc>
                  <a:txBody>
                    <a:bodyPr/>
                    <a:lstStyle/>
                    <a:p>
                      <a:r>
                        <a:rPr lang="en-US" altLang="zh-CN" sz="1200" dirty="0">
                          <a:solidFill>
                            <a:srgbClr val="000000"/>
                          </a:solidFill>
                          <a:latin typeface="微软雅黑" panose="020B0503020204020204" pitchFamily="34" charset="-122"/>
                          <a:ea typeface="微软雅黑" panose="020B0503020204020204" pitchFamily="34" charset="-122"/>
                        </a:rPr>
                        <a:t>40km/h</a:t>
                      </a:r>
                      <a:endParaRPr lang="en-US" altLang="zh-CN" sz="1200" dirty="0">
                        <a:solidFill>
                          <a:srgbClr val="000000"/>
                        </a:solidFill>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solidFill>
                      <a:schemeClr val="accent6">
                        <a:lumMod val="40000"/>
                        <a:lumOff val="60000"/>
                      </a:schemeClr>
                    </a:solidFill>
                  </a:tcPr>
                </a:tc>
              </a:tr>
              <a:tr h="274320">
                <a:tc>
                  <a:txBody>
                    <a:bodyPr/>
                    <a:lstStyle/>
                    <a:p>
                      <a:r>
                        <a:rPr lang="zh-CN" altLang="en-US" sz="1200" dirty="0">
                          <a:solidFill>
                            <a:srgbClr val="000000"/>
                          </a:solidFill>
                          <a:latin typeface="微软雅黑" panose="020B0503020204020204" pitchFamily="34" charset="-122"/>
                          <a:ea typeface="微软雅黑" panose="020B0503020204020204" pitchFamily="34" charset="-122"/>
                        </a:rPr>
                        <a:t>内部道路</a:t>
                      </a:r>
                      <a:endParaRPr lang="zh-CN" altLang="en-US" sz="1200" dirty="0">
                        <a:solidFill>
                          <a:srgbClr val="000000"/>
                        </a:solidFill>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solidFill>
                      <a:schemeClr val="accent6">
                        <a:lumMod val="20000"/>
                        <a:lumOff val="80000"/>
                      </a:schemeClr>
                    </a:solidFill>
                  </a:tcPr>
                </a:tc>
                <a:tc>
                  <a:txBody>
                    <a:bodyPr/>
                    <a:lstStyle/>
                    <a:p>
                      <a:r>
                        <a:rPr lang="en-US" altLang="zh-CN" sz="1200" dirty="0">
                          <a:solidFill>
                            <a:srgbClr val="000000"/>
                          </a:solidFill>
                          <a:latin typeface="微软雅黑" panose="020B0503020204020204" pitchFamily="34" charset="-122"/>
                          <a:ea typeface="微软雅黑" panose="020B0503020204020204" pitchFamily="34" charset="-122"/>
                        </a:rPr>
                        <a:t>7</a:t>
                      </a:r>
                      <a:endParaRPr lang="en-US" altLang="zh-CN" sz="1200" dirty="0">
                        <a:solidFill>
                          <a:srgbClr val="000000"/>
                        </a:solidFill>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solidFill>
                      <a:schemeClr val="accent6">
                        <a:lumMod val="20000"/>
                        <a:lumOff val="80000"/>
                      </a:schemeClr>
                    </a:solidFill>
                  </a:tcPr>
                </a:tc>
                <a:tc>
                  <a:txBody>
                    <a:bodyPr/>
                    <a:lstStyle/>
                    <a:p>
                      <a:r>
                        <a:rPr lang="en-US" altLang="zh-CN" sz="1200" dirty="0">
                          <a:solidFill>
                            <a:srgbClr val="000000"/>
                          </a:solidFill>
                          <a:latin typeface="微软雅黑" panose="020B0503020204020204" pitchFamily="34" charset="-122"/>
                          <a:ea typeface="微软雅黑" panose="020B0503020204020204" pitchFamily="34" charset="-122"/>
                        </a:rPr>
                        <a:t>30km/h</a:t>
                      </a:r>
                      <a:endParaRPr lang="en-US" altLang="zh-CN" sz="1200" dirty="0">
                        <a:solidFill>
                          <a:srgbClr val="000000"/>
                        </a:solidFill>
                        <a:latin typeface="微软雅黑" panose="020B0503020204020204" pitchFamily="34" charset="-122"/>
                        <a:ea typeface="微软雅黑" panose="020B0503020204020204" pitchFamily="34" charset="-122"/>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solidFill>
                      <a:schemeClr val="accent6">
                        <a:lumMod val="20000"/>
                        <a:lumOff val="80000"/>
                      </a:schemeClr>
                    </a:solidFill>
                  </a:tcPr>
                </a:tc>
              </a:tr>
            </a:tbl>
          </a:graphicData>
        </a:graphic>
      </p:graphicFrame>
      <p:sp>
        <p:nvSpPr>
          <p:cNvPr id="17" name="文本框 16"/>
          <p:cNvSpPr txBox="1"/>
          <p:nvPr/>
        </p:nvSpPr>
        <p:spPr>
          <a:xfrm>
            <a:off x="205105" y="843280"/>
            <a:ext cx="8515350" cy="521970"/>
          </a:xfrm>
          <a:prstGeom prst="rect">
            <a:avLst/>
          </a:prstGeom>
          <a:noFill/>
        </p:spPr>
        <p:txBody>
          <a:bodyPr wrap="square" rtlCol="0" anchor="t">
            <a:spAutoFit/>
          </a:bodyPr>
          <a:p>
            <a:r>
              <a:rPr lang="zh-CN" altLang="en-US" sz="2800" b="1" dirty="0">
                <a:solidFill>
                  <a:srgbClr val="04640B"/>
                </a:solidFill>
                <a:latin typeface="微软雅黑" panose="020B0503020204020204" pitchFamily="34" charset="-122"/>
                <a:ea typeface="微软雅黑" panose="020B0503020204020204" pitchFamily="34" charset="-122"/>
                <a:cs typeface="微软雅黑" panose="020B0503020204020204" pitchFamily="34" charset="-122"/>
                <a:sym typeface="+mn-ea"/>
              </a:rPr>
              <a:t>2.2 交通拥堵指数计算</a:t>
            </a:r>
            <a:endParaRPr lang="zh-CN" altLang="en-US" sz="2800" b="1" dirty="0">
              <a:solidFill>
                <a:srgbClr val="04640B"/>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项目管理</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宋体" panose="02010600030101010101" pitchFamily="2" charset="-122"/>
                </a:rPr>
                <a:t>WUHAN UNIVERSITY</a:t>
              </a:r>
              <a:endParaRPr lang="en-US" altLang="zh-CN" sz="900" b="1" dirty="0">
                <a:solidFill>
                  <a:prstClr val="black"/>
                </a:solidFill>
                <a:latin typeface="Calibri" panose="020F0502020204030204"/>
                <a:ea typeface="宋体" panose="02010600030101010101" pitchFamily="2" charset="-122"/>
              </a:endParaRPr>
            </a:p>
          </p:txBody>
        </p:sp>
      </p:grpSp>
      <p:sp>
        <p:nvSpPr>
          <p:cNvPr id="2" name="矩形 1"/>
          <p:cNvSpPr/>
          <p:nvPr/>
        </p:nvSpPr>
        <p:spPr>
          <a:xfrm>
            <a:off x="538480" y="1393825"/>
            <a:ext cx="3148330" cy="2882900"/>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文本框 106"/>
          <p:cNvSpPr txBox="1"/>
          <p:nvPr/>
        </p:nvSpPr>
        <p:spPr>
          <a:xfrm>
            <a:off x="205105" y="941705"/>
            <a:ext cx="8515350" cy="521970"/>
          </a:xfrm>
          <a:prstGeom prst="rect">
            <a:avLst/>
          </a:prstGeom>
          <a:noFill/>
        </p:spPr>
        <p:txBody>
          <a:bodyPr wrap="square" rtlCol="0" anchor="t">
            <a:spAutoFit/>
          </a:bodyPr>
          <a:p>
            <a:r>
              <a:rPr lang="en-US" altLang="zh-CN"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2.2 </a:t>
            </a:r>
            <a:r>
              <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交通拥堵指数计算</a:t>
            </a:r>
            <a:r>
              <a:rPr lang="en-US" altLang="zh-CN"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时空特征</a:t>
            </a:r>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分析</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 name="图片 0"/>
          <p:cNvPicPr>
            <a:picLocks noChangeAspect="1"/>
          </p:cNvPicPr>
          <p:nvPr/>
        </p:nvPicPr>
        <p:blipFill>
          <a:blip r:embed="rId4"/>
          <a:stretch>
            <a:fillRect/>
          </a:stretch>
        </p:blipFill>
        <p:spPr>
          <a:xfrm>
            <a:off x="835025" y="1470660"/>
            <a:ext cx="6030595" cy="2496185"/>
          </a:xfrm>
          <a:prstGeom prst="rect">
            <a:avLst/>
          </a:prstGeom>
        </p:spPr>
      </p:pic>
      <p:pic>
        <p:nvPicPr>
          <p:cNvPr id="6" name="图片 5"/>
          <p:cNvPicPr>
            <a:picLocks noChangeAspect="1"/>
          </p:cNvPicPr>
          <p:nvPr/>
        </p:nvPicPr>
        <p:blipFill>
          <a:blip r:embed="rId5"/>
          <a:stretch>
            <a:fillRect/>
          </a:stretch>
        </p:blipFill>
        <p:spPr>
          <a:xfrm>
            <a:off x="980440" y="3966845"/>
            <a:ext cx="5626735" cy="2647315"/>
          </a:xfrm>
          <a:prstGeom prst="rect">
            <a:avLst/>
          </a:prstGeom>
        </p:spPr>
      </p:pic>
      <p:pic>
        <p:nvPicPr>
          <p:cNvPr id="7" name="图片 6"/>
          <p:cNvPicPr>
            <a:picLocks noChangeAspect="1"/>
          </p:cNvPicPr>
          <p:nvPr/>
        </p:nvPicPr>
        <p:blipFill>
          <a:blip r:embed="rId6"/>
          <a:stretch>
            <a:fillRect/>
          </a:stretch>
        </p:blipFill>
        <p:spPr>
          <a:xfrm>
            <a:off x="7287260" y="1223645"/>
            <a:ext cx="3131185" cy="2989580"/>
          </a:xfrm>
          <a:prstGeom prst="rect">
            <a:avLst/>
          </a:prstGeom>
        </p:spPr>
      </p:pic>
      <p:pic>
        <p:nvPicPr>
          <p:cNvPr id="8" name="图片 7"/>
          <p:cNvPicPr>
            <a:picLocks noChangeAspect="1"/>
          </p:cNvPicPr>
          <p:nvPr/>
        </p:nvPicPr>
        <p:blipFill>
          <a:blip r:embed="rId7"/>
          <a:stretch>
            <a:fillRect/>
          </a:stretch>
        </p:blipFill>
        <p:spPr>
          <a:xfrm>
            <a:off x="7220585" y="4057650"/>
            <a:ext cx="3197860" cy="24904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项目管理</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宋体" panose="02010600030101010101" pitchFamily="2" charset="-122"/>
                </a:rPr>
                <a:t>WUHAN UNIVERSITY</a:t>
              </a:r>
              <a:endParaRPr lang="en-US" altLang="zh-CN" sz="900" b="1" dirty="0">
                <a:solidFill>
                  <a:prstClr val="black"/>
                </a:solidFill>
                <a:latin typeface="Calibri" panose="020F0502020204030204"/>
                <a:ea typeface="宋体" panose="02010600030101010101" pitchFamily="2" charset="-122"/>
              </a:endParaRPr>
            </a:p>
          </p:txBody>
        </p:sp>
      </p:grpSp>
      <p:sp>
        <p:nvSpPr>
          <p:cNvPr id="4" name="ïšļídè"/>
          <p:cNvSpPr>
            <a:spLocks noGrp="1"/>
          </p:cNvSpPr>
          <p:nvPr>
            <p:ph type="sldNum" sz="quarter" idx="12"/>
          </p:nvPr>
        </p:nvSpPr>
        <p:spPr>
          <a:xfrm>
            <a:off x="8961654" y="7030283"/>
            <a:ext cx="2909888" cy="206381"/>
          </a:xfrm>
        </p:spPr>
        <p:txBody>
          <a:bodyPr/>
          <a:lstStyle/>
          <a:p>
            <a:fld id="{5DD3DB80-B894-403A-B48E-6FDC1A72010E}" type="slidenum">
              <a:rPr lang="zh-CN" altLang="en-US" smtClean="0">
                <a:latin typeface="微软雅黑" panose="020B0503020204020204" pitchFamily="34" charset="-122"/>
                <a:ea typeface="微软雅黑" panose="020B0503020204020204" pitchFamily="34" charset="-122"/>
              </a:rPr>
            </a:fld>
            <a:endParaRPr lang="zh-CN" altLang="en-US" dirty="0" smtClean="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4"/>
          <a:srcRect l="5800" t="10243"/>
          <a:stretch>
            <a:fillRect/>
          </a:stretch>
        </p:blipFill>
        <p:spPr>
          <a:xfrm>
            <a:off x="575310" y="4053840"/>
            <a:ext cx="5186680" cy="2565400"/>
          </a:xfrm>
          <a:prstGeom prst="rect">
            <a:avLst/>
          </a:prstGeom>
        </p:spPr>
      </p:pic>
      <p:pic>
        <p:nvPicPr>
          <p:cNvPr id="8" name="图片 7"/>
          <p:cNvPicPr>
            <a:picLocks noChangeAspect="1"/>
          </p:cNvPicPr>
          <p:nvPr/>
        </p:nvPicPr>
        <p:blipFill>
          <a:blip r:embed="rId5"/>
          <a:srcRect t="11279"/>
          <a:stretch>
            <a:fillRect/>
          </a:stretch>
        </p:blipFill>
        <p:spPr>
          <a:xfrm>
            <a:off x="6284595" y="4153535"/>
            <a:ext cx="5276850" cy="2366645"/>
          </a:xfrm>
          <a:prstGeom prst="rect">
            <a:avLst/>
          </a:prstGeom>
        </p:spPr>
      </p:pic>
      <p:sp>
        <p:nvSpPr>
          <p:cNvPr id="9" name="文本框 8"/>
          <p:cNvSpPr txBox="1"/>
          <p:nvPr/>
        </p:nvSpPr>
        <p:spPr>
          <a:xfrm>
            <a:off x="205105" y="904875"/>
            <a:ext cx="6679565" cy="521970"/>
          </a:xfrm>
          <a:prstGeom prst="rect">
            <a:avLst/>
          </a:prstGeom>
          <a:noFill/>
        </p:spPr>
        <p:txBody>
          <a:bodyPr wrap="square" rtlCol="0" anchor="t">
            <a:spAutoFit/>
          </a:bodyPr>
          <a:p>
            <a:r>
              <a:rPr lang="en-US" altLang="zh-CN"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2.3 </a:t>
            </a:r>
            <a:r>
              <a:rPr lang="zh-CN" altLang="en-US" sz="2800" b="1" dirty="0">
                <a:solidFill>
                  <a:srgbClr val="005825"/>
                </a:solidFill>
                <a:latin typeface="微软雅黑" panose="020B0503020204020204" pitchFamily="34" charset="-122"/>
                <a:ea typeface="微软雅黑" panose="020B0503020204020204" pitchFamily="34" charset="-122"/>
                <a:cs typeface="微软雅黑" panose="020B0503020204020204" pitchFamily="34" charset="-122"/>
                <a:sym typeface="+mn-ea"/>
              </a:rPr>
              <a:t>建成环境评价体系构建</a:t>
            </a:r>
            <a:r>
              <a:rPr lang="en-US" altLang="zh-CN"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|7D</a:t>
            </a:r>
            <a:r>
              <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模型</a:t>
            </a:r>
            <a:endParaRPr lang="zh-CN" altLang="en-US" sz="2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0" name="图片 9"/>
          <p:cNvPicPr>
            <a:picLocks noChangeAspect="1"/>
          </p:cNvPicPr>
          <p:nvPr/>
        </p:nvPicPr>
        <p:blipFill>
          <a:blip r:embed="rId6"/>
          <a:stretch>
            <a:fillRect/>
          </a:stretch>
        </p:blipFill>
        <p:spPr>
          <a:xfrm>
            <a:off x="455930" y="1426845"/>
            <a:ext cx="5426075" cy="2649855"/>
          </a:xfrm>
          <a:prstGeom prst="rect">
            <a:avLst/>
          </a:prstGeom>
        </p:spPr>
      </p:pic>
      <p:pic>
        <p:nvPicPr>
          <p:cNvPr id="11" name="图片 10"/>
          <p:cNvPicPr>
            <a:picLocks noChangeAspect="1"/>
          </p:cNvPicPr>
          <p:nvPr/>
        </p:nvPicPr>
        <p:blipFill>
          <a:blip r:embed="rId7"/>
          <a:srcRect t="2802"/>
          <a:stretch>
            <a:fillRect/>
          </a:stretch>
        </p:blipFill>
        <p:spPr>
          <a:xfrm>
            <a:off x="6436360" y="1497965"/>
            <a:ext cx="5125085" cy="24669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8300"/>
          </a:xfrm>
          <a:prstGeom prst="rect">
            <a:avLst/>
          </a:prstGeom>
          <a:noFill/>
        </p:spPr>
        <p:txBody>
          <a:bodyPr wrap="square" rtlCol="0">
            <a:spAutoFit/>
          </a:bodyPr>
          <a:lstStyle/>
          <a:p>
            <a:r>
              <a:rPr lang="zh-CN" altLang="en-US" dirty="0">
                <a:solidFill>
                  <a:schemeClr val="tx1">
                    <a:lumMod val="65000"/>
                    <a:lumOff val="35000"/>
                  </a:schemeClr>
                </a:solidFill>
                <a:latin typeface="Times New Roman" panose="02020603050405020304" pitchFamily="18" charset="0"/>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Times New Roman" panose="02020603050405020304" pitchFamily="18" charset="0"/>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Times New Roman" panose="02020603050405020304" pitchFamily="18" charset="0"/>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rPr>
                  <a:t>项目管理</a:t>
                </a:r>
                <a:endPar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7" name="组合 14"/>
          <p:cNvGrpSpPr/>
          <p:nvPr/>
        </p:nvGrpSpPr>
        <p:grpSpPr>
          <a:xfrm rot="0">
            <a:off x="205105" y="81915"/>
            <a:ext cx="1927225" cy="591185"/>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109" name="矩形 15"/>
          <p:cNvSpPr/>
          <p:nvPr/>
        </p:nvSpPr>
        <p:spPr>
          <a:xfrm>
            <a:off x="834953" y="471379"/>
            <a:ext cx="1369516" cy="176699"/>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宋体" panose="02010600030101010101" pitchFamily="2" charset="-122"/>
              </a:rPr>
              <a:t>WUHAN UNIVERSITY</a:t>
            </a:r>
            <a:endParaRPr lang="en-US" altLang="zh-CN" sz="900" b="1" dirty="0">
              <a:solidFill>
                <a:prstClr val="black"/>
              </a:solidFill>
              <a:latin typeface="Calibri" panose="020F0502020204030204"/>
              <a:ea typeface="宋体" panose="02010600030101010101" pitchFamily="2" charset="-122"/>
            </a:endParaRPr>
          </a:p>
        </p:txBody>
      </p:sp>
      <p:sp>
        <p:nvSpPr>
          <p:cNvPr id="9" name="ïṣ1ïḑê"/>
          <p:cNvSpPr>
            <a:spLocks noGrp="1"/>
          </p:cNvSpPr>
          <p:nvPr/>
        </p:nvSpPr>
        <p:spPr>
          <a:xfrm>
            <a:off x="258444" y="483236"/>
            <a:ext cx="10850563" cy="1028699"/>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rPr>
              <a:t>2.4 </a:t>
            </a:r>
            <a:r>
              <a:rPr lang="zh-CN" altLang="en-US" dirty="0">
                <a:solidFill>
                  <a:srgbClr val="005825"/>
                </a:solidFill>
              </a:rPr>
              <a:t>模型构建</a:t>
            </a:r>
            <a:r>
              <a:rPr lang="en-US" altLang="zh-CN" dirty="0">
                <a:solidFill>
                  <a:srgbClr val="005825"/>
                </a:solidFill>
              </a:rPr>
              <a:t>|</a:t>
            </a:r>
            <a:r>
              <a:rPr lang="en-US" altLang="zh-CN" dirty="0">
                <a:solidFill>
                  <a:schemeClr val="tx1"/>
                </a:solidFill>
              </a:rPr>
              <a:t>PCA</a:t>
            </a:r>
            <a:r>
              <a:rPr lang="zh-CN" altLang="en-US" dirty="0">
                <a:solidFill>
                  <a:schemeClr val="tx1"/>
                </a:solidFill>
              </a:rPr>
              <a:t>主成分分析法</a:t>
            </a:r>
            <a:endParaRPr lang="zh-CN" altLang="en-US" dirty="0">
              <a:solidFill>
                <a:schemeClr val="tx1"/>
              </a:solidFill>
            </a:endParaRPr>
          </a:p>
        </p:txBody>
      </p:sp>
      <p:sp>
        <p:nvSpPr>
          <p:cNvPr id="12" name="箭头: 下 13"/>
          <p:cNvSpPr/>
          <p:nvPr/>
        </p:nvSpPr>
        <p:spPr>
          <a:xfrm rot="16200000">
            <a:off x="3414702" y="3734275"/>
            <a:ext cx="334829" cy="645957"/>
          </a:xfrm>
          <a:prstGeom prst="downArrow">
            <a:avLst>
              <a:gd name="adj1" fmla="val 50000"/>
              <a:gd name="adj2" fmla="val 69723"/>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6" name="文本框 15"/>
          <p:cNvSpPr txBox="1"/>
          <p:nvPr/>
        </p:nvSpPr>
        <p:spPr>
          <a:xfrm>
            <a:off x="627204" y="2067603"/>
            <a:ext cx="2527917" cy="4338280"/>
          </a:xfrm>
          <a:prstGeom prst="rect">
            <a:avLst/>
          </a:prstGeom>
          <a:noFill/>
        </p:spPr>
        <p:txBody>
          <a:bodyPr wrap="square">
            <a:noAutofit/>
          </a:bodyPr>
          <a:lstStyle/>
          <a:p>
            <a:pPr marL="285750" indent="-285750">
              <a:lnSpc>
                <a:spcPct val="125000"/>
              </a:lnSpc>
              <a:buFont typeface="Wingdings" panose="05000000000000000000" pitchFamily="2" charset="2"/>
              <a:buChar char="p"/>
            </a:pP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将所构建的建成环境</a:t>
            </a: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解释变量</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进行</a:t>
            </a: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降维</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，保留主要信息，</a:t>
            </a: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简化模型</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并提高计算效率。</a:t>
            </a:r>
            <a:endPar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nSpc>
                <a:spcPct val="125000"/>
              </a:lnSpc>
              <a:buFont typeface="Wingdings" panose="05000000000000000000" pitchFamily="2" charset="2"/>
              <a:buChar char="p"/>
            </a:pPr>
            <a:endPar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nSpc>
                <a:spcPct val="125000"/>
              </a:lnSpc>
              <a:buFont typeface="Wingdings" panose="05000000000000000000" pitchFamily="2" charset="2"/>
              <a:buChar char="p"/>
            </a:pPr>
            <a:endPar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nSpc>
                <a:spcPct val="125000"/>
              </a:lnSpc>
              <a:buFont typeface="Wingdings" panose="05000000000000000000" pitchFamily="2" charset="2"/>
              <a:buChar char="p"/>
            </a:pP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保留使</a:t>
            </a: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累计方差超过8</a:t>
            </a:r>
            <a:r>
              <a:rPr lang="en-US" altLang="zh-CN"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0</a:t>
            </a: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的主成分，最终得到</a:t>
            </a: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19个</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主成分，和</a:t>
            </a: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对应的转换矩阵</a:t>
            </a:r>
            <a:endPar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25000"/>
              </a:lnSpc>
              <a:buFont typeface="Wingdings" panose="05000000000000000000" pitchFamily="2" charset="2"/>
              <a:buChar char="p"/>
            </a:pPr>
            <a:endParaRPr lang="zh-CN" altLang="en-US" sz="16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1" name="图片 20" descr="upload_post_object_v2_3263548105"/>
          <p:cNvPicPr>
            <a:picLocks noChangeAspect="1"/>
          </p:cNvPicPr>
          <p:nvPr/>
        </p:nvPicPr>
        <p:blipFill>
          <a:blip r:embed="rId4"/>
          <a:stretch>
            <a:fillRect/>
          </a:stretch>
        </p:blipFill>
        <p:spPr>
          <a:xfrm>
            <a:off x="3575129" y="5086310"/>
            <a:ext cx="3920283" cy="1307782"/>
          </a:xfrm>
          <a:prstGeom prst="rect">
            <a:avLst/>
          </a:prstGeom>
        </p:spPr>
      </p:pic>
      <p:pic>
        <p:nvPicPr>
          <p:cNvPr id="22" name="图片 21" descr="upload_post_object_v2_2723920796"/>
          <p:cNvPicPr>
            <a:picLocks noChangeAspect="1"/>
          </p:cNvPicPr>
          <p:nvPr/>
        </p:nvPicPr>
        <p:blipFill>
          <a:blip r:embed="rId5"/>
          <a:stretch>
            <a:fillRect/>
          </a:stretch>
        </p:blipFill>
        <p:spPr>
          <a:xfrm>
            <a:off x="7738745" y="5086310"/>
            <a:ext cx="3920283" cy="1307782"/>
          </a:xfrm>
          <a:prstGeom prst="rect">
            <a:avLst/>
          </a:prstGeom>
        </p:spPr>
      </p:pic>
      <p:pic>
        <p:nvPicPr>
          <p:cNvPr id="23" name="图片 22" descr="upload_post_object_v2_1855169946"/>
          <p:cNvPicPr>
            <a:picLocks noChangeAspect="1"/>
          </p:cNvPicPr>
          <p:nvPr/>
        </p:nvPicPr>
        <p:blipFill>
          <a:blip r:embed="rId6"/>
          <a:stretch>
            <a:fillRect/>
          </a:stretch>
        </p:blipFill>
        <p:spPr>
          <a:xfrm>
            <a:off x="5659199" y="3296285"/>
            <a:ext cx="3919855" cy="1307465"/>
          </a:xfrm>
          <a:prstGeom prst="rect">
            <a:avLst/>
          </a:prstGeom>
        </p:spPr>
      </p:pic>
      <p:pic>
        <p:nvPicPr>
          <p:cNvPr id="24" name="图片 23" descr="upload_post_object_v2_2709259348"/>
          <p:cNvPicPr>
            <a:picLocks noChangeAspect="1"/>
          </p:cNvPicPr>
          <p:nvPr/>
        </p:nvPicPr>
        <p:blipFill>
          <a:blip r:embed="rId7"/>
          <a:stretch>
            <a:fillRect/>
          </a:stretch>
        </p:blipFill>
        <p:spPr>
          <a:xfrm>
            <a:off x="3575129" y="1514435"/>
            <a:ext cx="3919855" cy="1307465"/>
          </a:xfrm>
          <a:prstGeom prst="rect">
            <a:avLst/>
          </a:prstGeom>
        </p:spPr>
      </p:pic>
      <p:pic>
        <p:nvPicPr>
          <p:cNvPr id="25" name="图片 24" descr="upload_post_object_v2_3563443972"/>
          <p:cNvPicPr>
            <a:picLocks noChangeAspect="1"/>
          </p:cNvPicPr>
          <p:nvPr/>
        </p:nvPicPr>
        <p:blipFill>
          <a:blip r:embed="rId8"/>
          <a:stretch>
            <a:fillRect/>
          </a:stretch>
        </p:blipFill>
        <p:spPr>
          <a:xfrm>
            <a:off x="7738824" y="1514475"/>
            <a:ext cx="3920490" cy="1307465"/>
          </a:xfrm>
          <a:prstGeom prst="rect">
            <a:avLst/>
          </a:prstGeom>
        </p:spPr>
      </p:pic>
      <p:sp>
        <p:nvSpPr>
          <p:cNvPr id="26" name="文本框 25"/>
          <p:cNvSpPr txBox="1"/>
          <p:nvPr userDrawn="1"/>
        </p:nvSpPr>
        <p:spPr>
          <a:xfrm>
            <a:off x="3575129" y="2821940"/>
            <a:ext cx="3919855" cy="250825"/>
          </a:xfrm>
          <a:prstGeom prst="rect">
            <a:avLst/>
          </a:prstGeom>
        </p:spPr>
        <p:txBody>
          <a:bodyPr wrap="none" rtlCol="0">
            <a:noAutofit/>
          </a:bodyPr>
          <a:lstStyle/>
          <a:p>
            <a:pPr algn="ctr"/>
            <a:r>
              <a:rPr lang="en-US" altLang="zh-CN" sz="120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-各类</a:t>
            </a:r>
            <a:r>
              <a:rPr lang="en-US" altLang="zh-CN" sz="1200">
                <a:latin typeface="微软雅黑" panose="020B0503020204020204" pitchFamily="34" charset="-122"/>
                <a:ea typeface="微软雅黑" panose="020B0503020204020204" pitchFamily="34" charset="-122"/>
                <a:cs typeface="微软雅黑" panose="020B0503020204020204" pitchFamily="34" charset="-122"/>
              </a:rPr>
              <a:t>POI</a:t>
            </a:r>
            <a:r>
              <a:rPr lang="zh-CN" altLang="en-US" sz="1200">
                <a:latin typeface="微软雅黑" panose="020B0503020204020204" pitchFamily="34" charset="-122"/>
                <a:ea typeface="微软雅黑" panose="020B0503020204020204" pitchFamily="34" charset="-122"/>
                <a:cs typeface="微软雅黑" panose="020B0503020204020204" pitchFamily="34" charset="-122"/>
              </a:rPr>
              <a:t>相对集中，交通便利，居住人数相对较多</a:t>
            </a:r>
            <a:endParaRPr lang="zh-CN" altLang="en-US" sz="12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7" name="文本框 26"/>
          <p:cNvSpPr txBox="1"/>
          <p:nvPr userDrawn="1"/>
        </p:nvSpPr>
        <p:spPr>
          <a:xfrm>
            <a:off x="7743904" y="2821940"/>
            <a:ext cx="3920490" cy="250825"/>
          </a:xfrm>
          <a:prstGeom prst="rect">
            <a:avLst/>
          </a:prstGeom>
        </p:spPr>
        <p:txBody>
          <a:bodyPr wrap="none" rtlCol="0">
            <a:noAutofit/>
          </a:bodyPr>
          <a:lstStyle/>
          <a:p>
            <a:pPr algn="ct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-居住人数少，交通便利，距离加油站，机场较近</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 name="文本框 27"/>
          <p:cNvSpPr txBox="1"/>
          <p:nvPr userDrawn="1"/>
        </p:nvSpPr>
        <p:spPr>
          <a:xfrm>
            <a:off x="5671899" y="4603750"/>
            <a:ext cx="3896360" cy="288290"/>
          </a:xfrm>
          <a:prstGeom prst="rect">
            <a:avLst/>
          </a:prstGeom>
        </p:spPr>
        <p:txBody>
          <a:bodyPr wrap="none" rtlCol="0">
            <a:noAutofit/>
          </a:bodyPr>
          <a:lstStyle/>
          <a:p>
            <a:pPr algn="ct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-各类POI相对集中，居住人数少</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9" name="文本框 28"/>
          <p:cNvSpPr txBox="1"/>
          <p:nvPr userDrawn="1"/>
        </p:nvSpPr>
        <p:spPr>
          <a:xfrm>
            <a:off x="3575010" y="6405999"/>
            <a:ext cx="3919855" cy="250825"/>
          </a:xfrm>
          <a:prstGeom prst="rect">
            <a:avLst/>
          </a:prstGeom>
        </p:spPr>
        <p:txBody>
          <a:bodyPr wrap="none" rtlCol="0">
            <a:noAutofit/>
          </a:bodyPr>
          <a:lstStyle/>
          <a:p>
            <a:pPr algn="ct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-居住人数较多，远离地铁站</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 name="文本框 29"/>
          <p:cNvSpPr txBox="1"/>
          <p:nvPr userDrawn="1"/>
        </p:nvSpPr>
        <p:spPr>
          <a:xfrm>
            <a:off x="7744460" y="6388219"/>
            <a:ext cx="3919855" cy="250825"/>
          </a:xfrm>
          <a:prstGeom prst="rect">
            <a:avLst/>
          </a:prstGeom>
        </p:spPr>
        <p:txBody>
          <a:bodyPr wrap="none" rtlCol="0">
            <a:noAutofit/>
          </a:bodyPr>
          <a:lstStyle/>
          <a:p>
            <a:pPr algn="ct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-节点度中心性高，房价，房租低</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2" name="矩形 31"/>
          <p:cNvSpPr/>
          <p:nvPr/>
        </p:nvSpPr>
        <p:spPr>
          <a:xfrm>
            <a:off x="137330" y="2315527"/>
            <a:ext cx="490220" cy="2866390"/>
          </a:xfrm>
          <a:prstGeom prst="rect">
            <a:avLst/>
          </a:prstGeom>
        </p:spPr>
        <p:txBody>
          <a:bodyPr vert="eaVert" wrap="square">
            <a:spAutoFit/>
          </a:bodyPr>
          <a:lstStyle/>
          <a:p>
            <a:pPr algn="ctr"/>
            <a:r>
              <a:rPr lang="zh-CN" altLang="en-US" sz="2000" b="1" dirty="0">
                <a:solidFill>
                  <a:schemeClr val="tx1"/>
                </a:solidFill>
                <a:latin typeface="微软雅黑" panose="020B0503020204020204" pitchFamily="34" charset="-122"/>
                <a:ea typeface="微软雅黑" panose="020B0503020204020204" pitchFamily="34" charset="-122"/>
              </a:rPr>
              <a:t>主成分分析法折线图</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8300"/>
          </a:xfrm>
          <a:prstGeom prst="rect">
            <a:avLst/>
          </a:prstGeom>
          <a:noFill/>
        </p:spPr>
        <p:txBody>
          <a:bodyPr wrap="square" rtlCol="0">
            <a:spAutoFit/>
          </a:bodyPr>
          <a:lstStyle/>
          <a:p>
            <a:r>
              <a:rPr lang="zh-CN" altLang="en-US" dirty="0">
                <a:solidFill>
                  <a:schemeClr val="tx1">
                    <a:lumMod val="65000"/>
                    <a:lumOff val="35000"/>
                  </a:schemeClr>
                </a:solidFill>
                <a:latin typeface="Times New Roman" panose="02020603050405020304" pitchFamily="18" charset="0"/>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Times New Roman" panose="02020603050405020304" pitchFamily="18" charset="0"/>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Times New Roman" panose="02020603050405020304" pitchFamily="18" charset="0"/>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rPr>
                  <a:t>项目管理</a:t>
                </a:r>
                <a:endPar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7" name="组合 14"/>
          <p:cNvGrpSpPr/>
          <p:nvPr/>
        </p:nvGrpSpPr>
        <p:grpSpPr>
          <a:xfrm rot="0">
            <a:off x="205105" y="81915"/>
            <a:ext cx="1927225" cy="591185"/>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109" name="矩形 15"/>
          <p:cNvSpPr/>
          <p:nvPr/>
        </p:nvSpPr>
        <p:spPr>
          <a:xfrm>
            <a:off x="834953" y="471379"/>
            <a:ext cx="1369516" cy="176699"/>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宋体" panose="02010600030101010101" pitchFamily="2" charset="-122"/>
              </a:rPr>
              <a:t>WUHAN UNIVERSITY</a:t>
            </a:r>
            <a:endParaRPr lang="en-US" altLang="zh-CN" sz="900" b="1" dirty="0">
              <a:solidFill>
                <a:prstClr val="black"/>
              </a:solidFill>
              <a:latin typeface="Calibri" panose="020F0502020204030204"/>
              <a:ea typeface="宋体" panose="02010600030101010101" pitchFamily="2" charset="-122"/>
            </a:endParaRPr>
          </a:p>
        </p:txBody>
      </p:sp>
      <p:sp>
        <p:nvSpPr>
          <p:cNvPr id="2" name="ïṣ1ïḑê"/>
          <p:cNvSpPr>
            <a:spLocks noGrp="1"/>
          </p:cNvSpPr>
          <p:nvPr/>
        </p:nvSpPr>
        <p:spPr>
          <a:xfrm>
            <a:off x="205105" y="1087120"/>
            <a:ext cx="10850880" cy="71247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rPr>
              <a:t>2.4 </a:t>
            </a:r>
            <a:r>
              <a:rPr lang="zh-CN" altLang="en-US" dirty="0">
                <a:solidFill>
                  <a:srgbClr val="005825"/>
                </a:solidFill>
              </a:rPr>
              <a:t>模型构建</a:t>
            </a:r>
            <a:r>
              <a:rPr lang="en-US" altLang="zh-CN" dirty="0">
                <a:solidFill>
                  <a:srgbClr val="005825"/>
                </a:solidFill>
              </a:rPr>
              <a:t>|</a:t>
            </a:r>
            <a:r>
              <a:rPr lang="zh-CN" altLang="en-US" dirty="0">
                <a:solidFill>
                  <a:schemeClr val="tx1"/>
                </a:solidFill>
                <a:sym typeface="+mn-ea"/>
              </a:rPr>
              <a:t>随机森林（PCA-RF模型）</a:t>
            </a:r>
            <a:endParaRPr lang="zh-CN" altLang="en-US" dirty="0">
              <a:solidFill>
                <a:schemeClr val="tx1"/>
              </a:solidFill>
              <a:latin typeface="Times New Roman" panose="02020603050405020304" pitchFamily="18" charset="0"/>
              <a:cs typeface="Times New Roman" panose="02020603050405020304" pitchFamily="18" charset="0"/>
            </a:endParaRPr>
          </a:p>
          <a:p>
            <a:endParaRPr lang="zh-CN" altLang="en-US" dirty="0">
              <a:solidFill>
                <a:schemeClr val="tx1"/>
              </a:solidFill>
              <a:latin typeface="Times New Roman" panose="02020603050405020304" pitchFamily="18" charset="0"/>
              <a:cs typeface="Times New Roman" panose="02020603050405020304" pitchFamily="18" charset="0"/>
            </a:endParaRPr>
          </a:p>
        </p:txBody>
      </p:sp>
      <p:grpSp>
        <p:nvGrpSpPr>
          <p:cNvPr id="3" name="组合 2"/>
          <p:cNvGrpSpPr/>
          <p:nvPr/>
        </p:nvGrpSpPr>
        <p:grpSpPr>
          <a:xfrm>
            <a:off x="2130900" y="3488402"/>
            <a:ext cx="8188960" cy="2619375"/>
            <a:chOff x="669933" y="1426024"/>
            <a:chExt cx="8188960" cy="2619375"/>
          </a:xfrm>
        </p:grpSpPr>
        <p:graphicFrame>
          <p:nvGraphicFramePr>
            <p:cNvPr id="11" name="表格 10"/>
            <p:cNvGraphicFramePr/>
            <p:nvPr/>
          </p:nvGraphicFramePr>
          <p:xfrm>
            <a:off x="669933" y="1426024"/>
            <a:ext cx="8188960" cy="2619375"/>
          </p:xfrm>
          <a:graphic>
            <a:graphicData uri="http://schemas.openxmlformats.org/drawingml/2006/table">
              <a:tbl>
                <a:tblPr firstRow="1" firstCol="1"/>
                <a:tblGrid>
                  <a:gridCol w="2444115"/>
                  <a:gridCol w="1148715"/>
                  <a:gridCol w="1150620"/>
                  <a:gridCol w="1148715"/>
                  <a:gridCol w="1147445"/>
                  <a:gridCol w="1149350"/>
                </a:tblGrid>
                <a:tr h="599440">
                  <a:tc>
                    <a:txBody>
                      <a:bodyPr/>
                      <a:lstStyle/>
                      <a:p>
                        <a:pPr indent="0" algn="ctr">
                          <a:buNone/>
                        </a:pPr>
                        <a:r>
                          <a:rPr lang="zh-CN" altLang="en-US" sz="1800" b="1"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时间</a:t>
                        </a:r>
                        <a:endParaRPr lang="zh-CN" altLang="en-US" sz="1800" b="1"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28575">
                        <a:solidFill>
                          <a:srgbClr val="000000">
                            <a:alpha val="100000"/>
                          </a:srgbClr>
                        </a:solidFill>
                        <a:miter lim="800000"/>
                      </a:lnL>
                      <a:lnR w="28575" cap="flat" cmpd="sng" algn="ctr">
                        <a:solidFill>
                          <a:srgbClr val="000000"/>
                        </a:solidFill>
                        <a:prstDash val="solid"/>
                        <a:round/>
                        <a:headEnd type="none" w="med" len="med"/>
                        <a:tailEnd type="none" w="med" len="med"/>
                      </a:lnR>
                      <a:lnT w="28575">
                        <a:solidFill>
                          <a:srgbClr val="000000">
                            <a:alpha val="100000"/>
                          </a:srgbClr>
                        </a:solidFill>
                        <a:miter lim="800000"/>
                      </a:lnT>
                      <a:lnB w="28575"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indent="0" algn="ctr">
                          <a:lnSpc>
                            <a:spcPct val="100000"/>
                          </a:lnSpc>
                          <a:spcBef>
                            <a:spcPts val="1800"/>
                          </a:spcBef>
                          <a:spcAft>
                            <a:spcPts val="1800"/>
                          </a:spcAft>
                          <a:buNone/>
                        </a:pPr>
                        <a:r>
                          <a:rPr lang="en-US" altLang="zh-CN" sz="18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1800" b="1" baseline="30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800" b="1" baseline="30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a:solidFill>
                          <a:srgbClr val="000000">
                            <a:alpha val="100000"/>
                          </a:srgbClr>
                        </a:solidFill>
                        <a:miter lim="800000"/>
                      </a:lnT>
                      <a:lnB w="28575"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indent="0" algn="ctr" defTabSz="0" rtl="0" eaLnBrk="1" latinLnBrk="0" hangingPunct="1">
                          <a:lnSpc>
                            <a:spcPct val="100000"/>
                          </a:lnSpc>
                          <a:spcBef>
                            <a:spcPts val="1800"/>
                          </a:spcBef>
                          <a:spcAft>
                            <a:spcPts val="1800"/>
                          </a:spcAft>
                          <a:buNone/>
                        </a:pPr>
                        <a:r>
                          <a:rPr lang="zh-CN" altLang="en-US" sz="18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调整后</a:t>
                        </a:r>
                        <a:r>
                          <a:rPr lang="en-US" altLang="zh-CN" sz="18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1800" b="1" baseline="30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800" b="1" baseline="30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28575">
                        <a:solidFill>
                          <a:srgbClr val="000000"/>
                        </a:solidFill>
                      </a:lnL>
                      <a:lnR w="28575">
                        <a:solidFill>
                          <a:srgbClr val="000000"/>
                        </a:solidFill>
                      </a:lnR>
                      <a:lnT w="28575">
                        <a:solidFill>
                          <a:srgbClr val="000000">
                            <a:alpha val="100000"/>
                          </a:srgbClr>
                        </a:solidFill>
                        <a:miter lim="800000"/>
                      </a:lnT>
                      <a:lnB w="28575" cap="flat" cmpd="sng">
                        <a:solidFill>
                          <a:srgbClr val="000000"/>
                        </a:solidFill>
                        <a:prstDash val="solid"/>
                        <a:headEnd type="none" w="med" len="med"/>
                        <a:tailEnd type="none" w="med" len="med"/>
                      </a:lnB>
                      <a:solidFill>
                        <a:schemeClr val="accent6">
                          <a:lumMod val="20000"/>
                          <a:lumOff val="80000"/>
                        </a:schemeClr>
                      </a:solidFill>
                    </a:tcPr>
                  </a:tc>
                  <a:tc>
                    <a:txBody>
                      <a:bodyPr/>
                      <a:lstStyle/>
                      <a:p>
                        <a:pPr marL="0" indent="0" algn="ctr" defTabSz="0" rtl="0" eaLnBrk="1" latinLnBrk="0" hangingPunct="1">
                          <a:lnSpc>
                            <a:spcPct val="100000"/>
                          </a:lnSpc>
                          <a:spcBef>
                            <a:spcPts val="1800"/>
                          </a:spcBef>
                          <a:spcAft>
                            <a:spcPts val="1800"/>
                          </a:spcAft>
                          <a:buNone/>
                        </a:pPr>
                        <a:endParaRPr lang="zh-CN" altLang="en-US" sz="18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lnL w="28575">
                        <a:solidFill>
                          <a:srgbClr val="000000"/>
                        </a:solidFill>
                      </a:lnL>
                      <a:lnR w="28575" cap="flat" cmpd="sng">
                        <a:solidFill>
                          <a:srgbClr val="000000"/>
                        </a:solidFill>
                        <a:prstDash val="solid"/>
                        <a:headEnd type="none" w="med" len="med"/>
                        <a:tailEnd type="none" w="med" len="med"/>
                      </a:lnR>
                      <a:lnT w="28575">
                        <a:solidFill>
                          <a:srgbClr val="000000">
                            <a:alpha val="100000"/>
                          </a:srgbClr>
                        </a:solidFill>
                        <a:miter lim="800000"/>
                      </a:lnT>
                      <a:lnB w="28575" cap="flat" cmpd="sng">
                        <a:solidFill>
                          <a:srgbClr val="000000"/>
                        </a:solidFill>
                        <a:prstDash val="solid"/>
                        <a:headEnd type="none" w="med" len="med"/>
                        <a:tailEnd type="none" w="med" len="med"/>
                      </a:lnB>
                      <a:solidFill>
                        <a:schemeClr val="accent6">
                          <a:lumMod val="20000"/>
                          <a:lumOff val="80000"/>
                        </a:schemeClr>
                      </a:solidFill>
                    </a:tcPr>
                  </a:tc>
                  <a:tc>
                    <a:txBody>
                      <a:bodyPr/>
                      <a:lstStyle/>
                      <a:p>
                        <a:pPr indent="0" algn="ctr">
                          <a:lnSpc>
                            <a:spcPct val="100000"/>
                          </a:lnSpc>
                          <a:spcBef>
                            <a:spcPts val="1800"/>
                          </a:spcBef>
                          <a:spcAft>
                            <a:spcPts val="1800"/>
                          </a:spcAft>
                          <a:buNone/>
                        </a:pPr>
                        <a:r>
                          <a:rPr lang="en-US" altLang="zh-CN" sz="18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MSE</a:t>
                        </a:r>
                        <a:endParaRPr lang="en-US" altLang="zh-CN" sz="18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28575" cap="flat" cmpd="sng" algn="ctr">
                        <a:solidFill>
                          <a:srgbClr val="000000"/>
                        </a:solidFill>
                        <a:prstDash val="solid"/>
                        <a:round/>
                        <a:headEnd type="none" w="med" len="med"/>
                        <a:tailEnd type="none" w="med" len="med"/>
                      </a:lnL>
                      <a:lnR w="28575">
                        <a:solidFill>
                          <a:srgbClr val="000000">
                            <a:alpha val="100000"/>
                          </a:srgbClr>
                        </a:solidFill>
                        <a:miter lim="800000"/>
                      </a:lnR>
                      <a:lnT w="28575">
                        <a:solidFill>
                          <a:srgbClr val="000000">
                            <a:alpha val="100000"/>
                          </a:srgbClr>
                        </a:solidFill>
                        <a:miter lim="800000"/>
                      </a:lnT>
                      <a:lnB w="28575" cap="flat" cmpd="sng" algn="ctr">
                        <a:solidFill>
                          <a:srgbClr val="000000"/>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algn="ctr">
                          <a:buNone/>
                        </a:pPr>
                        <a:endParaRPr lang="zh-CN" altLang="en-US" b="1">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lnL w="28575">
                        <a:solidFill>
                          <a:srgbClr val="000000">
                            <a:alpha val="100000"/>
                          </a:srgbClr>
                        </a:solidFill>
                        <a:miter lim="800000"/>
                      </a:lnL>
                      <a:lnR w="28575">
                        <a:solidFill>
                          <a:srgbClr val="000000">
                            <a:alpha val="100000"/>
                          </a:srgbClr>
                        </a:solidFill>
                        <a:miter lim="800000"/>
                      </a:lnR>
                      <a:lnT w="28575">
                        <a:solidFill>
                          <a:srgbClr val="000000">
                            <a:alpha val="100000"/>
                          </a:srgbClr>
                        </a:solidFill>
                        <a:miter lim="800000"/>
                      </a:lnT>
                      <a:lnB w="28575" cap="flat" cmpd="sng">
                        <a:solidFill>
                          <a:srgbClr val="000000"/>
                        </a:solidFill>
                        <a:prstDash val="solid"/>
                        <a:headEnd type="none" w="med" len="med"/>
                        <a:tailEnd type="none" w="med" len="med"/>
                      </a:lnB>
                      <a:solidFill>
                        <a:schemeClr val="accent6">
                          <a:lumMod val="20000"/>
                          <a:lumOff val="80000"/>
                        </a:schemeClr>
                      </a:solidFill>
                    </a:tcPr>
                  </a:tc>
                </a:tr>
                <a:tr h="504825">
                  <a:tc>
                    <a:txBody>
                      <a:bodyPr/>
                      <a:lstStyle/>
                      <a:p>
                        <a:pPr indent="0" algn="ctr">
                          <a:buNone/>
                        </a:pPr>
                        <a:r>
                          <a:rPr lang="zh-CN" altLang="en-US" sz="18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工作日</a:t>
                        </a:r>
                        <a:r>
                          <a:rPr lang="en-US" altLang="zh-CN" sz="18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8</a:t>
                        </a:r>
                        <a:r>
                          <a:rPr lang="zh-CN" altLang="en-US" sz="18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时</a:t>
                        </a:r>
                        <a:endParaRPr lang="zh-CN" altLang="en-US" sz="18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28575">
                        <a:solidFill>
                          <a:srgbClr val="000000">
                            <a:alpha val="100000"/>
                          </a:srgbClr>
                        </a:solidFill>
                        <a:miter lim="800000"/>
                      </a:lnL>
                      <a:lnR w="28575" cap="flat" cmpd="sng" algn="ctr">
                        <a:solidFill>
                          <a:srgbClr val="1E2678"/>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b="1"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0.865</a:t>
                        </a:r>
                        <a:endParaRPr lang="en-US" altLang="zh-CN" sz="1800" b="1"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anchor="ctr">
                      <a:lnL w="28575" cap="flat" cmpd="sng" algn="ctr">
                        <a:solidFill>
                          <a:srgbClr val="1E2678"/>
                        </a:solidFill>
                        <a:prstDash val="solid"/>
                        <a:round/>
                        <a:headEnd type="none" w="med" len="med"/>
                        <a:tailEnd type="none" w="med" len="med"/>
                      </a:lnL>
                      <a:lnR w="28575" cap="flat" cmpd="sng" algn="ctr">
                        <a:solidFill>
                          <a:srgbClr val="1E2678"/>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zh-CN" altLang="en-US" sz="1800" b="1"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0.860</a:t>
                        </a:r>
                        <a:endParaRPr lang="zh-CN" altLang="en-US" sz="1800" b="1"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anchor="ctr">
                      <a:lnL w="28575" cap="flat" cmpd="sng" algn="ctr">
                        <a:solidFill>
                          <a:srgbClr val="1E2678"/>
                        </a:solidFill>
                        <a:prstDash val="solid"/>
                        <a:round/>
                        <a:headEnd type="none" w="med" len="med"/>
                        <a:tailEnd type="none" w="med" len="med"/>
                      </a:lnL>
                      <a:lnR w="28575" cap="flat" cmpd="sng" algn="ctr">
                        <a:solidFill>
                          <a:srgbClr val="1E2678"/>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zh-CN" altLang="en-US" sz="1800" b="1"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0.0</a:t>
                        </a:r>
                        <a:r>
                          <a:rPr lang="en-US" altLang="zh-CN" sz="1800" b="1"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73</a:t>
                        </a:r>
                        <a:endParaRPr lang="en-US" altLang="zh-CN" sz="1800" b="1"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anchor="ctr">
                      <a:lnL w="28575" cap="flat" cmpd="sng" algn="ctr">
                        <a:solidFill>
                          <a:srgbClr val="1E2678"/>
                        </a:solidFill>
                        <a:prstDash val="solid"/>
                        <a:round/>
                        <a:headEnd type="none" w="med" len="med"/>
                        <a:tailEnd type="none" w="med" len="med"/>
                      </a:lnL>
                      <a:lnR w="28575" cap="flat" cmpd="sng" algn="ctr">
                        <a:solidFill>
                          <a:srgbClr val="1E2678"/>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zh-CN" altLang="en-US" sz="1800" b="1"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0.005</a:t>
                        </a:r>
                        <a:endParaRPr lang="zh-CN" altLang="en-US" sz="1800" b="1"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anchor="ctr">
                      <a:lnL w="28575" cap="flat" cmpd="sng" algn="ctr">
                        <a:solidFill>
                          <a:srgbClr val="1E2678"/>
                        </a:solidFill>
                        <a:prstDash val="solid"/>
                        <a:round/>
                        <a:headEnd type="none" w="med" len="med"/>
                        <a:tailEnd type="none" w="med" len="med"/>
                      </a:lnL>
                      <a:lnR w="28575" cap="flat" cmpd="sng" algn="ctr">
                        <a:solidFill>
                          <a:srgbClr val="1E2678"/>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zh-CN" altLang="en-US" sz="1800" b="1"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0.050</a:t>
                        </a:r>
                        <a:endParaRPr lang="zh-CN" altLang="en-US" sz="1800" b="1"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anchor="ctr">
                      <a:lnL w="28575" cap="flat" cmpd="sng" algn="ctr">
                        <a:solidFill>
                          <a:srgbClr val="1E2678"/>
                        </a:solidFill>
                        <a:prstDash val="solid"/>
                        <a:round/>
                        <a:headEnd type="none" w="med" len="med"/>
                        <a:tailEnd type="none" w="med" len="med"/>
                      </a:lnL>
                      <a:lnR w="28575" cap="flat" cmpd="sng" algn="ctr">
                        <a:solidFill>
                          <a:srgbClr val="1E2678"/>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1E2678"/>
                        </a:solidFill>
                        <a:prstDash val="solid"/>
                        <a:round/>
                        <a:headEnd type="none" w="med" len="med"/>
                        <a:tailEnd type="none" w="med" len="med"/>
                      </a:lnB>
                      <a:lnTlToBr>
                        <a:noFill/>
                      </a:lnTlToBr>
                      <a:lnBlToTr>
                        <a:noFill/>
                      </a:lnBlToTr>
                      <a:noFill/>
                    </a:tcPr>
                  </a:tc>
                </a:tr>
                <a:tr h="505460">
                  <a:tc>
                    <a:txBody>
                      <a:bodyPr/>
                      <a:lstStyle/>
                      <a:p>
                        <a:pPr indent="0" algn="ctr">
                          <a:buNone/>
                        </a:pPr>
                        <a:r>
                          <a:rPr lang="zh-CN" altLang="en-US" sz="18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工作日</a:t>
                        </a:r>
                        <a:r>
                          <a:rPr lang="en-US" altLang="zh-CN" sz="18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17</a:t>
                        </a:r>
                        <a:r>
                          <a:rPr lang="zh-CN" altLang="en-US" sz="18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时</a:t>
                        </a:r>
                        <a:endParaRPr lang="zh-CN" altLang="en-US" sz="18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28575">
                        <a:solidFill>
                          <a:srgbClr val="000000">
                            <a:alpha val="100000"/>
                          </a:srgbClr>
                        </a:solidFill>
                        <a:miter lim="800000"/>
                      </a:lnL>
                      <a:lnR w="28575" cap="flat" cmpd="sng" algn="ctr">
                        <a:solidFill>
                          <a:srgbClr val="1E2678"/>
                        </a:solidFill>
                        <a:prstDash val="solid"/>
                        <a:round/>
                        <a:headEnd type="none" w="med" len="med"/>
                        <a:tailEnd type="none" w="med" len="med"/>
                      </a:lnR>
                      <a:lnT w="28575" cap="flat" cmpd="sng" algn="ctr">
                        <a:solidFill>
                          <a:srgbClr val="1E2678"/>
                        </a:solidFill>
                        <a:prstDash val="solid"/>
                        <a:round/>
                        <a:headEnd type="none" w="med" len="med"/>
                        <a:tailEnd type="none" w="med" len="med"/>
                      </a:lnT>
                      <a:lnB w="28575"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b="1"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0.875</a:t>
                        </a:r>
                        <a:endParaRPr lang="en-US" altLang="zh-CN" sz="1800" b="1"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anchor="ctr">
                      <a:lnL w="28575" cap="flat" cmpd="sng" algn="ctr">
                        <a:solidFill>
                          <a:srgbClr val="1E2678"/>
                        </a:solidFill>
                        <a:prstDash val="solid"/>
                        <a:round/>
                        <a:headEnd type="none" w="med" len="med"/>
                        <a:tailEnd type="none" w="med" len="med"/>
                      </a:lnL>
                      <a:lnR w="28575" cap="flat" cmpd="sng" algn="ctr">
                        <a:solidFill>
                          <a:srgbClr val="1E2678"/>
                        </a:solidFill>
                        <a:prstDash val="solid"/>
                        <a:round/>
                        <a:headEnd type="none" w="med" len="med"/>
                        <a:tailEnd type="none" w="med" len="med"/>
                      </a:lnR>
                      <a:lnT w="28575" cap="flat" cmpd="sng" algn="ctr">
                        <a:solidFill>
                          <a:srgbClr val="1E2678"/>
                        </a:solidFill>
                        <a:prstDash val="solid"/>
                        <a:round/>
                        <a:headEnd type="none" w="med" len="med"/>
                        <a:tailEnd type="none" w="med" len="med"/>
                      </a:lnT>
                      <a:lnB w="28575"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zh-CN" altLang="en-US" sz="1800" b="1"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0.870</a:t>
                        </a:r>
                        <a:endParaRPr lang="zh-CN" altLang="en-US" sz="1800" b="1"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anchor="ctr">
                      <a:lnL w="28575" cap="flat" cmpd="sng" algn="ctr">
                        <a:solidFill>
                          <a:srgbClr val="1E2678"/>
                        </a:solidFill>
                        <a:prstDash val="solid"/>
                        <a:round/>
                        <a:headEnd type="none" w="med" len="med"/>
                        <a:tailEnd type="none" w="med" len="med"/>
                      </a:lnL>
                      <a:lnR w="28575" cap="flat" cmpd="sng" algn="ctr">
                        <a:solidFill>
                          <a:srgbClr val="1E2678"/>
                        </a:solidFill>
                        <a:prstDash val="solid"/>
                        <a:round/>
                        <a:headEnd type="none" w="med" len="med"/>
                        <a:tailEnd type="none" w="med" len="med"/>
                      </a:lnR>
                      <a:lnT w="28575" cap="flat" cmpd="sng" algn="ctr">
                        <a:solidFill>
                          <a:srgbClr val="1E2678"/>
                        </a:solidFill>
                        <a:prstDash val="solid"/>
                        <a:round/>
                        <a:headEnd type="none" w="med" len="med"/>
                        <a:tailEnd type="none" w="med" len="med"/>
                      </a:lnT>
                      <a:lnB w="28575"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b="1"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0.077</a:t>
                        </a:r>
                        <a:endParaRPr lang="en-US" altLang="zh-CN" sz="1800" b="1"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anchor="ctr">
                      <a:lnL w="28575" cap="flat" cmpd="sng" algn="ctr">
                        <a:solidFill>
                          <a:srgbClr val="1E2678"/>
                        </a:solidFill>
                        <a:prstDash val="solid"/>
                        <a:round/>
                        <a:headEnd type="none" w="med" len="med"/>
                        <a:tailEnd type="none" w="med" len="med"/>
                      </a:lnL>
                      <a:lnR w="28575" cap="flat" cmpd="sng" algn="ctr">
                        <a:solidFill>
                          <a:srgbClr val="1E2678"/>
                        </a:solidFill>
                        <a:prstDash val="solid"/>
                        <a:round/>
                        <a:headEnd type="none" w="med" len="med"/>
                        <a:tailEnd type="none" w="med" len="med"/>
                      </a:lnR>
                      <a:lnT w="28575" cap="flat" cmpd="sng" algn="ctr">
                        <a:solidFill>
                          <a:srgbClr val="1E2678"/>
                        </a:solidFill>
                        <a:prstDash val="solid"/>
                        <a:round/>
                        <a:headEnd type="none" w="med" len="med"/>
                        <a:tailEnd type="none" w="med" len="med"/>
                      </a:lnT>
                      <a:lnB w="28575"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zh-CN" altLang="en-US" sz="1800" b="1"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0.006</a:t>
                        </a:r>
                        <a:endParaRPr lang="zh-CN" altLang="en-US" sz="1800" b="1"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anchor="ctr">
                      <a:lnL w="28575" cap="flat" cmpd="sng" algn="ctr">
                        <a:solidFill>
                          <a:srgbClr val="1E2678"/>
                        </a:solidFill>
                        <a:prstDash val="solid"/>
                        <a:round/>
                        <a:headEnd type="none" w="med" len="med"/>
                        <a:tailEnd type="none" w="med" len="med"/>
                      </a:lnL>
                      <a:lnR w="28575" cap="flat" cmpd="sng" algn="ctr">
                        <a:solidFill>
                          <a:srgbClr val="1E2678"/>
                        </a:solidFill>
                        <a:prstDash val="solid"/>
                        <a:round/>
                        <a:headEnd type="none" w="med" len="med"/>
                        <a:tailEnd type="none" w="med" len="med"/>
                      </a:lnR>
                      <a:lnT w="28575" cap="flat" cmpd="sng" algn="ctr">
                        <a:solidFill>
                          <a:srgbClr val="1E2678"/>
                        </a:solidFill>
                        <a:prstDash val="solid"/>
                        <a:round/>
                        <a:headEnd type="none" w="med" len="med"/>
                        <a:tailEnd type="none" w="med" len="med"/>
                      </a:lnT>
                      <a:lnB w="28575"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zh-CN" altLang="en-US" sz="1800" b="1"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1800" b="1"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.050</a:t>
                        </a:r>
                        <a:endParaRPr lang="en-US" altLang="zh-CN" sz="1800" b="1"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anchor="ctr">
                      <a:lnL w="28575" cap="flat" cmpd="sng" algn="ctr">
                        <a:solidFill>
                          <a:srgbClr val="1E2678"/>
                        </a:solidFill>
                        <a:prstDash val="solid"/>
                        <a:round/>
                        <a:headEnd type="none" w="med" len="med"/>
                        <a:tailEnd type="none" w="med" len="med"/>
                      </a:lnL>
                      <a:lnR w="28575" cap="flat" cmpd="sng" algn="ctr">
                        <a:solidFill>
                          <a:srgbClr val="1E2678"/>
                        </a:solidFill>
                        <a:prstDash val="solid"/>
                        <a:round/>
                        <a:headEnd type="none" w="med" len="med"/>
                        <a:tailEnd type="none" w="med" len="med"/>
                      </a:lnR>
                      <a:lnT w="28575" cap="flat" cmpd="sng" algn="ctr">
                        <a:solidFill>
                          <a:srgbClr val="1E2678"/>
                        </a:solidFill>
                        <a:prstDash val="solid"/>
                        <a:round/>
                        <a:headEnd type="none" w="med" len="med"/>
                        <a:tailEnd type="none" w="med" len="med"/>
                      </a:lnT>
                      <a:lnB w="28575" cap="flat" cmpd="sng" algn="ctr">
                        <a:solidFill>
                          <a:srgbClr val="1E2678"/>
                        </a:solidFill>
                        <a:prstDash val="solid"/>
                        <a:round/>
                        <a:headEnd type="none" w="med" len="med"/>
                        <a:tailEnd type="none" w="med" len="med"/>
                      </a:lnB>
                      <a:lnTlToBr>
                        <a:noFill/>
                      </a:lnTlToBr>
                      <a:lnBlToTr>
                        <a:noFill/>
                      </a:lnBlToTr>
                      <a:noFill/>
                    </a:tcPr>
                  </a:tc>
                </a:tr>
                <a:tr h="504190">
                  <a:tc>
                    <a:txBody>
                      <a:bodyPr/>
                      <a:lstStyle/>
                      <a:p>
                        <a:pPr indent="0" algn="ctr">
                          <a:buNone/>
                        </a:pPr>
                        <a:r>
                          <a:rPr lang="zh-CN" altLang="en-US" sz="18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周末</a:t>
                        </a:r>
                        <a:r>
                          <a:rPr lang="en-US" altLang="zh-CN" sz="18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sz="18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时</a:t>
                        </a:r>
                        <a:endParaRPr lang="zh-CN" altLang="en-US" sz="18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28575">
                        <a:solidFill>
                          <a:srgbClr val="000000">
                            <a:alpha val="100000"/>
                          </a:srgbClr>
                        </a:solidFill>
                        <a:miter lim="800000"/>
                      </a:lnL>
                      <a:lnR w="28575" cap="flat" cmpd="sng" algn="ctr">
                        <a:solidFill>
                          <a:srgbClr val="1E2678"/>
                        </a:solidFill>
                        <a:prstDash val="solid"/>
                        <a:round/>
                        <a:headEnd type="none" w="med" len="med"/>
                        <a:tailEnd type="none" w="med" len="med"/>
                      </a:lnR>
                      <a:lnT w="28575" cap="flat" cmpd="sng" algn="ctr">
                        <a:solidFill>
                          <a:srgbClr val="1E2678"/>
                        </a:solidFill>
                        <a:prstDash val="solid"/>
                        <a:round/>
                        <a:headEnd type="none" w="med" len="med"/>
                        <a:tailEnd type="none" w="med" len="med"/>
                      </a:lnT>
                      <a:lnB w="28575"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b="1"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0.887</a:t>
                        </a:r>
                        <a:endParaRPr lang="en-US" altLang="zh-CN" sz="1800" b="1"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anchor="ctr">
                      <a:lnL w="28575" cap="flat" cmpd="sng" algn="ctr">
                        <a:solidFill>
                          <a:srgbClr val="1E2678"/>
                        </a:solidFill>
                        <a:prstDash val="solid"/>
                        <a:round/>
                        <a:headEnd type="none" w="med" len="med"/>
                        <a:tailEnd type="none" w="med" len="med"/>
                      </a:lnL>
                      <a:lnR w="28575" cap="flat" cmpd="sng" algn="ctr">
                        <a:solidFill>
                          <a:srgbClr val="1E2678"/>
                        </a:solidFill>
                        <a:prstDash val="solid"/>
                        <a:round/>
                        <a:headEnd type="none" w="med" len="med"/>
                        <a:tailEnd type="none" w="med" len="med"/>
                      </a:lnR>
                      <a:lnT w="28575" cap="flat" cmpd="sng" algn="ctr">
                        <a:solidFill>
                          <a:srgbClr val="1E2678"/>
                        </a:solidFill>
                        <a:prstDash val="solid"/>
                        <a:round/>
                        <a:headEnd type="none" w="med" len="med"/>
                        <a:tailEnd type="none" w="med" len="med"/>
                      </a:lnT>
                      <a:lnB w="28575"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zh-CN" altLang="en-US" sz="1800" b="1"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0.88</a:t>
                        </a:r>
                        <a:r>
                          <a:rPr lang="en-US" altLang="zh-CN" sz="1800" b="1"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800" b="1"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anchor="ctr">
                      <a:lnL w="28575" cap="flat" cmpd="sng" algn="ctr">
                        <a:solidFill>
                          <a:srgbClr val="1E2678"/>
                        </a:solidFill>
                        <a:prstDash val="solid"/>
                        <a:round/>
                        <a:headEnd type="none" w="med" len="med"/>
                        <a:tailEnd type="none" w="med" len="med"/>
                      </a:lnL>
                      <a:lnR w="28575" cap="flat" cmpd="sng" algn="ctr">
                        <a:solidFill>
                          <a:srgbClr val="1E2678"/>
                        </a:solidFill>
                        <a:prstDash val="solid"/>
                        <a:round/>
                        <a:headEnd type="none" w="med" len="med"/>
                        <a:tailEnd type="none" w="med" len="med"/>
                      </a:lnR>
                      <a:lnT w="28575" cap="flat" cmpd="sng" algn="ctr">
                        <a:solidFill>
                          <a:srgbClr val="1E2678"/>
                        </a:solidFill>
                        <a:prstDash val="solid"/>
                        <a:round/>
                        <a:headEnd type="none" w="med" len="med"/>
                        <a:tailEnd type="none" w="med" len="med"/>
                      </a:lnT>
                      <a:lnB w="28575"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zh-CN" altLang="en-US" sz="1800" b="1"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0.049</a:t>
                        </a:r>
                        <a:endParaRPr lang="zh-CN" altLang="en-US" sz="1800" b="1"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anchor="ctr">
                      <a:lnL w="28575" cap="flat" cmpd="sng" algn="ctr">
                        <a:solidFill>
                          <a:srgbClr val="1E2678"/>
                        </a:solidFill>
                        <a:prstDash val="solid"/>
                        <a:round/>
                        <a:headEnd type="none" w="med" len="med"/>
                        <a:tailEnd type="none" w="med" len="med"/>
                      </a:lnL>
                      <a:lnR w="28575" cap="flat" cmpd="sng" algn="ctr">
                        <a:solidFill>
                          <a:srgbClr val="1E2678"/>
                        </a:solidFill>
                        <a:prstDash val="solid"/>
                        <a:round/>
                        <a:headEnd type="none" w="med" len="med"/>
                        <a:tailEnd type="none" w="med" len="med"/>
                      </a:lnR>
                      <a:lnT w="28575" cap="flat" cmpd="sng" algn="ctr">
                        <a:solidFill>
                          <a:srgbClr val="1E2678"/>
                        </a:solidFill>
                        <a:prstDash val="solid"/>
                        <a:round/>
                        <a:headEnd type="none" w="med" len="med"/>
                        <a:tailEnd type="none" w="med" len="med"/>
                      </a:lnT>
                      <a:lnB w="28575"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zh-CN" altLang="en-US" sz="1800" b="1"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0.002</a:t>
                        </a:r>
                        <a:endParaRPr lang="zh-CN" altLang="en-US" sz="1800" b="1"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anchor="ctr">
                      <a:lnL w="28575" cap="flat" cmpd="sng" algn="ctr">
                        <a:solidFill>
                          <a:srgbClr val="1E2678"/>
                        </a:solidFill>
                        <a:prstDash val="solid"/>
                        <a:round/>
                        <a:headEnd type="none" w="med" len="med"/>
                        <a:tailEnd type="none" w="med" len="med"/>
                      </a:lnL>
                      <a:lnR w="28575" cap="flat" cmpd="sng" algn="ctr">
                        <a:solidFill>
                          <a:srgbClr val="1E2678"/>
                        </a:solidFill>
                        <a:prstDash val="solid"/>
                        <a:round/>
                        <a:headEnd type="none" w="med" len="med"/>
                        <a:tailEnd type="none" w="med" len="med"/>
                      </a:lnR>
                      <a:lnT w="28575" cap="flat" cmpd="sng" algn="ctr">
                        <a:solidFill>
                          <a:srgbClr val="1E2678"/>
                        </a:solidFill>
                        <a:prstDash val="solid"/>
                        <a:round/>
                        <a:headEnd type="none" w="med" len="med"/>
                        <a:tailEnd type="none" w="med" len="med"/>
                      </a:lnT>
                      <a:lnB w="28575"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zh-CN" altLang="en-US" sz="1800" b="1"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0.038</a:t>
                        </a:r>
                        <a:endParaRPr lang="zh-CN" altLang="en-US" sz="1800" b="1"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anchor="ctr">
                      <a:lnL w="28575" cap="flat" cmpd="sng" algn="ctr">
                        <a:solidFill>
                          <a:srgbClr val="1E2678"/>
                        </a:solidFill>
                        <a:prstDash val="solid"/>
                        <a:round/>
                        <a:headEnd type="none" w="med" len="med"/>
                        <a:tailEnd type="none" w="med" len="med"/>
                      </a:lnL>
                      <a:lnR w="28575" cap="flat" cmpd="sng" algn="ctr">
                        <a:solidFill>
                          <a:srgbClr val="1E2678"/>
                        </a:solidFill>
                        <a:prstDash val="solid"/>
                        <a:round/>
                        <a:headEnd type="none" w="med" len="med"/>
                        <a:tailEnd type="none" w="med" len="med"/>
                      </a:lnR>
                      <a:lnT w="28575" cap="flat" cmpd="sng" algn="ctr">
                        <a:solidFill>
                          <a:srgbClr val="1E2678"/>
                        </a:solidFill>
                        <a:prstDash val="solid"/>
                        <a:round/>
                        <a:headEnd type="none" w="med" len="med"/>
                        <a:tailEnd type="none" w="med" len="med"/>
                      </a:lnT>
                      <a:lnB w="28575" cap="flat" cmpd="sng" algn="ctr">
                        <a:solidFill>
                          <a:srgbClr val="1E2678"/>
                        </a:solidFill>
                        <a:prstDash val="solid"/>
                        <a:round/>
                        <a:headEnd type="none" w="med" len="med"/>
                        <a:tailEnd type="none" w="med" len="med"/>
                      </a:lnB>
                      <a:lnTlToBr>
                        <a:noFill/>
                      </a:lnTlToBr>
                      <a:lnBlToTr>
                        <a:noFill/>
                      </a:lnBlToTr>
                      <a:noFill/>
                    </a:tcPr>
                  </a:tc>
                </a:tr>
                <a:tr h="505460">
                  <a:tc>
                    <a:txBody>
                      <a:bodyPr/>
                      <a:lstStyle/>
                      <a:p>
                        <a:pPr indent="0" algn="ctr">
                          <a:buNone/>
                        </a:pPr>
                        <a:r>
                          <a:rPr lang="zh-CN" altLang="en-US" sz="18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周末</a:t>
                        </a:r>
                        <a:r>
                          <a:rPr lang="en-US" altLang="zh-CN" sz="18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17</a:t>
                        </a:r>
                        <a:r>
                          <a:rPr lang="zh-CN" altLang="en-US" sz="18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时</a:t>
                        </a:r>
                        <a:endParaRPr lang="zh-CN" altLang="en-US" sz="18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lnL w="28575">
                        <a:solidFill>
                          <a:srgbClr val="000000">
                            <a:alpha val="100000"/>
                          </a:srgbClr>
                        </a:solidFill>
                        <a:miter lim="800000"/>
                      </a:lnL>
                      <a:lnR w="28575" cap="flat" cmpd="sng" algn="ctr">
                        <a:solidFill>
                          <a:srgbClr val="1E2678"/>
                        </a:solidFill>
                        <a:prstDash val="solid"/>
                        <a:round/>
                        <a:headEnd type="none" w="med" len="med"/>
                        <a:tailEnd type="none" w="med" len="med"/>
                      </a:lnR>
                      <a:lnT w="28575" cap="flat" cmpd="sng" algn="ctr">
                        <a:solidFill>
                          <a:srgbClr val="1E2678"/>
                        </a:solidFill>
                        <a:prstDash val="solid"/>
                        <a:round/>
                        <a:headEnd type="none" w="med" len="med"/>
                        <a:tailEnd type="none" w="med" len="med"/>
                      </a:lnT>
                      <a:lnB w="28575"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b="1"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0.871</a:t>
                        </a:r>
                        <a:endParaRPr lang="en-US" altLang="zh-CN" sz="1800" b="1"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anchor="ctr">
                      <a:lnL w="28575" cap="flat" cmpd="sng" algn="ctr">
                        <a:solidFill>
                          <a:srgbClr val="1E2678"/>
                        </a:solidFill>
                        <a:prstDash val="solid"/>
                        <a:round/>
                        <a:headEnd type="none" w="med" len="med"/>
                        <a:tailEnd type="none" w="med" len="med"/>
                      </a:lnL>
                      <a:lnR w="28575" cap="flat" cmpd="sng" algn="ctr">
                        <a:solidFill>
                          <a:srgbClr val="1E2678"/>
                        </a:solidFill>
                        <a:prstDash val="solid"/>
                        <a:round/>
                        <a:headEnd type="none" w="med" len="med"/>
                        <a:tailEnd type="none" w="med" len="med"/>
                      </a:lnR>
                      <a:lnT w="28575" cap="flat" cmpd="sng" algn="ctr">
                        <a:solidFill>
                          <a:srgbClr val="1E2678"/>
                        </a:solidFill>
                        <a:prstDash val="solid"/>
                        <a:round/>
                        <a:headEnd type="none" w="med" len="med"/>
                        <a:tailEnd type="none" w="med" len="med"/>
                      </a:lnT>
                      <a:lnB w="28575"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zh-CN" altLang="en-US" sz="1800" b="1"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0.866</a:t>
                        </a:r>
                        <a:endParaRPr lang="zh-CN" altLang="en-US" sz="1800" b="1"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anchor="ctr">
                      <a:lnL w="28575" cap="flat" cmpd="sng" algn="ctr">
                        <a:solidFill>
                          <a:srgbClr val="1E2678"/>
                        </a:solidFill>
                        <a:prstDash val="solid"/>
                        <a:round/>
                        <a:headEnd type="none" w="med" len="med"/>
                        <a:tailEnd type="none" w="med" len="med"/>
                      </a:lnL>
                      <a:lnR w="28575" cap="flat" cmpd="sng" algn="ctr">
                        <a:solidFill>
                          <a:srgbClr val="1E2678"/>
                        </a:solidFill>
                        <a:prstDash val="solid"/>
                        <a:round/>
                        <a:headEnd type="none" w="med" len="med"/>
                        <a:tailEnd type="none" w="med" len="med"/>
                      </a:lnR>
                      <a:lnT w="28575" cap="flat" cmpd="sng" algn="ctr">
                        <a:solidFill>
                          <a:srgbClr val="1E2678"/>
                        </a:solidFill>
                        <a:prstDash val="solid"/>
                        <a:round/>
                        <a:headEnd type="none" w="med" len="med"/>
                        <a:tailEnd type="none" w="med" len="med"/>
                      </a:lnT>
                      <a:lnB w="28575"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zh-CN" altLang="en-US" sz="1800" b="1"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0.075</a:t>
                        </a:r>
                        <a:endParaRPr lang="zh-CN" altLang="en-US" sz="1800" b="1"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anchor="ctr">
                      <a:lnL w="28575" cap="flat" cmpd="sng" algn="ctr">
                        <a:solidFill>
                          <a:srgbClr val="1E2678"/>
                        </a:solidFill>
                        <a:prstDash val="solid"/>
                        <a:round/>
                        <a:headEnd type="none" w="med" len="med"/>
                        <a:tailEnd type="none" w="med" len="med"/>
                      </a:lnL>
                      <a:lnR w="28575" cap="flat" cmpd="sng" algn="ctr">
                        <a:solidFill>
                          <a:srgbClr val="1E2678"/>
                        </a:solidFill>
                        <a:prstDash val="solid"/>
                        <a:round/>
                        <a:headEnd type="none" w="med" len="med"/>
                        <a:tailEnd type="none" w="med" len="med"/>
                      </a:lnR>
                      <a:lnT w="28575" cap="flat" cmpd="sng" algn="ctr">
                        <a:solidFill>
                          <a:srgbClr val="1E2678"/>
                        </a:solidFill>
                        <a:prstDash val="solid"/>
                        <a:round/>
                        <a:headEnd type="none" w="med" len="med"/>
                        <a:tailEnd type="none" w="med" len="med"/>
                      </a:lnT>
                      <a:lnB w="28575"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zh-CN" altLang="en-US" sz="1800" b="1"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0.00</a:t>
                        </a:r>
                        <a:r>
                          <a:rPr lang="en-US" altLang="zh-CN" sz="1800" b="1"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6</a:t>
                        </a:r>
                        <a:endParaRPr lang="en-US" altLang="zh-CN" sz="1800" b="1"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anchor="ctr">
                      <a:lnL w="28575" cap="flat" cmpd="sng" algn="ctr">
                        <a:solidFill>
                          <a:srgbClr val="1E2678"/>
                        </a:solidFill>
                        <a:prstDash val="solid"/>
                        <a:round/>
                        <a:headEnd type="none" w="med" len="med"/>
                        <a:tailEnd type="none" w="med" len="med"/>
                      </a:lnL>
                      <a:lnR w="28575" cap="flat" cmpd="sng" algn="ctr">
                        <a:solidFill>
                          <a:srgbClr val="1E2678"/>
                        </a:solidFill>
                        <a:prstDash val="solid"/>
                        <a:round/>
                        <a:headEnd type="none" w="med" len="med"/>
                        <a:tailEnd type="none" w="med" len="med"/>
                      </a:lnR>
                      <a:lnT w="28575" cap="flat" cmpd="sng" algn="ctr">
                        <a:solidFill>
                          <a:srgbClr val="1E2678"/>
                        </a:solidFill>
                        <a:prstDash val="solid"/>
                        <a:round/>
                        <a:headEnd type="none" w="med" len="med"/>
                        <a:tailEnd type="none" w="med" len="med"/>
                      </a:lnT>
                      <a:lnB w="28575"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zh-CN" altLang="en-US" sz="1800" b="1"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0.053</a:t>
                        </a:r>
                        <a:endParaRPr lang="zh-CN" altLang="en-US" sz="1800" b="1"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anchor="ctr">
                      <a:lnL w="28575" cap="flat" cmpd="sng" algn="ctr">
                        <a:solidFill>
                          <a:srgbClr val="1E2678"/>
                        </a:solidFill>
                        <a:prstDash val="solid"/>
                        <a:round/>
                        <a:headEnd type="none" w="med" len="med"/>
                        <a:tailEnd type="none" w="med" len="med"/>
                      </a:lnL>
                      <a:lnR w="28575" cap="flat" cmpd="sng" algn="ctr">
                        <a:solidFill>
                          <a:srgbClr val="1E2678"/>
                        </a:solidFill>
                        <a:prstDash val="solid"/>
                        <a:round/>
                        <a:headEnd type="none" w="med" len="med"/>
                        <a:tailEnd type="none" w="med" len="med"/>
                      </a:lnR>
                      <a:lnT w="28575" cap="flat" cmpd="sng" algn="ctr">
                        <a:solidFill>
                          <a:srgbClr val="1E2678"/>
                        </a:solidFill>
                        <a:prstDash val="solid"/>
                        <a:round/>
                        <a:headEnd type="none" w="med" len="med"/>
                        <a:tailEnd type="none" w="med" len="med"/>
                      </a:lnT>
                      <a:lnB w="28575" cap="flat" cmpd="sng" algn="ctr">
                        <a:solidFill>
                          <a:srgbClr val="1E2678"/>
                        </a:solidFill>
                        <a:prstDash val="solid"/>
                        <a:round/>
                        <a:headEnd type="none" w="med" len="med"/>
                        <a:tailEnd type="none" w="med" len="med"/>
                      </a:lnB>
                      <a:lnTlToBr>
                        <a:noFill/>
                      </a:lnTlToBr>
                      <a:lnBlToTr>
                        <a:noFill/>
                      </a:lnBlToTr>
                      <a:noFill/>
                    </a:tcPr>
                  </a:tc>
                </a:tr>
              </a:tbl>
            </a:graphicData>
          </a:graphic>
        </p:graphicFrame>
        <p:sp>
          <p:nvSpPr>
            <p:cNvPr id="10" name="文本框 9"/>
            <p:cNvSpPr txBox="1"/>
            <p:nvPr userDrawn="1"/>
          </p:nvSpPr>
          <p:spPr>
            <a:xfrm>
              <a:off x="5625011" y="1523365"/>
              <a:ext cx="689429" cy="368300"/>
            </a:xfrm>
            <a:prstGeom prst="rect">
              <a:avLst/>
            </a:prstGeom>
          </p:spPr>
          <p:txBody>
            <a:bodyPr wrap="none" rtlCol="0">
              <a:noAutofit/>
            </a:bodyPr>
            <a:lstStyle/>
            <a:p>
              <a:r>
                <a:rPr lang="en-US" altLang="zh-CN" b="1">
                  <a:latin typeface="Times New Roman" panose="02020603050405020304" pitchFamily="18" charset="0"/>
                  <a:ea typeface="微软雅黑" panose="020B0503020204020204" pitchFamily="34" charset="-122"/>
                  <a:cs typeface="Times New Roman" panose="02020603050405020304" pitchFamily="18" charset="0"/>
                </a:rPr>
                <a:t>RMSE</a:t>
              </a:r>
              <a:endParaRPr lang="en-US" altLang="zh-CN"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文本框 3"/>
            <p:cNvSpPr txBox="1"/>
            <p:nvPr userDrawn="1"/>
          </p:nvSpPr>
          <p:spPr>
            <a:xfrm>
              <a:off x="7896951" y="1523365"/>
              <a:ext cx="725714" cy="368300"/>
            </a:xfrm>
            <a:prstGeom prst="rect">
              <a:avLst/>
            </a:prstGeom>
          </p:spPr>
          <p:txBody>
            <a:bodyPr wrap="none" rtlCol="0">
              <a:noAutofit/>
            </a:bodyPr>
            <a:lstStyle/>
            <a:p>
              <a:pPr algn="ctr"/>
              <a:r>
                <a:rPr lang="en-US" altLang="zh-CN" b="1">
                  <a:latin typeface="Times New Roman" panose="02020603050405020304" pitchFamily="18" charset="0"/>
                  <a:ea typeface="微软雅黑" panose="020B0503020204020204" pitchFamily="34" charset="-122"/>
                  <a:cs typeface="Times New Roman" panose="02020603050405020304" pitchFamily="18" charset="0"/>
                </a:rPr>
                <a:t>MAE</a:t>
              </a:r>
              <a:endParaRPr lang="en-US" altLang="zh-CN" b="1">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13" name="组合 12"/>
          <p:cNvGrpSpPr/>
          <p:nvPr/>
        </p:nvGrpSpPr>
        <p:grpSpPr>
          <a:xfrm>
            <a:off x="2368491" y="1553840"/>
            <a:ext cx="7697052" cy="1823720"/>
            <a:chOff x="131252" y="4704543"/>
            <a:chExt cx="5928255" cy="1823720"/>
          </a:xfrm>
        </p:grpSpPr>
        <p:sp>
          <p:nvSpPr>
            <p:cNvPr id="14" name="矩形: 圆角 15"/>
            <p:cNvSpPr/>
            <p:nvPr/>
          </p:nvSpPr>
          <p:spPr>
            <a:xfrm>
              <a:off x="131252" y="4710258"/>
              <a:ext cx="5928255" cy="1662208"/>
            </a:xfrm>
            <a:prstGeom prst="roundRect">
              <a:avLst/>
            </a:prstGeom>
            <a:solidFill>
              <a:schemeClr val="accent6">
                <a:lumMod val="20000"/>
                <a:lumOff val="80000"/>
              </a:schemeClr>
            </a:solidFill>
            <a:ln w="28575">
              <a:solidFill>
                <a:srgbClr val="1E26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文本框 14"/>
            <p:cNvSpPr txBox="1"/>
            <p:nvPr/>
          </p:nvSpPr>
          <p:spPr>
            <a:xfrm>
              <a:off x="174780" y="4704543"/>
              <a:ext cx="5841521" cy="1823720"/>
            </a:xfrm>
            <a:prstGeom prst="rect">
              <a:avLst/>
            </a:prstGeom>
            <a:noFill/>
          </p:spPr>
          <p:txBody>
            <a:bodyPr wrap="square">
              <a:noAutofit/>
            </a:bodyPr>
            <a:lstStyle/>
            <a:p>
              <a:pPr marL="285750" indent="-285750">
                <a:lnSpc>
                  <a:spcPct val="125000"/>
                </a:lnSpc>
                <a:buClr>
                  <a:srgbClr val="1E2678"/>
                </a:buClr>
                <a:buFont typeface="Wingdings" panose="05000000000000000000" pitchFamily="2" charset="2"/>
                <a:buChar char="p"/>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针对工作日和周末的早晚高峰分别进行分析。</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25000"/>
                </a:lnSpc>
                <a:buClr>
                  <a:srgbClr val="1E2678"/>
                </a:buClr>
                <a:buFont typeface="Wingdings" panose="05000000000000000000" pitchFamily="2" charset="2"/>
                <a:buChar char="p"/>
              </a:pP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PCA-RF</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模型利用提取的</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主成分</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拟合</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随机森林模型，</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随后利用</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SHAP</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可解释器</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基于博弈论中的Shapley值</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），分析各主成分对拥堵指数的贡献值。</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25000"/>
                </a:lnSpc>
                <a:buClr>
                  <a:srgbClr val="1E2678"/>
                </a:buClr>
                <a:buFont typeface="Wingdings" panose="05000000000000000000" pitchFamily="2" charset="2"/>
                <a:buChar char="p"/>
              </a:pPr>
              <a:r>
                <a:rPr lang="zh-CN" altLang="en-US"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将主成分的贡献值利用</a:t>
              </a:r>
              <a:r>
                <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PCA</a:t>
              </a:r>
              <a:r>
                <a:rPr lang="zh-CN" altLang="en-US"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得到的</a:t>
              </a:r>
              <a:r>
                <a:rPr lang="zh-CN" altLang="en-US" sz="16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转换矩阵</a:t>
              </a:r>
              <a:r>
                <a:rPr lang="zh-CN" altLang="en-US"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进行</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逆</a:t>
              </a:r>
              <a:r>
                <a:rPr lang="zh-CN" altLang="en-US" sz="16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变换</a:t>
              </a:r>
              <a:r>
                <a:rPr lang="zh-CN" altLang="en-US"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，即可得到每个解释变量对拥堵的贡献值。</a:t>
              </a:r>
              <a:endPar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5" name="文本框 4"/>
          <p:cNvSpPr txBox="1"/>
          <p:nvPr/>
        </p:nvSpPr>
        <p:spPr>
          <a:xfrm>
            <a:off x="1662399" y="6219191"/>
            <a:ext cx="9109235" cy="406522"/>
          </a:xfrm>
          <a:prstGeom prst="rect">
            <a:avLst/>
          </a:prstGeom>
          <a:noFill/>
        </p:spPr>
        <p:txBody>
          <a:bodyPr wrap="square">
            <a:spAutoFit/>
          </a:bodyPr>
          <a:lstStyle/>
          <a:p>
            <a:pPr algn="just">
              <a:lnSpc>
                <a:spcPct val="125000"/>
              </a:lnSpc>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在不同的时间段，</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PCA-RF</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模型的表现有所差异，总体上能够较好地建模交通拥堵情况</a:t>
            </a:r>
            <a:endParaRPr lang="zh-CN" altLang="en-US" b="1"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8300"/>
          </a:xfrm>
          <a:prstGeom prst="rect">
            <a:avLst/>
          </a:prstGeom>
          <a:noFill/>
        </p:spPr>
        <p:txBody>
          <a:bodyPr wrap="square" rtlCol="0">
            <a:spAutoFit/>
          </a:bodyPr>
          <a:lstStyle/>
          <a:p>
            <a:r>
              <a:rPr lang="zh-CN" altLang="en-US" dirty="0">
                <a:solidFill>
                  <a:schemeClr val="tx1">
                    <a:lumMod val="65000"/>
                    <a:lumOff val="35000"/>
                  </a:schemeClr>
                </a:solidFill>
                <a:latin typeface="Times New Roman" panose="02020603050405020304" pitchFamily="18" charset="0"/>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Times New Roman" panose="02020603050405020304" pitchFamily="18" charset="0"/>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Times New Roman" panose="02020603050405020304" pitchFamily="18" charset="0"/>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rPr>
                  <a:t>项目管理</a:t>
                </a:r>
                <a:endPar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7" name="组合 14"/>
          <p:cNvGrpSpPr/>
          <p:nvPr/>
        </p:nvGrpSpPr>
        <p:grpSpPr>
          <a:xfrm rot="0">
            <a:off x="205105" y="81915"/>
            <a:ext cx="1927225" cy="591185"/>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109" name="矩形 15"/>
          <p:cNvSpPr/>
          <p:nvPr/>
        </p:nvSpPr>
        <p:spPr>
          <a:xfrm>
            <a:off x="834953" y="471379"/>
            <a:ext cx="1369516" cy="176699"/>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宋体" panose="02010600030101010101" pitchFamily="2" charset="-122"/>
              </a:rPr>
              <a:t>WUHAN UNIVERSITY</a:t>
            </a:r>
            <a:endParaRPr lang="en-US" altLang="zh-CN" sz="900" b="1" dirty="0">
              <a:solidFill>
                <a:prstClr val="black"/>
              </a:solidFill>
              <a:latin typeface="Calibri" panose="020F0502020204030204"/>
              <a:ea typeface="宋体" panose="02010600030101010101" pitchFamily="2" charset="-122"/>
            </a:endParaRPr>
          </a:p>
        </p:txBody>
      </p:sp>
      <p:sp>
        <p:nvSpPr>
          <p:cNvPr id="2" name="ïṣ1ïḑê"/>
          <p:cNvSpPr>
            <a:spLocks noGrp="1"/>
          </p:cNvSpPr>
          <p:nvPr/>
        </p:nvSpPr>
        <p:spPr>
          <a:xfrm>
            <a:off x="205105" y="1141730"/>
            <a:ext cx="10850880" cy="71247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rPr>
              <a:t>2.4 </a:t>
            </a:r>
            <a:r>
              <a:rPr lang="zh-CN" altLang="en-US" dirty="0">
                <a:solidFill>
                  <a:srgbClr val="005825"/>
                </a:solidFill>
              </a:rPr>
              <a:t>模型构建</a:t>
            </a:r>
            <a:r>
              <a:rPr lang="en-US" altLang="zh-CN" dirty="0">
                <a:solidFill>
                  <a:srgbClr val="005825"/>
                </a:solidFill>
              </a:rPr>
              <a:t>|</a:t>
            </a:r>
            <a:r>
              <a:rPr lang="zh-CN" altLang="en-US" dirty="0">
                <a:solidFill>
                  <a:schemeClr val="tx1"/>
                </a:solidFill>
              </a:rPr>
              <a:t>空间自相关性分析</a:t>
            </a:r>
            <a:endParaRPr lang="zh-CN" altLang="en-US" dirty="0">
              <a:solidFill>
                <a:schemeClr val="tx1"/>
              </a:solidFill>
              <a:latin typeface="Times New Roman" panose="02020603050405020304" pitchFamily="18" charset="0"/>
              <a:cs typeface="Times New Roman" panose="02020603050405020304" pitchFamily="18" charset="0"/>
            </a:endParaRPr>
          </a:p>
          <a:p>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1" name="文本框 0"/>
          <p:cNvSpPr txBox="1"/>
          <p:nvPr/>
        </p:nvSpPr>
        <p:spPr>
          <a:xfrm>
            <a:off x="331914" y="1708741"/>
            <a:ext cx="2883270" cy="4429444"/>
          </a:xfrm>
          <a:prstGeom prst="rect">
            <a:avLst/>
          </a:prstGeom>
          <a:noFill/>
        </p:spPr>
        <p:txBody>
          <a:bodyPr wrap="square">
            <a:noAutofit/>
          </a:bodyPr>
          <a:lstStyle/>
          <a:p>
            <a:pPr marL="285750" indent="-285750" algn="l">
              <a:lnSpc>
                <a:spcPct val="125000"/>
              </a:lnSpc>
              <a:buFont typeface="Wingdings" panose="05000000000000000000" pitchFamily="2" charset="2"/>
              <a:buChar char="p"/>
            </a:pPr>
            <a:r>
              <a:rPr lang="zh-CN" altLang="en-US" sz="1600" b="1" dirty="0">
                <a:solidFill>
                  <a:srgbClr val="2C1E5C"/>
                </a:solidFill>
                <a:effectLst/>
                <a:latin typeface="微软雅黑" panose="020B0503020204020204" pitchFamily="34" charset="-122"/>
                <a:ea typeface="微软雅黑" panose="020B0503020204020204" pitchFamily="34" charset="-122"/>
                <a:cs typeface="微软雅黑" panose="020B0503020204020204" pitchFamily="34" charset="-122"/>
              </a:rPr>
              <a:t>全局莫兰指数（散点图）</a:t>
            </a:r>
            <a:r>
              <a:rPr lang="zh-CN" altLang="en-US" sz="1600" b="1" i="0" dirty="0">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0" i="0" dirty="0">
                <a:effectLst/>
                <a:latin typeface="微软雅黑" panose="020B0503020204020204" pitchFamily="34" charset="-122"/>
                <a:ea typeface="微软雅黑" panose="020B0503020204020204" pitchFamily="34" charset="-122"/>
                <a:cs typeface="微软雅黑" panose="020B0503020204020204" pitchFamily="34" charset="-122"/>
                <a:sym typeface="标准粗黑" panose="02000503000000000000" charset="-122"/>
              </a:rPr>
              <a:t>所有高峰时段的全局莫兰指数值显著，表明交通拥堵指数存在空间聚集性</a:t>
            </a:r>
            <a:endParaRPr lang="en-US" altLang="zh-CN" sz="1600" b="0" i="0" dirty="0">
              <a:effectLst/>
              <a:latin typeface="微软雅黑" panose="020B0503020204020204" pitchFamily="34" charset="-122"/>
              <a:ea typeface="微软雅黑" panose="020B0503020204020204" pitchFamily="34" charset="-122"/>
              <a:cs typeface="微软雅黑" panose="020B0503020204020204" pitchFamily="34" charset="-122"/>
              <a:sym typeface="标准粗黑" panose="02000503000000000000" charset="-122"/>
            </a:endParaRPr>
          </a:p>
          <a:p>
            <a:pPr marL="285750" indent="-285750" algn="l">
              <a:lnSpc>
                <a:spcPct val="125000"/>
              </a:lnSpc>
              <a:buFont typeface="Wingdings" panose="05000000000000000000" pitchFamily="2" charset="2"/>
              <a:buChar char="p"/>
            </a:pP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标准粗黑" panose="02000503000000000000" charset="-122"/>
            </a:endParaRPr>
          </a:p>
          <a:p>
            <a:pPr marL="285750" indent="-285750" algn="l">
              <a:lnSpc>
                <a:spcPct val="125000"/>
              </a:lnSpc>
              <a:buFont typeface="Wingdings" panose="05000000000000000000" pitchFamily="2" charset="2"/>
              <a:buChar char="p"/>
            </a:pPr>
            <a:endParaRPr lang="en-US" altLang="zh-CN" sz="1600" b="0" i="0" dirty="0">
              <a:effectLst/>
              <a:latin typeface="微软雅黑" panose="020B0503020204020204" pitchFamily="34" charset="-122"/>
              <a:ea typeface="微软雅黑" panose="020B0503020204020204" pitchFamily="34" charset="-122"/>
              <a:cs typeface="微软雅黑" panose="020B0503020204020204" pitchFamily="34" charset="-122"/>
              <a:sym typeface="标准粗黑" panose="02000503000000000000" charset="-122"/>
            </a:endParaRPr>
          </a:p>
          <a:p>
            <a:pPr marL="285750" indent="-285750" algn="l">
              <a:lnSpc>
                <a:spcPct val="125000"/>
              </a:lnSpc>
              <a:buFont typeface="Wingdings" panose="05000000000000000000" pitchFamily="2" charset="2"/>
              <a:buChar char="p"/>
            </a:pP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标准粗黑" panose="02000503000000000000" charset="-122"/>
            </a:endParaRPr>
          </a:p>
          <a:p>
            <a:pPr algn="l">
              <a:lnSpc>
                <a:spcPct val="125000"/>
              </a:lnSpc>
            </a:pPr>
            <a:endParaRPr lang="en-US" altLang="zh-CN" sz="1600" b="0" i="0" dirty="0">
              <a:effectLst/>
              <a:latin typeface="微软雅黑" panose="020B0503020204020204" pitchFamily="34" charset="-122"/>
              <a:ea typeface="微软雅黑" panose="020B0503020204020204" pitchFamily="34" charset="-122"/>
              <a:cs typeface="微软雅黑" panose="020B0503020204020204" pitchFamily="34" charset="-122"/>
              <a:sym typeface="标准粗黑" panose="02000503000000000000" charset="-122"/>
            </a:endParaRPr>
          </a:p>
          <a:p>
            <a:pPr marL="285750" indent="-285750">
              <a:lnSpc>
                <a:spcPct val="125000"/>
              </a:lnSpc>
              <a:buFont typeface="Wingdings" panose="05000000000000000000" pitchFamily="2" charset="2"/>
              <a:buChar char="p"/>
            </a:pPr>
            <a:r>
              <a:rPr lang="zh-CN" altLang="en-US" sz="1600" b="1" dirty="0">
                <a:solidFill>
                  <a:srgbClr val="2C1E5C"/>
                </a:solidFill>
                <a:latin typeface="微软雅黑" panose="020B0503020204020204" pitchFamily="34" charset="-122"/>
                <a:ea typeface="微软雅黑" panose="020B0503020204020204" pitchFamily="34" charset="-122"/>
                <a:cs typeface="微软雅黑" panose="020B0503020204020204" pitchFamily="34" charset="-122"/>
                <a:sym typeface="标准粗黑" panose="02000503000000000000" charset="-122"/>
              </a:rPr>
              <a:t>局部莫兰指数（</a:t>
            </a:r>
            <a:r>
              <a:rPr lang="en-US" altLang="zh-CN" sz="1600" b="1" dirty="0">
                <a:solidFill>
                  <a:srgbClr val="2C1E5C"/>
                </a:solidFill>
                <a:latin typeface="微软雅黑" panose="020B0503020204020204" pitchFamily="34" charset="-122"/>
                <a:ea typeface="微软雅黑" panose="020B0503020204020204" pitchFamily="34" charset="-122"/>
                <a:cs typeface="微软雅黑" panose="020B0503020204020204" pitchFamily="34" charset="-122"/>
                <a:sym typeface="标准粗黑" panose="02000503000000000000" charset="-122"/>
              </a:rPr>
              <a:t>LISA</a:t>
            </a:r>
            <a:r>
              <a:rPr lang="zh-CN" altLang="en-US" sz="1600" b="1" dirty="0">
                <a:solidFill>
                  <a:srgbClr val="2C1E5C"/>
                </a:solidFill>
                <a:latin typeface="微软雅黑" panose="020B0503020204020204" pitchFamily="34" charset="-122"/>
                <a:ea typeface="微软雅黑" panose="020B0503020204020204" pitchFamily="34" charset="-122"/>
                <a:cs typeface="微软雅黑" panose="020B0503020204020204" pitchFamily="34" charset="-122"/>
                <a:sym typeface="标准粗黑" panose="02000503000000000000" charset="-122"/>
              </a:rPr>
              <a:t>图）：</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标准粗黑" panose="02000503000000000000" charset="-122"/>
              </a:rPr>
              <a:t>靠近中心地带为热点区域（高</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标准粗黑" panose="02000503000000000000" charset="-122"/>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标准粗黑" panose="02000503000000000000" charset="-122"/>
              </a:rPr>
              <a:t>高聚类），边缘区为冷点区域（低</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标准粗黑" panose="02000503000000000000" charset="-122"/>
              </a:rPr>
              <a:t>-</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标准粗黑" panose="02000503000000000000" charset="-122"/>
              </a:rPr>
              <a:t>低聚类）</a:t>
            </a:r>
            <a:endParaRPr lang="zh-CN" altLang="en-US" sz="1600" dirty="0">
              <a:latin typeface="微软雅黑" panose="020B0503020204020204" pitchFamily="34" charset="-122"/>
              <a:ea typeface="微软雅黑" panose="020B0503020204020204" pitchFamily="34" charset="-122"/>
              <a:cs typeface="微软雅黑" panose="020B0503020204020204" pitchFamily="34" charset="-122"/>
              <a:sym typeface="标准粗黑" panose="02000503000000000000" charset="-122"/>
            </a:endParaRPr>
          </a:p>
        </p:txBody>
      </p:sp>
      <p:pic>
        <p:nvPicPr>
          <p:cNvPr id="6" name="图片 5" descr="upload_post_object_v2_2717136415"/>
          <p:cNvPicPr>
            <a:picLocks noChangeAspect="1"/>
          </p:cNvPicPr>
          <p:nvPr/>
        </p:nvPicPr>
        <p:blipFill>
          <a:blip r:embed="rId4"/>
          <a:stretch>
            <a:fillRect/>
          </a:stretch>
        </p:blipFill>
        <p:spPr>
          <a:xfrm>
            <a:off x="3298149" y="1708885"/>
            <a:ext cx="2189312" cy="2189312"/>
          </a:xfrm>
          <a:prstGeom prst="rect">
            <a:avLst/>
          </a:prstGeom>
        </p:spPr>
      </p:pic>
      <p:pic>
        <p:nvPicPr>
          <p:cNvPr id="7" name="图片 6" descr="upload_post_object_v2_2185704532"/>
          <p:cNvPicPr>
            <a:picLocks noChangeAspect="1"/>
          </p:cNvPicPr>
          <p:nvPr/>
        </p:nvPicPr>
        <p:blipFill>
          <a:blip r:embed="rId5"/>
          <a:stretch>
            <a:fillRect/>
          </a:stretch>
        </p:blipFill>
        <p:spPr>
          <a:xfrm>
            <a:off x="3298149" y="4182143"/>
            <a:ext cx="2349001" cy="1698791"/>
          </a:xfrm>
          <a:prstGeom prst="rect">
            <a:avLst/>
          </a:prstGeom>
        </p:spPr>
      </p:pic>
      <p:pic>
        <p:nvPicPr>
          <p:cNvPr id="8" name="图片 7" descr="upload_post_object_v2_2383712976"/>
          <p:cNvPicPr>
            <a:picLocks noChangeAspect="1"/>
          </p:cNvPicPr>
          <p:nvPr/>
        </p:nvPicPr>
        <p:blipFill>
          <a:blip r:embed="rId6"/>
          <a:stretch>
            <a:fillRect/>
          </a:stretch>
        </p:blipFill>
        <p:spPr>
          <a:xfrm>
            <a:off x="5372569" y="1708921"/>
            <a:ext cx="2189268" cy="2226673"/>
          </a:xfrm>
          <a:prstGeom prst="rect">
            <a:avLst/>
          </a:prstGeom>
        </p:spPr>
      </p:pic>
      <p:pic>
        <p:nvPicPr>
          <p:cNvPr id="9" name="图片 8" descr="upload_post_object_v2_3921834174"/>
          <p:cNvPicPr>
            <a:picLocks noChangeAspect="1"/>
          </p:cNvPicPr>
          <p:nvPr/>
        </p:nvPicPr>
        <p:blipFill>
          <a:blip r:embed="rId7"/>
          <a:stretch>
            <a:fillRect/>
          </a:stretch>
        </p:blipFill>
        <p:spPr>
          <a:xfrm>
            <a:off x="5372481" y="4182143"/>
            <a:ext cx="2348930" cy="1698739"/>
          </a:xfrm>
          <a:prstGeom prst="rect">
            <a:avLst/>
          </a:prstGeom>
        </p:spPr>
      </p:pic>
      <p:pic>
        <p:nvPicPr>
          <p:cNvPr id="12" name="图片 11" descr="upload_post_object_v2_1377636869"/>
          <p:cNvPicPr>
            <a:picLocks noChangeAspect="1"/>
          </p:cNvPicPr>
          <p:nvPr/>
        </p:nvPicPr>
        <p:blipFill>
          <a:blip r:embed="rId8"/>
          <a:stretch>
            <a:fillRect/>
          </a:stretch>
        </p:blipFill>
        <p:spPr>
          <a:xfrm>
            <a:off x="7448607" y="1708921"/>
            <a:ext cx="2269750" cy="2214716"/>
          </a:xfrm>
          <a:prstGeom prst="rect">
            <a:avLst/>
          </a:prstGeom>
        </p:spPr>
      </p:pic>
      <p:pic>
        <p:nvPicPr>
          <p:cNvPr id="16" name="图片 15" descr="upload_post_object_v2_3955502635"/>
          <p:cNvPicPr>
            <a:picLocks noChangeAspect="1"/>
          </p:cNvPicPr>
          <p:nvPr/>
        </p:nvPicPr>
        <p:blipFill>
          <a:blip r:embed="rId9"/>
          <a:stretch>
            <a:fillRect/>
          </a:stretch>
        </p:blipFill>
        <p:spPr>
          <a:xfrm>
            <a:off x="7561898" y="4182143"/>
            <a:ext cx="2348990" cy="1698782"/>
          </a:xfrm>
          <a:prstGeom prst="rect">
            <a:avLst/>
          </a:prstGeom>
        </p:spPr>
      </p:pic>
      <p:pic>
        <p:nvPicPr>
          <p:cNvPr id="17" name="图片 16" descr="upload_post_object_v2_741472410"/>
          <p:cNvPicPr>
            <a:picLocks noChangeAspect="1"/>
          </p:cNvPicPr>
          <p:nvPr/>
        </p:nvPicPr>
        <p:blipFill>
          <a:blip r:embed="rId10"/>
          <a:stretch>
            <a:fillRect/>
          </a:stretch>
        </p:blipFill>
        <p:spPr>
          <a:xfrm>
            <a:off x="9607233" y="1708976"/>
            <a:ext cx="2237613" cy="2226635"/>
          </a:xfrm>
          <a:prstGeom prst="rect">
            <a:avLst/>
          </a:prstGeom>
        </p:spPr>
      </p:pic>
      <p:pic>
        <p:nvPicPr>
          <p:cNvPr id="18" name="图片 17" descr="upload_post_object_v2_1948151687"/>
          <p:cNvPicPr>
            <a:picLocks noChangeAspect="1"/>
          </p:cNvPicPr>
          <p:nvPr/>
        </p:nvPicPr>
        <p:blipFill>
          <a:blip r:embed="rId11"/>
          <a:stretch>
            <a:fillRect/>
          </a:stretch>
        </p:blipFill>
        <p:spPr>
          <a:xfrm>
            <a:off x="9718327" y="4182143"/>
            <a:ext cx="2348990" cy="1698782"/>
          </a:xfrm>
          <a:prstGeom prst="rect">
            <a:avLst/>
          </a:prstGeom>
        </p:spPr>
      </p:pic>
      <p:sp>
        <p:nvSpPr>
          <p:cNvPr id="19" name="文本框 18"/>
          <p:cNvSpPr txBox="1"/>
          <p:nvPr/>
        </p:nvSpPr>
        <p:spPr>
          <a:xfrm>
            <a:off x="3760747" y="6013518"/>
            <a:ext cx="1435397" cy="377026"/>
          </a:xfrm>
          <a:prstGeom prst="rect">
            <a:avLst/>
          </a:prstGeom>
          <a:noFill/>
        </p:spPr>
        <p:txBody>
          <a:bodyPr wrap="square" rtlCol="0">
            <a:spAutoFit/>
          </a:bodyPr>
          <a:lstStyle/>
          <a:p>
            <a:pPr algn="ctr">
              <a:lnSpc>
                <a:spcPct val="150000"/>
              </a:lnSpc>
            </a:pPr>
            <a:r>
              <a:rPr lang="zh-CN" altLang="en-US" sz="1400" dirty="0">
                <a:solidFill>
                  <a:srgbClr val="000000"/>
                </a:solidFill>
                <a:latin typeface="微软雅黑" panose="020B0503020204020204" pitchFamily="34" charset="-122"/>
                <a:ea typeface="微软雅黑" panose="020B0503020204020204" pitchFamily="34" charset="-122"/>
              </a:rPr>
              <a:t>工作日早高峰</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5778972" y="6013518"/>
            <a:ext cx="1435397" cy="377026"/>
          </a:xfrm>
          <a:prstGeom prst="rect">
            <a:avLst/>
          </a:prstGeom>
          <a:noFill/>
        </p:spPr>
        <p:txBody>
          <a:bodyPr wrap="square" rtlCol="0">
            <a:spAutoFit/>
          </a:bodyPr>
          <a:lstStyle/>
          <a:p>
            <a:pPr algn="ctr">
              <a:lnSpc>
                <a:spcPct val="150000"/>
              </a:lnSpc>
            </a:pPr>
            <a:r>
              <a:rPr lang="zh-CN" altLang="en-US" sz="1400" dirty="0">
                <a:solidFill>
                  <a:srgbClr val="000000"/>
                </a:solidFill>
                <a:latin typeface="微软雅黑" panose="020B0503020204020204" pitchFamily="34" charset="-122"/>
                <a:ea typeface="微软雅黑" panose="020B0503020204020204" pitchFamily="34" charset="-122"/>
              </a:rPr>
              <a:t>工作日晚高峰</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21" name="文本框 20"/>
          <p:cNvSpPr txBox="1"/>
          <p:nvPr/>
        </p:nvSpPr>
        <p:spPr>
          <a:xfrm>
            <a:off x="8018709" y="6013518"/>
            <a:ext cx="1435397" cy="375552"/>
          </a:xfrm>
          <a:prstGeom prst="rect">
            <a:avLst/>
          </a:prstGeom>
          <a:noFill/>
        </p:spPr>
        <p:txBody>
          <a:bodyPr wrap="square" rtlCol="0">
            <a:spAutoFit/>
          </a:bodyPr>
          <a:lstStyle/>
          <a:p>
            <a:pPr algn="ctr">
              <a:lnSpc>
                <a:spcPct val="150000"/>
              </a:lnSpc>
            </a:pPr>
            <a:r>
              <a:rPr lang="zh-CN" altLang="en-US" sz="1400" dirty="0">
                <a:solidFill>
                  <a:srgbClr val="000000"/>
                </a:solidFill>
                <a:latin typeface="微软雅黑" panose="020B0503020204020204" pitchFamily="34" charset="-122"/>
                <a:ea typeface="微软雅黑" panose="020B0503020204020204" pitchFamily="34" charset="-122"/>
              </a:rPr>
              <a:t>周末早高峰</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10243737" y="6013518"/>
            <a:ext cx="1435397" cy="377026"/>
          </a:xfrm>
          <a:prstGeom prst="rect">
            <a:avLst/>
          </a:prstGeom>
          <a:noFill/>
        </p:spPr>
        <p:txBody>
          <a:bodyPr wrap="square" rtlCol="0">
            <a:spAutoFit/>
          </a:bodyPr>
          <a:lstStyle/>
          <a:p>
            <a:pPr algn="ctr">
              <a:lnSpc>
                <a:spcPct val="150000"/>
              </a:lnSpc>
            </a:pPr>
            <a:r>
              <a:rPr lang="zh-CN" altLang="en-US" sz="1400" dirty="0">
                <a:solidFill>
                  <a:srgbClr val="000000"/>
                </a:solidFill>
                <a:latin typeface="微软雅黑" panose="020B0503020204020204" pitchFamily="34" charset="-122"/>
                <a:ea typeface="微软雅黑" panose="020B0503020204020204" pitchFamily="34" charset="-122"/>
              </a:rPr>
              <a:t>周末晚高峰</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205105" y="5880735"/>
            <a:ext cx="3533775" cy="368300"/>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交通拥堵指数具有空间非平稳性。</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8300"/>
          </a:xfrm>
          <a:prstGeom prst="rect">
            <a:avLst/>
          </a:prstGeom>
          <a:noFill/>
        </p:spPr>
        <p:txBody>
          <a:bodyPr wrap="square" rtlCol="0">
            <a:spAutoFit/>
          </a:bodyPr>
          <a:lstStyle/>
          <a:p>
            <a:r>
              <a:rPr lang="zh-CN" altLang="en-US" dirty="0">
                <a:solidFill>
                  <a:schemeClr val="tx1">
                    <a:lumMod val="65000"/>
                    <a:lumOff val="35000"/>
                  </a:schemeClr>
                </a:solidFill>
                <a:latin typeface="Times New Roman" panose="02020603050405020304" pitchFamily="18" charset="0"/>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Times New Roman" panose="02020603050405020304" pitchFamily="18" charset="0"/>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Times New Roman" panose="02020603050405020304" pitchFamily="18" charset="0"/>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rPr>
                  <a:t>项目管理</a:t>
                </a:r>
                <a:endPar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7" name="组合 14"/>
          <p:cNvGrpSpPr/>
          <p:nvPr/>
        </p:nvGrpSpPr>
        <p:grpSpPr>
          <a:xfrm rot="0">
            <a:off x="205105" y="81915"/>
            <a:ext cx="1927225" cy="591185"/>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109" name="矩形 15"/>
          <p:cNvSpPr/>
          <p:nvPr/>
        </p:nvSpPr>
        <p:spPr>
          <a:xfrm>
            <a:off x="834953" y="471379"/>
            <a:ext cx="1369516" cy="176699"/>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宋体" panose="02010600030101010101" pitchFamily="2" charset="-122"/>
              </a:rPr>
              <a:t>WUHAN UNIVERSITY</a:t>
            </a:r>
            <a:endParaRPr lang="en-US" altLang="zh-CN" sz="900" b="1" dirty="0">
              <a:solidFill>
                <a:prstClr val="black"/>
              </a:solidFill>
              <a:latin typeface="Calibri" panose="020F0502020204030204"/>
              <a:ea typeface="宋体" panose="02010600030101010101" pitchFamily="2" charset="-122"/>
            </a:endParaRPr>
          </a:p>
        </p:txBody>
      </p:sp>
      <p:sp>
        <p:nvSpPr>
          <p:cNvPr id="2" name="ïṣ1ïḑê"/>
          <p:cNvSpPr>
            <a:spLocks noGrp="1"/>
          </p:cNvSpPr>
          <p:nvPr/>
        </p:nvSpPr>
        <p:spPr>
          <a:xfrm>
            <a:off x="205105" y="1141730"/>
            <a:ext cx="10850880" cy="71247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rPr>
              <a:t>2.4 </a:t>
            </a:r>
            <a:r>
              <a:rPr lang="zh-CN" altLang="en-US" dirty="0">
                <a:solidFill>
                  <a:srgbClr val="005825"/>
                </a:solidFill>
              </a:rPr>
              <a:t>模型构建</a:t>
            </a:r>
            <a:r>
              <a:rPr lang="en-US" altLang="zh-CN" dirty="0">
                <a:solidFill>
                  <a:srgbClr val="005825"/>
                </a:solidFill>
              </a:rPr>
              <a:t>|</a:t>
            </a:r>
            <a:r>
              <a:rPr lang="zh-CN" altLang="en-US" dirty="0">
                <a:solidFill>
                  <a:schemeClr val="tx1"/>
                </a:solidFill>
                <a:latin typeface="Times New Roman" panose="02020603050405020304" pitchFamily="18" charset="0"/>
                <a:cs typeface="Times New Roman" panose="02020603050405020304" pitchFamily="18" charset="0"/>
                <a:sym typeface="+mn-ea"/>
              </a:rPr>
              <a:t>随机森林</a:t>
            </a:r>
            <a:r>
              <a:rPr lang="en-US" altLang="zh-CN" dirty="0">
                <a:solidFill>
                  <a:schemeClr val="tx1"/>
                </a:solidFill>
                <a:latin typeface="Times New Roman" panose="02020603050405020304" pitchFamily="18" charset="0"/>
                <a:cs typeface="Times New Roman" panose="02020603050405020304" pitchFamily="18" charset="0"/>
                <a:sym typeface="+mn-ea"/>
              </a:rPr>
              <a:t>PCA-GWRF</a:t>
            </a:r>
            <a:r>
              <a:rPr lang="zh-CN" altLang="en-US" dirty="0">
                <a:solidFill>
                  <a:schemeClr val="tx1"/>
                </a:solidFill>
                <a:latin typeface="Times New Roman" panose="02020603050405020304" pitchFamily="18" charset="0"/>
                <a:cs typeface="Times New Roman" panose="02020603050405020304" pitchFamily="18" charset="0"/>
                <a:sym typeface="+mn-ea"/>
              </a:rPr>
              <a:t>模型</a:t>
            </a:r>
            <a:endParaRPr lang="zh-CN" altLang="en-US" dirty="0">
              <a:solidFill>
                <a:schemeClr val="tx1"/>
              </a:solidFill>
              <a:latin typeface="Times New Roman" panose="02020603050405020304" pitchFamily="18" charset="0"/>
              <a:cs typeface="Times New Roman" panose="02020603050405020304" pitchFamily="18" charset="0"/>
            </a:endParaRPr>
          </a:p>
          <a:p>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4" name="ïšļídè"/>
          <p:cNvSpPr>
            <a:spLocks noGrp="1"/>
          </p:cNvSpPr>
          <p:nvPr>
            <p:ph type="sldNum" sz="quarter" idx="12"/>
          </p:nvPr>
        </p:nvSpPr>
        <p:spPr>
          <a:xfrm>
            <a:off x="8696325" y="6548755"/>
            <a:ext cx="2743200" cy="365125"/>
          </a:xfrm>
        </p:spPr>
        <p:txBody>
          <a:bodyPr/>
          <a:lstStyle/>
          <a:p>
            <a:fld id="{5DD3DB80-B894-403A-B48E-6FDC1A72010E}" type="slidenum">
              <a:rPr lang="en-US" altLang="zh-CN" smtClean="0">
                <a:latin typeface="Times New Roman" panose="02020603050405020304" pitchFamily="18" charset="0"/>
                <a:cs typeface="Times New Roman" panose="02020603050405020304" pitchFamily="18" charset="0"/>
              </a:rPr>
            </a:fld>
            <a:endParaRPr lang="zh-CN" altLang="en-US">
              <a:latin typeface="Times New Roman" panose="02020603050405020304" pitchFamily="18" charset="0"/>
              <a:cs typeface="Times New Roman" panose="02020603050405020304" pitchFamily="18" charset="0"/>
            </a:endParaRPr>
          </a:p>
        </p:txBody>
      </p:sp>
      <p:sp>
        <p:nvSpPr>
          <p:cNvPr id="3" name="文本框 2"/>
          <p:cNvSpPr txBox="1"/>
          <p:nvPr/>
        </p:nvSpPr>
        <p:spPr>
          <a:xfrm>
            <a:off x="8844358" y="2034604"/>
            <a:ext cx="2918771" cy="645160"/>
          </a:xfrm>
          <a:prstGeom prst="rect">
            <a:avLst/>
          </a:prstGeom>
          <a:noFill/>
        </p:spPr>
        <p:txBody>
          <a:bodyPr wrap="square">
            <a:spAutoFit/>
          </a:bodyPr>
          <a:lstStyle/>
          <a:p>
            <a:pPr marR="0" algn="ctr">
              <a:spcBef>
                <a:spcPts val="0"/>
              </a:spcBef>
              <a:spcAft>
                <a:spcPts val="0"/>
              </a:spcAft>
            </a:pPr>
            <a:r>
              <a:rPr lang="en-US" altLang="zh-CN" b="1" dirty="0">
                <a:solidFill>
                  <a:srgbClr val="1E2678"/>
                </a:solidFill>
                <a:latin typeface="Times New Roman" panose="02020603050405020304" pitchFamily="18" charset="0"/>
                <a:ea typeface="微软雅黑" panose="020B0503020204020204" pitchFamily="34" charset="-122"/>
                <a:cs typeface="Times New Roman" panose="02020603050405020304" pitchFamily="18" charset="0"/>
              </a:rPr>
              <a:t>PCA</a:t>
            </a:r>
            <a:r>
              <a:rPr lang="zh-CN" altLang="en-US" b="1" dirty="0">
                <a:solidFill>
                  <a:srgbClr val="1E2678"/>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1E2678"/>
                </a:solidFill>
                <a:latin typeface="Times New Roman" panose="02020603050405020304" pitchFamily="18" charset="0"/>
                <a:ea typeface="微软雅黑" panose="020B0503020204020204" pitchFamily="34" charset="-122"/>
                <a:cs typeface="Times New Roman" panose="02020603050405020304" pitchFamily="18" charset="0"/>
              </a:rPr>
              <a:t>RF</a:t>
            </a:r>
            <a:r>
              <a:rPr lang="zh-CN" altLang="en-US" dirty="0">
                <a:solidFill>
                  <a:srgbClr val="1E2678"/>
                </a:solidFill>
                <a:latin typeface="Times New Roman" panose="02020603050405020304" pitchFamily="18" charset="0"/>
                <a:ea typeface="微软雅黑" panose="020B0503020204020204" pitchFamily="34" charset="-122"/>
                <a:cs typeface="Times New Roman" panose="02020603050405020304" pitchFamily="18" charset="0"/>
              </a:rPr>
              <a:t>模型与</a:t>
            </a:r>
            <a:endParaRPr lang="zh-CN" altLang="en-US" dirty="0">
              <a:solidFill>
                <a:srgbClr val="1E2678"/>
              </a:solidFill>
              <a:latin typeface="Times New Roman" panose="02020603050405020304" pitchFamily="18" charset="0"/>
              <a:ea typeface="微软雅黑" panose="020B0503020204020204" pitchFamily="34" charset="-122"/>
              <a:cs typeface="Times New Roman" panose="02020603050405020304" pitchFamily="18" charset="0"/>
            </a:endParaRPr>
          </a:p>
          <a:p>
            <a:pPr marR="0" algn="ctr">
              <a:spcBef>
                <a:spcPts val="0"/>
              </a:spcBef>
              <a:spcAft>
                <a:spcPts val="0"/>
              </a:spcAft>
            </a:pPr>
            <a:r>
              <a:rPr lang="en-US" altLang="zh-CN" b="1" dirty="0">
                <a:solidFill>
                  <a:srgbClr val="1E2678"/>
                </a:solidFill>
                <a:latin typeface="Times New Roman" panose="02020603050405020304" pitchFamily="18" charset="0"/>
                <a:ea typeface="微软雅黑" panose="020B0503020204020204" pitchFamily="34" charset="-122"/>
                <a:cs typeface="Times New Roman" panose="02020603050405020304" pitchFamily="18" charset="0"/>
              </a:rPr>
              <a:t>PCA</a:t>
            </a:r>
            <a:r>
              <a:rPr lang="zh-CN" altLang="en-US" b="1" dirty="0">
                <a:solidFill>
                  <a:srgbClr val="1E2678"/>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1E2678"/>
                </a:solidFill>
                <a:latin typeface="Times New Roman" panose="02020603050405020304" pitchFamily="18" charset="0"/>
                <a:ea typeface="微软雅黑" panose="020B0503020204020204" pitchFamily="34" charset="-122"/>
                <a:cs typeface="Times New Roman" panose="02020603050405020304" pitchFamily="18" charset="0"/>
              </a:rPr>
              <a:t>GWRF</a:t>
            </a:r>
            <a:r>
              <a:rPr lang="zh-CN" altLang="en-US" dirty="0">
                <a:solidFill>
                  <a:srgbClr val="1E2678"/>
                </a:solidFill>
                <a:latin typeface="Times New Roman" panose="02020603050405020304" pitchFamily="18" charset="0"/>
                <a:ea typeface="微软雅黑" panose="020B0503020204020204" pitchFamily="34" charset="-122"/>
                <a:cs typeface="Times New Roman" panose="02020603050405020304" pitchFamily="18" charset="0"/>
              </a:rPr>
              <a:t>模型对比</a:t>
            </a:r>
            <a:endParaRPr lang="en-US" altLang="zh-CN" dirty="0">
              <a:solidFill>
                <a:srgbClr val="1E2678"/>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3" name="对象 12"/>
          <p:cNvGraphicFramePr>
            <a:graphicFrameLocks noChangeAspect="1"/>
          </p:cNvGraphicFramePr>
          <p:nvPr/>
        </p:nvGraphicFramePr>
        <p:xfrm>
          <a:off x="5470525" y="3646805"/>
          <a:ext cx="914400" cy="180975"/>
        </p:xfrm>
        <a:graphic>
          <a:graphicData uri="http://schemas.openxmlformats.org/presentationml/2006/ole">
            <mc:AlternateContent xmlns:mc="http://schemas.openxmlformats.org/markup-compatibility/2006">
              <mc:Choice xmlns:v="urn:schemas-microsoft-com:vml" Requires="v">
                <p:oleObj spid="_x0000_s5" name="Equation" r:id="rId4" imgW="2438400" imgH="3657600" progId="Equation.DSMT4">
                  <p:embed/>
                </p:oleObj>
              </mc:Choice>
              <mc:Fallback>
                <p:oleObj name="Equation" r:id="rId4" imgW="2438400" imgH="3657600" progId="Equation.DSMT4">
                  <p:embed/>
                  <p:pic>
                    <p:nvPicPr>
                      <p:cNvPr id="0" name="对象 12"/>
                      <p:cNvPicPr/>
                      <p:nvPr/>
                    </p:nvPicPr>
                    <p:blipFill>
                      <a:blip r:embed="rId5"/>
                      <a:stretch>
                        <a:fillRect/>
                      </a:stretch>
                    </p:blipFill>
                    <p:spPr>
                      <a:xfrm>
                        <a:off x="5470525" y="3646805"/>
                        <a:ext cx="914400" cy="180975"/>
                      </a:xfrm>
                      <a:prstGeom prst="rect">
                        <a:avLst/>
                      </a:prstGeom>
                    </p:spPr>
                  </p:pic>
                </p:oleObj>
              </mc:Fallback>
            </mc:AlternateContent>
          </a:graphicData>
        </a:graphic>
      </p:graphicFrame>
      <p:sp>
        <p:nvSpPr>
          <p:cNvPr id="10" name="文本框 9"/>
          <p:cNvSpPr txBox="1"/>
          <p:nvPr/>
        </p:nvSpPr>
        <p:spPr>
          <a:xfrm>
            <a:off x="8305165" y="3269993"/>
            <a:ext cx="65" cy="276999"/>
          </a:xfrm>
          <a:prstGeom prst="rect">
            <a:avLst/>
          </a:prstGeom>
          <a:noFill/>
        </p:spPr>
        <p:txBody>
          <a:bodyPr wrap="none" lIns="0" tIns="0" rIns="0" bIns="0" rtlCol="0">
            <a:spAutoFit/>
          </a:bodyPr>
          <a:lstStyle/>
          <a:p>
            <a:endParaRPr lang="zh-CN" altLang="en-US" dirty="0">
              <a:latin typeface="Times New Roman" panose="02020603050405020304" pitchFamily="18" charset="0"/>
              <a:cs typeface="Times New Roman" panose="02020603050405020304" pitchFamily="18" charset="0"/>
            </a:endParaRPr>
          </a:p>
        </p:txBody>
      </p:sp>
      <p:graphicFrame>
        <p:nvGraphicFramePr>
          <p:cNvPr id="11" name="表格 10"/>
          <p:cNvGraphicFramePr/>
          <p:nvPr/>
        </p:nvGraphicFramePr>
        <p:xfrm>
          <a:off x="755559" y="1789811"/>
          <a:ext cx="7696200" cy="3237230"/>
        </p:xfrm>
        <a:graphic>
          <a:graphicData uri="http://schemas.openxmlformats.org/drawingml/2006/table">
            <a:tbl>
              <a:tblPr firstRow="1" firstCol="1"/>
              <a:tblGrid>
                <a:gridCol w="2014220"/>
                <a:gridCol w="1356360"/>
                <a:gridCol w="725170"/>
                <a:gridCol w="1092200"/>
                <a:gridCol w="873125"/>
                <a:gridCol w="687070"/>
                <a:gridCol w="948055"/>
              </a:tblGrid>
              <a:tr h="311150">
                <a:tc>
                  <a:txBody>
                    <a:bodyPr/>
                    <a:lstStyle/>
                    <a:p>
                      <a:pPr algn="ctr">
                        <a:buNone/>
                      </a:pPr>
                      <a:r>
                        <a:rPr lang="zh-CN" altLang="en-US" b="1" dirty="0"/>
                        <a:t>时间</a:t>
                      </a:r>
                      <a:endParaRPr lang="zh-CN" altLang="en-US" b="1" dirty="0"/>
                    </a:p>
                  </a:txBody>
                  <a:tcPr>
                    <a:lnL w="28575" cap="flat" cmpd="sng">
                      <a:solidFill>
                        <a:srgbClr val="080000"/>
                      </a:solidFill>
                      <a:prstDash val="solid"/>
                      <a:headEnd type="none" w="med" len="med"/>
                      <a:tailEnd type="none" w="med" len="med"/>
                    </a:lnL>
                    <a:lnR w="28575" cap="flat" cmpd="sng">
                      <a:solidFill>
                        <a:srgbClr val="080000"/>
                      </a:solidFill>
                      <a:prstDash val="solid"/>
                      <a:headEnd type="none" w="med" len="med"/>
                      <a:tailEnd type="none" w="med" len="med"/>
                    </a:lnR>
                    <a:lnT w="28575" cmpd="sng">
                      <a:solidFill>
                        <a:srgbClr val="000000">
                          <a:alpha val="100000"/>
                        </a:srgbClr>
                      </a:solidFill>
                      <a:prstDash val="solid"/>
                      <a:miter lim="800000"/>
                    </a:lnT>
                    <a:lnB w="28575" cmpd="sng">
                      <a:solidFill>
                        <a:srgbClr val="000000">
                          <a:alpha val="100000"/>
                        </a:srgbClr>
                      </a:solidFill>
                      <a:prstDash val="solid"/>
                      <a:miter lim="800000"/>
                    </a:lnB>
                    <a:solidFill>
                      <a:schemeClr val="accent6">
                        <a:lumMod val="20000"/>
                        <a:lumOff val="80000"/>
                      </a:schemeClr>
                    </a:solidFill>
                  </a:tcPr>
                </a:tc>
                <a:tc>
                  <a:txBody>
                    <a:bodyPr/>
                    <a:lstStyle/>
                    <a:p>
                      <a:pPr indent="0" algn="ctr">
                        <a:buNone/>
                      </a:pPr>
                      <a:r>
                        <a:rPr lang="zh-CN" altLang="en-US" sz="1800" b="1" dirty="0">
                          <a:latin typeface="Times New Roman" panose="02020603050405020304" pitchFamily="18" charset="0"/>
                          <a:ea typeface="Calibri" panose="020F0502020204030204" pitchFamily="34" charset="0"/>
                          <a:cs typeface="Times New Roman" panose="02020603050405020304" pitchFamily="18" charset="0"/>
                        </a:rPr>
                        <a:t>模型</a:t>
                      </a:r>
                      <a:endParaRPr lang="en-US" altLang="en-US" sz="1800" b="1" dirty="0">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28575" cap="flat" cmpd="sng" algn="ctr">
                      <a:solidFill>
                        <a:srgbClr val="080000"/>
                      </a:solidFill>
                      <a:prstDash val="solid"/>
                      <a:round/>
                      <a:headEnd type="none" w="med" len="med"/>
                      <a:tailEnd type="none" w="med" len="med"/>
                    </a:lnL>
                    <a:lnR w="28575" cap="flat" cmpd="sng" algn="ctr">
                      <a:solidFill>
                        <a:srgbClr val="1E2678"/>
                      </a:solidFill>
                      <a:prstDash val="solid"/>
                      <a:round/>
                      <a:headEnd type="none" w="med" len="med"/>
                      <a:tailEnd type="none" w="med" len="med"/>
                    </a:lnR>
                    <a:lnT w="28575" cmpd="sng">
                      <a:solidFill>
                        <a:srgbClr val="000000">
                          <a:alpha val="100000"/>
                        </a:srgbClr>
                      </a:solidFill>
                      <a:prstDash val="solid"/>
                      <a:miter lim="800000"/>
                    </a:lnT>
                    <a:lnB w="28575" cap="flat" cmpd="sng" algn="ctr">
                      <a:solidFill>
                        <a:srgbClr val="1E2678"/>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indent="0" algn="ctr">
                        <a:buNone/>
                      </a:pPr>
                      <a:r>
                        <a:rPr lang="en-US" altLang="zh-CN" sz="1800" b="1" dirty="0">
                          <a:latin typeface="Times New Roman" panose="02020603050405020304" pitchFamily="18" charset="0"/>
                          <a:ea typeface="Calibri" panose="020F0502020204030204" pitchFamily="34" charset="0"/>
                          <a:cs typeface="Times New Roman" panose="02020603050405020304" pitchFamily="18" charset="0"/>
                        </a:rPr>
                        <a:t>R</a:t>
                      </a:r>
                      <a:r>
                        <a:rPr lang="en-US" altLang="zh-CN" sz="1800" b="1" baseline="30000" dirty="0">
                          <a:latin typeface="Times New Roman" panose="02020603050405020304" pitchFamily="18" charset="0"/>
                          <a:ea typeface="Calibri" panose="020F0502020204030204" pitchFamily="34" charset="0"/>
                          <a:cs typeface="Arial" panose="020B0604020202020204" pitchFamily="34" charset="0"/>
                        </a:rPr>
                        <a:t>2</a:t>
                      </a:r>
                      <a:endParaRPr lang="en-US" altLang="en-US" sz="1800" b="1" baseline="30000" dirty="0">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28575"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indent="0" algn="ctr">
                        <a:buNone/>
                      </a:pPr>
                      <a:r>
                        <a:rPr lang="zh-CN" altLang="en-US" sz="1800" b="1" dirty="0">
                          <a:latin typeface="Times New Roman" panose="02020603050405020304" pitchFamily="18" charset="0"/>
                          <a:ea typeface="Calibri" panose="020F0502020204030204" pitchFamily="34" charset="0"/>
                          <a:cs typeface="Times New Roman" panose="02020603050405020304" pitchFamily="18" charset="0"/>
                        </a:rPr>
                        <a:t>调整后</a:t>
                      </a:r>
                      <a:r>
                        <a:rPr lang="en-US" altLang="zh-CN" sz="1800" b="1" dirty="0">
                          <a:latin typeface="Times New Roman" panose="02020603050405020304" pitchFamily="18" charset="0"/>
                          <a:ea typeface="Calibri" panose="020F0502020204030204" pitchFamily="34" charset="0"/>
                          <a:cs typeface="Times New Roman" panose="02020603050405020304" pitchFamily="18" charset="0"/>
                        </a:rPr>
                        <a:t>R</a:t>
                      </a:r>
                      <a:r>
                        <a:rPr lang="en-US" altLang="zh-CN" sz="1800" b="1" baseline="30000" dirty="0">
                          <a:latin typeface="Times New Roman" panose="02020603050405020304" pitchFamily="18" charset="0"/>
                          <a:ea typeface="Calibri" panose="020F0502020204030204" pitchFamily="34" charset="0"/>
                          <a:cs typeface="Times New Roman" panose="02020603050405020304" pitchFamily="18" charset="0"/>
                        </a:rPr>
                        <a:t>2</a:t>
                      </a:r>
                      <a:endParaRPr lang="en-US" altLang="en-US" sz="1800" b="1" baseline="30000" dirty="0">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indent="0" algn="ctr">
                        <a:buNone/>
                      </a:pPr>
                      <a:r>
                        <a:rPr lang="en-US" altLang="zh-CN" sz="1800" b="1" dirty="0">
                          <a:latin typeface="Times New Roman" panose="02020603050405020304" pitchFamily="18" charset="0"/>
                          <a:ea typeface="Calibri" panose="020F0502020204030204" pitchFamily="34" charset="0"/>
                          <a:cs typeface="Times New Roman" panose="02020603050405020304" pitchFamily="18" charset="0"/>
                        </a:rPr>
                        <a:t>RM</a:t>
                      </a:r>
                      <a:r>
                        <a:rPr lang="en-US" altLang="zh-CN" sz="1800" b="1" dirty="0">
                          <a:latin typeface="Times New Roman" panose="02020603050405020304" pitchFamily="18" charset="0"/>
                          <a:ea typeface="Calibri" panose="020F0502020204030204" pitchFamily="34" charset="0"/>
                          <a:cs typeface="Arial" panose="020B0604020202020204" pitchFamily="34" charset="0"/>
                        </a:rPr>
                        <a:t>SE</a:t>
                      </a:r>
                      <a:endParaRPr lang="en-US" altLang="en-US" sz="1800" b="1" dirty="0">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indent="0" algn="ctr">
                        <a:buNone/>
                      </a:pPr>
                      <a:r>
                        <a:rPr lang="en-US" altLang="zh-CN" sz="1800" b="1" dirty="0">
                          <a:latin typeface="Times New Roman" panose="02020603050405020304" pitchFamily="18" charset="0"/>
                          <a:ea typeface="Calibri" panose="020F0502020204030204" pitchFamily="34" charset="0"/>
                          <a:cs typeface="Times New Roman" panose="02020603050405020304" pitchFamily="18" charset="0"/>
                        </a:rPr>
                        <a:t>MSE</a:t>
                      </a:r>
                      <a:endParaRPr lang="en-US" altLang="en-US" sz="1800" b="1" dirty="0">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indent="0" algn="ctr">
                        <a:buNone/>
                      </a:pPr>
                      <a:r>
                        <a:rPr lang="en-US" altLang="zh-CN" sz="1800" b="1" dirty="0">
                          <a:latin typeface="Times New Roman" panose="02020603050405020304" pitchFamily="18" charset="0"/>
                          <a:ea typeface="Calibri" panose="020F0502020204030204" pitchFamily="34" charset="0"/>
                          <a:cs typeface="Times New Roman" panose="02020603050405020304" pitchFamily="18" charset="0"/>
                        </a:rPr>
                        <a:t>MAE</a:t>
                      </a:r>
                      <a:endParaRPr lang="en-US" altLang="en-US" sz="1800" b="1" dirty="0">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solidFill>
                      <a:schemeClr val="accent6">
                        <a:lumMod val="20000"/>
                        <a:lumOff val="80000"/>
                      </a:schemeClr>
                    </a:solidFill>
                  </a:tcPr>
                </a:tc>
              </a:tr>
              <a:tr h="311150">
                <a:tc rowSpan="2">
                  <a:txBody>
                    <a:bodyPr/>
                    <a:lstStyle/>
                    <a:p>
                      <a:pPr algn="ctr">
                        <a:buNone/>
                      </a:pPr>
                      <a:endParaRPr lang="zh-CN" altLang="en-US" b="1" dirty="0">
                        <a:solidFill>
                          <a:srgbClr val="1E2678"/>
                        </a:solidFill>
                        <a:latin typeface="宋体" panose="02010600030101010101" pitchFamily="2" charset="-122"/>
                        <a:ea typeface="宋体" panose="02010600030101010101" pitchFamily="2" charset="-122"/>
                        <a:cs typeface="宋体" panose="02010600030101010101" pitchFamily="2" charset="-122"/>
                      </a:endParaRPr>
                    </a:p>
                    <a:p>
                      <a:pPr algn="ctr">
                        <a:buNone/>
                      </a:pPr>
                      <a:endParaRPr lang="zh-CN" altLang="en-US" b="1" dirty="0">
                        <a:solidFill>
                          <a:srgbClr val="1E2678"/>
                        </a:solidFill>
                        <a:latin typeface="宋体" panose="02010600030101010101" pitchFamily="2" charset="-122"/>
                        <a:ea typeface="宋体" panose="02010600030101010101" pitchFamily="2" charset="-122"/>
                        <a:cs typeface="宋体" panose="02010600030101010101" pitchFamily="2" charset="-122"/>
                      </a:endParaRPr>
                    </a:p>
                  </a:txBody>
                  <a:tcPr>
                    <a:lnL w="28575" cap="flat" cmpd="sng">
                      <a:solidFill>
                        <a:srgbClr val="080000"/>
                      </a:solidFill>
                      <a:prstDash val="solid"/>
                      <a:headEnd type="none" w="med" len="med"/>
                      <a:tailEnd type="none" w="med" len="med"/>
                    </a:lnL>
                    <a:lnR w="28575" cap="flat" cmpd="sng">
                      <a:solidFill>
                        <a:srgbClr val="080000"/>
                      </a:solidFill>
                      <a:prstDash val="solid"/>
                      <a:headEnd type="none" w="med" len="med"/>
                      <a:tailEnd type="none" w="med" len="med"/>
                    </a:lnR>
                    <a:lnT w="28575" cmpd="sng">
                      <a:solidFill>
                        <a:srgbClr val="000000">
                          <a:alpha val="100000"/>
                        </a:srgbClr>
                      </a:solidFill>
                      <a:prstDash val="solid"/>
                      <a:miter lim="800000"/>
                    </a:lnT>
                    <a:lnB w="28575" cap="flat" cmpd="sng" algn="ctr">
                      <a:solidFill>
                        <a:srgbClr val="1E2678"/>
                      </a:solidFill>
                      <a:prstDash val="solid"/>
                      <a:round/>
                      <a:headEnd type="none" w="med" len="med"/>
                      <a:tailEnd type="none" w="med" len="med"/>
                    </a:lnB>
                  </a:tcPr>
                </a:tc>
                <a:tc>
                  <a:txBody>
                    <a:bodyPr/>
                    <a:lstStyle/>
                    <a:p>
                      <a:pPr indent="0" algn="ctr">
                        <a:buNone/>
                      </a:pPr>
                      <a:r>
                        <a:rPr lang="en-US" altLang="zh-CN" sz="1800" b="0" dirty="0">
                          <a:latin typeface="Times New Roman" panose="02020603050405020304" pitchFamily="18" charset="0"/>
                          <a:cs typeface="Times New Roman" panose="02020603050405020304" pitchFamily="18" charset="0"/>
                        </a:rPr>
                        <a:t>PCA</a:t>
                      </a:r>
                      <a:r>
                        <a:rPr lang="zh-CN" altLang="en-US" sz="1800" b="0" dirty="0">
                          <a:latin typeface="Times New Roman" panose="02020603050405020304" pitchFamily="18" charset="0"/>
                          <a:cs typeface="Times New Roman" panose="02020603050405020304" pitchFamily="18" charset="0"/>
                        </a:rPr>
                        <a:t>-</a:t>
                      </a:r>
                      <a:r>
                        <a:rPr lang="en-US" altLang="zh-CN" sz="1800" b="0" dirty="0">
                          <a:latin typeface="Times New Roman" panose="02020603050405020304" pitchFamily="18" charset="0"/>
                          <a:cs typeface="Times New Roman" panose="02020603050405020304" pitchFamily="18" charset="0"/>
                        </a:rPr>
                        <a:t>RF</a:t>
                      </a:r>
                      <a:r>
                        <a:rPr lang="en-US" sz="1800" b="0" dirty="0">
                          <a:latin typeface="Times New Roman" panose="02020603050405020304" pitchFamily="18" charset="0"/>
                          <a:cs typeface="Times New Roman" panose="02020603050405020304" pitchFamily="18" charset="0"/>
                        </a:rPr>
                        <a:t> </a:t>
                      </a:r>
                      <a:endParaRPr lang="en-US" altLang="en-US" sz="1800" b="0" dirty="0">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28575" cap="flat" cmpd="sng" algn="ctr">
                      <a:solidFill>
                        <a:srgbClr val="080000"/>
                      </a:solidFill>
                      <a:prstDash val="solid"/>
                      <a:round/>
                      <a:headEnd type="none" w="med" len="med"/>
                      <a:tailEnd type="none" w="med" len="med"/>
                    </a:lnL>
                    <a:lnR w="28575" cap="flat" cmpd="sng" algn="ctr">
                      <a:solidFill>
                        <a:srgbClr val="1E2678"/>
                      </a:solidFill>
                      <a:prstDash val="solid"/>
                      <a:round/>
                      <a:headEnd type="none" w="med" len="med"/>
                      <a:tailEnd type="none" w="med" len="med"/>
                    </a:lnR>
                    <a:lnT w="28575" cap="flat" cmpd="sng" algn="ctr">
                      <a:solidFill>
                        <a:srgbClr val="1E2678"/>
                      </a:solidFill>
                      <a:prstDash val="solid"/>
                      <a:round/>
                      <a:headEnd type="none" w="med" len="med"/>
                      <a:tailEnd type="none" w="med" len="med"/>
                    </a:lnT>
                    <a:lnB w="28575" cap="flat" cmpd="sng" algn="ctr">
                      <a:solidFill>
                        <a:srgbClr val="1E2678"/>
                      </a:solidFill>
                      <a:prstDash val="solid"/>
                      <a:round/>
                      <a:headEnd type="none" w="med" len="med"/>
                      <a:tailEnd type="none" w="med" len="med"/>
                    </a:lnB>
                    <a:lnTlToBr>
                      <a:noFill/>
                    </a:lnTlToBr>
                    <a:lnBlToTr>
                      <a:noFill/>
                    </a:lnBlToTr>
                    <a:noFill/>
                  </a:tcPr>
                </a:tc>
                <a:tc>
                  <a:txBody>
                    <a:bodyPr/>
                    <a:lstStyle/>
                    <a:p>
                      <a:pPr indent="0" algn="ctr">
                        <a:buNone/>
                      </a:pPr>
                      <a:r>
                        <a:rPr lang="en-US" altLang="zh-CN" sz="1800" b="0" dirty="0">
                          <a:latin typeface="Times New Roman" panose="02020603050405020304" pitchFamily="18" charset="0"/>
                          <a:ea typeface="Calibri" panose="020F0502020204030204" pitchFamily="34" charset="0"/>
                          <a:cs typeface="Times New Roman" panose="02020603050405020304" pitchFamily="18" charset="0"/>
                        </a:rPr>
                        <a:t>0.865</a:t>
                      </a:r>
                      <a:endParaRPr lang="en-US" altLang="en-US" sz="1800" b="0" dirty="0">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28575"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indent="0" algn="ctr">
                        <a:buNone/>
                      </a:pPr>
                      <a:r>
                        <a:rPr lang="en-US" altLang="zh-CN" sz="1800" b="0" dirty="0">
                          <a:latin typeface="Times New Roman" panose="02020603050405020304" pitchFamily="18" charset="0"/>
                          <a:ea typeface="Times New Roman" panose="02020603050405020304" pitchFamily="18" charset="0"/>
                          <a:cs typeface="Times New Roman" panose="02020603050405020304" pitchFamily="18" charset="0"/>
                        </a:rPr>
                        <a:t>0.860</a:t>
                      </a:r>
                      <a:r>
                        <a:rPr lang="en-US" sz="1800" b="0"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altLang="en-US" sz="1800" b="0" dirty="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indent="0" algn="ctr">
                        <a:buNone/>
                      </a:pPr>
                      <a:r>
                        <a:rPr lang="en-US" sz="1800" b="0" dirty="0">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800" b="0" dirty="0">
                          <a:latin typeface="Times New Roman" panose="02020603050405020304" pitchFamily="18" charset="0"/>
                          <a:ea typeface="Times New Roman" panose="02020603050405020304" pitchFamily="18" charset="0"/>
                          <a:cs typeface="Times New Roman" panose="02020603050405020304" pitchFamily="18" charset="0"/>
                        </a:rPr>
                        <a:t>0.073</a:t>
                      </a:r>
                      <a:endParaRPr lang="en-US" altLang="en-US" sz="1800" b="0" dirty="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indent="0" algn="ctr">
                        <a:buNone/>
                      </a:pPr>
                      <a:r>
                        <a:rPr lang="en-US" altLang="zh-CN" sz="1800" b="0" dirty="0">
                          <a:latin typeface="Times New Roman" panose="02020603050405020304" pitchFamily="18" charset="0"/>
                          <a:ea typeface="Times New Roman" panose="02020603050405020304" pitchFamily="18" charset="0"/>
                          <a:cs typeface="Times New Roman" panose="02020603050405020304" pitchFamily="18" charset="0"/>
                        </a:rPr>
                        <a:t>0.005</a:t>
                      </a:r>
                      <a:r>
                        <a:rPr lang="en-US" sz="1800" b="0"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altLang="en-US" sz="1800" b="0" dirty="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indent="0" algn="ctr">
                        <a:buNone/>
                      </a:pPr>
                      <a:r>
                        <a:rPr lang="en-US" altLang="zh-CN" sz="1800" b="0" dirty="0">
                          <a:latin typeface="Times New Roman" panose="02020603050405020304" pitchFamily="18" charset="0"/>
                          <a:ea typeface="Times New Roman" panose="02020603050405020304" pitchFamily="18" charset="0"/>
                          <a:cs typeface="Times New Roman" panose="02020603050405020304" pitchFamily="18" charset="0"/>
                        </a:rPr>
                        <a:t>0.050</a:t>
                      </a:r>
                      <a:r>
                        <a:rPr lang="en-US" sz="1800" b="0"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altLang="en-US" sz="1800" b="0" dirty="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r>
              <a:tr h="365760">
                <a:tc vMerge="1">
                  <a:tcPr marL="68580" marR="68580" marT="0" marB="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28575"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b="0" kern="100" dirty="0">
                          <a:effectLst/>
                          <a:latin typeface="Times New Roman" panose="02020603050405020304" pitchFamily="18" charset="0"/>
                          <a:ea typeface="Times New Roman" panose="02020603050405020304" pitchFamily="18" charset="0"/>
                          <a:cs typeface="Times New Roman" panose="02020603050405020304" pitchFamily="18" charset="0"/>
                        </a:rPr>
                        <a:t>PCA</a:t>
                      </a:r>
                      <a:r>
                        <a:rPr lang="zh-CN" altLang="en-US" sz="1800" b="0" kern="1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800" b="0" kern="100" dirty="0">
                          <a:effectLst/>
                          <a:latin typeface="Times New Roman" panose="02020603050405020304" pitchFamily="18" charset="0"/>
                          <a:ea typeface="Times New Roman" panose="02020603050405020304" pitchFamily="18" charset="0"/>
                          <a:cs typeface="Arial" panose="020B0604020202020204" pitchFamily="34" charset="0"/>
                        </a:rPr>
                        <a:t>GWRF</a:t>
                      </a:r>
                      <a:endParaRPr lang="zh-CN" altLang="en-US" sz="1800" b="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28575" cap="flat" cmpd="sng" algn="ctr">
                      <a:solidFill>
                        <a:srgbClr val="1E2678"/>
                      </a:solidFill>
                      <a:prstDash val="solid"/>
                      <a:round/>
                      <a:headEnd type="none" w="med" len="med"/>
                      <a:tailEnd type="none" w="med" len="med"/>
                    </a:lnL>
                    <a:lnR w="28575" cap="flat" cmpd="sng" algn="ctr">
                      <a:solidFill>
                        <a:srgbClr val="1E2678"/>
                      </a:solidFill>
                      <a:prstDash val="solid"/>
                      <a:round/>
                      <a:headEnd type="none" w="med" len="med"/>
                      <a:tailEnd type="none" w="med" len="med"/>
                    </a:lnR>
                    <a:lnT w="28575" cap="flat" cmpd="sng" algn="ctr">
                      <a:solidFill>
                        <a:srgbClr val="1E2678"/>
                      </a:solidFill>
                      <a:prstDash val="solid"/>
                      <a:round/>
                      <a:headEnd type="none" w="med" len="med"/>
                      <a:tailEnd type="none" w="med" len="med"/>
                    </a:lnT>
                    <a:lnB w="28575"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b="0" kern="100">
                          <a:effectLst/>
                          <a:latin typeface="Times New Roman" panose="02020603050405020304" pitchFamily="18" charset="0"/>
                          <a:ea typeface="Times New Roman" panose="02020603050405020304" pitchFamily="18" charset="0"/>
                          <a:cs typeface="Times New Roman" panose="02020603050405020304" pitchFamily="18" charset="0"/>
                        </a:rPr>
                        <a:t>0.913</a:t>
                      </a:r>
                      <a:endParaRPr lang="zh-CN" altLang="en-US" sz="1800" b="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28575"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kern="100">
                          <a:effectLst/>
                          <a:latin typeface="Times New Roman" panose="02020603050405020304" pitchFamily="18" charset="0"/>
                          <a:ea typeface="Times New Roman" panose="02020603050405020304" pitchFamily="18" charset="0"/>
                          <a:cs typeface="Times New Roman" panose="02020603050405020304" pitchFamily="18" charset="0"/>
                        </a:rPr>
                        <a:t>0.910</a:t>
                      </a:r>
                      <a:endParaRPr lang="zh-CN" alt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kern="100" dirty="0">
                          <a:effectLst/>
                          <a:latin typeface="Times New Roman" panose="02020603050405020304" pitchFamily="18" charset="0"/>
                          <a:ea typeface="Times New Roman" panose="02020603050405020304" pitchFamily="18" charset="0"/>
                          <a:cs typeface="Times New Roman" panose="02020603050405020304" pitchFamily="18" charset="0"/>
                        </a:rPr>
                        <a:t>0.059</a:t>
                      </a:r>
                      <a:endParaRPr lang="zh-CN" alt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kern="100" dirty="0">
                          <a:effectLst/>
                          <a:latin typeface="Times New Roman" panose="02020603050405020304" pitchFamily="18" charset="0"/>
                          <a:ea typeface="Times New Roman" panose="02020603050405020304" pitchFamily="18" charset="0"/>
                          <a:cs typeface="Times New Roman" panose="02020603050405020304" pitchFamily="18" charset="0"/>
                        </a:rPr>
                        <a:t>0.003</a:t>
                      </a:r>
                      <a:endParaRPr lang="zh-CN" alt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kern="100">
                          <a:effectLst/>
                          <a:latin typeface="Times New Roman" panose="02020603050405020304" pitchFamily="18" charset="0"/>
                          <a:ea typeface="Times New Roman" panose="02020603050405020304" pitchFamily="18" charset="0"/>
                          <a:cs typeface="Times New Roman" panose="02020603050405020304" pitchFamily="18" charset="0"/>
                        </a:rPr>
                        <a:t>0.036</a:t>
                      </a:r>
                      <a:endParaRPr lang="zh-CN" alt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r>
              <a:tr h="365760">
                <a:tc rowSpan="2">
                  <a:txBody>
                    <a:bodyPr/>
                    <a:lstStyle/>
                    <a:p>
                      <a:pPr indent="0" algn="ctr">
                        <a:buNone/>
                      </a:pPr>
                      <a:r>
                        <a:rPr lang="zh-CN" altLang="en-US" sz="1800" b="1" dirty="0">
                          <a:solidFill>
                            <a:srgbClr val="1E2678"/>
                          </a:solidFill>
                          <a:latin typeface="Times New Roman" panose="02020603050405020304" pitchFamily="18" charset="0"/>
                          <a:ea typeface="宋体" panose="02010600030101010101" pitchFamily="2" charset="-122"/>
                          <a:cs typeface="Times New Roman" panose="02020603050405020304" pitchFamily="18" charset="0"/>
                        </a:rPr>
                        <a:t>工作日</a:t>
                      </a:r>
                      <a:r>
                        <a:rPr lang="en-US" altLang="zh-CN" sz="1800" b="1" dirty="0">
                          <a:solidFill>
                            <a:srgbClr val="1E2678"/>
                          </a:solidFill>
                          <a:latin typeface="Times New Roman" panose="02020603050405020304" pitchFamily="18" charset="0"/>
                          <a:ea typeface="宋体" panose="02010600030101010101" pitchFamily="2" charset="-122"/>
                          <a:cs typeface="Times New Roman" panose="02020603050405020304" pitchFamily="18" charset="0"/>
                        </a:rPr>
                        <a:t>17</a:t>
                      </a:r>
                      <a:r>
                        <a:rPr lang="zh-CN" altLang="en-US" sz="1800" b="1" dirty="0">
                          <a:solidFill>
                            <a:srgbClr val="1E2678"/>
                          </a:solidFill>
                          <a:latin typeface="Times New Roman" panose="02020603050405020304" pitchFamily="18" charset="0"/>
                          <a:ea typeface="宋体" panose="02010600030101010101" pitchFamily="2" charset="-122"/>
                          <a:cs typeface="Times New Roman" panose="02020603050405020304" pitchFamily="18" charset="0"/>
                        </a:rPr>
                        <a:t>时</a:t>
                      </a:r>
                      <a:endParaRPr lang="en-US" altLang="en-US" sz="1800" b="1" dirty="0">
                        <a:solidFill>
                          <a:srgbClr val="1E2678"/>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28575"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indent="0" algn="ctr">
                        <a:buNone/>
                      </a:pPr>
                      <a:r>
                        <a:rPr lang="en-US" altLang="zh-CN" sz="1800" b="0" dirty="0">
                          <a:latin typeface="Times New Roman" panose="02020603050405020304" pitchFamily="18" charset="0"/>
                          <a:cs typeface="Times New Roman" panose="02020603050405020304" pitchFamily="18" charset="0"/>
                        </a:rPr>
                        <a:t>PCA</a:t>
                      </a:r>
                      <a:r>
                        <a:rPr lang="zh-CN" altLang="en-US" sz="1800" b="0" dirty="0">
                          <a:latin typeface="Times New Roman" panose="02020603050405020304" pitchFamily="18" charset="0"/>
                          <a:cs typeface="Times New Roman" panose="02020603050405020304" pitchFamily="18" charset="0"/>
                        </a:rPr>
                        <a:t>-</a:t>
                      </a:r>
                      <a:r>
                        <a:rPr lang="en-US" altLang="zh-CN" sz="1800" b="0" dirty="0">
                          <a:latin typeface="Times New Roman" panose="02020603050405020304" pitchFamily="18" charset="0"/>
                          <a:cs typeface="Times New Roman" panose="02020603050405020304" pitchFamily="18" charset="0"/>
                        </a:rPr>
                        <a:t>RF</a:t>
                      </a:r>
                      <a:r>
                        <a:rPr lang="en-US" sz="1800" b="0" dirty="0">
                          <a:latin typeface="Times New Roman" panose="02020603050405020304" pitchFamily="18" charset="0"/>
                          <a:cs typeface="Times New Roman" panose="02020603050405020304" pitchFamily="18" charset="0"/>
                        </a:rPr>
                        <a:t> </a:t>
                      </a:r>
                      <a:endParaRPr lang="en-US" altLang="en-US" sz="1800" b="0" dirty="0">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28575"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b="0" kern="100" dirty="0">
                          <a:effectLst/>
                          <a:latin typeface="Times New Roman" panose="02020603050405020304" pitchFamily="18" charset="0"/>
                          <a:ea typeface="Times New Roman" panose="02020603050405020304" pitchFamily="18" charset="0"/>
                          <a:cs typeface="Times New Roman" panose="02020603050405020304" pitchFamily="18" charset="0"/>
                        </a:rPr>
                        <a:t>0.875</a:t>
                      </a:r>
                      <a:endParaRPr lang="zh-CN" altLang="en-US" sz="1800" b="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kern="100" dirty="0">
                          <a:effectLst/>
                          <a:latin typeface="Times New Roman" panose="02020603050405020304" pitchFamily="18" charset="0"/>
                          <a:ea typeface="Times New Roman" panose="02020603050405020304" pitchFamily="18" charset="0"/>
                          <a:cs typeface="Times New Roman" panose="02020603050405020304" pitchFamily="18" charset="0"/>
                        </a:rPr>
                        <a:t>0.870</a:t>
                      </a:r>
                      <a:endParaRPr lang="zh-CN" alt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kern="100" dirty="0">
                          <a:effectLst/>
                          <a:latin typeface="Times New Roman" panose="02020603050405020304" pitchFamily="18" charset="0"/>
                          <a:ea typeface="Times New Roman" panose="02020603050405020304" pitchFamily="18" charset="0"/>
                          <a:cs typeface="Times New Roman" panose="02020603050405020304" pitchFamily="18" charset="0"/>
                        </a:rPr>
                        <a:t>0.077</a:t>
                      </a:r>
                      <a:endParaRPr lang="zh-CN" alt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kern="100">
                          <a:effectLst/>
                          <a:latin typeface="Times New Roman" panose="02020603050405020304" pitchFamily="18" charset="0"/>
                          <a:ea typeface="Times New Roman" panose="02020603050405020304" pitchFamily="18" charset="0"/>
                          <a:cs typeface="Times New Roman" panose="02020603050405020304" pitchFamily="18" charset="0"/>
                        </a:rPr>
                        <a:t>0.006</a:t>
                      </a:r>
                      <a:endParaRPr lang="zh-CN" alt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kern="100">
                          <a:effectLst/>
                          <a:latin typeface="Times New Roman" panose="02020603050405020304" pitchFamily="18" charset="0"/>
                          <a:ea typeface="Times New Roman" panose="02020603050405020304" pitchFamily="18" charset="0"/>
                          <a:cs typeface="Times New Roman" panose="02020603050405020304" pitchFamily="18" charset="0"/>
                        </a:rPr>
                        <a:t>0.050</a:t>
                      </a:r>
                      <a:endParaRPr lang="zh-CN" alt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r>
              <a:tr h="349885">
                <a:tc vMerge="1">
                  <a:tcPr marL="68580" marR="68580" marT="0" marB="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b="0" kern="100" dirty="0">
                          <a:effectLst/>
                          <a:latin typeface="Times New Roman" panose="02020603050405020304" pitchFamily="18" charset="0"/>
                          <a:ea typeface="Times New Roman" panose="02020603050405020304" pitchFamily="18" charset="0"/>
                          <a:cs typeface="Times New Roman" panose="02020603050405020304" pitchFamily="18" charset="0"/>
                        </a:rPr>
                        <a:t>PCA</a:t>
                      </a:r>
                      <a:r>
                        <a:rPr lang="zh-CN" altLang="en-US" sz="1800" b="0" kern="1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800" b="0" kern="100" dirty="0">
                          <a:effectLst/>
                          <a:latin typeface="Times New Roman" panose="02020603050405020304" pitchFamily="18" charset="0"/>
                          <a:ea typeface="Times New Roman" panose="02020603050405020304" pitchFamily="18" charset="0"/>
                          <a:cs typeface="Arial" panose="020B0604020202020204" pitchFamily="34" charset="0"/>
                        </a:rPr>
                        <a:t>GWRF</a:t>
                      </a:r>
                      <a:endParaRPr lang="zh-CN" altLang="en-US" sz="1800" b="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b="0" kern="100" dirty="0">
                          <a:effectLst/>
                          <a:latin typeface="Times New Roman" panose="02020603050405020304" pitchFamily="18" charset="0"/>
                          <a:ea typeface="Times New Roman" panose="02020603050405020304" pitchFamily="18" charset="0"/>
                          <a:cs typeface="Times New Roman" panose="02020603050405020304" pitchFamily="18" charset="0"/>
                        </a:rPr>
                        <a:t>0.912</a:t>
                      </a:r>
                      <a:endParaRPr lang="zh-CN" altLang="en-US" sz="1800" b="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kern="100" dirty="0">
                          <a:effectLst/>
                          <a:latin typeface="Times New Roman" panose="02020603050405020304" pitchFamily="18" charset="0"/>
                          <a:ea typeface="Times New Roman" panose="02020603050405020304" pitchFamily="18" charset="0"/>
                          <a:cs typeface="Times New Roman" panose="02020603050405020304" pitchFamily="18" charset="0"/>
                        </a:rPr>
                        <a:t>0.909</a:t>
                      </a:r>
                      <a:endParaRPr lang="zh-CN" alt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kern="100" dirty="0">
                          <a:effectLst/>
                          <a:latin typeface="Times New Roman" panose="02020603050405020304" pitchFamily="18" charset="0"/>
                          <a:ea typeface="Times New Roman" panose="02020603050405020304" pitchFamily="18" charset="0"/>
                          <a:cs typeface="Times New Roman" panose="02020603050405020304" pitchFamily="18" charset="0"/>
                        </a:rPr>
                        <a:t>0.064</a:t>
                      </a:r>
                      <a:endParaRPr lang="zh-CN" alt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kern="100">
                          <a:effectLst/>
                          <a:latin typeface="Times New Roman" panose="02020603050405020304" pitchFamily="18" charset="0"/>
                          <a:ea typeface="Times New Roman" panose="02020603050405020304" pitchFamily="18" charset="0"/>
                          <a:cs typeface="Times New Roman" panose="02020603050405020304" pitchFamily="18" charset="0"/>
                        </a:rPr>
                        <a:t>0.004</a:t>
                      </a:r>
                      <a:endParaRPr lang="zh-CN" alt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kern="100" dirty="0">
                          <a:effectLst/>
                          <a:latin typeface="Times New Roman" panose="02020603050405020304" pitchFamily="18" charset="0"/>
                          <a:ea typeface="Times New Roman" panose="02020603050405020304" pitchFamily="18" charset="0"/>
                          <a:cs typeface="Times New Roman" panose="02020603050405020304" pitchFamily="18" charset="0"/>
                        </a:rPr>
                        <a:t>0.040</a:t>
                      </a:r>
                      <a:endParaRPr lang="zh-CN" alt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r>
              <a:tr h="365760">
                <a:tc rowSpan="2">
                  <a:txBody>
                    <a:bodyPr/>
                    <a:lstStyle/>
                    <a:p>
                      <a:pPr indent="0" algn="ctr">
                        <a:buNone/>
                      </a:pPr>
                      <a:r>
                        <a:rPr lang="en-US" altLang="en-US" sz="1800" b="1" dirty="0">
                          <a:solidFill>
                            <a:srgbClr val="1E2678"/>
                          </a:solidFill>
                          <a:latin typeface="Times New Roman" panose="02020603050405020304" pitchFamily="18" charset="0"/>
                          <a:ea typeface="宋体" panose="02010600030101010101" pitchFamily="2" charset="-122"/>
                          <a:cs typeface="Times New Roman" panose="02020603050405020304" pitchFamily="18" charset="0"/>
                        </a:rPr>
                        <a:t>双休日1</a:t>
                      </a:r>
                      <a:r>
                        <a:rPr lang="en-US" altLang="zh-CN" sz="1800" b="1" dirty="0">
                          <a:solidFill>
                            <a:srgbClr val="1E2678"/>
                          </a:solidFill>
                          <a:latin typeface="Times New Roman" panose="02020603050405020304" pitchFamily="18" charset="0"/>
                          <a:ea typeface="宋体" panose="02010600030101010101" pitchFamily="2" charset="-122"/>
                          <a:cs typeface="Times New Roman" panose="02020603050405020304" pitchFamily="18" charset="0"/>
                        </a:rPr>
                        <a:t>0</a:t>
                      </a:r>
                      <a:r>
                        <a:rPr lang="zh-CN" altLang="en-US" sz="1800" b="1" dirty="0">
                          <a:solidFill>
                            <a:srgbClr val="1E2678"/>
                          </a:solidFill>
                          <a:latin typeface="Times New Roman" panose="02020603050405020304" pitchFamily="18" charset="0"/>
                          <a:ea typeface="宋体" panose="02010600030101010101" pitchFamily="2" charset="-122"/>
                          <a:cs typeface="Times New Roman" panose="02020603050405020304" pitchFamily="18" charset="0"/>
                        </a:rPr>
                        <a:t>时</a:t>
                      </a:r>
                      <a:endParaRPr lang="en-US" altLang="en-US" b="1">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indent="0" algn="ctr">
                        <a:buNone/>
                      </a:pPr>
                      <a:r>
                        <a:rPr lang="en-US" altLang="zh-CN" sz="1800" b="0" dirty="0">
                          <a:latin typeface="Times New Roman" panose="02020603050405020304" pitchFamily="18" charset="0"/>
                          <a:cs typeface="Times New Roman" panose="02020603050405020304" pitchFamily="18" charset="0"/>
                        </a:rPr>
                        <a:t>PCA</a:t>
                      </a:r>
                      <a:r>
                        <a:rPr lang="zh-CN" altLang="en-US" sz="1800" b="0" dirty="0">
                          <a:latin typeface="Times New Roman" panose="02020603050405020304" pitchFamily="18" charset="0"/>
                          <a:cs typeface="Times New Roman" panose="02020603050405020304" pitchFamily="18" charset="0"/>
                        </a:rPr>
                        <a:t>-</a:t>
                      </a:r>
                      <a:r>
                        <a:rPr lang="en-US" altLang="zh-CN" sz="1800" b="0" dirty="0">
                          <a:latin typeface="Times New Roman" panose="02020603050405020304" pitchFamily="18" charset="0"/>
                          <a:cs typeface="Times New Roman" panose="02020603050405020304" pitchFamily="18" charset="0"/>
                        </a:rPr>
                        <a:t>RF</a:t>
                      </a:r>
                      <a:r>
                        <a:rPr lang="en-US" sz="1800" b="0" dirty="0">
                          <a:latin typeface="Times New Roman" panose="02020603050405020304" pitchFamily="18" charset="0"/>
                          <a:cs typeface="Times New Roman" panose="02020603050405020304" pitchFamily="18" charset="0"/>
                        </a:rPr>
                        <a:t> </a:t>
                      </a:r>
                      <a:endParaRPr lang="en-US" altLang="en-US" sz="1800" b="0" dirty="0">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b="0" kern="100">
                          <a:effectLst/>
                          <a:latin typeface="Times New Roman" panose="02020603050405020304" pitchFamily="18" charset="0"/>
                          <a:ea typeface="Times New Roman" panose="02020603050405020304" pitchFamily="18" charset="0"/>
                          <a:cs typeface="Times New Roman" panose="02020603050405020304" pitchFamily="18" charset="0"/>
                        </a:rPr>
                        <a:t>0.887</a:t>
                      </a:r>
                      <a:endParaRPr lang="zh-CN" altLang="en-US" sz="1800" b="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kern="100" dirty="0">
                          <a:effectLst/>
                          <a:latin typeface="Times New Roman" panose="02020603050405020304" pitchFamily="18" charset="0"/>
                          <a:ea typeface="Times New Roman" panose="02020603050405020304" pitchFamily="18" charset="0"/>
                          <a:cs typeface="Times New Roman" panose="02020603050405020304" pitchFamily="18" charset="0"/>
                        </a:rPr>
                        <a:t>0.882</a:t>
                      </a:r>
                      <a:endParaRPr lang="zh-CN" alt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kern="100" dirty="0">
                          <a:effectLst/>
                          <a:latin typeface="Times New Roman" panose="02020603050405020304" pitchFamily="18" charset="0"/>
                          <a:ea typeface="Times New Roman" panose="02020603050405020304" pitchFamily="18" charset="0"/>
                          <a:cs typeface="Times New Roman" panose="02020603050405020304" pitchFamily="18" charset="0"/>
                        </a:rPr>
                        <a:t>0.049</a:t>
                      </a:r>
                      <a:endParaRPr lang="zh-CN" alt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kern="100" dirty="0">
                          <a:effectLst/>
                          <a:latin typeface="Times New Roman" panose="02020603050405020304" pitchFamily="18" charset="0"/>
                          <a:ea typeface="Times New Roman" panose="02020603050405020304" pitchFamily="18" charset="0"/>
                          <a:cs typeface="Times New Roman" panose="02020603050405020304" pitchFamily="18" charset="0"/>
                        </a:rPr>
                        <a:t>0.002</a:t>
                      </a:r>
                      <a:endParaRPr lang="zh-CN" alt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kern="100">
                          <a:effectLst/>
                          <a:latin typeface="Times New Roman" panose="02020603050405020304" pitchFamily="18" charset="0"/>
                          <a:ea typeface="Times New Roman" panose="02020603050405020304" pitchFamily="18" charset="0"/>
                          <a:cs typeface="Times New Roman" panose="02020603050405020304" pitchFamily="18" charset="0"/>
                        </a:rPr>
                        <a:t>0.038</a:t>
                      </a:r>
                      <a:endParaRPr lang="zh-CN" alt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r>
              <a:tr h="365760">
                <a:tc vMerge="1">
                  <a:tcPr marL="68580" marR="68580" marT="0" marB="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b="0" kern="100" dirty="0">
                          <a:effectLst/>
                          <a:latin typeface="Times New Roman" panose="02020603050405020304" pitchFamily="18" charset="0"/>
                          <a:ea typeface="Times New Roman" panose="02020603050405020304" pitchFamily="18" charset="0"/>
                          <a:cs typeface="Times New Roman" panose="02020603050405020304" pitchFamily="18" charset="0"/>
                        </a:rPr>
                        <a:t>PCA</a:t>
                      </a:r>
                      <a:r>
                        <a:rPr lang="zh-CN" altLang="en-US" sz="1800" b="0" kern="1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800" b="0" kern="100" dirty="0">
                          <a:effectLst/>
                          <a:latin typeface="Times New Roman" panose="02020603050405020304" pitchFamily="18" charset="0"/>
                          <a:ea typeface="Times New Roman" panose="02020603050405020304" pitchFamily="18" charset="0"/>
                          <a:cs typeface="Arial" panose="020B0604020202020204" pitchFamily="34" charset="0"/>
                        </a:rPr>
                        <a:t>GWRF</a:t>
                      </a:r>
                      <a:endParaRPr lang="zh-CN" altLang="en-US" sz="1800" b="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b="0" kern="100">
                          <a:effectLst/>
                          <a:latin typeface="Times New Roman" panose="02020603050405020304" pitchFamily="18" charset="0"/>
                          <a:ea typeface="Times New Roman" panose="02020603050405020304" pitchFamily="18" charset="0"/>
                          <a:cs typeface="Times New Roman" panose="02020603050405020304" pitchFamily="18" charset="0"/>
                        </a:rPr>
                        <a:t>0.928</a:t>
                      </a:r>
                      <a:endParaRPr lang="zh-CN" altLang="en-US" sz="1800" b="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kern="100" dirty="0">
                          <a:effectLst/>
                          <a:latin typeface="Times New Roman" panose="02020603050405020304" pitchFamily="18" charset="0"/>
                          <a:ea typeface="Times New Roman" panose="02020603050405020304" pitchFamily="18" charset="0"/>
                          <a:cs typeface="Times New Roman" panose="02020603050405020304" pitchFamily="18" charset="0"/>
                        </a:rPr>
                        <a:t>0.925</a:t>
                      </a:r>
                      <a:endParaRPr lang="zh-CN" alt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kern="100" dirty="0">
                          <a:effectLst/>
                          <a:latin typeface="Times New Roman" panose="02020603050405020304" pitchFamily="18" charset="0"/>
                          <a:ea typeface="Times New Roman" panose="02020603050405020304" pitchFamily="18" charset="0"/>
                          <a:cs typeface="Times New Roman" panose="02020603050405020304" pitchFamily="18" charset="0"/>
                        </a:rPr>
                        <a:t>0.039</a:t>
                      </a:r>
                      <a:endParaRPr lang="zh-CN" alt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kern="100" dirty="0">
                          <a:effectLst/>
                          <a:latin typeface="Times New Roman" panose="02020603050405020304" pitchFamily="18" charset="0"/>
                          <a:ea typeface="Times New Roman" panose="02020603050405020304" pitchFamily="18" charset="0"/>
                          <a:cs typeface="Times New Roman" panose="02020603050405020304" pitchFamily="18" charset="0"/>
                        </a:rPr>
                        <a:t>0.002</a:t>
                      </a:r>
                      <a:endParaRPr lang="zh-CN" alt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kern="100" dirty="0">
                          <a:effectLst/>
                          <a:latin typeface="Times New Roman" panose="02020603050405020304" pitchFamily="18" charset="0"/>
                          <a:ea typeface="Times New Roman" panose="02020603050405020304" pitchFamily="18" charset="0"/>
                          <a:cs typeface="Times New Roman" panose="02020603050405020304" pitchFamily="18" charset="0"/>
                        </a:rPr>
                        <a:t>0.029</a:t>
                      </a:r>
                      <a:endParaRPr lang="zh-CN" alt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r>
              <a:tr h="365760">
                <a:tc rowSpan="2">
                  <a:txBody>
                    <a:bodyPr/>
                    <a:lstStyle/>
                    <a:p>
                      <a:pPr indent="0" algn="ctr">
                        <a:buNone/>
                      </a:pPr>
                      <a:r>
                        <a:rPr lang="zh-CN" altLang="en-US" sz="1800" b="1" dirty="0" err="1">
                          <a:solidFill>
                            <a:srgbClr val="1E2678"/>
                          </a:solidFill>
                          <a:latin typeface="Times New Roman" panose="02020603050405020304" pitchFamily="18" charset="0"/>
                          <a:ea typeface="宋体" panose="02010600030101010101" pitchFamily="2" charset="-122"/>
                          <a:cs typeface="Times New Roman" panose="02020603050405020304" pitchFamily="18" charset="0"/>
                        </a:rPr>
                        <a:t>双休日</a:t>
                      </a:r>
                      <a:r>
                        <a:rPr lang="en-US" altLang="zh-CN" sz="1800" b="1" dirty="0" err="1">
                          <a:solidFill>
                            <a:srgbClr val="1E2678"/>
                          </a:solidFill>
                          <a:latin typeface="Times New Roman" panose="02020603050405020304" pitchFamily="18" charset="0"/>
                          <a:ea typeface="宋体" panose="02010600030101010101" pitchFamily="2" charset="-122"/>
                          <a:cs typeface="Times New Roman" panose="02020603050405020304" pitchFamily="18" charset="0"/>
                        </a:rPr>
                        <a:t>17</a:t>
                      </a:r>
                      <a:r>
                        <a:rPr lang="zh-CN" altLang="en-US" sz="1800" b="1" dirty="0" err="1">
                          <a:solidFill>
                            <a:srgbClr val="1E2678"/>
                          </a:solidFill>
                          <a:latin typeface="Times New Roman" panose="02020603050405020304" pitchFamily="18" charset="0"/>
                          <a:ea typeface="宋体" panose="02010600030101010101" pitchFamily="2" charset="-122"/>
                          <a:cs typeface="Times New Roman" panose="02020603050405020304" pitchFamily="18" charset="0"/>
                        </a:rPr>
                        <a:t>时</a:t>
                      </a:r>
                      <a:endParaRPr lang="en-US" altLang="en-US" sz="1800" b="1" dirty="0">
                        <a:solidFill>
                          <a:srgbClr val="1E2678"/>
                        </a:solidFill>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indent="0" algn="ctr">
                        <a:buNone/>
                      </a:pPr>
                      <a:r>
                        <a:rPr lang="en-US" altLang="zh-CN" sz="1800" b="0" dirty="0">
                          <a:latin typeface="Times New Roman" panose="02020603050405020304" pitchFamily="18" charset="0"/>
                          <a:cs typeface="Times New Roman" panose="02020603050405020304" pitchFamily="18" charset="0"/>
                        </a:rPr>
                        <a:t>PCA</a:t>
                      </a:r>
                      <a:r>
                        <a:rPr lang="zh-CN" altLang="en-US" sz="1800" b="0" dirty="0">
                          <a:latin typeface="Times New Roman" panose="02020603050405020304" pitchFamily="18" charset="0"/>
                          <a:cs typeface="Times New Roman" panose="02020603050405020304" pitchFamily="18" charset="0"/>
                        </a:rPr>
                        <a:t>-</a:t>
                      </a:r>
                      <a:r>
                        <a:rPr lang="en-US" altLang="zh-CN" sz="1800" b="0" dirty="0">
                          <a:latin typeface="Times New Roman" panose="02020603050405020304" pitchFamily="18" charset="0"/>
                          <a:cs typeface="Times New Roman" panose="02020603050405020304" pitchFamily="18" charset="0"/>
                        </a:rPr>
                        <a:t>RF</a:t>
                      </a:r>
                      <a:r>
                        <a:rPr lang="en-US" sz="1800" b="0" dirty="0">
                          <a:latin typeface="Times New Roman" panose="02020603050405020304" pitchFamily="18" charset="0"/>
                          <a:cs typeface="Times New Roman" panose="02020603050405020304" pitchFamily="18" charset="0"/>
                        </a:rPr>
                        <a:t> </a:t>
                      </a:r>
                      <a:endParaRPr lang="en-US" altLang="en-US" sz="1800" b="0" dirty="0">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b="0" kern="100">
                          <a:effectLst/>
                          <a:latin typeface="Times New Roman" panose="02020603050405020304" pitchFamily="18" charset="0"/>
                          <a:ea typeface="Times New Roman" panose="02020603050405020304" pitchFamily="18" charset="0"/>
                          <a:cs typeface="Times New Roman" panose="02020603050405020304" pitchFamily="18" charset="0"/>
                        </a:rPr>
                        <a:t>0.871</a:t>
                      </a:r>
                      <a:endParaRPr lang="zh-CN" altLang="en-US" sz="1800" b="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kern="100" dirty="0">
                          <a:effectLst/>
                          <a:latin typeface="Times New Roman" panose="02020603050405020304" pitchFamily="18" charset="0"/>
                          <a:ea typeface="Times New Roman" panose="02020603050405020304" pitchFamily="18" charset="0"/>
                          <a:cs typeface="Times New Roman" panose="02020603050405020304" pitchFamily="18" charset="0"/>
                        </a:rPr>
                        <a:t>0.886</a:t>
                      </a:r>
                      <a:endParaRPr lang="zh-CN" alt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kern="100">
                          <a:effectLst/>
                          <a:latin typeface="Times New Roman" panose="02020603050405020304" pitchFamily="18" charset="0"/>
                          <a:ea typeface="Times New Roman" panose="02020603050405020304" pitchFamily="18" charset="0"/>
                          <a:cs typeface="Times New Roman" panose="02020603050405020304" pitchFamily="18" charset="0"/>
                        </a:rPr>
                        <a:t>0.075</a:t>
                      </a:r>
                      <a:endParaRPr lang="zh-CN" alt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kern="100" dirty="0">
                          <a:effectLst/>
                          <a:latin typeface="Times New Roman" panose="02020603050405020304" pitchFamily="18" charset="0"/>
                          <a:ea typeface="Times New Roman" panose="02020603050405020304" pitchFamily="18" charset="0"/>
                          <a:cs typeface="Times New Roman" panose="02020603050405020304" pitchFamily="18" charset="0"/>
                        </a:rPr>
                        <a:t>0.006</a:t>
                      </a:r>
                      <a:endParaRPr lang="zh-CN" alt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kern="100" dirty="0">
                          <a:effectLst/>
                          <a:latin typeface="Times New Roman" panose="02020603050405020304" pitchFamily="18" charset="0"/>
                          <a:ea typeface="Times New Roman" panose="02020603050405020304" pitchFamily="18" charset="0"/>
                          <a:cs typeface="Times New Roman" panose="02020603050405020304" pitchFamily="18" charset="0"/>
                        </a:rPr>
                        <a:t>0.053</a:t>
                      </a:r>
                      <a:endParaRPr lang="zh-CN" alt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r>
              <a:tr h="365760">
                <a:tc vMerge="1">
                  <a:tcPr marL="68580" marR="68580" marT="0" marB="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b="0" kern="100" dirty="0">
                          <a:effectLst/>
                          <a:latin typeface="Times New Roman" panose="02020603050405020304" pitchFamily="18" charset="0"/>
                          <a:ea typeface="Times New Roman" panose="02020603050405020304" pitchFamily="18" charset="0"/>
                          <a:cs typeface="Times New Roman" panose="02020603050405020304" pitchFamily="18" charset="0"/>
                        </a:rPr>
                        <a:t>PCA</a:t>
                      </a:r>
                      <a:r>
                        <a:rPr lang="zh-CN" altLang="en-US" sz="1800" b="0" kern="1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800" b="0" kern="100" dirty="0">
                          <a:effectLst/>
                          <a:latin typeface="Times New Roman" panose="02020603050405020304" pitchFamily="18" charset="0"/>
                          <a:ea typeface="Times New Roman" panose="02020603050405020304" pitchFamily="18" charset="0"/>
                          <a:cs typeface="Arial" panose="020B0604020202020204" pitchFamily="34" charset="0"/>
                        </a:rPr>
                        <a:t>GWRF</a:t>
                      </a:r>
                      <a:endParaRPr lang="zh-CN" altLang="en-US" sz="1800" b="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b="0" kern="100">
                          <a:effectLst/>
                          <a:latin typeface="Times New Roman" panose="02020603050405020304" pitchFamily="18" charset="0"/>
                          <a:ea typeface="Times New Roman" panose="02020603050405020304" pitchFamily="18" charset="0"/>
                          <a:cs typeface="Times New Roman" panose="02020603050405020304" pitchFamily="18" charset="0"/>
                        </a:rPr>
                        <a:t>0.921</a:t>
                      </a:r>
                      <a:endParaRPr lang="zh-CN" altLang="en-US" sz="1800" b="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kern="100" dirty="0">
                          <a:effectLst/>
                          <a:latin typeface="Times New Roman" panose="02020603050405020304" pitchFamily="18" charset="0"/>
                          <a:ea typeface="Times New Roman" panose="02020603050405020304" pitchFamily="18" charset="0"/>
                          <a:cs typeface="Times New Roman" panose="02020603050405020304" pitchFamily="18" charset="0"/>
                        </a:rPr>
                        <a:t>0.918</a:t>
                      </a:r>
                      <a:endParaRPr lang="zh-CN" alt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nchor="ctr">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kern="100">
                          <a:effectLst/>
                          <a:latin typeface="Times New Roman" panose="02020603050405020304" pitchFamily="18" charset="0"/>
                          <a:ea typeface="Times New Roman" panose="02020603050405020304" pitchFamily="18" charset="0"/>
                          <a:cs typeface="Times New Roman" panose="02020603050405020304" pitchFamily="18" charset="0"/>
                        </a:rPr>
                        <a:t>0.059</a:t>
                      </a:r>
                      <a:endParaRPr lang="zh-CN" altLang="en-US" sz="18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kern="100" dirty="0">
                          <a:effectLst/>
                          <a:latin typeface="Times New Roman" panose="02020603050405020304" pitchFamily="18" charset="0"/>
                          <a:ea typeface="Times New Roman" panose="02020603050405020304" pitchFamily="18" charset="0"/>
                          <a:cs typeface="Times New Roman" panose="02020603050405020304" pitchFamily="18" charset="0"/>
                        </a:rPr>
                        <a:t>0.003</a:t>
                      </a:r>
                      <a:endParaRPr lang="zh-CN" alt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c>
                  <a:txBody>
                    <a:bodyPr/>
                    <a:lstStyle/>
                    <a:p>
                      <a:pPr marL="0" marR="0" algn="ctr">
                        <a:spcBef>
                          <a:spcPts val="0"/>
                        </a:spcBef>
                        <a:spcAft>
                          <a:spcPts val="0"/>
                        </a:spcAft>
                      </a:pPr>
                      <a:r>
                        <a:rPr lang="en-US" altLang="zh-CN" sz="1800" kern="100" dirty="0">
                          <a:effectLst/>
                          <a:latin typeface="Times New Roman" panose="02020603050405020304" pitchFamily="18" charset="0"/>
                          <a:ea typeface="Times New Roman" panose="02020603050405020304" pitchFamily="18" charset="0"/>
                          <a:cs typeface="Times New Roman" panose="02020603050405020304" pitchFamily="18" charset="0"/>
                        </a:rPr>
                        <a:t>0.040</a:t>
                      </a:r>
                      <a:endParaRPr lang="zh-CN" altLang="en-US" sz="18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a:lnL w="38100" cap="flat" cmpd="sng" algn="ctr">
                      <a:solidFill>
                        <a:srgbClr val="1E2678"/>
                      </a:solidFill>
                      <a:prstDash val="solid"/>
                      <a:round/>
                      <a:headEnd type="none" w="med" len="med"/>
                      <a:tailEnd type="none" w="med" len="med"/>
                    </a:lnL>
                    <a:lnR w="38100" cap="flat" cmpd="sng" algn="ctr">
                      <a:solidFill>
                        <a:srgbClr val="1E2678"/>
                      </a:solidFill>
                      <a:prstDash val="solid"/>
                      <a:round/>
                      <a:headEnd type="none" w="med" len="med"/>
                      <a:tailEnd type="none" w="med" len="med"/>
                    </a:lnR>
                    <a:lnT w="38100" cap="flat" cmpd="sng" algn="ctr">
                      <a:solidFill>
                        <a:srgbClr val="1E2678"/>
                      </a:solidFill>
                      <a:prstDash val="solid"/>
                      <a:round/>
                      <a:headEnd type="none" w="med" len="med"/>
                      <a:tailEnd type="none" w="med" len="med"/>
                    </a:lnT>
                    <a:lnB w="38100" cap="flat" cmpd="sng" algn="ctr">
                      <a:solidFill>
                        <a:srgbClr val="1E2678"/>
                      </a:solidFill>
                      <a:prstDash val="solid"/>
                      <a:round/>
                      <a:headEnd type="none" w="med" len="med"/>
                      <a:tailEnd type="none" w="med" len="med"/>
                    </a:lnB>
                    <a:lnTlToBr>
                      <a:noFill/>
                    </a:lnTlToBr>
                    <a:lnBlToTr>
                      <a:noFill/>
                    </a:lnBlToTr>
                    <a:noFill/>
                  </a:tcPr>
                </a:tc>
              </a:tr>
            </a:tbl>
          </a:graphicData>
        </a:graphic>
      </p:graphicFrame>
      <p:sp>
        <p:nvSpPr>
          <p:cNvPr id="14" name="文本框 13"/>
          <p:cNvSpPr txBox="1"/>
          <p:nvPr/>
        </p:nvSpPr>
        <p:spPr>
          <a:xfrm>
            <a:off x="8920010" y="3068332"/>
            <a:ext cx="3094620" cy="1337945"/>
          </a:xfrm>
          <a:prstGeom prst="rect">
            <a:avLst/>
          </a:prstGeom>
          <a:noFill/>
        </p:spPr>
        <p:txBody>
          <a:bodyPr wrap="square">
            <a:spAutoFit/>
          </a:bodyPr>
          <a:lstStyle/>
          <a:p>
            <a:pPr>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在揭示</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建成环境因素</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对</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交通拥堵指数</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影响上，采用</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PCA</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GWRF</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模型更优</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3" name="矩形: 圆角 32"/>
          <p:cNvSpPr/>
          <p:nvPr/>
        </p:nvSpPr>
        <p:spPr>
          <a:xfrm>
            <a:off x="2145411" y="5765673"/>
            <a:ext cx="1978547" cy="428822"/>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Times New Roman" panose="02020603050405020304" pitchFamily="18" charset="0"/>
                <a:ea typeface="微软雅黑" panose="020B0503020204020204" pitchFamily="34" charset="-122"/>
              </a:rPr>
              <a:t>空间异质性</a:t>
            </a:r>
            <a:endParaRPr lang="zh-CN" altLang="en-US" b="1" dirty="0">
              <a:latin typeface="Times New Roman" panose="02020603050405020304" pitchFamily="18" charset="0"/>
              <a:ea typeface="微软雅黑" panose="020B0503020204020204" pitchFamily="34" charset="-122"/>
            </a:endParaRPr>
          </a:p>
        </p:txBody>
      </p:sp>
      <p:sp>
        <p:nvSpPr>
          <p:cNvPr id="35" name="文本框 34"/>
          <p:cNvSpPr txBox="1"/>
          <p:nvPr/>
        </p:nvSpPr>
        <p:spPr>
          <a:xfrm>
            <a:off x="5258429" y="5491657"/>
            <a:ext cx="6421793" cy="825482"/>
          </a:xfrm>
          <a:prstGeom prst="rect">
            <a:avLst/>
          </a:prstGeom>
          <a:noFill/>
        </p:spPr>
        <p:txBody>
          <a:bodyPr wrap="square">
            <a:spAutoFit/>
          </a:bodyPr>
          <a:lstStyle/>
          <a:p>
            <a:pPr>
              <a:lnSpc>
                <a:spcPct val="14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PCA-RF</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模型忽略了局部空间效应</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4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PCA-GWRF</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通过地理加权机制捕捉空间非平稳性</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箭头: 上 6"/>
          <p:cNvSpPr/>
          <p:nvPr/>
        </p:nvSpPr>
        <p:spPr>
          <a:xfrm>
            <a:off x="9953591" y="4573905"/>
            <a:ext cx="502920" cy="586740"/>
          </a:xfrm>
          <a:prstGeom prst="up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userDrawn="1"/>
        </p:nvSpPr>
        <p:spPr>
          <a:xfrm>
            <a:off x="1152525" y="2311491"/>
            <a:ext cx="1378857" cy="368300"/>
          </a:xfrm>
          <a:prstGeom prst="rect">
            <a:avLst/>
          </a:prstGeom>
        </p:spPr>
        <p:txBody>
          <a:bodyPr wrap="none" rtlCol="0">
            <a:noAutofit/>
          </a:bodyPr>
          <a:lstStyle/>
          <a:p>
            <a:r>
              <a:rPr lang="zh-CN" altLang="en-US" b="1">
                <a:solidFill>
                  <a:srgbClr val="1E2678"/>
                </a:solidFill>
                <a:latin typeface="宋体" panose="02010600030101010101" pitchFamily="2" charset="-122"/>
                <a:ea typeface="宋体" panose="02010600030101010101" pitchFamily="2" charset="-122"/>
                <a:cs typeface="宋体" panose="02010600030101010101" pitchFamily="2" charset="-122"/>
              </a:rPr>
              <a:t>工作日</a:t>
            </a:r>
            <a:r>
              <a:rPr lang="en-US" altLang="zh-CN" b="1">
                <a:solidFill>
                  <a:srgbClr val="1E2678"/>
                </a:solidFill>
                <a:latin typeface="Times New Roman" panose="02020603050405020304" pitchFamily="18" charset="0"/>
                <a:ea typeface="Times New Roman" panose="02020603050405020304" pitchFamily="18" charset="0"/>
                <a:cs typeface="Times New Roman" panose="02020603050405020304" pitchFamily="18" charset="0"/>
              </a:rPr>
              <a:t>8</a:t>
            </a:r>
            <a:r>
              <a:rPr lang="zh-CN" altLang="en-US" b="1">
                <a:solidFill>
                  <a:srgbClr val="1E2678"/>
                </a:solidFill>
                <a:latin typeface="宋体" panose="02010600030101010101" pitchFamily="2" charset="-122"/>
                <a:ea typeface="宋体" panose="02010600030101010101" pitchFamily="2" charset="-122"/>
                <a:cs typeface="宋体" panose="02010600030101010101" pitchFamily="2" charset="-122"/>
              </a:rPr>
              <a:t>时</a:t>
            </a:r>
            <a:endParaRPr lang="zh-CN" altLang="en-US" b="1">
              <a:solidFill>
                <a:srgbClr val="1E2678"/>
              </a:solidFill>
              <a:latin typeface="宋体" panose="02010600030101010101" pitchFamily="2" charset="-122"/>
              <a:ea typeface="宋体" panose="02010600030101010101" pitchFamily="2" charset="-122"/>
              <a:cs typeface="宋体" panose="02010600030101010101" pitchFamily="2" charset="-122"/>
            </a:endParaRPr>
          </a:p>
        </p:txBody>
      </p:sp>
      <p:sp>
        <p:nvSpPr>
          <p:cNvPr id="25" name="箭头: 左 41"/>
          <p:cNvSpPr/>
          <p:nvPr/>
        </p:nvSpPr>
        <p:spPr>
          <a:xfrm rot="10800000">
            <a:off x="4701292" y="5865152"/>
            <a:ext cx="438364" cy="222428"/>
          </a:xfrm>
          <a:prstGeom prst="leftArrow">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20000"/>
                  <a:lumOff val="80000"/>
                </a:schemeClr>
              </a:solidFill>
            </a:endParaRPr>
          </a:p>
        </p:txBody>
      </p:sp>
      <p:sp>
        <p:nvSpPr>
          <p:cNvPr id="26" name="箭头: 左 41"/>
          <p:cNvSpPr/>
          <p:nvPr/>
        </p:nvSpPr>
        <p:spPr>
          <a:xfrm>
            <a:off x="4314577" y="5865152"/>
            <a:ext cx="438364" cy="222428"/>
          </a:xfrm>
          <a:prstGeom prst="leftArrow">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20000"/>
                  <a:lumOff val="80000"/>
                </a:schemeClr>
              </a:solidFill>
            </a:endParaRPr>
          </a:p>
        </p:txBody>
      </p:sp>
      <p:sp>
        <p:nvSpPr>
          <p:cNvPr id="27" name="文本框 26"/>
          <p:cNvSpPr txBox="1"/>
          <p:nvPr/>
        </p:nvSpPr>
        <p:spPr>
          <a:xfrm>
            <a:off x="557194" y="5176000"/>
            <a:ext cx="3176434" cy="547370"/>
          </a:xfrm>
          <a:prstGeom prst="rect">
            <a:avLst/>
          </a:prstGeom>
          <a:noFill/>
        </p:spPr>
        <p:txBody>
          <a:bodyPr wrap="square">
            <a:spAutoFit/>
          </a:bodyPr>
          <a:lstStyle/>
          <a:p>
            <a:pPr algn="ctr"/>
            <a:r>
              <a:rPr lang="en-US" altLang="zh-CN" sz="1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1800" b="1" baseline="30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Adjusted </a:t>
            </a:r>
            <a:r>
              <a:rPr lang="en-US" altLang="zh-CN" sz="1800"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1800" b="1" baseline="30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均有所上升</a:t>
            </a:r>
            <a:endParaRPr lang="en-US" altLang="en-US" sz="1800" b="1" baseline="30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a:p>
            <a:pPr indent="0" algn="ctr">
              <a:buNone/>
            </a:pPr>
            <a:endParaRPr lang="en-US" altLang="en-US" sz="1800" b="1" baseline="300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8300"/>
          </a:xfrm>
          <a:prstGeom prst="rect">
            <a:avLst/>
          </a:prstGeom>
          <a:noFill/>
        </p:spPr>
        <p:txBody>
          <a:bodyPr wrap="square" rtlCol="0">
            <a:spAutoFit/>
          </a:bodyPr>
          <a:lstStyle/>
          <a:p>
            <a:r>
              <a:rPr lang="zh-CN" altLang="en-US" dirty="0">
                <a:solidFill>
                  <a:schemeClr val="tx1">
                    <a:lumMod val="65000"/>
                    <a:lumOff val="35000"/>
                  </a:schemeClr>
                </a:solidFill>
                <a:latin typeface="Times New Roman" panose="02020603050405020304" pitchFamily="18" charset="0"/>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Times New Roman" panose="02020603050405020304" pitchFamily="18" charset="0"/>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Times New Roman" panose="02020603050405020304" pitchFamily="18" charset="0"/>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rPr>
                  <a:t>项目管理</a:t>
                </a:r>
                <a:endPar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7" name="组合 14"/>
          <p:cNvGrpSpPr/>
          <p:nvPr/>
        </p:nvGrpSpPr>
        <p:grpSpPr>
          <a:xfrm rot="0">
            <a:off x="205105" y="81915"/>
            <a:ext cx="1927225" cy="591185"/>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109" name="矩形 15"/>
          <p:cNvSpPr/>
          <p:nvPr/>
        </p:nvSpPr>
        <p:spPr>
          <a:xfrm>
            <a:off x="834953" y="471379"/>
            <a:ext cx="1369516" cy="176699"/>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宋体" panose="02010600030101010101" pitchFamily="2" charset="-122"/>
              </a:rPr>
              <a:t>WUHAN UNIVERSITY</a:t>
            </a:r>
            <a:endParaRPr lang="en-US" altLang="zh-CN" sz="900" b="1" dirty="0">
              <a:solidFill>
                <a:prstClr val="black"/>
              </a:solidFill>
              <a:latin typeface="Calibri" panose="020F0502020204030204"/>
              <a:ea typeface="宋体" panose="02010600030101010101" pitchFamily="2" charset="-122"/>
            </a:endParaRPr>
          </a:p>
        </p:txBody>
      </p:sp>
      <p:sp>
        <p:nvSpPr>
          <p:cNvPr id="2" name="ïṣ1ïḑê"/>
          <p:cNvSpPr>
            <a:spLocks noGrp="1"/>
          </p:cNvSpPr>
          <p:nvPr/>
        </p:nvSpPr>
        <p:spPr>
          <a:xfrm>
            <a:off x="205105" y="1141730"/>
            <a:ext cx="10850880" cy="71247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rPr>
              <a:t>2.5 </a:t>
            </a:r>
            <a:r>
              <a:rPr lang="zh-CN" altLang="en-US" dirty="0">
                <a:solidFill>
                  <a:srgbClr val="005825"/>
                </a:solidFill>
              </a:rPr>
              <a:t>可解释机器学习方法</a:t>
            </a:r>
            <a:r>
              <a:rPr lang="en-US" altLang="zh-CN" dirty="0">
                <a:solidFill>
                  <a:srgbClr val="005825"/>
                </a:solidFill>
              </a:rPr>
              <a:t>|</a:t>
            </a:r>
            <a:r>
              <a:rPr lang="zh-CN" altLang="en-US" dirty="0">
                <a:solidFill>
                  <a:schemeClr val="tx1"/>
                </a:solidFill>
              </a:rPr>
              <a:t>特征重要性图与蜂群图</a:t>
            </a:r>
            <a:endParaRPr lang="zh-CN" altLang="en-US" dirty="0">
              <a:solidFill>
                <a:schemeClr val="tx1"/>
              </a:solidFill>
              <a:latin typeface="Times New Roman" panose="02020603050405020304" pitchFamily="18" charset="0"/>
              <a:cs typeface="Times New Roman" panose="02020603050405020304" pitchFamily="18" charset="0"/>
            </a:endParaRPr>
          </a:p>
          <a:p>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 name="图片 0"/>
          <p:cNvPicPr>
            <a:picLocks noChangeAspect="1"/>
          </p:cNvPicPr>
          <p:nvPr/>
        </p:nvPicPr>
        <p:blipFill>
          <a:blip r:embed="rId4"/>
          <a:stretch>
            <a:fillRect/>
          </a:stretch>
        </p:blipFill>
        <p:spPr>
          <a:xfrm>
            <a:off x="982980" y="1560195"/>
            <a:ext cx="4997450" cy="2484120"/>
          </a:xfrm>
          <a:prstGeom prst="rect">
            <a:avLst/>
          </a:prstGeom>
        </p:spPr>
      </p:pic>
      <p:sp>
        <p:nvSpPr>
          <p:cNvPr id="6" name="文本框 5"/>
          <p:cNvSpPr txBox="1"/>
          <p:nvPr/>
        </p:nvSpPr>
        <p:spPr>
          <a:xfrm>
            <a:off x="406400" y="1560195"/>
            <a:ext cx="545465" cy="1664970"/>
          </a:xfrm>
          <a:prstGeom prst="rect">
            <a:avLst/>
          </a:prstGeom>
          <a:noFill/>
        </p:spPr>
        <p:txBody>
          <a:bodyPr wrap="square" rtlCol="0" anchor="t">
            <a:noAutofit/>
          </a:bodyPr>
          <a:p>
            <a:r>
              <a:rPr lang="zh-CN" altLang="en-US" sz="1600" b="1" dirty="0">
                <a:solidFill>
                  <a:srgbClr val="002060"/>
                </a:solidFill>
                <a:latin typeface="微软雅黑" panose="020B0503020204020204" pitchFamily="34" charset="-122"/>
                <a:ea typeface="微软雅黑" panose="020B0503020204020204" pitchFamily="34" charset="-122"/>
                <a:sym typeface="+mn-ea"/>
              </a:rPr>
              <a:t>主成分特征重要性图</a:t>
            </a:r>
            <a:endParaRPr lang="zh-CN" altLang="en-US" sz="1600" b="1" dirty="0">
              <a:solidFill>
                <a:srgbClr val="002060"/>
              </a:solidFill>
              <a:latin typeface="微软雅黑" panose="020B0503020204020204" pitchFamily="34" charset="-122"/>
              <a:ea typeface="微软雅黑" panose="020B0503020204020204" pitchFamily="34" charset="-122"/>
              <a:sym typeface="+mn-ea"/>
            </a:endParaRPr>
          </a:p>
        </p:txBody>
      </p:sp>
      <p:pic>
        <p:nvPicPr>
          <p:cNvPr id="7" name="图片 6"/>
          <p:cNvPicPr>
            <a:picLocks noChangeAspect="1"/>
          </p:cNvPicPr>
          <p:nvPr/>
        </p:nvPicPr>
        <p:blipFill>
          <a:blip r:embed="rId5"/>
          <a:stretch>
            <a:fillRect/>
          </a:stretch>
        </p:blipFill>
        <p:spPr>
          <a:xfrm>
            <a:off x="6576060" y="1426210"/>
            <a:ext cx="5340350" cy="2480310"/>
          </a:xfrm>
          <a:prstGeom prst="rect">
            <a:avLst/>
          </a:prstGeom>
        </p:spPr>
      </p:pic>
      <p:sp>
        <p:nvSpPr>
          <p:cNvPr id="8" name="文本框 7"/>
          <p:cNvSpPr txBox="1"/>
          <p:nvPr/>
        </p:nvSpPr>
        <p:spPr>
          <a:xfrm>
            <a:off x="6259830" y="1789430"/>
            <a:ext cx="394970" cy="1753235"/>
          </a:xfrm>
          <a:prstGeom prst="rect">
            <a:avLst/>
          </a:prstGeom>
          <a:noFill/>
        </p:spPr>
        <p:txBody>
          <a:bodyPr wrap="square" rtlCol="0" anchor="t">
            <a:spAutoFit/>
          </a:bodyPr>
          <a:p>
            <a:pPr algn="l">
              <a:buClrTx/>
              <a:buSzTx/>
              <a:buFontTx/>
            </a:pPr>
            <a:r>
              <a:rPr lang="zh-CN" altLang="en-US" b="1" dirty="0">
                <a:solidFill>
                  <a:srgbClr val="002060"/>
                </a:solidFill>
                <a:latin typeface="微软雅黑" panose="020B0503020204020204" pitchFamily="34" charset="-122"/>
                <a:ea typeface="微软雅黑" panose="020B0503020204020204" pitchFamily="34" charset="-122"/>
                <a:sym typeface="+mn-ea"/>
              </a:rPr>
              <a:t>主成分蜂群图</a:t>
            </a:r>
            <a:endParaRPr lang="zh-CN" altLang="en-US" b="1" dirty="0">
              <a:solidFill>
                <a:srgbClr val="002060"/>
              </a:solidFill>
              <a:latin typeface="微软雅黑" panose="020B0503020204020204" pitchFamily="34" charset="-122"/>
              <a:ea typeface="微软雅黑" panose="020B0503020204020204" pitchFamily="34" charset="-122"/>
              <a:sym typeface="+mn-ea"/>
            </a:endParaRPr>
          </a:p>
        </p:txBody>
      </p:sp>
      <p:pic>
        <p:nvPicPr>
          <p:cNvPr id="9" name="图片 8"/>
          <p:cNvPicPr>
            <a:picLocks noChangeAspect="1"/>
          </p:cNvPicPr>
          <p:nvPr/>
        </p:nvPicPr>
        <p:blipFill>
          <a:blip r:embed="rId6"/>
          <a:stretch>
            <a:fillRect/>
          </a:stretch>
        </p:blipFill>
        <p:spPr>
          <a:xfrm>
            <a:off x="1052830" y="4164965"/>
            <a:ext cx="4927600" cy="2329815"/>
          </a:xfrm>
          <a:prstGeom prst="rect">
            <a:avLst/>
          </a:prstGeom>
        </p:spPr>
      </p:pic>
      <p:pic>
        <p:nvPicPr>
          <p:cNvPr id="12" name="图片 11"/>
          <p:cNvPicPr>
            <a:picLocks noChangeAspect="1"/>
          </p:cNvPicPr>
          <p:nvPr/>
        </p:nvPicPr>
        <p:blipFill>
          <a:blip r:embed="rId7"/>
          <a:stretch>
            <a:fillRect/>
          </a:stretch>
        </p:blipFill>
        <p:spPr>
          <a:xfrm>
            <a:off x="6654800" y="4098925"/>
            <a:ext cx="5182870" cy="2571115"/>
          </a:xfrm>
          <a:prstGeom prst="rect">
            <a:avLst/>
          </a:prstGeom>
        </p:spPr>
      </p:pic>
      <p:sp>
        <p:nvSpPr>
          <p:cNvPr id="16" name="文本框 15"/>
          <p:cNvSpPr txBox="1"/>
          <p:nvPr/>
        </p:nvSpPr>
        <p:spPr>
          <a:xfrm>
            <a:off x="6259830" y="4314825"/>
            <a:ext cx="234315" cy="2030095"/>
          </a:xfrm>
          <a:prstGeom prst="rect">
            <a:avLst/>
          </a:prstGeom>
          <a:noFill/>
        </p:spPr>
        <p:txBody>
          <a:bodyPr wrap="square" rtlCol="0" anchor="t">
            <a:spAutoFit/>
          </a:bodyPr>
          <a:p>
            <a:pPr algn="l">
              <a:buClrTx/>
              <a:buSzTx/>
              <a:buFontTx/>
            </a:pPr>
            <a:r>
              <a:rPr lang="zh-CN" altLang="en-US" b="1" dirty="0">
                <a:solidFill>
                  <a:srgbClr val="002060"/>
                </a:solidFill>
                <a:latin typeface="微软雅黑" panose="020B0503020204020204" pitchFamily="34" charset="-122"/>
                <a:ea typeface="微软雅黑" panose="020B0503020204020204" pitchFamily="34" charset="-122"/>
                <a:sym typeface="+mn-ea"/>
              </a:rPr>
              <a:t>解释变量蜂群图</a:t>
            </a:r>
            <a:endParaRPr lang="zh-CN" altLang="en-US" b="1" dirty="0">
              <a:solidFill>
                <a:srgbClr val="002060"/>
              </a:solidFill>
              <a:latin typeface="微软雅黑" panose="020B0503020204020204" pitchFamily="34" charset="-122"/>
              <a:ea typeface="微软雅黑" panose="020B0503020204020204" pitchFamily="34" charset="-122"/>
              <a:sym typeface="+mn-ea"/>
            </a:endParaRPr>
          </a:p>
        </p:txBody>
      </p:sp>
      <p:sp>
        <p:nvSpPr>
          <p:cNvPr id="17" name="文本框 16"/>
          <p:cNvSpPr txBox="1"/>
          <p:nvPr/>
        </p:nvSpPr>
        <p:spPr>
          <a:xfrm>
            <a:off x="406400" y="3999865"/>
            <a:ext cx="297180" cy="2553335"/>
          </a:xfrm>
          <a:prstGeom prst="rect">
            <a:avLst/>
          </a:prstGeom>
          <a:noFill/>
        </p:spPr>
        <p:txBody>
          <a:bodyPr wrap="square" rtlCol="0" anchor="t">
            <a:spAutoFit/>
          </a:bodyPr>
          <a:p>
            <a:pPr algn="l">
              <a:buClrTx/>
              <a:buSzTx/>
              <a:buFontTx/>
            </a:pPr>
            <a:r>
              <a:rPr lang="zh-CN" altLang="en-US" sz="1600" b="1" dirty="0">
                <a:solidFill>
                  <a:srgbClr val="002060"/>
                </a:solidFill>
                <a:latin typeface="微软雅黑" panose="020B0503020204020204" pitchFamily="34" charset="-122"/>
                <a:ea typeface="微软雅黑" panose="020B0503020204020204" pitchFamily="34" charset="-122"/>
                <a:sym typeface="+mn-ea"/>
              </a:rPr>
              <a:t>解释变量特征重要性图</a:t>
            </a:r>
            <a:endParaRPr lang="zh-CN" altLang="en-US" sz="1600" b="1" dirty="0">
              <a:solidFill>
                <a:srgbClr val="00206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8300"/>
          </a:xfrm>
          <a:prstGeom prst="rect">
            <a:avLst/>
          </a:prstGeom>
          <a:noFill/>
        </p:spPr>
        <p:txBody>
          <a:bodyPr wrap="square" rtlCol="0">
            <a:spAutoFit/>
          </a:bodyPr>
          <a:lstStyle/>
          <a:p>
            <a:r>
              <a:rPr lang="zh-CN" altLang="en-US" dirty="0">
                <a:solidFill>
                  <a:schemeClr val="tx1">
                    <a:lumMod val="65000"/>
                    <a:lumOff val="35000"/>
                  </a:schemeClr>
                </a:solidFill>
                <a:latin typeface="Times New Roman" panose="02020603050405020304" pitchFamily="18" charset="0"/>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Times New Roman" panose="02020603050405020304" pitchFamily="18" charset="0"/>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Times New Roman" panose="02020603050405020304" pitchFamily="18" charset="0"/>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rPr>
                  <a:t>项目管理</a:t>
                </a:r>
                <a:endPar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7" name="组合 14"/>
          <p:cNvGrpSpPr/>
          <p:nvPr/>
        </p:nvGrpSpPr>
        <p:grpSpPr>
          <a:xfrm rot="0">
            <a:off x="205105" y="81915"/>
            <a:ext cx="1927225" cy="591185"/>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109" name="矩形 15"/>
          <p:cNvSpPr/>
          <p:nvPr/>
        </p:nvSpPr>
        <p:spPr>
          <a:xfrm>
            <a:off x="834953" y="471379"/>
            <a:ext cx="1369516" cy="176699"/>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宋体" panose="02010600030101010101" pitchFamily="2" charset="-122"/>
              </a:rPr>
              <a:t>WUHAN UNIVERSITY</a:t>
            </a:r>
            <a:endParaRPr lang="en-US" altLang="zh-CN" sz="900" b="1" dirty="0">
              <a:solidFill>
                <a:prstClr val="black"/>
              </a:solidFill>
              <a:latin typeface="Calibri" panose="020F0502020204030204"/>
              <a:ea typeface="宋体" panose="02010600030101010101" pitchFamily="2" charset="-122"/>
            </a:endParaRPr>
          </a:p>
        </p:txBody>
      </p:sp>
      <p:sp>
        <p:nvSpPr>
          <p:cNvPr id="2" name="ïṣ1ïḑê"/>
          <p:cNvSpPr>
            <a:spLocks noGrp="1"/>
          </p:cNvSpPr>
          <p:nvPr/>
        </p:nvSpPr>
        <p:spPr>
          <a:xfrm>
            <a:off x="205105" y="1141730"/>
            <a:ext cx="10850880" cy="71247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rPr>
              <a:t>2.5 </a:t>
            </a:r>
            <a:r>
              <a:rPr lang="zh-CN" altLang="en-US" dirty="0">
                <a:solidFill>
                  <a:srgbClr val="005825"/>
                </a:solidFill>
              </a:rPr>
              <a:t>可解释机器学习方法</a:t>
            </a:r>
            <a:r>
              <a:rPr lang="en-US" altLang="zh-CN" dirty="0">
                <a:solidFill>
                  <a:srgbClr val="005825"/>
                </a:solidFill>
              </a:rPr>
              <a:t>|</a:t>
            </a:r>
            <a:r>
              <a:rPr lang="en-US" altLang="zh-CN" dirty="0">
                <a:solidFill>
                  <a:schemeClr val="tx1"/>
                </a:solidFill>
                <a:sym typeface="+mn-ea"/>
              </a:rPr>
              <a:t>PCA</a:t>
            </a:r>
            <a:r>
              <a:rPr lang="zh-CN" altLang="en-US" dirty="0">
                <a:solidFill>
                  <a:schemeClr val="tx1"/>
                </a:solidFill>
                <a:sym typeface="+mn-ea"/>
              </a:rPr>
              <a:t>-</a:t>
            </a:r>
            <a:r>
              <a:rPr lang="en-US" altLang="zh-CN" dirty="0">
                <a:solidFill>
                  <a:schemeClr val="tx1"/>
                </a:solidFill>
                <a:sym typeface="+mn-ea"/>
              </a:rPr>
              <a:t>RF</a:t>
            </a:r>
            <a:r>
              <a:rPr lang="zh-CN" altLang="en-US" dirty="0">
                <a:solidFill>
                  <a:schemeClr val="tx1"/>
                </a:solidFill>
                <a:sym typeface="+mn-ea"/>
              </a:rPr>
              <a:t>模型与双变量交互</a:t>
            </a:r>
            <a:endParaRPr lang="zh-CN" altLang="en-US" dirty="0">
              <a:solidFill>
                <a:schemeClr val="tx1"/>
              </a:solidFill>
              <a:latin typeface="Times New Roman" panose="02020603050405020304" pitchFamily="18" charset="0"/>
              <a:cs typeface="Times New Roman" panose="02020603050405020304" pitchFamily="18" charset="0"/>
            </a:endParaRPr>
          </a:p>
          <a:p>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4"/>
          <a:stretch>
            <a:fillRect/>
          </a:stretch>
        </p:blipFill>
        <p:spPr>
          <a:xfrm>
            <a:off x="3830955" y="2434590"/>
            <a:ext cx="8065135" cy="3881755"/>
          </a:xfrm>
          <a:prstGeom prst="rect">
            <a:avLst/>
          </a:prstGeom>
        </p:spPr>
      </p:pic>
      <p:pic>
        <p:nvPicPr>
          <p:cNvPr id="4" name="图片 3"/>
          <p:cNvPicPr>
            <a:picLocks noChangeAspect="1"/>
          </p:cNvPicPr>
          <p:nvPr/>
        </p:nvPicPr>
        <p:blipFill>
          <a:blip r:embed="rId5"/>
          <a:srcRect r="49040"/>
          <a:stretch>
            <a:fillRect/>
          </a:stretch>
        </p:blipFill>
        <p:spPr>
          <a:xfrm>
            <a:off x="711200" y="1507490"/>
            <a:ext cx="3119755" cy="2525395"/>
          </a:xfrm>
          <a:prstGeom prst="rect">
            <a:avLst/>
          </a:prstGeom>
        </p:spPr>
      </p:pic>
      <p:pic>
        <p:nvPicPr>
          <p:cNvPr id="5" name="图片 4"/>
          <p:cNvPicPr>
            <a:picLocks noChangeAspect="1"/>
          </p:cNvPicPr>
          <p:nvPr/>
        </p:nvPicPr>
        <p:blipFill>
          <a:blip r:embed="rId5"/>
          <a:srcRect l="54750" t="6041"/>
          <a:stretch>
            <a:fillRect/>
          </a:stretch>
        </p:blipFill>
        <p:spPr>
          <a:xfrm>
            <a:off x="765810" y="4243070"/>
            <a:ext cx="2871470" cy="2459355"/>
          </a:xfrm>
          <a:prstGeom prst="rect">
            <a:avLst/>
          </a:prstGeom>
        </p:spPr>
      </p:pic>
      <p:sp>
        <p:nvSpPr>
          <p:cNvPr id="24" name="文本框 23"/>
          <p:cNvSpPr txBox="1"/>
          <p:nvPr/>
        </p:nvSpPr>
        <p:spPr>
          <a:xfrm>
            <a:off x="8799195" y="1684020"/>
            <a:ext cx="1940560" cy="368300"/>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双变量交互</a:t>
            </a:r>
            <a:r>
              <a:rPr lang="zh-CN" altLang="en-US" b="1" dirty="0">
                <a:latin typeface="微软雅黑" panose="020B0503020204020204" pitchFamily="34" charset="-122"/>
                <a:ea typeface="微软雅黑" panose="020B0503020204020204" pitchFamily="34" charset="-122"/>
              </a:rPr>
              <a:t>分析</a:t>
            </a:r>
            <a:endParaRPr lang="zh-CN" altLang="en-US" b="1" dirty="0">
              <a:latin typeface="微软雅黑" panose="020B0503020204020204" pitchFamily="34" charset="-122"/>
              <a:ea typeface="微软雅黑" panose="020B0503020204020204" pitchFamily="34" charset="-122"/>
            </a:endParaRPr>
          </a:p>
        </p:txBody>
      </p:sp>
      <p:sp>
        <p:nvSpPr>
          <p:cNvPr id="32" name="文本框 31"/>
          <p:cNvSpPr txBox="1"/>
          <p:nvPr/>
        </p:nvSpPr>
        <p:spPr>
          <a:xfrm>
            <a:off x="4417060" y="1606550"/>
            <a:ext cx="3155315" cy="523240"/>
          </a:xfrm>
          <a:prstGeom prst="rect">
            <a:avLst/>
          </a:prstGeom>
          <a:noFill/>
        </p:spPr>
        <p:txBody>
          <a:bodyPr wrap="square" rtlCol="0">
            <a:noAutofit/>
          </a:bodyPr>
          <a:lstStyle/>
          <a:p>
            <a:pPr algn="ctr">
              <a:lnSpc>
                <a:spcPct val="150000"/>
              </a:lnSpc>
            </a:pPr>
            <a:r>
              <a:rPr lang="zh-CN" altLang="en-US" b="1" dirty="0">
                <a:solidFill>
                  <a:srgbClr val="000000"/>
                </a:solidFill>
                <a:latin typeface="微软雅黑" panose="020B0503020204020204" pitchFamily="34" charset="-122"/>
                <a:ea typeface="微软雅黑" panose="020B0503020204020204" pitchFamily="34" charset="-122"/>
              </a:rPr>
              <a:t>各类指标对交通拥堵影响</a:t>
            </a:r>
            <a:endParaRPr lang="zh-CN" altLang="en-US" b="1" dirty="0">
              <a:solidFill>
                <a:srgbClr val="000000"/>
              </a:solidFill>
              <a:latin typeface="微软雅黑" panose="020B0503020204020204" pitchFamily="34" charset="-122"/>
              <a:ea typeface="微软雅黑" panose="020B0503020204020204" pitchFamily="34" charset="-122"/>
            </a:endParaRPr>
          </a:p>
        </p:txBody>
      </p:sp>
      <p:sp>
        <p:nvSpPr>
          <p:cNvPr id="15" name="箭头: 上 6"/>
          <p:cNvSpPr/>
          <p:nvPr/>
        </p:nvSpPr>
        <p:spPr>
          <a:xfrm rot="16200000">
            <a:off x="3953476" y="1584960"/>
            <a:ext cx="502920" cy="586740"/>
          </a:xfrm>
          <a:prstGeom prst="up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上 6"/>
          <p:cNvSpPr/>
          <p:nvPr/>
        </p:nvSpPr>
        <p:spPr>
          <a:xfrm rot="10800000">
            <a:off x="8234646" y="1606550"/>
            <a:ext cx="502920" cy="586740"/>
          </a:xfrm>
          <a:prstGeom prst="up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8300"/>
          </a:xfrm>
          <a:prstGeom prst="rect">
            <a:avLst/>
          </a:prstGeom>
          <a:noFill/>
        </p:spPr>
        <p:txBody>
          <a:bodyPr wrap="square" rtlCol="0">
            <a:spAutoFit/>
          </a:bodyPr>
          <a:lstStyle/>
          <a:p>
            <a:r>
              <a:rPr lang="zh-CN" altLang="en-US" dirty="0">
                <a:solidFill>
                  <a:schemeClr val="tx1">
                    <a:lumMod val="65000"/>
                    <a:lumOff val="35000"/>
                  </a:schemeClr>
                </a:solidFill>
                <a:latin typeface="Times New Roman" panose="02020603050405020304" pitchFamily="18" charset="0"/>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Times New Roman" panose="02020603050405020304" pitchFamily="18" charset="0"/>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Times New Roman" panose="02020603050405020304" pitchFamily="18" charset="0"/>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rPr>
                  <a:t>项目管理</a:t>
                </a:r>
                <a:endPar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7" name="组合 14"/>
          <p:cNvGrpSpPr/>
          <p:nvPr/>
        </p:nvGrpSpPr>
        <p:grpSpPr>
          <a:xfrm rot="0">
            <a:off x="205105" y="81915"/>
            <a:ext cx="1927225" cy="591185"/>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109" name="矩形 15"/>
          <p:cNvSpPr/>
          <p:nvPr/>
        </p:nvSpPr>
        <p:spPr>
          <a:xfrm>
            <a:off x="834953" y="471379"/>
            <a:ext cx="1369516" cy="176699"/>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宋体" panose="02010600030101010101" pitchFamily="2" charset="-122"/>
              </a:rPr>
              <a:t>WUHAN UNIVERSITY</a:t>
            </a:r>
            <a:endParaRPr lang="en-US" altLang="zh-CN" sz="900" b="1" dirty="0">
              <a:solidFill>
                <a:prstClr val="black"/>
              </a:solidFill>
              <a:latin typeface="Calibri" panose="020F0502020204030204"/>
              <a:ea typeface="宋体" panose="02010600030101010101" pitchFamily="2" charset="-122"/>
            </a:endParaRPr>
          </a:p>
        </p:txBody>
      </p:sp>
      <p:sp>
        <p:nvSpPr>
          <p:cNvPr id="2" name="ïṣ1ïḑê"/>
          <p:cNvSpPr>
            <a:spLocks noGrp="1"/>
          </p:cNvSpPr>
          <p:nvPr/>
        </p:nvSpPr>
        <p:spPr>
          <a:xfrm>
            <a:off x="568960" y="1109980"/>
            <a:ext cx="10850880" cy="71247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rPr>
              <a:t>2.5 </a:t>
            </a:r>
            <a:r>
              <a:rPr lang="zh-CN" altLang="en-US" dirty="0">
                <a:solidFill>
                  <a:srgbClr val="005825"/>
                </a:solidFill>
              </a:rPr>
              <a:t>可解释机器学习方法</a:t>
            </a:r>
            <a:r>
              <a:rPr lang="en-US" altLang="zh-CN" dirty="0">
                <a:solidFill>
                  <a:srgbClr val="005825"/>
                </a:solidFill>
              </a:rPr>
              <a:t>|</a:t>
            </a:r>
            <a:r>
              <a:rPr lang="en-US" altLang="zh-CN" dirty="0">
                <a:solidFill>
                  <a:schemeClr val="tx1"/>
                </a:solidFill>
                <a:latin typeface="微软雅黑" panose="020B0503020204020204" pitchFamily="34" charset="-122"/>
              </a:rPr>
              <a:t>PCA-GWRT</a:t>
            </a:r>
            <a:r>
              <a:rPr lang="zh-CN" altLang="en-US" dirty="0">
                <a:solidFill>
                  <a:schemeClr val="tx1"/>
                </a:solidFill>
                <a:latin typeface="微软雅黑" panose="020B0503020204020204" pitchFamily="34" charset="-122"/>
              </a:rPr>
              <a:t>模型</a:t>
            </a:r>
            <a:endParaRPr lang="zh-CN" altLang="en-US" dirty="0">
              <a:solidFill>
                <a:schemeClr val="tx1"/>
              </a:solidFill>
              <a:latin typeface="Times New Roman" panose="02020603050405020304" pitchFamily="18" charset="0"/>
              <a:cs typeface="Times New Roman" panose="02020603050405020304" pitchFamily="18" charset="0"/>
            </a:endParaRPr>
          </a:p>
          <a:p>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8" name="图片 7"/>
          <p:cNvPicPr>
            <a:picLocks noChangeAspect="1"/>
          </p:cNvPicPr>
          <p:nvPr/>
        </p:nvPicPr>
        <p:blipFill>
          <a:blip r:embed="rId4"/>
          <a:srcRect r="44612"/>
          <a:stretch>
            <a:fillRect/>
          </a:stretch>
        </p:blipFill>
        <p:spPr>
          <a:xfrm>
            <a:off x="568960" y="1489075"/>
            <a:ext cx="5357495" cy="4441825"/>
          </a:xfrm>
          <a:prstGeom prst="rect">
            <a:avLst/>
          </a:prstGeom>
        </p:spPr>
      </p:pic>
      <p:pic>
        <p:nvPicPr>
          <p:cNvPr id="10" name="图片 9"/>
          <p:cNvPicPr>
            <a:picLocks noChangeAspect="1"/>
          </p:cNvPicPr>
          <p:nvPr/>
        </p:nvPicPr>
        <p:blipFill>
          <a:blip r:embed="rId5"/>
          <a:srcRect r="43293" b="12529"/>
          <a:stretch>
            <a:fillRect/>
          </a:stretch>
        </p:blipFill>
        <p:spPr>
          <a:xfrm>
            <a:off x="6116955" y="1400175"/>
            <a:ext cx="5788025" cy="4530725"/>
          </a:xfrm>
          <a:prstGeom prst="rect">
            <a:avLst/>
          </a:prstGeom>
        </p:spPr>
      </p:pic>
      <p:sp>
        <p:nvSpPr>
          <p:cNvPr id="60" name="文本框 59"/>
          <p:cNvSpPr txBox="1"/>
          <p:nvPr/>
        </p:nvSpPr>
        <p:spPr>
          <a:xfrm>
            <a:off x="400050" y="6058535"/>
            <a:ext cx="11504930" cy="368300"/>
          </a:xfrm>
          <a:prstGeom prst="rect">
            <a:avLst/>
          </a:prstGeom>
          <a:noFill/>
        </p:spPr>
        <p:txBody>
          <a:bodyPr wrap="square">
            <a:spAutoFit/>
          </a:bodyPr>
          <a:lstStyle/>
          <a:p>
            <a:pPr marL="285750" indent="-285750">
              <a:spcAft>
                <a:spcPts val="600"/>
              </a:spcAft>
              <a:buFont typeface="Wingdings" panose="05000000000000000000" pitchFamily="2" charset="2"/>
              <a:buChar char="p"/>
            </a:pPr>
            <a:r>
              <a:rPr lang="zh-CN" altLang="en-US" dirty="0">
                <a:latin typeface="微软雅黑" panose="020B0503020204020204" pitchFamily="34" charset="-122"/>
                <a:ea typeface="微软雅黑" panose="020B0503020204020204" pitchFamily="34" charset="-122"/>
              </a:rPr>
              <a:t>周末早晚高峰与工作日晚高峰的可视化结果较为相似，但各指标与交通拥堵指数</a:t>
            </a:r>
            <a:r>
              <a:rPr lang="zh-CN" altLang="en-US" b="1" dirty="0">
                <a:latin typeface="微软雅黑" panose="020B0503020204020204" pitchFamily="34" charset="-122"/>
                <a:ea typeface="微软雅黑" panose="020B0503020204020204" pitchFamily="34" charset="-122"/>
              </a:rPr>
              <a:t>正相关</a:t>
            </a:r>
            <a:r>
              <a:rPr lang="zh-CN" altLang="en-US" dirty="0">
                <a:latin typeface="微软雅黑" panose="020B0503020204020204" pitchFamily="34" charset="-122"/>
                <a:ea typeface="微软雅黑" panose="020B0503020204020204" pitchFamily="34" charset="-122"/>
              </a:rPr>
              <a:t>的</a:t>
            </a:r>
            <a:r>
              <a:rPr lang="zh-CN" altLang="en-US" b="1" dirty="0">
                <a:latin typeface="微软雅黑" panose="020B0503020204020204" pitchFamily="34" charset="-122"/>
                <a:ea typeface="微软雅黑" panose="020B0503020204020204" pitchFamily="34" charset="-122"/>
              </a:rPr>
              <a:t>小区数量</a:t>
            </a:r>
            <a:r>
              <a:rPr lang="zh-CN" altLang="en-US" b="1" dirty="0">
                <a:solidFill>
                  <a:srgbClr val="C00000"/>
                </a:solidFill>
                <a:latin typeface="微软雅黑" panose="020B0503020204020204" pitchFamily="34" charset="-122"/>
                <a:ea typeface="微软雅黑" panose="020B0503020204020204" pitchFamily="34" charset="-122"/>
              </a:rPr>
              <a:t>明显减少</a:t>
            </a:r>
            <a:r>
              <a:rPr lang="zh-CN" altLang="en-US" b="1"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8300"/>
          </a:xfrm>
          <a:prstGeom prst="rect">
            <a:avLst/>
          </a:prstGeom>
          <a:noFill/>
        </p:spPr>
        <p:txBody>
          <a:bodyPr wrap="square" rtlCol="0">
            <a:spAutoFit/>
          </a:bodyPr>
          <a:lstStyle/>
          <a:p>
            <a:r>
              <a:rPr lang="zh-CN" altLang="en-US" dirty="0">
                <a:solidFill>
                  <a:schemeClr val="tx1">
                    <a:lumMod val="65000"/>
                    <a:lumOff val="35000"/>
                  </a:schemeClr>
                </a:solidFill>
                <a:latin typeface="Times New Roman" panose="02020603050405020304" pitchFamily="18" charset="0"/>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4529489" y="-59933"/>
                <a:ext cx="242760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ea typeface="微软雅黑" panose="020B0503020204020204" pitchFamily="34" charset="-122"/>
                  <a:cs typeface="Times New Roman" panose="02020603050405020304" pitchFamily="18" charset="0"/>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sp>
            <p:nvSpPr>
              <p:cNvPr id="590" name="文本框 58"/>
              <p:cNvSpPr txBox="1"/>
              <p:nvPr/>
            </p:nvSpPr>
            <p:spPr>
              <a:xfrm>
                <a:off x="4984149" y="50595"/>
                <a:ext cx="1771650" cy="521970"/>
              </a:xfrm>
              <a:prstGeom prst="rect">
                <a:avLst/>
              </a:prstGeom>
              <a:noFill/>
            </p:spPr>
            <p:txBody>
              <a:bodyPr wrap="square" rtlCol="0">
                <a:spAutoFit/>
              </a:bodyPr>
              <a:lstStyle/>
              <a:p>
                <a:r>
                  <a:rPr lang="zh-CN" altLang="en-US" sz="2800" b="1" dirty="0">
                    <a:solidFill>
                      <a:schemeClr val="bg1"/>
                    </a:solidFill>
                    <a:latin typeface="Times New Roman" panose="02020603050405020304" pitchFamily="18" charset="0"/>
                    <a:ea typeface="微软雅黑" panose="020B0503020204020204" pitchFamily="34" charset="-122"/>
                    <a:sym typeface="微软雅黑" panose="020B0503020204020204" pitchFamily="34" charset="-122"/>
                  </a:rPr>
                  <a:t>项目方案</a:t>
                </a:r>
                <a:endParaRPr lang="zh-CN" altLang="en-US" sz="2800" b="1" dirty="0">
                  <a:solidFill>
                    <a:schemeClr val="bg1"/>
                  </a:solidFill>
                  <a:latin typeface="Times New Roman" panose="02020603050405020304" pitchFamily="18" charset="0"/>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rPr>
                  <a:t>项目管理</a:t>
                </a:r>
                <a:endPar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Times New Roman" panose="02020603050405020304" pitchFamily="18" charset="0"/>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7" name="组合 14"/>
          <p:cNvGrpSpPr/>
          <p:nvPr/>
        </p:nvGrpSpPr>
        <p:grpSpPr>
          <a:xfrm rot="0">
            <a:off x="205105" y="81915"/>
            <a:ext cx="1927225" cy="591185"/>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109" name="矩形 15"/>
          <p:cNvSpPr/>
          <p:nvPr/>
        </p:nvSpPr>
        <p:spPr>
          <a:xfrm>
            <a:off x="834953" y="471379"/>
            <a:ext cx="1369516" cy="176699"/>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宋体" panose="02010600030101010101" pitchFamily="2" charset="-122"/>
              </a:rPr>
              <a:t>WUHAN UNIVERSITY</a:t>
            </a:r>
            <a:endParaRPr lang="en-US" altLang="zh-CN" sz="900" b="1" dirty="0">
              <a:solidFill>
                <a:prstClr val="black"/>
              </a:solidFill>
              <a:latin typeface="Calibri" panose="020F0502020204030204"/>
              <a:ea typeface="宋体" panose="02010600030101010101" pitchFamily="2" charset="-122"/>
            </a:endParaRPr>
          </a:p>
        </p:txBody>
      </p:sp>
      <p:sp>
        <p:nvSpPr>
          <p:cNvPr id="2" name="ïṣ1ïḑê"/>
          <p:cNvSpPr>
            <a:spLocks noGrp="1"/>
          </p:cNvSpPr>
          <p:nvPr/>
        </p:nvSpPr>
        <p:spPr>
          <a:xfrm>
            <a:off x="205105" y="1087120"/>
            <a:ext cx="10850880" cy="71247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rPr>
              <a:t>2.6 </a:t>
            </a:r>
            <a:r>
              <a:rPr lang="zh-CN" altLang="en-US" dirty="0">
                <a:solidFill>
                  <a:srgbClr val="005825"/>
                </a:solidFill>
              </a:rPr>
              <a:t>亲和传播聚类</a:t>
            </a:r>
            <a:endParaRPr lang="zh-CN" altLang="en-US" dirty="0">
              <a:solidFill>
                <a:schemeClr val="tx1"/>
              </a:solidFill>
              <a:latin typeface="Times New Roman" panose="02020603050405020304" pitchFamily="18" charset="0"/>
              <a:cs typeface="Times New Roman" panose="02020603050405020304" pitchFamily="18" charset="0"/>
            </a:endParaRPr>
          </a:p>
          <a:p>
            <a:endParaRPr lang="zh-CN" altLang="en-US" dirty="0">
              <a:solidFill>
                <a:schemeClr val="tx1"/>
              </a:solidFill>
              <a:latin typeface="Times New Roman" panose="02020603050405020304" pitchFamily="18" charset="0"/>
              <a:cs typeface="Times New Roman" panose="02020603050405020304" pitchFamily="18" charset="0"/>
            </a:endParaRPr>
          </a:p>
        </p:txBody>
      </p:sp>
      <p:pic>
        <p:nvPicPr>
          <p:cNvPr id="1" name="图片 0"/>
          <p:cNvPicPr>
            <a:picLocks noChangeAspect="1"/>
          </p:cNvPicPr>
          <p:nvPr/>
        </p:nvPicPr>
        <p:blipFill>
          <a:blip r:embed="rId4"/>
          <a:stretch>
            <a:fillRect/>
          </a:stretch>
        </p:blipFill>
        <p:spPr>
          <a:xfrm>
            <a:off x="2921000" y="1651635"/>
            <a:ext cx="4295775" cy="2105660"/>
          </a:xfrm>
          <a:prstGeom prst="rect">
            <a:avLst/>
          </a:prstGeom>
        </p:spPr>
      </p:pic>
      <p:pic>
        <p:nvPicPr>
          <p:cNvPr id="6" name="图片 5"/>
          <p:cNvPicPr>
            <a:picLocks noChangeAspect="1"/>
          </p:cNvPicPr>
          <p:nvPr/>
        </p:nvPicPr>
        <p:blipFill>
          <a:blip r:embed="rId5"/>
          <a:stretch>
            <a:fillRect/>
          </a:stretch>
        </p:blipFill>
        <p:spPr>
          <a:xfrm>
            <a:off x="7548880" y="1593850"/>
            <a:ext cx="4439920" cy="2163445"/>
          </a:xfrm>
          <a:prstGeom prst="rect">
            <a:avLst/>
          </a:prstGeom>
        </p:spPr>
      </p:pic>
      <p:pic>
        <p:nvPicPr>
          <p:cNvPr id="7" name="图片 6"/>
          <p:cNvPicPr>
            <a:picLocks noChangeAspect="1"/>
          </p:cNvPicPr>
          <p:nvPr/>
        </p:nvPicPr>
        <p:blipFill>
          <a:blip r:embed="rId6"/>
          <a:stretch>
            <a:fillRect/>
          </a:stretch>
        </p:blipFill>
        <p:spPr>
          <a:xfrm>
            <a:off x="2847340" y="4088765"/>
            <a:ext cx="4443095" cy="2138680"/>
          </a:xfrm>
          <a:prstGeom prst="rect">
            <a:avLst/>
          </a:prstGeom>
        </p:spPr>
      </p:pic>
      <p:pic>
        <p:nvPicPr>
          <p:cNvPr id="8" name="图片 7"/>
          <p:cNvPicPr>
            <a:picLocks noChangeAspect="1"/>
          </p:cNvPicPr>
          <p:nvPr/>
        </p:nvPicPr>
        <p:blipFill>
          <a:blip r:embed="rId7"/>
          <a:srcRect t="3341"/>
          <a:stretch>
            <a:fillRect/>
          </a:stretch>
        </p:blipFill>
        <p:spPr>
          <a:xfrm>
            <a:off x="7425690" y="4089400"/>
            <a:ext cx="4558665" cy="2138045"/>
          </a:xfrm>
          <a:prstGeom prst="rect">
            <a:avLst/>
          </a:prstGeom>
        </p:spPr>
      </p:pic>
      <p:sp>
        <p:nvSpPr>
          <p:cNvPr id="9" name="文本框 8"/>
          <p:cNvSpPr txBox="1"/>
          <p:nvPr/>
        </p:nvSpPr>
        <p:spPr>
          <a:xfrm>
            <a:off x="43180" y="1704975"/>
            <a:ext cx="2715260" cy="4523105"/>
          </a:xfrm>
          <a:prstGeom prst="rect">
            <a:avLst/>
          </a:prstGeom>
          <a:noFill/>
        </p:spPr>
        <p:txBody>
          <a:bodyPr wrap="square">
            <a:spAutoFit/>
          </a:bodyPr>
          <a:lstStyle/>
          <a:p>
            <a:pPr marL="285750" indent="-285750">
              <a:buFont typeface="Wingdings" panose="05000000000000000000" pitchFamily="2" charset="2"/>
              <a:buChar char="p"/>
            </a:pPr>
            <a:r>
              <a:rPr lang="zh-CN" altLang="en-US" sz="1600" b="0" i="0" dirty="0">
                <a:effectLst/>
                <a:latin typeface="微软雅黑" panose="020B0503020204020204" pitchFamily="34" charset="-122"/>
                <a:ea typeface="微软雅黑" panose="020B0503020204020204" pitchFamily="34" charset="-122"/>
                <a:cs typeface="微软雅黑" panose="020B0503020204020204" pitchFamily="34" charset="-122"/>
              </a:rPr>
              <a:t>亲和力传播聚类（</a:t>
            </a:r>
            <a:r>
              <a:rPr lang="en-US" altLang="zh-CN" sz="1600" b="0" i="0" dirty="0">
                <a:effectLst/>
                <a:latin typeface="微软雅黑" panose="020B0503020204020204" pitchFamily="34" charset="-122"/>
                <a:ea typeface="微软雅黑" panose="020B0503020204020204" pitchFamily="34" charset="-122"/>
                <a:cs typeface="微软雅黑" panose="020B0503020204020204" pitchFamily="34" charset="-122"/>
              </a:rPr>
              <a:t>Affinity Propagation Clustering</a:t>
            </a:r>
            <a:r>
              <a:rPr lang="zh-CN" altLang="en-US" sz="1600" b="0" i="0" dirty="0">
                <a:effectLst/>
                <a:latin typeface="微软雅黑" panose="020B0503020204020204" pitchFamily="34" charset="-122"/>
                <a:ea typeface="微软雅黑" panose="020B0503020204020204" pitchFamily="34" charset="-122"/>
                <a:cs typeface="微软雅黑" panose="020B0503020204020204" pitchFamily="34" charset="-122"/>
              </a:rPr>
              <a:t>）是一种基于数据点之间信息传递的聚类算法。其特点是不需要预先指定聚类的数量，而是通过数据点之间的相似性和偏好值来确定聚类的中心和数量。算法通过迭代更新消息，直到确定稳定的聚类中心。</a:t>
            </a:r>
            <a:endParaRPr lang="en-US" altLang="zh-CN" sz="1600" b="0" i="0" dirty="0">
              <a:effectLst/>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buFont typeface="Wingdings" panose="05000000000000000000" pitchFamily="2" charset="2"/>
              <a:buChar char="p"/>
            </a:pPr>
            <a:r>
              <a:rPr lang="zh-CN" altLang="en-US" sz="1600" b="0" i="0" dirty="0">
                <a:effectLst/>
                <a:latin typeface="微软雅黑" panose="020B0503020204020204" pitchFamily="34" charset="-122"/>
                <a:ea typeface="微软雅黑" panose="020B0503020204020204" pitchFamily="34" charset="-122"/>
                <a:cs typeface="微软雅黑" panose="020B0503020204020204" pitchFamily="34" charset="-122"/>
              </a:rPr>
              <a:t>利用数据点（各交通小区所有主成分的</a:t>
            </a:r>
            <a:r>
              <a:rPr lang="en-US" altLang="zh-CN" sz="1600" b="0" i="0" dirty="0">
                <a:effectLst/>
                <a:latin typeface="微软雅黑" panose="020B0503020204020204" pitchFamily="34" charset="-122"/>
                <a:ea typeface="微软雅黑" panose="020B0503020204020204" pitchFamily="34" charset="-122"/>
                <a:cs typeface="微软雅黑" panose="020B0503020204020204" pitchFamily="34" charset="-122"/>
              </a:rPr>
              <a:t>SHAP</a:t>
            </a:r>
            <a:r>
              <a:rPr lang="zh-CN" altLang="en-US" sz="1600" b="0" i="0" dirty="0">
                <a:effectLst/>
                <a:latin typeface="微软雅黑" panose="020B0503020204020204" pitchFamily="34" charset="-122"/>
                <a:ea typeface="微软雅黑" panose="020B0503020204020204" pitchFamily="34" charset="-122"/>
                <a:cs typeface="微软雅黑" panose="020B0503020204020204" pitchFamily="34" charset="-122"/>
              </a:rPr>
              <a:t>值）之间欧氏距离的负数作为相似度，即距离越小，相似度越高。相似度矩阵中的最小值通常用作亲和力传播算法的偏好值。</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6946934" y="-59933"/>
                <a:ext cx="253682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项目管理</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宋体" panose="02010600030101010101" pitchFamily="2" charset="-122"/>
                </a:rPr>
                <a:t>WUHAN UNIVERSITY</a:t>
              </a:r>
              <a:endParaRPr lang="en-US" altLang="zh-CN" sz="900" b="1" dirty="0">
                <a:solidFill>
                  <a:prstClr val="black"/>
                </a:solidFill>
                <a:latin typeface="Calibri" panose="020F0502020204030204"/>
                <a:ea typeface="宋体" panose="02010600030101010101" pitchFamily="2" charset="-122"/>
              </a:endParaRPr>
            </a:p>
          </p:txBody>
        </p:sp>
      </p:grpSp>
      <p:graphicFrame>
        <p:nvGraphicFramePr>
          <p:cNvPr id="603" name="表格 3"/>
          <p:cNvGraphicFramePr/>
          <p:nvPr/>
        </p:nvGraphicFramePr>
        <p:xfrm>
          <a:off x="897890" y="1491615"/>
          <a:ext cx="10402570" cy="3623310"/>
        </p:xfrm>
        <a:graphic>
          <a:graphicData uri="http://schemas.openxmlformats.org/drawingml/2006/table">
            <a:tbl>
              <a:tblPr firstRow="1" bandRow="1">
                <a:tableStyleId>{5C22544A-7EE6-4342-B048-85BDC9FD1C3A}</a:tableStyleId>
              </a:tblPr>
              <a:tblGrid>
                <a:gridCol w="1264285"/>
                <a:gridCol w="1846580"/>
                <a:gridCol w="2353310"/>
                <a:gridCol w="4938395"/>
              </a:tblGrid>
              <a:tr h="603885">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职位</a:t>
                      </a:r>
                      <a:endParaRPr lang="zh-CN" altLang="en-US" sz="2000">
                        <a:solidFill>
                          <a:schemeClr val="tx1"/>
                        </a:solidFill>
                        <a:latin typeface="微软雅黑" panose="020B0503020204020204" pitchFamily="34" charset="-122"/>
                        <a:ea typeface="微软雅黑" panose="020B0503020204020204" pitchFamily="34" charset="-122"/>
                      </a:endParaRPr>
                    </a:p>
                  </a:txBody>
                  <a:tcPr>
                    <a:solidFill>
                      <a:schemeClr val="accent6">
                        <a:lumMod val="40000"/>
                        <a:lumOff val="60000"/>
                      </a:schemeClr>
                    </a:solidFill>
                  </a:tcPr>
                </a:tc>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姓名</a:t>
                      </a:r>
                      <a:endParaRPr lang="zh-CN" altLang="en-US" sz="2000">
                        <a:solidFill>
                          <a:schemeClr val="tx1"/>
                        </a:solidFill>
                        <a:latin typeface="微软雅黑" panose="020B0503020204020204" pitchFamily="34" charset="-122"/>
                        <a:ea typeface="微软雅黑" panose="020B0503020204020204" pitchFamily="34" charset="-122"/>
                      </a:endParaRPr>
                    </a:p>
                  </a:txBody>
                  <a:tcPr>
                    <a:solidFill>
                      <a:schemeClr val="accent6">
                        <a:lumMod val="40000"/>
                        <a:lumOff val="60000"/>
                      </a:schemeClr>
                    </a:solidFill>
                  </a:tcPr>
                </a:tc>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专业</a:t>
                      </a:r>
                      <a:endParaRPr lang="zh-CN" altLang="en-US" sz="2000">
                        <a:solidFill>
                          <a:schemeClr val="tx1"/>
                        </a:solidFill>
                        <a:latin typeface="微软雅黑" panose="020B0503020204020204" pitchFamily="34" charset="-122"/>
                        <a:ea typeface="微软雅黑" panose="020B0503020204020204" pitchFamily="34" charset="-122"/>
                      </a:endParaRPr>
                    </a:p>
                  </a:txBody>
                  <a:tcPr>
                    <a:solidFill>
                      <a:schemeClr val="accent6">
                        <a:lumMod val="40000"/>
                        <a:lumOff val="60000"/>
                      </a:schemeClr>
                    </a:solidFill>
                  </a:tcPr>
                </a:tc>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任务分工</a:t>
                      </a:r>
                      <a:endParaRPr lang="zh-CN" altLang="en-US" sz="2000">
                        <a:solidFill>
                          <a:schemeClr val="tx1"/>
                        </a:solidFill>
                        <a:latin typeface="微软雅黑" panose="020B0503020204020204" pitchFamily="34" charset="-122"/>
                        <a:ea typeface="微软雅黑" panose="020B0503020204020204" pitchFamily="34" charset="-122"/>
                      </a:endParaRPr>
                    </a:p>
                  </a:txBody>
                  <a:tcPr>
                    <a:solidFill>
                      <a:schemeClr val="accent6">
                        <a:lumMod val="40000"/>
                        <a:lumOff val="60000"/>
                      </a:schemeClr>
                    </a:solidFill>
                  </a:tcPr>
                </a:tc>
              </a:tr>
              <a:tr h="603885">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指导老师</a:t>
                      </a:r>
                      <a:endParaRPr lang="zh-CN" altLang="en-US" sz="2000">
                        <a:solidFill>
                          <a:schemeClr val="tx1"/>
                        </a:solidFill>
                        <a:latin typeface="微软雅黑" panose="020B0503020204020204" pitchFamily="34" charset="-122"/>
                        <a:ea typeface="微软雅黑" panose="020B0503020204020204" pitchFamily="34" charset="-122"/>
                      </a:endParaRPr>
                    </a:p>
                  </a:txBody>
                  <a:tcPr>
                    <a:solidFill>
                      <a:schemeClr val="accent6">
                        <a:lumMod val="20000"/>
                        <a:lumOff val="80000"/>
                      </a:schemeClr>
                    </a:solidFill>
                  </a:tcPr>
                </a:tc>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蔡忠亮</a:t>
                      </a:r>
                      <a:endParaRPr lang="zh-CN" altLang="en-US" sz="2000">
                        <a:solidFill>
                          <a:schemeClr val="tx1"/>
                        </a:solidFill>
                        <a:latin typeface="微软雅黑" panose="020B0503020204020204" pitchFamily="34" charset="-122"/>
                        <a:ea typeface="微软雅黑" panose="020B0503020204020204" pitchFamily="34" charset="-122"/>
                      </a:endParaRPr>
                    </a:p>
                  </a:txBody>
                  <a:tcPr>
                    <a:solidFill>
                      <a:schemeClr val="accent6">
                        <a:lumMod val="20000"/>
                        <a:lumOff val="80000"/>
                      </a:schemeClr>
                    </a:solidFill>
                  </a:tcPr>
                </a:tc>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资环学院</a:t>
                      </a:r>
                      <a:r>
                        <a:rPr lang="en-US" altLang="zh-CN"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教授</a:t>
                      </a:r>
                      <a:endPar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chemeClr val="accent6">
                        <a:lumMod val="20000"/>
                        <a:lumOff val="80000"/>
                      </a:schemeClr>
                    </a:solidFill>
                  </a:tcPr>
                </a:tc>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为此项目提供高水平指导，提供计算资源、实验场地等软硬件支持为项目的开展提供了有利的环境和技术支持</a:t>
                      </a:r>
                      <a:endParaRPr lang="zh-CN" altLang="en-US" sz="2000">
                        <a:solidFill>
                          <a:schemeClr val="tx1"/>
                        </a:solidFill>
                        <a:latin typeface="微软雅黑" panose="020B0503020204020204" pitchFamily="34" charset="-122"/>
                        <a:ea typeface="微软雅黑" panose="020B0503020204020204" pitchFamily="34" charset="-122"/>
                      </a:endParaRPr>
                    </a:p>
                  </a:txBody>
                  <a:tcPr>
                    <a:solidFill>
                      <a:schemeClr val="accent6">
                        <a:lumMod val="20000"/>
                        <a:lumOff val="80000"/>
                      </a:schemeClr>
                    </a:solidFill>
                  </a:tcPr>
                </a:tc>
              </a:tr>
              <a:tr h="603885">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指导老师</a:t>
                      </a:r>
                      <a:endParaRPr lang="zh-CN" altLang="en-US" sz="2000">
                        <a:solidFill>
                          <a:schemeClr val="tx1"/>
                        </a:solidFill>
                        <a:latin typeface="微软雅黑" panose="020B0503020204020204" pitchFamily="34" charset="-122"/>
                        <a:ea typeface="微软雅黑" panose="020B0503020204020204" pitchFamily="34" charset="-122"/>
                      </a:endParaRPr>
                    </a:p>
                  </a:txBody>
                  <a:tcPr>
                    <a:solidFill>
                      <a:schemeClr val="accent6">
                        <a:lumMod val="40000"/>
                        <a:lumOff val="60000"/>
                      </a:schemeClr>
                    </a:solidFill>
                  </a:tcPr>
                </a:tc>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李伯钊</a:t>
                      </a:r>
                      <a:endParaRPr lang="zh-CN" altLang="en-US" sz="2000">
                        <a:solidFill>
                          <a:schemeClr val="tx1"/>
                        </a:solidFill>
                        <a:latin typeface="微软雅黑" panose="020B0503020204020204" pitchFamily="34" charset="-122"/>
                        <a:ea typeface="微软雅黑" panose="020B0503020204020204" pitchFamily="34" charset="-122"/>
                      </a:endParaRPr>
                    </a:p>
                  </a:txBody>
                  <a:tcPr>
                    <a:solidFill>
                      <a:schemeClr val="accent6">
                        <a:lumMod val="40000"/>
                        <a:lumOff val="60000"/>
                      </a:schemeClr>
                    </a:solidFill>
                  </a:tcPr>
                </a:tc>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资环学院</a:t>
                      </a:r>
                      <a:r>
                        <a:rPr lang="en-US" altLang="zh-CN"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副研究员</a:t>
                      </a:r>
                      <a:endPar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chemeClr val="accent6">
                        <a:lumMod val="40000"/>
                        <a:lumOff val="60000"/>
                      </a:schemeClr>
                    </a:solidFill>
                  </a:tcPr>
                </a:tc>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sym typeface="+mn-ea"/>
                        </a:rPr>
                        <a:t>为此项目提供高水平指导，对于实验方案设计与</a:t>
                      </a:r>
                      <a:r>
                        <a:rPr lang="zh-CN" altLang="en-US" sz="2000">
                          <a:solidFill>
                            <a:schemeClr val="tx1"/>
                          </a:solidFill>
                          <a:latin typeface="微软雅黑" panose="020B0503020204020204" pitchFamily="34" charset="-122"/>
                          <a:ea typeface="微软雅黑" panose="020B0503020204020204" pitchFamily="34" charset="-122"/>
                          <a:sym typeface="+mn-ea"/>
                        </a:rPr>
                        <a:t>开展、论文、报告、专利等的撰写修改提出详尽</a:t>
                      </a:r>
                      <a:r>
                        <a:rPr lang="zh-CN" altLang="en-US" sz="2000">
                          <a:solidFill>
                            <a:schemeClr val="tx1"/>
                          </a:solidFill>
                          <a:latin typeface="微软雅黑" panose="020B0503020204020204" pitchFamily="34" charset="-122"/>
                          <a:ea typeface="微软雅黑" panose="020B0503020204020204" pitchFamily="34" charset="-122"/>
                          <a:sym typeface="+mn-ea"/>
                        </a:rPr>
                        <a:t>细致建议</a:t>
                      </a:r>
                      <a:endParaRPr lang="zh-CN" altLang="en-US" sz="2000">
                        <a:solidFill>
                          <a:schemeClr val="tx1"/>
                        </a:solidFill>
                        <a:latin typeface="微软雅黑" panose="020B0503020204020204" pitchFamily="34" charset="-122"/>
                        <a:ea typeface="微软雅黑" panose="020B0503020204020204" pitchFamily="34" charset="-122"/>
                        <a:sym typeface="+mn-ea"/>
                      </a:endParaRPr>
                    </a:p>
                  </a:txBody>
                  <a:tcPr>
                    <a:solidFill>
                      <a:schemeClr val="accent6">
                        <a:lumMod val="40000"/>
                        <a:lumOff val="60000"/>
                      </a:schemeClr>
                    </a:solidFill>
                  </a:tcPr>
                </a:tc>
              </a:tr>
              <a:tr h="603885">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负责人</a:t>
                      </a:r>
                      <a:endParaRPr lang="zh-CN" altLang="en-US" sz="2000">
                        <a:solidFill>
                          <a:schemeClr val="tx1"/>
                        </a:solidFill>
                        <a:latin typeface="微软雅黑" panose="020B0503020204020204" pitchFamily="34" charset="-122"/>
                        <a:ea typeface="微软雅黑" panose="020B0503020204020204" pitchFamily="34" charset="-122"/>
                      </a:endParaRPr>
                    </a:p>
                  </a:txBody>
                  <a:tcPr>
                    <a:solidFill>
                      <a:schemeClr val="accent6">
                        <a:lumMod val="20000"/>
                        <a:lumOff val="80000"/>
                      </a:schemeClr>
                    </a:solidFill>
                  </a:tcPr>
                </a:tc>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石灵奇</a:t>
                      </a:r>
                      <a:endParaRPr lang="zh-CN" altLang="en-US" sz="2000">
                        <a:solidFill>
                          <a:schemeClr val="tx1"/>
                        </a:solidFill>
                        <a:latin typeface="微软雅黑" panose="020B0503020204020204" pitchFamily="34" charset="-122"/>
                        <a:ea typeface="微软雅黑" panose="020B0503020204020204" pitchFamily="34" charset="-122"/>
                      </a:endParaRPr>
                    </a:p>
                  </a:txBody>
                  <a:tcPr>
                    <a:solidFill>
                      <a:schemeClr val="accent6">
                        <a:lumMod val="20000"/>
                        <a:lumOff val="80000"/>
                      </a:schemeClr>
                    </a:solidFill>
                  </a:tcPr>
                </a:tc>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地理科学（弘毅）</a:t>
                      </a:r>
                      <a:endParaRPr lang="zh-CN" altLang="en-US" sz="2000">
                        <a:solidFill>
                          <a:schemeClr val="tx1"/>
                        </a:solidFill>
                        <a:latin typeface="微软雅黑" panose="020B0503020204020204" pitchFamily="34" charset="-122"/>
                        <a:ea typeface="微软雅黑" panose="020B0503020204020204" pitchFamily="34" charset="-122"/>
                      </a:endParaRPr>
                    </a:p>
                  </a:txBody>
                  <a:tcPr>
                    <a:solidFill>
                      <a:schemeClr val="accent6">
                        <a:lumMod val="20000"/>
                        <a:lumOff val="80000"/>
                      </a:schemeClr>
                    </a:solidFill>
                  </a:tcPr>
                </a:tc>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项目组组长，负责工作的统筹规划，进行方法的研究，参与实验，结果分析与表达，</a:t>
                      </a:r>
                      <a:r>
                        <a:rPr lang="zh-CN" altLang="en-US" sz="2000">
                          <a:solidFill>
                            <a:schemeClr val="tx1"/>
                          </a:solidFill>
                          <a:latin typeface="微软雅黑" panose="020B0503020204020204" pitchFamily="34" charset="-122"/>
                          <a:ea typeface="微软雅黑" panose="020B0503020204020204" pitchFamily="34" charset="-122"/>
                          <a:sym typeface="+mn-ea"/>
                        </a:rPr>
                        <a:t>参与论文、报告、</a:t>
                      </a:r>
                      <a:r>
                        <a:rPr lang="zh-CN" altLang="en-US" sz="2000">
                          <a:solidFill>
                            <a:schemeClr val="tx1"/>
                          </a:solidFill>
                          <a:latin typeface="微软雅黑" panose="020B0503020204020204" pitchFamily="34" charset="-122"/>
                          <a:ea typeface="微软雅黑" panose="020B0503020204020204" pitchFamily="34" charset="-122"/>
                          <a:sym typeface="+mn-ea"/>
                        </a:rPr>
                        <a:t>专利等撰写</a:t>
                      </a:r>
                      <a:endParaRPr lang="zh-CN" altLang="en-US" sz="2000">
                        <a:solidFill>
                          <a:schemeClr val="tx1"/>
                        </a:solidFill>
                        <a:latin typeface="微软雅黑" panose="020B0503020204020204" pitchFamily="34" charset="-122"/>
                        <a:ea typeface="微软雅黑" panose="020B0503020204020204" pitchFamily="34" charset="-122"/>
                      </a:endParaRPr>
                    </a:p>
                  </a:txBody>
                  <a:tcPr>
                    <a:solidFill>
                      <a:schemeClr val="accent6">
                        <a:lumMod val="20000"/>
                        <a:lumOff val="80000"/>
                      </a:schemeClr>
                    </a:solidFill>
                  </a:tcPr>
                </a:tc>
              </a:tr>
              <a:tr h="603885">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成员</a:t>
                      </a:r>
                      <a:endParaRPr lang="zh-CN" altLang="en-US" sz="2000">
                        <a:solidFill>
                          <a:schemeClr val="tx1"/>
                        </a:solidFill>
                        <a:latin typeface="微软雅黑" panose="020B0503020204020204" pitchFamily="34" charset="-122"/>
                        <a:ea typeface="微软雅黑" panose="020B0503020204020204" pitchFamily="34" charset="-122"/>
                      </a:endParaRPr>
                    </a:p>
                  </a:txBody>
                  <a:tcPr>
                    <a:solidFill>
                      <a:schemeClr val="accent6">
                        <a:lumMod val="40000"/>
                        <a:lumOff val="60000"/>
                      </a:schemeClr>
                    </a:solidFill>
                  </a:tcPr>
                </a:tc>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武秋霖</a:t>
                      </a:r>
                      <a:endParaRPr lang="zh-CN" altLang="en-US" sz="2000">
                        <a:solidFill>
                          <a:schemeClr val="tx1"/>
                        </a:solidFill>
                        <a:latin typeface="微软雅黑" panose="020B0503020204020204" pitchFamily="34" charset="-122"/>
                        <a:ea typeface="微软雅黑" panose="020B0503020204020204" pitchFamily="34" charset="-122"/>
                      </a:endParaRPr>
                    </a:p>
                  </a:txBody>
                  <a:tcPr>
                    <a:solidFill>
                      <a:schemeClr val="accent6">
                        <a:lumMod val="40000"/>
                        <a:lumOff val="60000"/>
                      </a:schemeClr>
                    </a:solidFill>
                  </a:tcPr>
                </a:tc>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计算机科学与技术</a:t>
                      </a:r>
                      <a:endParaRPr lang="zh-CN" altLang="en-US" sz="2000">
                        <a:solidFill>
                          <a:schemeClr val="tx1"/>
                        </a:solidFill>
                        <a:latin typeface="微软雅黑" panose="020B0503020204020204" pitchFamily="34" charset="-122"/>
                        <a:ea typeface="微软雅黑" panose="020B0503020204020204" pitchFamily="34" charset="-122"/>
                      </a:endParaRPr>
                    </a:p>
                  </a:txBody>
                  <a:tcPr>
                    <a:solidFill>
                      <a:schemeClr val="accent6">
                        <a:lumMod val="40000"/>
                        <a:lumOff val="60000"/>
                      </a:schemeClr>
                    </a:solidFill>
                  </a:tcPr>
                </a:tc>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项目组组员，积极推动项目进行进行，编写调试代码，参与实验，设备采购与</a:t>
                      </a:r>
                      <a:r>
                        <a:rPr lang="zh-CN" altLang="en-US" sz="2000">
                          <a:solidFill>
                            <a:schemeClr val="tx1"/>
                          </a:solidFill>
                          <a:latin typeface="微软雅黑" panose="020B0503020204020204" pitchFamily="34" charset="-122"/>
                          <a:ea typeface="微软雅黑" panose="020B0503020204020204" pitchFamily="34" charset="-122"/>
                        </a:rPr>
                        <a:t>报销</a:t>
                      </a:r>
                      <a:endParaRPr lang="zh-CN" altLang="en-US" sz="2000">
                        <a:solidFill>
                          <a:schemeClr val="tx1"/>
                        </a:solidFill>
                        <a:latin typeface="微软雅黑" panose="020B0503020204020204" pitchFamily="34" charset="-122"/>
                        <a:ea typeface="微软雅黑" panose="020B0503020204020204" pitchFamily="34" charset="-122"/>
                      </a:endParaRPr>
                    </a:p>
                  </a:txBody>
                  <a:tcPr>
                    <a:solidFill>
                      <a:schemeClr val="accent6">
                        <a:lumMod val="40000"/>
                        <a:lumOff val="60000"/>
                      </a:schemeClr>
                    </a:solidFill>
                  </a:tcPr>
                </a:tc>
              </a:tr>
              <a:tr h="603885">
                <a:tc>
                  <a:txBody>
                    <a:bodyPr/>
                    <a:p>
                      <a:pPr algn="ctr">
                        <a:buNone/>
                      </a:pPr>
                      <a:r>
                        <a:rPr lang="zh-CN" sz="2000">
                          <a:solidFill>
                            <a:schemeClr val="dk1">
                              <a:alpha val="100000"/>
                            </a:schemeClr>
                          </a:solidFill>
                          <a:latin typeface="微软雅黑" panose="020B0503020204020204" pitchFamily="34" charset="-122"/>
                          <a:ea typeface="微软雅黑" panose="020B0503020204020204" pitchFamily="34" charset="-122"/>
                          <a:cs typeface="Times New Roman" panose="02020603050405020304"/>
                          <a:sym typeface="等线" panose="02010600030101010101" pitchFamily="2" charset="-122"/>
                        </a:rPr>
                        <a:t>成员</a:t>
                      </a:r>
                      <a:endParaRPr lang="zh-CN" sz="2000">
                        <a:solidFill>
                          <a:schemeClr val="dk1">
                            <a:alpha val="100000"/>
                          </a:schemeClr>
                        </a:solidFill>
                        <a:latin typeface="微软雅黑" panose="020B0503020204020204" pitchFamily="34" charset="-122"/>
                        <a:ea typeface="微软雅黑" panose="020B0503020204020204" pitchFamily="34" charset="-122"/>
                        <a:cs typeface="Times New Roman" panose="02020603050405020304"/>
                        <a:sym typeface="等线" panose="02010600030101010101" pitchFamily="2" charset="-122"/>
                      </a:endParaRPr>
                    </a:p>
                  </a:txBody>
                  <a:tcPr>
                    <a:solidFill>
                      <a:schemeClr val="accent6">
                        <a:lumMod val="20000"/>
                        <a:lumOff val="80000"/>
                      </a:schemeClr>
                    </a:solidFill>
                  </a:tcPr>
                </a:tc>
                <a:tc>
                  <a:txBody>
                    <a:bodyPr/>
                    <a:p>
                      <a:pPr algn="ctr">
                        <a:buNone/>
                      </a:pPr>
                      <a:r>
                        <a:rPr lang="zh-CN" altLang="en-US" sz="2000">
                          <a:solidFill>
                            <a:schemeClr val="dk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pitchFamily="2" charset="-122"/>
                        </a:rPr>
                        <a:t>阿依孜巴</a:t>
                      </a:r>
                      <a:r>
                        <a:rPr lang="en-US" altLang="zh-CN" sz="2000">
                          <a:solidFill>
                            <a:schemeClr val="dk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pitchFamily="2" charset="-122"/>
                        </a:rPr>
                        <a:t>·</a:t>
                      </a:r>
                      <a:r>
                        <a:rPr lang="zh-CN" altLang="en-US" sz="2000">
                          <a:solidFill>
                            <a:schemeClr val="dk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pitchFamily="2" charset="-122"/>
                        </a:rPr>
                        <a:t>艾沙</a:t>
                      </a:r>
                      <a:endParaRPr lang="zh-CN" altLang="en-US" sz="2000">
                        <a:solidFill>
                          <a:schemeClr val="dk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pitchFamily="2" charset="-122"/>
                      </a:endParaRPr>
                    </a:p>
                  </a:txBody>
                  <a:tcPr>
                    <a:solidFill>
                      <a:schemeClr val="accent6">
                        <a:lumMod val="20000"/>
                        <a:lumOff val="80000"/>
                      </a:schemeClr>
                    </a:solidFill>
                  </a:tcPr>
                </a:tc>
                <a:tc>
                  <a:txBody>
                    <a:bodyPr/>
                    <a:p>
                      <a:pPr marL="0" algn="ctr" defTabSz="914400" rtl="0" eaLnBrk="1" latinLnBrk="0" hangingPunct="1">
                        <a:buNone/>
                        <a:defRPr sz="1800" kern="1200">
                          <a:solidFill>
                            <a:srgbClr val="000000"/>
                          </a:solidFill>
                          <a:latin typeface="等线" panose="02010600030101010101" pitchFamily="2" charset="-122"/>
                          <a:ea typeface="等线" panose="02010600030101010101" pitchFamily="2" charset="-122"/>
                          <a:cs typeface="+mn-cs"/>
                        </a:defRPr>
                      </a:pPr>
                      <a:r>
                        <a:rPr lang="zh-CN" altLang="en-US" sz="2000" kern="1200">
                          <a:solidFill>
                            <a:srgbClr val="000000"/>
                          </a:solidFill>
                          <a:latin typeface="微软雅黑" panose="020B0503020204020204" pitchFamily="34" charset="-122"/>
                          <a:ea typeface="微软雅黑" panose="020B0503020204020204" pitchFamily="34" charset="-122"/>
                          <a:cs typeface="+mn-cs"/>
                        </a:rPr>
                        <a:t>土地资源管理</a:t>
                      </a:r>
                      <a:endParaRPr lang="zh-CN" altLang="en-US" sz="2000" kern="1200">
                        <a:solidFill>
                          <a:srgbClr val="000000"/>
                        </a:solidFill>
                        <a:latin typeface="微软雅黑" panose="020B0503020204020204" pitchFamily="34" charset="-122"/>
                        <a:ea typeface="微软雅黑" panose="020B0503020204020204" pitchFamily="34" charset="-122"/>
                        <a:cs typeface="+mn-cs"/>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2F0D9"/>
                    </a:solidFill>
                  </a:tcPr>
                </a:tc>
                <a:tc>
                  <a:txBody>
                    <a:bodyPr/>
                    <a:p>
                      <a:pPr marL="0" algn="ctr" defTabSz="914400" rtl="0" eaLnBrk="1" latinLnBrk="0" hangingPunct="1">
                        <a:buNone/>
                        <a:defRPr sz="1800" kern="1200">
                          <a:solidFill>
                            <a:srgbClr val="000000"/>
                          </a:solidFill>
                          <a:latin typeface="等线" panose="02010600030101010101" pitchFamily="2" charset="-122"/>
                          <a:ea typeface="等线" panose="02010600030101010101" pitchFamily="2" charset="-122"/>
                          <a:cs typeface="+mn-cs"/>
                        </a:defRPr>
                      </a:pPr>
                      <a:r>
                        <a:rPr lang="zh-CN" altLang="en-US" sz="2000" kern="1200">
                          <a:solidFill>
                            <a:srgbClr val="000000"/>
                          </a:solidFill>
                          <a:latin typeface="微软雅黑" panose="020B0503020204020204" pitchFamily="34" charset="-122"/>
                          <a:ea typeface="微软雅黑" panose="020B0503020204020204" pitchFamily="34" charset="-122"/>
                          <a:cs typeface="+mn-cs"/>
                        </a:rPr>
                        <a:t>项目组组员，查阅资料，整理分析研究现状、会议记录，参与报告</a:t>
                      </a:r>
                      <a:r>
                        <a:rPr lang="zh-CN" altLang="en-US" sz="2000" kern="1200">
                          <a:solidFill>
                            <a:srgbClr val="000000"/>
                          </a:solidFill>
                          <a:latin typeface="微软雅黑" panose="020B0503020204020204" pitchFamily="34" charset="-122"/>
                          <a:ea typeface="微软雅黑" panose="020B0503020204020204" pitchFamily="34" charset="-122"/>
                          <a:cs typeface="+mn-cs"/>
                        </a:rPr>
                        <a:t>撰写</a:t>
                      </a:r>
                      <a:endParaRPr lang="zh-CN" altLang="en-US" sz="2000" kern="1200">
                        <a:solidFill>
                          <a:srgbClr val="000000"/>
                        </a:solidFill>
                        <a:latin typeface="微软雅黑" panose="020B0503020204020204" pitchFamily="34" charset="-122"/>
                        <a:ea typeface="微软雅黑" panose="020B0503020204020204" pitchFamily="34" charset="-122"/>
                        <a:cs typeface="+mn-cs"/>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2F0D9"/>
                    </a:solidFill>
                  </a:tcPr>
                </a:tc>
              </a:tr>
            </a:tbl>
          </a:graphicData>
        </a:graphic>
      </p:graphicFrame>
      <p:sp>
        <p:nvSpPr>
          <p:cNvPr id="2" name="ïṣ1ïḑê"/>
          <p:cNvSpPr>
            <a:spLocks noGrp="1"/>
          </p:cNvSpPr>
          <p:nvPr/>
        </p:nvSpPr>
        <p:spPr>
          <a:xfrm>
            <a:off x="205105" y="1087120"/>
            <a:ext cx="10850880" cy="71247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rPr>
              <a:t>3.1 </a:t>
            </a:r>
            <a:r>
              <a:rPr lang="zh-CN" altLang="en-US" dirty="0">
                <a:solidFill>
                  <a:srgbClr val="005825"/>
                </a:solidFill>
              </a:rPr>
              <a:t>人员分工</a:t>
            </a:r>
            <a:endParaRPr lang="zh-CN" altLang="en-US" dirty="0">
              <a:solidFill>
                <a:schemeClr val="tx1"/>
              </a:solidFill>
              <a:latin typeface="Times New Roman" panose="02020603050405020304" pitchFamily="18" charset="0"/>
              <a:cs typeface="Times New Roman" panose="02020603050405020304" pitchFamily="18" charset="0"/>
            </a:endParaRPr>
          </a:p>
          <a:p>
            <a:endParaRPr lang="zh-CN" altLang="en-US"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6946934" y="-59933"/>
                <a:ext cx="253682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项目管理</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宋体" panose="02010600030101010101" pitchFamily="2" charset="-122"/>
                </a:rPr>
                <a:t>WUHAN UNIVERSITY</a:t>
              </a:r>
              <a:endParaRPr lang="en-US" altLang="zh-CN" sz="900" b="1" dirty="0">
                <a:solidFill>
                  <a:prstClr val="black"/>
                </a:solidFill>
                <a:latin typeface="Calibri" panose="020F0502020204030204"/>
                <a:ea typeface="宋体" panose="02010600030101010101" pitchFamily="2" charset="-122"/>
              </a:endParaRPr>
            </a:p>
          </p:txBody>
        </p:sp>
      </p:grpSp>
      <p:graphicFrame>
        <p:nvGraphicFramePr>
          <p:cNvPr id="603" name="表格 3"/>
          <p:cNvGraphicFramePr/>
          <p:nvPr>
            <p:custDataLst>
              <p:tags r:id="rId4"/>
            </p:custDataLst>
          </p:nvPr>
        </p:nvGraphicFramePr>
        <p:xfrm>
          <a:off x="835025" y="1694815"/>
          <a:ext cx="10495915" cy="4657725"/>
        </p:xfrm>
        <a:graphic>
          <a:graphicData uri="http://schemas.openxmlformats.org/drawingml/2006/table">
            <a:tbl>
              <a:tblPr firstRow="1" bandRow="1">
                <a:tableStyleId>{5C22544A-7EE6-4342-B048-85BDC9FD1C3A}</a:tableStyleId>
              </a:tblPr>
              <a:tblGrid>
                <a:gridCol w="2647315"/>
                <a:gridCol w="3328670"/>
                <a:gridCol w="4519930"/>
              </a:tblGrid>
              <a:tr h="498475">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类型</a:t>
                      </a:r>
                      <a:endParaRPr lang="zh-CN" altLang="en-US" sz="2000">
                        <a:solidFill>
                          <a:schemeClr val="tx1"/>
                        </a:solidFill>
                        <a:latin typeface="微软雅黑" panose="020B0503020204020204" pitchFamily="34" charset="-122"/>
                        <a:ea typeface="微软雅黑" panose="020B0503020204020204" pitchFamily="34" charset="-122"/>
                      </a:endParaRPr>
                    </a:p>
                  </a:txBody>
                  <a:tcPr>
                    <a:solidFill>
                      <a:schemeClr val="accent6">
                        <a:lumMod val="40000"/>
                        <a:lumOff val="60000"/>
                      </a:schemeClr>
                    </a:solidFill>
                  </a:tcPr>
                </a:tc>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金额（</a:t>
                      </a:r>
                      <a:r>
                        <a:rPr lang="zh-CN" altLang="en-US" sz="2000">
                          <a:solidFill>
                            <a:schemeClr val="tx1"/>
                          </a:solidFill>
                          <a:latin typeface="微软雅黑" panose="020B0503020204020204" pitchFamily="34" charset="-122"/>
                          <a:ea typeface="微软雅黑" panose="020B0503020204020204" pitchFamily="34" charset="-122"/>
                        </a:rPr>
                        <a:t>元）</a:t>
                      </a:r>
                      <a:endParaRPr lang="zh-CN" altLang="en-US" sz="2000">
                        <a:solidFill>
                          <a:schemeClr val="tx1"/>
                        </a:solidFill>
                        <a:latin typeface="微软雅黑" panose="020B0503020204020204" pitchFamily="34" charset="-122"/>
                        <a:ea typeface="微软雅黑" panose="020B0503020204020204" pitchFamily="34" charset="-122"/>
                      </a:endParaRPr>
                    </a:p>
                  </a:txBody>
                  <a:tcPr>
                    <a:solidFill>
                      <a:schemeClr val="accent6">
                        <a:lumMod val="40000"/>
                        <a:lumOff val="60000"/>
                      </a:schemeClr>
                    </a:solidFill>
                  </a:tcPr>
                </a:tc>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明细</a:t>
                      </a:r>
                      <a:endParaRPr lang="zh-CN" altLang="en-US" sz="2000">
                        <a:solidFill>
                          <a:schemeClr val="tx1"/>
                        </a:solidFill>
                        <a:latin typeface="微软雅黑" panose="020B0503020204020204" pitchFamily="34" charset="-122"/>
                        <a:ea typeface="微软雅黑" panose="020B0503020204020204" pitchFamily="34" charset="-122"/>
                      </a:endParaRPr>
                    </a:p>
                  </a:txBody>
                  <a:tcPr>
                    <a:solidFill>
                      <a:schemeClr val="accent6">
                        <a:lumMod val="40000"/>
                        <a:lumOff val="60000"/>
                      </a:schemeClr>
                    </a:solidFill>
                  </a:tcPr>
                </a:tc>
              </a:tr>
              <a:tr h="579755">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专用材料费</a:t>
                      </a:r>
                      <a:endParaRPr lang="zh-CN" altLang="en-US" sz="2000">
                        <a:solidFill>
                          <a:schemeClr val="tx1"/>
                        </a:solidFill>
                        <a:latin typeface="微软雅黑" panose="020B0503020204020204" pitchFamily="34" charset="-122"/>
                        <a:ea typeface="微软雅黑" panose="020B0503020204020204" pitchFamily="34" charset="-122"/>
                      </a:endParaRPr>
                    </a:p>
                  </a:txBody>
                  <a:tcPr>
                    <a:solidFill>
                      <a:schemeClr val="accent6">
                        <a:lumMod val="20000"/>
                        <a:lumOff val="80000"/>
                      </a:schemeClr>
                    </a:solidFill>
                  </a:tcPr>
                </a:tc>
                <a:tc>
                  <a:txBody>
                    <a:bodyPr/>
                    <a:p>
                      <a:pPr algn="ctr">
                        <a:buNone/>
                      </a:pPr>
                      <a:r>
                        <a:rPr lang="en-US" altLang="zh-CN" sz="2000">
                          <a:solidFill>
                            <a:schemeClr val="tx1"/>
                          </a:solidFill>
                          <a:latin typeface="微软雅黑" panose="020B0503020204020204" pitchFamily="34" charset="-122"/>
                          <a:ea typeface="微软雅黑" panose="020B0503020204020204" pitchFamily="34" charset="-122"/>
                        </a:rPr>
                        <a:t>2000</a:t>
                      </a:r>
                      <a:endParaRPr lang="en-US" altLang="zh-CN" sz="2000">
                        <a:solidFill>
                          <a:schemeClr val="tx1"/>
                        </a:solidFill>
                        <a:latin typeface="微软雅黑" panose="020B0503020204020204" pitchFamily="34" charset="-122"/>
                        <a:ea typeface="微软雅黑" panose="020B0503020204020204" pitchFamily="34" charset="-122"/>
                      </a:endParaRPr>
                    </a:p>
                  </a:txBody>
                  <a:tcPr>
                    <a:solidFill>
                      <a:schemeClr val="accent6">
                        <a:lumMod val="20000"/>
                        <a:lumOff val="80000"/>
                      </a:schemeClr>
                    </a:solidFill>
                  </a:tcPr>
                </a:tc>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硬盘、内存条、</a:t>
                      </a:r>
                      <a:r>
                        <a:rPr lang="en-US" altLang="zh-CN"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U</a:t>
                      </a:r>
                      <a:r>
                        <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盘</a:t>
                      </a:r>
                      <a:r>
                        <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购置</a:t>
                      </a:r>
                      <a:endPar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chemeClr val="accent6">
                        <a:lumMod val="20000"/>
                        <a:lumOff val="80000"/>
                      </a:schemeClr>
                    </a:solidFill>
                  </a:tcPr>
                </a:tc>
              </a:tr>
              <a:tr h="744855">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差旅费</a:t>
                      </a:r>
                      <a:endParaRPr lang="zh-CN" altLang="en-US" sz="2000">
                        <a:solidFill>
                          <a:schemeClr val="tx1"/>
                        </a:solidFill>
                        <a:latin typeface="微软雅黑" panose="020B0503020204020204" pitchFamily="34" charset="-122"/>
                        <a:ea typeface="微软雅黑" panose="020B0503020204020204" pitchFamily="34" charset="-122"/>
                      </a:endParaRPr>
                    </a:p>
                  </a:txBody>
                  <a:tcPr>
                    <a:solidFill>
                      <a:schemeClr val="accent6">
                        <a:lumMod val="40000"/>
                        <a:lumOff val="60000"/>
                      </a:schemeClr>
                    </a:solidFill>
                  </a:tcPr>
                </a:tc>
                <a:tc>
                  <a:txBody>
                    <a:bodyPr/>
                    <a:p>
                      <a:pPr algn="ctr">
                        <a:buNone/>
                      </a:pPr>
                      <a:r>
                        <a:rPr lang="en-US" altLang="zh-CN" sz="2000">
                          <a:solidFill>
                            <a:schemeClr val="tx1"/>
                          </a:solidFill>
                          <a:latin typeface="微软雅黑" panose="020B0503020204020204" pitchFamily="34" charset="-122"/>
                          <a:ea typeface="微软雅黑" panose="020B0503020204020204" pitchFamily="34" charset="-122"/>
                        </a:rPr>
                        <a:t>3000</a:t>
                      </a:r>
                      <a:endParaRPr lang="en-US" altLang="zh-CN" sz="2000">
                        <a:solidFill>
                          <a:schemeClr val="tx1"/>
                        </a:solidFill>
                        <a:latin typeface="微软雅黑" panose="020B0503020204020204" pitchFamily="34" charset="-122"/>
                        <a:ea typeface="微软雅黑" panose="020B0503020204020204" pitchFamily="34" charset="-122"/>
                      </a:endParaRPr>
                    </a:p>
                  </a:txBody>
                  <a:tcPr>
                    <a:solidFill>
                      <a:schemeClr val="accent6">
                        <a:lumMod val="40000"/>
                        <a:lumOff val="60000"/>
                      </a:schemeClr>
                    </a:solidFill>
                  </a:tcPr>
                </a:tc>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赴杭州开展实地研究调研</a:t>
                      </a:r>
                      <a:endPar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a:buNone/>
                      </a:pPr>
                      <a:r>
                        <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赴南京</a:t>
                      </a:r>
                      <a:r>
                        <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参加学术会议</a:t>
                      </a:r>
                      <a:r>
                        <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交流</a:t>
                      </a:r>
                      <a:endPar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a:solidFill>
                      <a:schemeClr val="accent6">
                        <a:lumMod val="40000"/>
                        <a:lumOff val="60000"/>
                      </a:schemeClr>
                    </a:solidFill>
                  </a:tcPr>
                </a:tc>
              </a:tr>
              <a:tr h="587375">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印刷费</a:t>
                      </a:r>
                      <a:endParaRPr lang="zh-CN" altLang="en-US" sz="2000">
                        <a:solidFill>
                          <a:schemeClr val="tx1"/>
                        </a:solidFill>
                        <a:latin typeface="微软雅黑" panose="020B0503020204020204" pitchFamily="34" charset="-122"/>
                        <a:ea typeface="微软雅黑" panose="020B0503020204020204" pitchFamily="34" charset="-122"/>
                      </a:endParaRPr>
                    </a:p>
                  </a:txBody>
                  <a:tcPr>
                    <a:solidFill>
                      <a:schemeClr val="accent6">
                        <a:lumMod val="20000"/>
                        <a:lumOff val="80000"/>
                      </a:schemeClr>
                    </a:solidFill>
                  </a:tcPr>
                </a:tc>
                <a:tc>
                  <a:txBody>
                    <a:bodyPr/>
                    <a:p>
                      <a:pPr algn="ctr">
                        <a:buNone/>
                      </a:pPr>
                      <a:r>
                        <a:rPr lang="en-US" altLang="zh-CN" sz="2000">
                          <a:solidFill>
                            <a:schemeClr val="tx1"/>
                          </a:solidFill>
                          <a:latin typeface="微软雅黑" panose="020B0503020204020204" pitchFamily="34" charset="-122"/>
                          <a:ea typeface="微软雅黑" panose="020B0503020204020204" pitchFamily="34" charset="-122"/>
                        </a:rPr>
                        <a:t>300</a:t>
                      </a:r>
                      <a:endParaRPr lang="en-US" altLang="zh-CN" sz="2000">
                        <a:solidFill>
                          <a:schemeClr val="tx1"/>
                        </a:solidFill>
                        <a:latin typeface="微软雅黑" panose="020B0503020204020204" pitchFamily="34" charset="-122"/>
                        <a:ea typeface="微软雅黑" panose="020B0503020204020204" pitchFamily="34" charset="-122"/>
                      </a:endParaRPr>
                    </a:p>
                  </a:txBody>
                  <a:tcPr>
                    <a:solidFill>
                      <a:schemeClr val="accent6">
                        <a:lumMod val="20000"/>
                        <a:lumOff val="80000"/>
                      </a:schemeClr>
                    </a:solidFill>
                  </a:tcPr>
                </a:tc>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大创中期报告彩印</a:t>
                      </a:r>
                      <a:r>
                        <a:rPr lang="zh-CN" altLang="en-US" sz="2000">
                          <a:solidFill>
                            <a:schemeClr val="tx1"/>
                          </a:solidFill>
                          <a:latin typeface="微软雅黑" panose="020B0503020204020204" pitchFamily="34" charset="-122"/>
                          <a:ea typeface="微软雅黑" panose="020B0503020204020204" pitchFamily="34" charset="-122"/>
                        </a:rPr>
                        <a:t>费用</a:t>
                      </a:r>
                      <a:endParaRPr lang="zh-CN" altLang="en-US" sz="2000">
                        <a:solidFill>
                          <a:schemeClr val="tx1"/>
                        </a:solidFill>
                        <a:latin typeface="微软雅黑" panose="020B0503020204020204" pitchFamily="34" charset="-122"/>
                        <a:ea typeface="微软雅黑" panose="020B0503020204020204" pitchFamily="34" charset="-122"/>
                      </a:endParaRPr>
                    </a:p>
                  </a:txBody>
                  <a:tcPr>
                    <a:solidFill>
                      <a:schemeClr val="accent6">
                        <a:lumMod val="20000"/>
                        <a:lumOff val="80000"/>
                      </a:schemeClr>
                    </a:solidFill>
                  </a:tcPr>
                </a:tc>
              </a:tr>
              <a:tr h="814070">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其他资本性</a:t>
                      </a:r>
                      <a:r>
                        <a:rPr lang="zh-CN" altLang="en-US" sz="2000">
                          <a:solidFill>
                            <a:schemeClr val="tx1"/>
                          </a:solidFill>
                          <a:latin typeface="微软雅黑" panose="020B0503020204020204" pitchFamily="34" charset="-122"/>
                          <a:ea typeface="微软雅黑" panose="020B0503020204020204" pitchFamily="34" charset="-122"/>
                        </a:rPr>
                        <a:t>支出</a:t>
                      </a:r>
                      <a:endParaRPr lang="zh-CN" altLang="en-US" sz="2000">
                        <a:solidFill>
                          <a:schemeClr val="tx1"/>
                        </a:solidFill>
                        <a:latin typeface="微软雅黑" panose="020B0503020204020204" pitchFamily="34" charset="-122"/>
                        <a:ea typeface="微软雅黑" panose="020B0503020204020204" pitchFamily="34" charset="-122"/>
                      </a:endParaRPr>
                    </a:p>
                  </a:txBody>
                  <a:tcPr>
                    <a:solidFill>
                      <a:schemeClr val="accent6">
                        <a:lumMod val="40000"/>
                        <a:lumOff val="60000"/>
                      </a:schemeClr>
                    </a:solidFill>
                  </a:tcPr>
                </a:tc>
                <a:tc>
                  <a:txBody>
                    <a:bodyPr/>
                    <a:p>
                      <a:pPr algn="ctr">
                        <a:buNone/>
                      </a:pPr>
                      <a:r>
                        <a:rPr lang="en-US" altLang="zh-CN" sz="2000">
                          <a:solidFill>
                            <a:schemeClr val="tx1"/>
                          </a:solidFill>
                          <a:latin typeface="微软雅黑" panose="020B0503020204020204" pitchFamily="34" charset="-122"/>
                          <a:ea typeface="微软雅黑" panose="020B0503020204020204" pitchFamily="34" charset="-122"/>
                        </a:rPr>
                        <a:t>2500</a:t>
                      </a:r>
                      <a:endParaRPr lang="en-US" altLang="zh-CN" sz="2000">
                        <a:solidFill>
                          <a:schemeClr val="tx1"/>
                        </a:solidFill>
                        <a:latin typeface="微软雅黑" panose="020B0503020204020204" pitchFamily="34" charset="-122"/>
                        <a:ea typeface="微软雅黑" panose="020B0503020204020204" pitchFamily="34" charset="-122"/>
                      </a:endParaRPr>
                    </a:p>
                  </a:txBody>
                  <a:tcPr>
                    <a:solidFill>
                      <a:schemeClr val="accent6">
                        <a:lumMod val="40000"/>
                        <a:lumOff val="60000"/>
                      </a:schemeClr>
                    </a:solidFill>
                  </a:tcPr>
                </a:tc>
                <a:tc>
                  <a:txBody>
                    <a:bodyPr/>
                    <a:p>
                      <a:pPr algn="ctr">
                        <a:buNone/>
                      </a:pPr>
                      <a:r>
                        <a:rPr lang="zh-CN" altLang="en-US" sz="2000">
                          <a:solidFill>
                            <a:schemeClr val="tx1"/>
                          </a:solidFill>
                          <a:latin typeface="微软雅黑" panose="020B0503020204020204" pitchFamily="34" charset="-122"/>
                          <a:ea typeface="微软雅黑" panose="020B0503020204020204" pitchFamily="34" charset="-122"/>
                        </a:rPr>
                        <a:t>专业书籍购买：《</a:t>
                      </a:r>
                      <a:r>
                        <a:rPr lang="en-US" altLang="zh-CN" sz="2000">
                          <a:solidFill>
                            <a:schemeClr val="tx1"/>
                          </a:solidFill>
                          <a:latin typeface="微软雅黑" panose="020B0503020204020204" pitchFamily="34" charset="-122"/>
                          <a:ea typeface="微软雅黑" panose="020B0503020204020204" pitchFamily="34" charset="-122"/>
                        </a:rPr>
                        <a:t>Python</a:t>
                      </a:r>
                      <a:r>
                        <a:rPr lang="zh-CN" altLang="en-US" sz="2000">
                          <a:solidFill>
                            <a:schemeClr val="tx1"/>
                          </a:solidFill>
                          <a:latin typeface="微软雅黑" panose="020B0503020204020204" pitchFamily="34" charset="-122"/>
                          <a:ea typeface="微软雅黑" panose="020B0503020204020204" pitchFamily="34" charset="-122"/>
                        </a:rPr>
                        <a:t>编程四部曲》、《科技图表绘制》</a:t>
                      </a:r>
                      <a:r>
                        <a:rPr lang="zh-CN" altLang="en-US" sz="2000">
                          <a:solidFill>
                            <a:schemeClr val="tx1"/>
                          </a:solidFill>
                          <a:latin typeface="微软雅黑" panose="020B0503020204020204" pitchFamily="34" charset="-122"/>
                          <a:ea typeface="微软雅黑" panose="020B0503020204020204" pitchFamily="34" charset="-122"/>
                        </a:rPr>
                        <a:t>等</a:t>
                      </a:r>
                      <a:endParaRPr lang="zh-CN" altLang="en-US" sz="2000">
                        <a:solidFill>
                          <a:schemeClr val="tx1"/>
                        </a:solidFill>
                        <a:latin typeface="微软雅黑" panose="020B0503020204020204" pitchFamily="34" charset="-122"/>
                        <a:ea typeface="微软雅黑" panose="020B0503020204020204" pitchFamily="34" charset="-122"/>
                      </a:endParaRPr>
                    </a:p>
                  </a:txBody>
                  <a:tcPr>
                    <a:solidFill>
                      <a:schemeClr val="accent6">
                        <a:lumMod val="40000"/>
                        <a:lumOff val="60000"/>
                      </a:schemeClr>
                    </a:solidFill>
                  </a:tcPr>
                </a:tc>
              </a:tr>
              <a:tr h="601980">
                <a:tc>
                  <a:txBody>
                    <a:bodyPr/>
                    <a:p>
                      <a:pPr algn="ctr">
                        <a:buNone/>
                      </a:pPr>
                      <a:r>
                        <a:rPr lang="zh-CN" sz="2000">
                          <a:solidFill>
                            <a:schemeClr val="dk1">
                              <a:alpha val="100000"/>
                            </a:schemeClr>
                          </a:solidFill>
                          <a:latin typeface="微软雅黑" panose="020B0503020204020204" pitchFamily="34" charset="-122"/>
                          <a:ea typeface="微软雅黑" panose="020B0503020204020204" pitchFamily="34" charset="-122"/>
                          <a:cs typeface="Times New Roman" panose="02020603050405020304"/>
                          <a:sym typeface="等线" panose="02010600030101010101" pitchFamily="2" charset="-122"/>
                        </a:rPr>
                        <a:t>其他商品和服务</a:t>
                      </a:r>
                      <a:r>
                        <a:rPr lang="zh-CN" sz="2000">
                          <a:solidFill>
                            <a:schemeClr val="dk1">
                              <a:alpha val="100000"/>
                            </a:schemeClr>
                          </a:solidFill>
                          <a:latin typeface="微软雅黑" panose="020B0503020204020204" pitchFamily="34" charset="-122"/>
                          <a:ea typeface="微软雅黑" panose="020B0503020204020204" pitchFamily="34" charset="-122"/>
                          <a:cs typeface="Times New Roman" panose="02020603050405020304"/>
                          <a:sym typeface="等线" panose="02010600030101010101" pitchFamily="2" charset="-122"/>
                        </a:rPr>
                        <a:t>费用</a:t>
                      </a:r>
                      <a:endParaRPr lang="zh-CN" sz="2000">
                        <a:solidFill>
                          <a:schemeClr val="dk1">
                            <a:alpha val="100000"/>
                          </a:schemeClr>
                        </a:solidFill>
                        <a:latin typeface="微软雅黑" panose="020B0503020204020204" pitchFamily="34" charset="-122"/>
                        <a:ea typeface="微软雅黑" panose="020B0503020204020204" pitchFamily="34" charset="-122"/>
                        <a:cs typeface="Times New Roman" panose="02020603050405020304"/>
                        <a:sym typeface="等线" panose="02010600030101010101" pitchFamily="2" charset="-122"/>
                      </a:endParaRPr>
                    </a:p>
                  </a:txBody>
                  <a:tcPr>
                    <a:solidFill>
                      <a:schemeClr val="accent6">
                        <a:lumMod val="20000"/>
                        <a:lumOff val="80000"/>
                      </a:schemeClr>
                    </a:solidFill>
                  </a:tcPr>
                </a:tc>
                <a:tc>
                  <a:txBody>
                    <a:bodyPr/>
                    <a:p>
                      <a:pPr algn="ctr">
                        <a:buNone/>
                      </a:pPr>
                      <a:r>
                        <a:rPr lang="en-US" altLang="zh-CN" sz="2000">
                          <a:solidFill>
                            <a:schemeClr val="dk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pitchFamily="2" charset="-122"/>
                        </a:rPr>
                        <a:t>2000</a:t>
                      </a:r>
                      <a:endParaRPr lang="en-US" altLang="zh-CN" sz="2000">
                        <a:solidFill>
                          <a:schemeClr val="dk1">
                            <a:alpha val="100000"/>
                          </a:schemeClr>
                        </a:solidFill>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pitchFamily="2" charset="-122"/>
                      </a:endParaRPr>
                    </a:p>
                  </a:txBody>
                  <a:tcPr>
                    <a:solidFill>
                      <a:schemeClr val="accent6">
                        <a:lumMod val="20000"/>
                        <a:lumOff val="80000"/>
                      </a:schemeClr>
                    </a:solidFill>
                  </a:tcPr>
                </a:tc>
                <a:tc>
                  <a:txBody>
                    <a:bodyPr/>
                    <a:p>
                      <a:pPr marL="0" algn="ctr" defTabSz="914400" rtl="0" eaLnBrk="1" latinLnBrk="0" hangingPunct="1">
                        <a:buNone/>
                        <a:defRPr sz="1800" kern="1200">
                          <a:solidFill>
                            <a:srgbClr val="000000"/>
                          </a:solidFill>
                          <a:latin typeface="等线" panose="02010600030101010101" pitchFamily="2" charset="-122"/>
                          <a:ea typeface="等线" panose="02010600030101010101" pitchFamily="2" charset="-122"/>
                          <a:cs typeface="+mn-cs"/>
                        </a:defRPr>
                      </a:pPr>
                      <a:r>
                        <a:rPr lang="zh-CN" altLang="en-US" sz="2000" kern="1200">
                          <a:solidFill>
                            <a:srgbClr val="000000"/>
                          </a:solidFill>
                          <a:latin typeface="微软雅黑" panose="020B0503020204020204" pitchFamily="34" charset="-122"/>
                          <a:ea typeface="微软雅黑" panose="020B0503020204020204" pitchFamily="34" charset="-122"/>
                          <a:cs typeface="+mn-cs"/>
                        </a:rPr>
                        <a:t>数据采集</a:t>
                      </a:r>
                      <a:r>
                        <a:rPr lang="zh-CN" altLang="en-US" sz="2000" kern="1200">
                          <a:solidFill>
                            <a:srgbClr val="000000"/>
                          </a:solidFill>
                          <a:latin typeface="微软雅黑" panose="020B0503020204020204" pitchFamily="34" charset="-122"/>
                          <a:ea typeface="微软雅黑" panose="020B0503020204020204" pitchFamily="34" charset="-122"/>
                          <a:cs typeface="+mn-cs"/>
                        </a:rPr>
                        <a:t>费用</a:t>
                      </a:r>
                      <a:endParaRPr lang="zh-CN" altLang="en-US" sz="2000" kern="1200">
                        <a:solidFill>
                          <a:srgbClr val="000000"/>
                        </a:solidFill>
                        <a:latin typeface="微软雅黑" panose="020B0503020204020204" pitchFamily="34" charset="-122"/>
                        <a:ea typeface="微软雅黑" panose="020B0503020204020204" pitchFamily="34" charset="-122"/>
                        <a:cs typeface="+mn-cs"/>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2F0D9"/>
                    </a:solidFill>
                  </a:tcPr>
                </a:tc>
              </a:tr>
              <a:tr h="831215">
                <a:tc gridSpan="3">
                  <a:txBody>
                    <a:bodyPr/>
                    <a:p>
                      <a:pPr algn="ctr">
                        <a:buNone/>
                      </a:pPr>
                      <a:r>
                        <a:rPr lang="zh-CN" altLang="en-US" sz="2000">
                          <a:solidFill>
                            <a:schemeClr val="dk1">
                              <a:alpha val="100000"/>
                            </a:schemeClr>
                          </a:solidFill>
                          <a:latin typeface="微软雅黑" panose="020B0503020204020204" pitchFamily="34" charset="-122"/>
                          <a:ea typeface="微软雅黑" panose="020B0503020204020204" pitchFamily="34" charset="-122"/>
                          <a:cs typeface="Times New Roman" panose="02020603050405020304"/>
                          <a:sym typeface="等线" panose="02010600030101010101" pitchFamily="2" charset="-122"/>
                        </a:rPr>
                        <a:t>累计使用经费：</a:t>
                      </a:r>
                      <a:r>
                        <a:rPr lang="en-US" altLang="zh-CN" sz="2000">
                          <a:solidFill>
                            <a:schemeClr val="dk1">
                              <a:alpha val="100000"/>
                            </a:schemeClr>
                          </a:solidFill>
                          <a:latin typeface="微软雅黑" panose="020B0503020204020204" pitchFamily="34" charset="-122"/>
                          <a:ea typeface="微软雅黑" panose="020B0503020204020204" pitchFamily="34" charset="-122"/>
                          <a:cs typeface="Times New Roman" panose="02020603050405020304"/>
                          <a:sym typeface="等线" panose="02010600030101010101" pitchFamily="2" charset="-122"/>
                        </a:rPr>
                        <a:t>9800</a:t>
                      </a:r>
                      <a:r>
                        <a:rPr lang="zh-CN" altLang="en-US" sz="2000">
                          <a:solidFill>
                            <a:schemeClr val="dk1">
                              <a:alpha val="100000"/>
                            </a:schemeClr>
                          </a:solidFill>
                          <a:latin typeface="微软雅黑" panose="020B0503020204020204" pitchFamily="34" charset="-122"/>
                          <a:ea typeface="微软雅黑" panose="020B0503020204020204" pitchFamily="34" charset="-122"/>
                          <a:cs typeface="Times New Roman" panose="02020603050405020304"/>
                          <a:sym typeface="等线" panose="02010600030101010101" pitchFamily="2" charset="-122"/>
                        </a:rPr>
                        <a:t>元</a:t>
                      </a:r>
                      <a:endParaRPr lang="zh-CN" altLang="en-US" sz="2000">
                        <a:solidFill>
                          <a:schemeClr val="dk1">
                            <a:alpha val="100000"/>
                          </a:schemeClr>
                        </a:solidFill>
                        <a:latin typeface="微软雅黑" panose="020B0503020204020204" pitchFamily="34" charset="-122"/>
                        <a:ea typeface="微软雅黑" panose="020B0503020204020204" pitchFamily="34" charset="-122"/>
                        <a:cs typeface="Times New Roman" panose="02020603050405020304"/>
                        <a:sym typeface="等线" panose="02010600030101010101" pitchFamily="2" charset="-122"/>
                      </a:endParaRPr>
                    </a:p>
                  </a:txBody>
                  <a:tcPr>
                    <a:lnR w="12700" cmpd="sng">
                      <a:solidFill>
                        <a:srgbClr val="FFFFFF"/>
                      </a:solidFill>
                    </a:lnR>
                    <a:solidFill>
                      <a:schemeClr val="accent6">
                        <a:lumMod val="40000"/>
                        <a:lumOff val="60000"/>
                      </a:schemeClr>
                    </a:solidFill>
                  </a:tcPr>
                </a:tc>
                <a:tc hMerge="1">
                  <a:tcPr>
                    <a:solidFill>
                      <a:schemeClr val="accent6">
                        <a:lumMod val="20000"/>
                        <a:lumOff val="80000"/>
                      </a:schemeClr>
                    </a:solidFill>
                  </a:tcPr>
                </a:tc>
                <a:tc hMerge="1">
                  <a:tcP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2F0D9"/>
                    </a:solidFill>
                  </a:tcPr>
                </a:tc>
              </a:tr>
            </a:tbl>
          </a:graphicData>
        </a:graphic>
      </p:graphicFrame>
      <p:sp>
        <p:nvSpPr>
          <p:cNvPr id="2" name="ïṣ1ïḑê"/>
          <p:cNvSpPr>
            <a:spLocks noGrp="1"/>
          </p:cNvSpPr>
          <p:nvPr/>
        </p:nvSpPr>
        <p:spPr>
          <a:xfrm>
            <a:off x="205105" y="1087120"/>
            <a:ext cx="10850880" cy="71247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rPr>
              <a:t>3.2 </a:t>
            </a:r>
            <a:r>
              <a:rPr lang="zh-CN" altLang="en-US" dirty="0">
                <a:solidFill>
                  <a:srgbClr val="005825"/>
                </a:solidFill>
              </a:rPr>
              <a:t>经费管理</a:t>
            </a:r>
            <a:endParaRPr lang="zh-CN" altLang="en-US" dirty="0">
              <a:solidFill>
                <a:schemeClr val="tx1"/>
              </a:solidFill>
              <a:latin typeface="Times New Roman" panose="02020603050405020304" pitchFamily="18" charset="0"/>
              <a:cs typeface="Times New Roman" panose="02020603050405020304" pitchFamily="18" charset="0"/>
            </a:endParaRPr>
          </a:p>
          <a:p>
            <a:endParaRPr lang="zh-CN" altLang="en-US"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6946934" y="-59933"/>
                <a:ext cx="253682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项目管理</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宋体" panose="02010600030101010101" pitchFamily="2" charset="-122"/>
                </a:rPr>
                <a:t>WUHAN UNIVERSITY</a:t>
              </a:r>
              <a:endParaRPr lang="en-US" altLang="zh-CN" sz="900" b="1" dirty="0">
                <a:solidFill>
                  <a:prstClr val="black"/>
                </a:solidFill>
                <a:latin typeface="Calibri" panose="020F0502020204030204"/>
                <a:ea typeface="宋体" panose="02010600030101010101" pitchFamily="2" charset="-122"/>
              </a:endParaRPr>
            </a:p>
          </p:txBody>
        </p:sp>
      </p:grpSp>
      <p:sp>
        <p:nvSpPr>
          <p:cNvPr id="2" name="ïṣ1ïḑê"/>
          <p:cNvSpPr>
            <a:spLocks noGrp="1"/>
          </p:cNvSpPr>
          <p:nvPr/>
        </p:nvSpPr>
        <p:spPr>
          <a:xfrm>
            <a:off x="205105" y="1087120"/>
            <a:ext cx="10850880" cy="71247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rPr>
              <a:t>3.3 </a:t>
            </a:r>
            <a:r>
              <a:rPr lang="zh-CN" altLang="en-US" dirty="0">
                <a:solidFill>
                  <a:srgbClr val="005825"/>
                </a:solidFill>
              </a:rPr>
              <a:t>项目成果</a:t>
            </a:r>
            <a:endParaRPr lang="zh-CN" altLang="en-US" dirty="0">
              <a:solidFill>
                <a:schemeClr val="tx1"/>
              </a:solidFill>
              <a:latin typeface="Times New Roman" panose="02020603050405020304" pitchFamily="18" charset="0"/>
              <a:cs typeface="Times New Roman" panose="02020603050405020304" pitchFamily="18" charset="0"/>
            </a:endParaRPr>
          </a:p>
          <a:p>
            <a:endParaRPr lang="zh-CN" altLang="en-US" dirty="0">
              <a:solidFill>
                <a:schemeClr val="tx1"/>
              </a:solidFill>
              <a:latin typeface="Times New Roman" panose="02020603050405020304" pitchFamily="18" charset="0"/>
              <a:cs typeface="Times New Roman" panose="02020603050405020304" pitchFamily="18" charset="0"/>
            </a:endParaRPr>
          </a:p>
        </p:txBody>
      </p:sp>
      <p:grpSp>
        <p:nvGrpSpPr>
          <p:cNvPr id="8" name="组合 7"/>
          <p:cNvGrpSpPr/>
          <p:nvPr/>
        </p:nvGrpSpPr>
        <p:grpSpPr>
          <a:xfrm>
            <a:off x="414655" y="1664970"/>
            <a:ext cx="3669030" cy="4589780"/>
            <a:chOff x="1851" y="2487"/>
            <a:chExt cx="5602" cy="7610"/>
          </a:xfrm>
        </p:grpSpPr>
        <p:pic>
          <p:nvPicPr>
            <p:cNvPr id="4" name="图片 3"/>
            <p:cNvPicPr>
              <a:picLocks noChangeAspect="1"/>
            </p:cNvPicPr>
            <p:nvPr/>
          </p:nvPicPr>
          <p:blipFill>
            <a:blip r:embed="rId4"/>
            <a:stretch>
              <a:fillRect/>
            </a:stretch>
          </p:blipFill>
          <p:spPr>
            <a:xfrm>
              <a:off x="1851" y="2507"/>
              <a:ext cx="2837" cy="3856"/>
            </a:xfrm>
            <a:prstGeom prst="rect">
              <a:avLst/>
            </a:prstGeom>
          </p:spPr>
        </p:pic>
        <p:pic>
          <p:nvPicPr>
            <p:cNvPr id="5" name="图片 4"/>
            <p:cNvPicPr>
              <a:picLocks noChangeAspect="1"/>
            </p:cNvPicPr>
            <p:nvPr/>
          </p:nvPicPr>
          <p:blipFill>
            <a:blip r:embed="rId5"/>
            <a:stretch>
              <a:fillRect/>
            </a:stretch>
          </p:blipFill>
          <p:spPr>
            <a:xfrm>
              <a:off x="4688" y="2487"/>
              <a:ext cx="2765" cy="3834"/>
            </a:xfrm>
            <a:prstGeom prst="rect">
              <a:avLst/>
            </a:prstGeom>
          </p:spPr>
        </p:pic>
        <p:pic>
          <p:nvPicPr>
            <p:cNvPr id="6" name="图片 5"/>
            <p:cNvPicPr>
              <a:picLocks noChangeAspect="1"/>
            </p:cNvPicPr>
            <p:nvPr/>
          </p:nvPicPr>
          <p:blipFill>
            <a:blip r:embed="rId6"/>
            <a:stretch>
              <a:fillRect/>
            </a:stretch>
          </p:blipFill>
          <p:spPr>
            <a:xfrm>
              <a:off x="1851" y="6341"/>
              <a:ext cx="2733" cy="3757"/>
            </a:xfrm>
            <a:prstGeom prst="rect">
              <a:avLst/>
            </a:prstGeom>
          </p:spPr>
        </p:pic>
        <p:pic>
          <p:nvPicPr>
            <p:cNvPr id="7" name="图片 6"/>
            <p:cNvPicPr>
              <a:picLocks noChangeAspect="1"/>
            </p:cNvPicPr>
            <p:nvPr/>
          </p:nvPicPr>
          <p:blipFill>
            <a:blip r:embed="rId7"/>
            <a:stretch>
              <a:fillRect/>
            </a:stretch>
          </p:blipFill>
          <p:spPr>
            <a:xfrm>
              <a:off x="4669" y="6321"/>
              <a:ext cx="2784" cy="3777"/>
            </a:xfrm>
            <a:prstGeom prst="rect">
              <a:avLst/>
            </a:prstGeom>
          </p:spPr>
        </p:pic>
      </p:grpSp>
      <p:sp>
        <p:nvSpPr>
          <p:cNvPr id="9" name="文本框 8"/>
          <p:cNvSpPr txBox="1"/>
          <p:nvPr/>
        </p:nvSpPr>
        <p:spPr>
          <a:xfrm>
            <a:off x="4404995" y="1677035"/>
            <a:ext cx="3291840" cy="402590"/>
          </a:xfrm>
          <a:prstGeom prst="rect">
            <a:avLst/>
          </a:prstGeom>
          <a:noFill/>
        </p:spPr>
        <p:txBody>
          <a:bodyPr wrap="square" rtlCol="0" anchor="t">
            <a:noAutofit/>
          </a:bodyPr>
          <a:p>
            <a:r>
              <a:rPr lang="zh-CN" altLang="en-US" sz="2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论文在投</a:t>
            </a:r>
            <a:endParaRPr lang="zh-CN" altLang="en-US" sz="2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Deciphering the impact of built environment on urban traffic congestion using principal component geographically weighted random forest and interpretable machine learning method</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文本框 9"/>
          <p:cNvSpPr txBox="1"/>
          <p:nvPr/>
        </p:nvSpPr>
        <p:spPr>
          <a:xfrm>
            <a:off x="4404995" y="4339590"/>
            <a:ext cx="3291840" cy="402590"/>
          </a:xfrm>
          <a:prstGeom prst="rect">
            <a:avLst/>
          </a:prstGeom>
          <a:noFill/>
        </p:spPr>
        <p:txBody>
          <a:bodyPr wrap="square" rtlCol="0" anchor="t">
            <a:noAutofit/>
          </a:bodyPr>
          <a:p>
            <a:r>
              <a:rPr lang="zh-CN" altLang="en-US" sz="2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完成专利</a:t>
            </a:r>
            <a:r>
              <a:rPr lang="zh-CN" altLang="en-US" sz="2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撰写</a:t>
            </a:r>
            <a:endParaRPr lang="zh-CN" altLang="en-US" sz="2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《一种面向</a:t>
            </a: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7D </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建成环境的城市交通拥堵评价与机理分析方法》</a:t>
            </a:r>
            <a:endPar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左弧形箭头 12"/>
          <p:cNvSpPr/>
          <p:nvPr/>
        </p:nvSpPr>
        <p:spPr>
          <a:xfrm rot="5400000">
            <a:off x="3952240" y="386715"/>
            <a:ext cx="557530" cy="1818640"/>
          </a:xfrm>
          <a:prstGeom prst="curvedRightArrow">
            <a:avLst/>
          </a:prstGeom>
          <a:solidFill>
            <a:schemeClr val="accent6">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4" name="左弧形箭头 13"/>
          <p:cNvSpPr/>
          <p:nvPr/>
        </p:nvSpPr>
        <p:spPr>
          <a:xfrm rot="16200000">
            <a:off x="6971665" y="5067300"/>
            <a:ext cx="557530" cy="1818640"/>
          </a:xfrm>
          <a:prstGeom prst="curvedRightArrow">
            <a:avLst/>
          </a:prstGeom>
          <a:solidFill>
            <a:schemeClr val="accent6">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pic>
        <p:nvPicPr>
          <p:cNvPr id="16" name="图片 15"/>
          <p:cNvPicPr>
            <a:picLocks noChangeAspect="1"/>
          </p:cNvPicPr>
          <p:nvPr/>
        </p:nvPicPr>
        <p:blipFill>
          <a:blip r:embed="rId8"/>
          <a:stretch>
            <a:fillRect/>
          </a:stretch>
        </p:blipFill>
        <p:spPr>
          <a:xfrm>
            <a:off x="8227060" y="1252220"/>
            <a:ext cx="3357245" cy="461073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11" name="矩形: 圆角 65"/>
          <p:cNvSpPr/>
          <p:nvPr>
            <p:custDataLst>
              <p:tags r:id="rId1"/>
            </p:custDataLst>
          </p:nvPr>
        </p:nvSpPr>
        <p:spPr>
          <a:xfrm>
            <a:off x="310515" y="1506220"/>
            <a:ext cx="5083175" cy="3845560"/>
          </a:xfrm>
          <a:prstGeom prst="roundRect">
            <a:avLst/>
          </a:prstGeom>
          <a:solidFill>
            <a:schemeClr val="bg1"/>
          </a:solid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解释变量目前缺乏精确的指标来衡量机动车道和非机动车道的舒适度水平</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2"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6946934" y="-59933"/>
                <a:ext cx="2536825"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项目管理</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954929" y="50595"/>
              <a:ext cx="1966595"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3"/>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4"/>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宋体" panose="02010600030101010101" pitchFamily="2" charset="-122"/>
                </a:rPr>
                <a:t>WUHAN UNIVERSITY</a:t>
              </a:r>
              <a:endParaRPr lang="en-US" altLang="zh-CN" sz="900" b="1" dirty="0">
                <a:solidFill>
                  <a:prstClr val="black"/>
                </a:solidFill>
                <a:latin typeface="Calibri" panose="020F0502020204030204"/>
                <a:ea typeface="宋体" panose="02010600030101010101" pitchFamily="2" charset="-122"/>
              </a:endParaRPr>
            </a:p>
          </p:txBody>
        </p:sp>
      </p:grpSp>
      <p:sp>
        <p:nvSpPr>
          <p:cNvPr id="2" name="ïṣ1ïḑê"/>
          <p:cNvSpPr>
            <a:spLocks noGrp="1"/>
          </p:cNvSpPr>
          <p:nvPr/>
        </p:nvSpPr>
        <p:spPr>
          <a:xfrm>
            <a:off x="205105" y="1087120"/>
            <a:ext cx="10850880" cy="71247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800" b="1" kern="1200">
                <a:solidFill>
                  <a:srgbClr val="000000"/>
                </a:solidFill>
                <a:latin typeface="Arial" panose="020B0604020202020204" pitchFamily="34" charset="0"/>
                <a:ea typeface="微软雅黑" panose="020B0503020204020204" pitchFamily="34" charset="-122"/>
                <a:cs typeface="+mn-ea"/>
              </a:defRPr>
            </a:lvl1pPr>
          </a:lstStyle>
          <a:p>
            <a:r>
              <a:rPr lang="en-US" altLang="zh-CN" dirty="0">
                <a:solidFill>
                  <a:srgbClr val="005825"/>
                </a:solidFill>
              </a:rPr>
              <a:t>3.3 </a:t>
            </a:r>
            <a:r>
              <a:rPr lang="zh-CN" altLang="en-US" dirty="0">
                <a:solidFill>
                  <a:srgbClr val="005825"/>
                </a:solidFill>
              </a:rPr>
              <a:t>项目成果</a:t>
            </a:r>
            <a:endParaRPr lang="zh-CN" altLang="en-US" dirty="0">
              <a:solidFill>
                <a:schemeClr val="tx1"/>
              </a:solidFill>
              <a:latin typeface="Times New Roman" panose="02020603050405020304" pitchFamily="18" charset="0"/>
              <a:cs typeface="Times New Roman" panose="02020603050405020304" pitchFamily="18" charset="0"/>
            </a:endParaRPr>
          </a:p>
          <a:p>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9" name="文本框 8"/>
          <p:cNvSpPr txBox="1"/>
          <p:nvPr/>
        </p:nvSpPr>
        <p:spPr>
          <a:xfrm>
            <a:off x="1208405" y="5641975"/>
            <a:ext cx="2766060" cy="402590"/>
          </a:xfrm>
          <a:prstGeom prst="rect">
            <a:avLst/>
          </a:prstGeom>
          <a:noFill/>
        </p:spPr>
        <p:txBody>
          <a:bodyPr wrap="square" rtlCol="0" anchor="t">
            <a:noAutofit/>
          </a:bodyPr>
          <a:p>
            <a:r>
              <a:rPr lang="zh-CN" altLang="en-US" sz="2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完成研究报告</a:t>
            </a:r>
            <a:r>
              <a:rPr lang="zh-CN" altLang="en-US" sz="2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撰写</a:t>
            </a:r>
            <a:endParaRPr lang="zh-CN" altLang="en-US" sz="2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endPar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 name="图片 0"/>
          <p:cNvPicPr>
            <a:picLocks noChangeAspect="1"/>
          </p:cNvPicPr>
          <p:nvPr/>
        </p:nvPicPr>
        <p:blipFill>
          <a:blip r:embed="rId5"/>
          <a:srcRect l="9965" t="4848" r="9563" b="4564"/>
          <a:stretch>
            <a:fillRect/>
          </a:stretch>
        </p:blipFill>
        <p:spPr>
          <a:xfrm>
            <a:off x="650875" y="1869440"/>
            <a:ext cx="2035810" cy="2835910"/>
          </a:xfrm>
          <a:prstGeom prst="rect">
            <a:avLst/>
          </a:prstGeom>
        </p:spPr>
      </p:pic>
      <p:pic>
        <p:nvPicPr>
          <p:cNvPr id="3" name="图片 2"/>
          <p:cNvPicPr>
            <a:picLocks noChangeAspect="1"/>
          </p:cNvPicPr>
          <p:nvPr/>
        </p:nvPicPr>
        <p:blipFill>
          <a:blip r:embed="rId6"/>
          <a:stretch>
            <a:fillRect/>
          </a:stretch>
        </p:blipFill>
        <p:spPr>
          <a:xfrm>
            <a:off x="2811145" y="1704340"/>
            <a:ext cx="2364105" cy="3448685"/>
          </a:xfrm>
          <a:prstGeom prst="rect">
            <a:avLst/>
          </a:prstGeom>
        </p:spPr>
      </p:pic>
      <p:sp>
        <p:nvSpPr>
          <p:cNvPr id="12" name="矩形: 圆角 65"/>
          <p:cNvSpPr/>
          <p:nvPr>
            <p:custDataLst>
              <p:tags r:id="rId7"/>
            </p:custDataLst>
          </p:nvPr>
        </p:nvSpPr>
        <p:spPr>
          <a:xfrm>
            <a:off x="5698490" y="1416685"/>
            <a:ext cx="6095365" cy="3935095"/>
          </a:xfrm>
          <a:prstGeom prst="roundRect">
            <a:avLst/>
          </a:prstGeom>
          <a:solidFill>
            <a:schemeClr val="bg1"/>
          </a:solid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解释变量目前缺乏精确的指标来衡量机动车道和非机动车道的舒适度水平</a:t>
            </a:r>
            <a:endParaRPr lang="zh-CN" altLang="en-US" dirty="0">
              <a:solidFill>
                <a:schemeClr val="tx1"/>
              </a:solidFill>
              <a:latin typeface="微软雅黑" panose="020B0503020204020204" pitchFamily="34" charset="-122"/>
              <a:ea typeface="微软雅黑" panose="020B0503020204020204" pitchFamily="34" charset="-122"/>
            </a:endParaRPr>
          </a:p>
        </p:txBody>
      </p:sp>
      <p:pic>
        <p:nvPicPr>
          <p:cNvPr id="15" name="图片 14"/>
          <p:cNvPicPr>
            <a:picLocks noChangeAspect="1"/>
          </p:cNvPicPr>
          <p:nvPr/>
        </p:nvPicPr>
        <p:blipFill>
          <a:blip r:embed="rId8"/>
          <a:srcRect l="6506" t="7037" r="235" b="2583"/>
          <a:stretch>
            <a:fillRect/>
          </a:stretch>
        </p:blipFill>
        <p:spPr>
          <a:xfrm>
            <a:off x="5820410" y="1869440"/>
            <a:ext cx="2349500" cy="3037205"/>
          </a:xfrm>
          <a:prstGeom prst="rect">
            <a:avLst/>
          </a:prstGeom>
        </p:spPr>
      </p:pic>
      <p:sp>
        <p:nvSpPr>
          <p:cNvPr id="17" name="文本框 16"/>
          <p:cNvSpPr txBox="1"/>
          <p:nvPr/>
        </p:nvSpPr>
        <p:spPr>
          <a:xfrm>
            <a:off x="5393690" y="5535295"/>
            <a:ext cx="6096000" cy="706755"/>
          </a:xfrm>
          <a:prstGeom prst="rect">
            <a:avLst/>
          </a:prstGeom>
          <a:noFill/>
        </p:spPr>
        <p:txBody>
          <a:bodyPr wrap="square" rtlCol="0" anchor="t">
            <a:spAutoFit/>
          </a:bodyPr>
          <a:p>
            <a:pPr algn="ct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赴南京大学参加2025年地理科学拔尖计划 2.0基地学生学术交流会，就本项目做报告发言</a:t>
            </a:r>
            <a:endParaRPr lang="zh-CN" altLang="en-US" sz="2000" b="1"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8" name="图片 17"/>
          <p:cNvPicPr>
            <a:picLocks noChangeAspect="1"/>
          </p:cNvPicPr>
          <p:nvPr/>
        </p:nvPicPr>
        <p:blipFill>
          <a:blip r:embed="rId9"/>
          <a:stretch>
            <a:fillRect/>
          </a:stretch>
        </p:blipFill>
        <p:spPr>
          <a:xfrm>
            <a:off x="8298180" y="2097405"/>
            <a:ext cx="3378835" cy="253492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581" name=""/>
        <p:cNvGrpSpPr/>
        <p:nvPr/>
      </p:nvGrpSpPr>
      <p:grpSpPr>
        <a:xfrm>
          <a:off x="0" y="0"/>
          <a:ext cx="0" cy="0"/>
          <a:chOff x="0" y="0"/>
          <a:chExt cx="0" cy="0"/>
        </a:xfrm>
      </p:grpSpPr>
      <p:sp>
        <p:nvSpPr>
          <p:cNvPr id="582" name="文本框 60"/>
          <p:cNvSpPr txBox="1"/>
          <p:nvPr/>
        </p:nvSpPr>
        <p:spPr>
          <a:xfrm>
            <a:off x="10320239" y="216952"/>
            <a:ext cx="3123637" cy="369332"/>
          </a:xfrm>
          <a:prstGeom prst="rect">
            <a:avLst/>
          </a:prstGeom>
          <a:noFill/>
        </p:spPr>
        <p:txBody>
          <a:bodyPr wrap="square" rtlCol="0">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未来展望</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85" name="组合 68"/>
          <p:cNvGrpSpPr/>
          <p:nvPr/>
        </p:nvGrpSpPr>
        <p:grpSpPr>
          <a:xfrm>
            <a:off x="0" y="15886"/>
            <a:ext cx="12219295" cy="1001194"/>
            <a:chOff x="-128871" y="-59933"/>
            <a:chExt cx="12219295" cy="1001194"/>
          </a:xfrm>
        </p:grpSpPr>
        <p:grpSp>
          <p:nvGrpSpPr>
            <p:cNvPr id="586" name="组合 67"/>
            <p:cNvGrpSpPr/>
            <p:nvPr/>
          </p:nvGrpSpPr>
          <p:grpSpPr>
            <a:xfrm>
              <a:off x="-128871" y="-59933"/>
              <a:ext cx="12219295" cy="1001194"/>
              <a:chOff x="-128871" y="-59933"/>
              <a:chExt cx="12219295" cy="1001194"/>
            </a:xfrm>
          </p:grpSpPr>
          <p:pic>
            <p:nvPicPr>
              <p:cNvPr id="587" name="图片 53"/>
              <p:cNvPicPr>
                <a:picLocks noChangeAspect="1"/>
              </p:cNvPicPr>
              <p:nvPr/>
            </p:nvPicPr>
            <p:blipFill>
              <a:blip r:embed="rId1" cstate="print"/>
              <a:stretch>
                <a:fillRect/>
              </a:stretch>
            </p:blipFill>
            <p:spPr>
              <a:xfrm>
                <a:off x="-128871" y="-59933"/>
                <a:ext cx="12219295" cy="1001194"/>
              </a:xfrm>
              <a:prstGeom prst="rect">
                <a:avLst/>
              </a:prstGeom>
              <a:effectLst>
                <a:outerShdw blurRad="50800" dist="38100" dir="8100000" algn="tr" rotWithShape="0">
                  <a:prstClr val="black">
                    <a:alpha val="40000"/>
                  </a:prstClr>
                </a:outerShdw>
              </a:effectLst>
            </p:spPr>
          </p:pic>
          <p:sp>
            <p:nvSpPr>
              <p:cNvPr id="588" name="矩形 55"/>
              <p:cNvSpPr/>
              <p:nvPr/>
            </p:nvSpPr>
            <p:spPr>
              <a:xfrm>
                <a:off x="9472329" y="-59933"/>
                <a:ext cx="2604770" cy="773430"/>
              </a:xfrm>
              <a:prstGeom prst="rect">
                <a:avLst/>
              </a:prstGeom>
              <a:solidFill>
                <a:srgbClr val="005825"/>
              </a:solidFill>
              <a:ln>
                <a:solidFill>
                  <a:srgbClr val="00582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89" name="文本框 57"/>
              <p:cNvSpPr txBox="1"/>
              <p:nvPr/>
            </p:nvSpPr>
            <p:spPr>
              <a:xfrm>
                <a:off x="2629484" y="48215"/>
                <a:ext cx="3123637"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选题背景</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0" name="文本框 58"/>
              <p:cNvSpPr txBox="1"/>
              <p:nvPr/>
            </p:nvSpPr>
            <p:spPr>
              <a:xfrm>
                <a:off x="4852069" y="48055"/>
                <a:ext cx="1771650" cy="521970"/>
              </a:xfrm>
              <a:prstGeom prst="rect">
                <a:avLst/>
              </a:prstGeom>
              <a:noFill/>
            </p:spPr>
            <p:txBody>
              <a:bodyPr wrap="square" rtlCol="0">
                <a:spAutoFit/>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项目方案</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91" name="文本框 59"/>
              <p:cNvSpPr txBox="1"/>
              <p:nvPr/>
            </p:nvSpPr>
            <p:spPr>
              <a:xfrm>
                <a:off x="7339364" y="50595"/>
                <a:ext cx="1741805" cy="521970"/>
              </a:xfrm>
              <a:prstGeom prst="rect">
                <a:avLst/>
              </a:prstGeom>
              <a:noFill/>
            </p:spPr>
            <p:txBody>
              <a:bodyPr wrap="square" rtlCol="0">
                <a:spAutoFit/>
              </a:bodyPr>
              <a:lstStyle/>
              <a:p>
                <a:pPr algn="l">
                  <a:buClrTx/>
                  <a:buSzTx/>
                  <a:buFontTx/>
                </a:pPr>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rPr>
                  <a:t>项目管理</a:t>
                </a:r>
                <a:endPar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592" name="直接连接符 61"/>
              <p:cNvCxnSpPr/>
              <p:nvPr/>
            </p:nvCxnSpPr>
            <p:spPr>
              <a:xfrm>
                <a:off x="4529735" y="113988"/>
                <a:ext cx="0" cy="40241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直接连接符 62"/>
              <p:cNvCxnSpPr/>
              <p:nvPr/>
            </p:nvCxnSpPr>
            <p:spPr>
              <a:xfrm flipH="1">
                <a:off x="6955732" y="194315"/>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94" name="文本框 65"/>
            <p:cNvSpPr txBox="1"/>
            <p:nvPr/>
          </p:nvSpPr>
          <p:spPr>
            <a:xfrm>
              <a:off x="9846344" y="50595"/>
              <a:ext cx="1966595" cy="52197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总结展望</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cxnSp>
        <p:nvCxnSpPr>
          <p:cNvPr id="595" name="直接连接符 62"/>
          <p:cNvCxnSpPr/>
          <p:nvPr/>
        </p:nvCxnSpPr>
        <p:spPr>
          <a:xfrm flipH="1">
            <a:off x="9592354" y="270134"/>
            <a:ext cx="468" cy="29128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596" name="组合 13"/>
          <p:cNvGrpSpPr/>
          <p:nvPr/>
        </p:nvGrpSpPr>
        <p:grpSpPr>
          <a:xfrm>
            <a:off x="204998" y="81727"/>
            <a:ext cx="1999471" cy="590901"/>
            <a:chOff x="4077923" y="171807"/>
            <a:chExt cx="4420435" cy="1371709"/>
          </a:xfrm>
        </p:grpSpPr>
        <p:grpSp>
          <p:nvGrpSpPr>
            <p:cNvPr id="597" name="组合 14"/>
            <p:cNvGrpSpPr/>
            <p:nvPr/>
          </p:nvGrpSpPr>
          <p:grpSpPr>
            <a:xfrm>
              <a:off x="4077923" y="171807"/>
              <a:ext cx="4260493" cy="1371709"/>
              <a:chOff x="6331308" y="1189619"/>
              <a:chExt cx="5481392" cy="1764794"/>
            </a:xfrm>
          </p:grpSpPr>
          <p:pic>
            <p:nvPicPr>
              <p:cNvPr id="598" name="图片 33"/>
              <p:cNvPicPr>
                <a:picLocks noChangeAspect="1"/>
              </p:cNvPicPr>
              <p:nvPr/>
            </p:nvPicPr>
            <p:blipFill>
              <a:blip r:embed="rId2"/>
              <a:srcRect/>
              <a:stretch>
                <a:fillRect/>
              </a:stretch>
            </p:blipFill>
            <p:spPr>
              <a:xfrm>
                <a:off x="6331308" y="1189619"/>
                <a:ext cx="1791803" cy="1764794"/>
              </a:xfrm>
              <a:prstGeom prst="rect">
                <a:avLst/>
              </a:prstGeom>
            </p:spPr>
          </p:pic>
          <p:pic>
            <p:nvPicPr>
              <p:cNvPr id="599" name="图片 35"/>
              <p:cNvPicPr>
                <a:picLocks noChangeAspect="1"/>
              </p:cNvPicPr>
              <p:nvPr/>
            </p:nvPicPr>
            <p:blipFill>
              <a:blip r:embed="rId3"/>
              <a:srcRect/>
              <a:stretch>
                <a:fillRect/>
              </a:stretch>
            </p:blipFill>
            <p:spPr>
              <a:xfrm>
                <a:off x="8302517" y="1422328"/>
                <a:ext cx="3510183" cy="965303"/>
              </a:xfrm>
              <a:prstGeom prst="rect">
                <a:avLst/>
              </a:prstGeom>
            </p:spPr>
          </p:pic>
        </p:grpSp>
        <p:sp>
          <p:nvSpPr>
            <p:cNvPr id="600" name="矩形 15"/>
            <p:cNvSpPr/>
            <p:nvPr/>
          </p:nvSpPr>
          <p:spPr>
            <a:xfrm>
              <a:off x="5470629" y="1076339"/>
              <a:ext cx="3027729" cy="410186"/>
            </a:xfrm>
            <a:prstGeom prst="rect">
              <a:avLst/>
            </a:prstGeom>
          </p:spPr>
          <p:txBody>
            <a:bodyPr wrap="square">
              <a:spAutoFit/>
            </a:bodyPr>
            <a:lstStyle/>
            <a:p>
              <a:pPr algn="dist">
                <a:defRPr/>
              </a:pPr>
              <a:r>
                <a:rPr lang="en-US" altLang="zh-CN" sz="900" b="1" dirty="0">
                  <a:solidFill>
                    <a:prstClr val="black"/>
                  </a:solidFill>
                  <a:latin typeface="Calibri" panose="020F0502020204030204"/>
                  <a:ea typeface="宋体" panose="02010600030101010101" pitchFamily="2" charset="-122"/>
                </a:rPr>
                <a:t>WUHAN UNIVERSITY</a:t>
              </a:r>
              <a:endParaRPr lang="en-US" altLang="zh-CN" sz="900" b="1" dirty="0">
                <a:solidFill>
                  <a:prstClr val="black"/>
                </a:solidFill>
                <a:latin typeface="Calibri" panose="020F0502020204030204"/>
                <a:ea typeface="宋体" panose="02010600030101010101" pitchFamily="2" charset="-122"/>
              </a:endParaRPr>
            </a:p>
          </p:txBody>
        </p:sp>
      </p:grpSp>
      <p:sp>
        <p:nvSpPr>
          <p:cNvPr id="6" name="矩形: 圆角 65"/>
          <p:cNvSpPr/>
          <p:nvPr>
            <p:custDataLst>
              <p:tags r:id="rId4"/>
            </p:custDataLst>
          </p:nvPr>
        </p:nvSpPr>
        <p:spPr>
          <a:xfrm>
            <a:off x="1403166" y="1124942"/>
            <a:ext cx="9156050" cy="2250718"/>
          </a:xfrm>
          <a:prstGeom prst="roundRect">
            <a:avLst/>
          </a:prstGeom>
          <a:solidFill>
            <a:schemeClr val="bg1"/>
          </a:solid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解释变量目前缺乏精确的指标来衡量机动车道和非机动车道的舒适度水平</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7" name="矩形: 圆角 66"/>
          <p:cNvSpPr/>
          <p:nvPr>
            <p:custDataLst>
              <p:tags r:id="rId5"/>
            </p:custDataLst>
          </p:nvPr>
        </p:nvSpPr>
        <p:spPr>
          <a:xfrm>
            <a:off x="648786" y="1975981"/>
            <a:ext cx="1196340" cy="548640"/>
          </a:xfrm>
          <a:prstGeom prst="roundRect">
            <a:avLst/>
          </a:prstGeom>
          <a:solidFill>
            <a:schemeClr val="accent6">
              <a:lumMod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总结</a:t>
            </a:r>
            <a:endParaRPr lang="zh-CN" altLang="en-US" b="1" dirty="0">
              <a:latin typeface="微软雅黑" panose="020B0503020204020204" pitchFamily="34" charset="-122"/>
              <a:ea typeface="微软雅黑" panose="020B0503020204020204" pitchFamily="34" charset="-122"/>
            </a:endParaRPr>
          </a:p>
        </p:txBody>
      </p:sp>
      <p:sp>
        <p:nvSpPr>
          <p:cNvPr id="8" name="Bullet1"/>
          <p:cNvSpPr/>
          <p:nvPr>
            <p:custDataLst>
              <p:tags r:id="rId6"/>
            </p:custDataLst>
          </p:nvPr>
        </p:nvSpPr>
        <p:spPr>
          <a:xfrm>
            <a:off x="2127389" y="1124942"/>
            <a:ext cx="8149564" cy="2250717"/>
          </a:xfrm>
          <a:prstGeom prst="rect">
            <a:avLst/>
          </a:prstGeom>
          <a:no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42900" indent="-342900">
              <a:lnSpc>
                <a:spcPct val="125000"/>
              </a:lnSpc>
              <a:spcAft>
                <a:spcPts val="600"/>
              </a:spcAft>
              <a:buFont typeface="Wingdings" panose="05000000000000000000" pitchFamily="2" charset="2"/>
              <a:buChar char="p"/>
            </a:pP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利用建成环境</a:t>
            </a: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7D</a:t>
            </a: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模型，构建了评价城市交通拥堵的指标体系</a:t>
            </a:r>
            <a:endPar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25000"/>
              </a:lnSpc>
              <a:spcAft>
                <a:spcPts val="600"/>
              </a:spcAft>
              <a:buFont typeface="Wingdings" panose="05000000000000000000" pitchFamily="2" charset="2"/>
              <a:buChar char="p"/>
            </a:pP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提出主成分地理加权随机森林模型，探究了城市交通拥堵的影响因素与空间异质性</a:t>
            </a:r>
            <a:endPar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25000"/>
              </a:lnSpc>
              <a:spcAft>
                <a:spcPts val="600"/>
              </a:spcAft>
              <a:buFont typeface="Wingdings" panose="05000000000000000000" pitchFamily="2" charset="2"/>
              <a:buChar char="p"/>
            </a:pP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利用亲和力传播算法聚类交通小区，针对性分析了致堵因素并提出拥堵缓解策略</a:t>
            </a:r>
            <a:endPar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圆角 84"/>
          <p:cNvSpPr/>
          <p:nvPr>
            <p:custDataLst>
              <p:tags r:id="rId7"/>
            </p:custDataLst>
          </p:nvPr>
        </p:nvSpPr>
        <p:spPr>
          <a:xfrm>
            <a:off x="1338580" y="3905885"/>
            <a:ext cx="9221470" cy="2250440"/>
          </a:xfrm>
          <a:prstGeom prst="roundRect">
            <a:avLst/>
          </a:prstGeom>
          <a:solidFill>
            <a:schemeClr val="bg1"/>
          </a:solid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解释变量目前缺乏精确的指标来衡量机动车道和非机动车道的舒适度水平</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0" name="矩形: 圆角 85"/>
          <p:cNvSpPr/>
          <p:nvPr>
            <p:custDataLst>
              <p:tags r:id="rId8"/>
            </p:custDataLst>
          </p:nvPr>
        </p:nvSpPr>
        <p:spPr>
          <a:xfrm>
            <a:off x="584208" y="4756734"/>
            <a:ext cx="1196340" cy="548640"/>
          </a:xfrm>
          <a:prstGeom prst="roundRect">
            <a:avLst/>
          </a:prstGeom>
          <a:solidFill>
            <a:schemeClr val="accent6">
              <a:lumMod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展望</a:t>
            </a:r>
            <a:endParaRPr lang="zh-CN" altLang="en-US" b="1" dirty="0">
              <a:latin typeface="微软雅黑" panose="020B0503020204020204" pitchFamily="34" charset="-122"/>
              <a:ea typeface="微软雅黑" panose="020B0503020204020204" pitchFamily="34" charset="-122"/>
            </a:endParaRPr>
          </a:p>
        </p:txBody>
      </p:sp>
      <p:sp>
        <p:nvSpPr>
          <p:cNvPr id="11" name="Bullet1"/>
          <p:cNvSpPr/>
          <p:nvPr>
            <p:custDataLst>
              <p:tags r:id="rId9"/>
            </p:custDataLst>
          </p:nvPr>
        </p:nvSpPr>
        <p:spPr>
          <a:xfrm>
            <a:off x="2127389" y="3905694"/>
            <a:ext cx="8149564" cy="2250718"/>
          </a:xfrm>
          <a:prstGeom prst="rect">
            <a:avLst/>
          </a:prstGeom>
          <a:no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342900" indent="-342900">
              <a:lnSpc>
                <a:spcPct val="125000"/>
              </a:lnSpc>
              <a:spcAft>
                <a:spcPts val="600"/>
              </a:spcAft>
              <a:buFont typeface="Wingdings" panose="05000000000000000000" pitchFamily="2" charset="2"/>
              <a:buChar char="p"/>
            </a:pP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完善实验数据，利用特征精确识别常发性与偶发性拥堵，构建拥堵“源头</a:t>
            </a: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路段</a:t>
            </a: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区域”三维分析框架，系统解构城市交通拥堵成因；</a:t>
            </a:r>
            <a:endPar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25000"/>
              </a:lnSpc>
              <a:spcAft>
                <a:spcPts val="600"/>
              </a:spcAft>
              <a:buFont typeface="Wingdings" panose="05000000000000000000" pitchFamily="2" charset="2"/>
              <a:buChar char="p"/>
            </a:pP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引入地理时空加权模型，深度挖掘拥堵驱动因素的时空异质性规律，为精细化治理提供科学依据。</a:t>
            </a:r>
            <a:endPar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25000"/>
              </a:lnSpc>
              <a:spcAft>
                <a:spcPts val="600"/>
              </a:spcAft>
              <a:buFont typeface="Wingdings" panose="05000000000000000000" pitchFamily="2" charset="2"/>
              <a:buChar char="p"/>
            </a:pP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游戏引擎中建模真实城市，利用游戏引擎探究拥堵缓解策略有效性。</a:t>
            </a:r>
            <a:endPar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07" name=""/>
        <p:cNvGrpSpPr/>
        <p:nvPr/>
      </p:nvGrpSpPr>
      <p:grpSpPr>
        <a:xfrm>
          <a:off x="0" y="0"/>
          <a:ext cx="0" cy="0"/>
          <a:chOff x="0" y="0"/>
          <a:chExt cx="0" cy="0"/>
        </a:xfrm>
      </p:grpSpPr>
      <p:pic>
        <p:nvPicPr>
          <p:cNvPr id="108" name="Picture 2"/>
          <p:cNvPicPr>
            <a:picLocks noChangeAspect="1" noChangeArrowheads="1"/>
          </p:cNvPicPr>
          <p:nvPr/>
        </p:nvPicPr>
        <p:blipFill rotWithShape="1">
          <a:blip r:embed="rId1">
            <a:extLst>
              <a:ext uri="{BEBA8EAE-BF5A-486C-A8C5-ECC9F3942E4B}">
                <a14:imgProps xmlns:a14="http://schemas.microsoft.com/office/drawing/2010/main">
                  <a14:imgLayer r:embed="rId2">
                    <a14:imgEffect>
                      <a14:brightnessContrast bright="20000" contrast="40000"/>
                    </a14:imgEffect>
                  </a14:imgLayer>
                </a14:imgProps>
              </a:ext>
            </a:extLst>
          </a:blip>
          <a:srcRect b="25979"/>
          <a:stretch>
            <a:fillRect/>
          </a:stretch>
        </p:blipFill>
        <p:spPr bwMode="auto">
          <a:xfrm>
            <a:off x="1" y="1592036"/>
            <a:ext cx="12191998" cy="3023421"/>
          </a:xfrm>
          <a:prstGeom prst="rect">
            <a:avLst/>
          </a:prstGeom>
          <a:noFill/>
        </p:spPr>
      </p:pic>
      <p:sp>
        <p:nvSpPr>
          <p:cNvPr id="109" name="矩形 4"/>
          <p:cNvSpPr/>
          <p:nvPr/>
        </p:nvSpPr>
        <p:spPr>
          <a:xfrm>
            <a:off x="0" y="1591945"/>
            <a:ext cx="12192000" cy="3020695"/>
          </a:xfrm>
          <a:prstGeom prst="rect">
            <a:avLst/>
          </a:prstGeom>
          <a:solidFill>
            <a:srgbClr val="014B30">
              <a:alpha val="82000"/>
            </a:srgbClr>
          </a:solidFill>
          <a:ln w="12700" cap="flat" cmpd="sng" algn="ctr">
            <a:noFill/>
            <a:prstDash val="solid"/>
            <a:miter lim="800000"/>
          </a:ln>
          <a:effectLst/>
        </p:spPr>
        <p:txBody>
          <a:bodyPr rtlCol="0" anchor="ctr"/>
          <a:lstStyle/>
          <a:p>
            <a:pPr algn="ctr">
              <a:defRPr/>
            </a:pPr>
            <a:endParaRPr lang="zh-CN" altLang="en-US" kern="0" dirty="0">
              <a:solidFill>
                <a:srgbClr val="FFFFFF"/>
              </a:solidFill>
              <a:latin typeface="Arial" panose="020B0604020202020204"/>
              <a:ea typeface="微软雅黑" panose="020B0503020204020204" pitchFamily="34" charset="-122"/>
              <a:cs typeface="+mn-ea"/>
              <a:sym typeface="+mn-lt"/>
            </a:endParaRPr>
          </a:p>
        </p:txBody>
      </p:sp>
      <p:grpSp>
        <p:nvGrpSpPr>
          <p:cNvPr id="110" name="组合 5"/>
          <p:cNvGrpSpPr>
            <a:grpSpLocks noChangeAspect="1"/>
          </p:cNvGrpSpPr>
          <p:nvPr/>
        </p:nvGrpSpPr>
        <p:grpSpPr>
          <a:xfrm rot="0">
            <a:off x="4342130" y="285115"/>
            <a:ext cx="3373120" cy="1060450"/>
            <a:chOff x="3985415" y="208718"/>
            <a:chExt cx="4288716" cy="1348022"/>
          </a:xfrm>
        </p:grpSpPr>
        <p:grpSp>
          <p:nvGrpSpPr>
            <p:cNvPr id="111" name="组合 6"/>
            <p:cNvGrpSpPr/>
            <p:nvPr/>
          </p:nvGrpSpPr>
          <p:grpSpPr>
            <a:xfrm>
              <a:off x="3985415" y="208718"/>
              <a:ext cx="4288716" cy="1348022"/>
              <a:chOff x="6212289" y="1237107"/>
              <a:chExt cx="5517703" cy="1734319"/>
            </a:xfrm>
          </p:grpSpPr>
          <p:pic>
            <p:nvPicPr>
              <p:cNvPr id="112" name="图片 8"/>
              <p:cNvPicPr>
                <a:picLocks noChangeAspect="1"/>
              </p:cNvPicPr>
              <p:nvPr/>
            </p:nvPicPr>
            <p:blipFill>
              <a:blip r:embed="rId3"/>
              <a:srcRect/>
              <a:stretch>
                <a:fillRect/>
              </a:stretch>
            </p:blipFill>
            <p:spPr>
              <a:xfrm>
                <a:off x="6212289" y="1237107"/>
                <a:ext cx="1760862" cy="1734319"/>
              </a:xfrm>
              <a:prstGeom prst="rect">
                <a:avLst/>
              </a:prstGeom>
            </p:spPr>
          </p:pic>
          <p:pic>
            <p:nvPicPr>
              <p:cNvPr id="113" name="图片 9"/>
              <p:cNvPicPr>
                <a:picLocks noChangeAspect="1"/>
              </p:cNvPicPr>
              <p:nvPr/>
            </p:nvPicPr>
            <p:blipFill>
              <a:blip r:embed="rId4"/>
              <a:srcRect/>
              <a:stretch>
                <a:fillRect/>
              </a:stretch>
            </p:blipFill>
            <p:spPr>
              <a:xfrm>
                <a:off x="8069580" y="1413307"/>
                <a:ext cx="3660412" cy="1006616"/>
              </a:xfrm>
              <a:prstGeom prst="rect">
                <a:avLst/>
              </a:prstGeom>
            </p:spPr>
          </p:pic>
        </p:grpSp>
        <p:sp>
          <p:nvSpPr>
            <p:cNvPr id="114" name="矩形 7"/>
            <p:cNvSpPr/>
            <p:nvPr/>
          </p:nvSpPr>
          <p:spPr>
            <a:xfrm>
              <a:off x="5399041" y="1126776"/>
              <a:ext cx="2845109" cy="389877"/>
            </a:xfrm>
            <a:prstGeom prst="rect">
              <a:avLst/>
            </a:prstGeom>
          </p:spPr>
          <p:txBody>
            <a:bodyPr wrap="square">
              <a:spAutoFit/>
            </a:bodyPr>
            <a:lstStyle/>
            <a:p>
              <a:pPr algn="dist">
                <a:defRPr/>
              </a:pPr>
              <a:r>
                <a:rPr lang="en-US" altLang="zh-CN" sz="1400" b="1" dirty="0">
                  <a:solidFill>
                    <a:prstClr val="black"/>
                  </a:solidFill>
                  <a:latin typeface="Calibri" panose="020F0502020204030204"/>
                  <a:ea typeface="宋体" panose="02010600030101010101" pitchFamily="2" charset="-122"/>
                </a:rPr>
                <a:t>WUHAN UNIVERSITY</a:t>
              </a:r>
              <a:endParaRPr lang="en-US" altLang="zh-CN" sz="1400" b="1" dirty="0">
                <a:solidFill>
                  <a:prstClr val="black"/>
                </a:solidFill>
                <a:latin typeface="Calibri" panose="020F0502020204030204"/>
                <a:ea typeface="宋体" panose="02010600030101010101" pitchFamily="2" charset="-122"/>
              </a:endParaRPr>
            </a:p>
          </p:txBody>
        </p:sp>
      </p:grpSp>
      <p:sp>
        <p:nvSpPr>
          <p:cNvPr id="115" name="TextBox 14"/>
          <p:cNvSpPr txBox="1"/>
          <p:nvPr/>
        </p:nvSpPr>
        <p:spPr>
          <a:xfrm>
            <a:off x="5418456" y="5382820"/>
            <a:ext cx="1538605" cy="829945"/>
          </a:xfrm>
          <a:prstGeom prst="rect">
            <a:avLst/>
          </a:prstGeom>
          <a:noFill/>
        </p:spPr>
        <p:txBody>
          <a:bodyPr wrap="none" rtlCol="0">
            <a:spAutoFit/>
          </a:bodyPr>
          <a:lstStyle/>
          <a:p>
            <a:pPr algn="ctr"/>
            <a:r>
              <a:rPr 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石灵奇</a:t>
            </a:r>
            <a:endParaRPr 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endParaRPr>
          </a:p>
          <a:p>
            <a:pPr algn="ctr"/>
            <a:r>
              <a:rPr lang="en-US" alt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rPr>
              <a:t>2025.12.9</a:t>
            </a:r>
            <a:endParaRPr lang="en-US" altLang="zh-CN" sz="2400" b="1">
              <a:solidFill>
                <a:srgbClr val="014B30">
                  <a:alpha val="100000"/>
                </a:srgbClr>
              </a:solidFill>
              <a:latin typeface="Arial" panose="020B0604020202020204"/>
              <a:ea typeface="微软雅黑" panose="020B0503020204020204" pitchFamily="34" charset="-122"/>
              <a:cs typeface="等线" panose="02010600030101010101" pitchFamily="2" charset="-122"/>
            </a:endParaRPr>
          </a:p>
        </p:txBody>
      </p:sp>
      <p:cxnSp>
        <p:nvCxnSpPr>
          <p:cNvPr id="119" name="直接连接符 17"/>
          <p:cNvCxnSpPr/>
          <p:nvPr/>
        </p:nvCxnSpPr>
        <p:spPr>
          <a:xfrm>
            <a:off x="-249638" y="4893485"/>
            <a:ext cx="5256126" cy="0"/>
          </a:xfrm>
          <a:prstGeom prst="line">
            <a:avLst/>
          </a:prstGeom>
          <a:noFill/>
          <a:ln w="38100" cap="flat" cmpd="sng" algn="ctr">
            <a:solidFill>
              <a:srgbClr val="014B30"/>
            </a:solidFill>
            <a:prstDash val="solid"/>
            <a:miter lim="800000"/>
          </a:ln>
          <a:effectLst/>
        </p:spPr>
      </p:cxnSp>
      <p:cxnSp>
        <p:nvCxnSpPr>
          <p:cNvPr id="121" name="直接连接符 18"/>
          <p:cNvCxnSpPr>
            <a:stCxn id="120" idx="3"/>
          </p:cNvCxnSpPr>
          <p:nvPr/>
        </p:nvCxnSpPr>
        <p:spPr>
          <a:xfrm flipV="1">
            <a:off x="7238852" y="4889574"/>
            <a:ext cx="5386041" cy="4546"/>
          </a:xfrm>
          <a:prstGeom prst="line">
            <a:avLst/>
          </a:prstGeom>
          <a:noFill/>
          <a:ln w="38100" cap="flat" cmpd="sng" algn="ctr">
            <a:solidFill>
              <a:srgbClr val="014B30"/>
            </a:solidFill>
            <a:prstDash val="solid"/>
            <a:miter lim="800000"/>
          </a:ln>
          <a:effectLst/>
        </p:spPr>
      </p:cxnSp>
      <p:pic>
        <p:nvPicPr>
          <p:cNvPr id="120" name="图片 19"/>
          <p:cNvPicPr>
            <a:picLocks noChangeAspect="1"/>
          </p:cNvPicPr>
          <p:nvPr/>
        </p:nvPicPr>
        <p:blipFill>
          <a:blip r:embed="rId5"/>
          <a:srcRect/>
          <a:stretch>
            <a:fillRect/>
          </a:stretch>
        </p:blipFill>
        <p:spPr>
          <a:xfrm>
            <a:off x="4959498" y="4735775"/>
            <a:ext cx="2279354" cy="315419"/>
          </a:xfrm>
          <a:prstGeom prst="rect">
            <a:avLst/>
          </a:prstGeom>
        </p:spPr>
      </p:pic>
      <p:sp>
        <p:nvSpPr>
          <p:cNvPr id="1" name="文本框 1"/>
          <p:cNvSpPr txBox="1"/>
          <p:nvPr/>
        </p:nvSpPr>
        <p:spPr>
          <a:xfrm>
            <a:off x="707390" y="2660015"/>
            <a:ext cx="11188700" cy="579755"/>
          </a:xfrm>
          <a:prstGeom prst="rect">
            <a:avLst/>
          </a:prstGeom>
        </p:spPr>
        <p:txBody>
          <a:bodyPr>
            <a:noAutofit/>
          </a:bodyPr>
          <a:p>
            <a:r>
              <a:rPr lang="zh-CN" sz="8000" b="1">
                <a:solidFill>
                  <a:schemeClr val="bg1">
                    <a:alpha val="100000"/>
                  </a:schemeClr>
                </a:solidFill>
                <a:latin typeface="华文行楷" panose="02010800040101010101" charset="-122"/>
                <a:ea typeface="华文行楷" panose="02010800040101010101" charset="-122"/>
                <a:cs typeface="华文行楷" panose="02010800040101010101" charset="-122"/>
              </a:rPr>
              <a:t>恳请各位老师批评指正</a:t>
            </a:r>
            <a:endParaRPr lang="zh-CN" sz="8000" b="1">
              <a:solidFill>
                <a:schemeClr val="bg1">
                  <a:alpha val="100000"/>
                </a:schemeClr>
              </a:solidFill>
              <a:latin typeface="华文行楷" panose="02010800040101010101" charset="-122"/>
              <a:ea typeface="华文行楷" panose="02010800040101010101" charset="-122"/>
              <a:cs typeface="华文行楷" panose="02010800040101010101" charset="-122"/>
            </a:endParaRPr>
          </a:p>
        </p:txBody>
      </p:sp>
      <p:sp>
        <p:nvSpPr>
          <p:cNvPr id="507" name="文本框 1"/>
          <p:cNvSpPr txBox="1"/>
          <p:nvPr/>
        </p:nvSpPr>
        <p:spPr>
          <a:xfrm>
            <a:off x="4588510" y="1765935"/>
            <a:ext cx="3103245" cy="441960"/>
          </a:xfrm>
          <a:prstGeom prst="rect">
            <a:avLst/>
          </a:prstGeom>
        </p:spPr>
        <p:txBody>
          <a:bodyPr>
            <a:noAutofit/>
          </a:bodyPr>
          <a:p>
            <a:r>
              <a:rPr lang="en-US" sz="3600" b="1">
                <a:solidFill>
                  <a:schemeClr val="bg1">
                    <a:alpha val="100000"/>
                  </a:schemeClr>
                </a:solidFill>
                <a:latin typeface="演示流云楷"/>
                <a:ea typeface="演示流云楷"/>
                <a:cs typeface="+mn-cs"/>
              </a:rPr>
              <a:t>— THANKS —</a:t>
            </a:r>
            <a:endParaRPr lang="en-US" sz="3600" b="1">
              <a:solidFill>
                <a:schemeClr val="bg1">
                  <a:alpha val="100000"/>
                </a:schemeClr>
              </a:solidFill>
              <a:latin typeface="演示流云楷"/>
              <a:ea typeface="演示流云楷"/>
              <a:cs typeface="+mn-cs"/>
            </a:endParaRPr>
          </a:p>
        </p:txBody>
      </p:sp>
    </p:spTree>
  </p:cSld>
  <p:clrMapOvr>
    <a:masterClrMapping/>
  </p:clrMapOvr>
</p:sld>
</file>

<file path=ppt/tags/tag1.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2.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3.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4.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5.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6.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7.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8.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9.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10.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11.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12.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13.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14.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15.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16.xml><?xml version="1.0" encoding="utf-8"?>
<p:tagLst xmlns:p="http://schemas.openxmlformats.org/presentationml/2006/main">
  <p:tag name="KSO_WM_DIAGRAM_VIRTUALLY_FRAME" val="{&quot;height&quot;:313.4766929133858,&quot;left&quot;:512.0675590551181,&quot;top&quot;:118.59881889763778,&quot;width&quot;:337.0856692913386}"/>
</p:tagLst>
</file>

<file path=ppt/tags/tag17.xml><?xml version="1.0" encoding="utf-8"?>
<p:tagLst xmlns:p="http://schemas.openxmlformats.org/presentationml/2006/main">
  <p:tag name="KSO_WM_DIAGRAM_VIRTUALLY_FRAME" val="{&quot;height&quot;:364.2196850393701,&quot;left&quot;:51.999763779527576,&quot;top&quot;:143.00007874015748,&quot;width&quot;:874.0381889763779}"/>
</p:tagLst>
</file>

<file path=ppt/tags/tag18.xml><?xml version="1.0" encoding="utf-8"?>
<p:tagLst xmlns:p="http://schemas.openxmlformats.org/presentationml/2006/main">
  <p:tag name="KSO_WM_DIAGRAM_VIRTUALLY_FRAME" val="{&quot;height&quot;:364.2196850393701,&quot;left&quot;:51.999763779527576,&quot;top&quot;:143.00007874015748,&quot;width&quot;:874.0381889763779}"/>
</p:tagLst>
</file>

<file path=ppt/tags/tag19.xml><?xml version="1.0" encoding="utf-8"?>
<p:tagLst xmlns:p="http://schemas.openxmlformats.org/presentationml/2006/main">
  <p:tag name="KSO_WM_DIAGRAM_VIRTUALLY_FRAME" val="{&quot;height&quot;:364.2196850393701,&quot;left&quot;:51.999763779527576,&quot;top&quot;:143.00007874015748,&quot;width&quot;:874.0381889763779}"/>
</p:tagLst>
</file>

<file path=ppt/tags/tag20.xml><?xml version="1.0" encoding="utf-8"?>
<p:tagLst xmlns:p="http://schemas.openxmlformats.org/presentationml/2006/main">
  <p:tag name="KSO_WM_DIAGRAM_VIRTUALLY_FRAME" val="{&quot;height&quot;:364.2196850393701,&quot;left&quot;:51.999763779527576,&quot;top&quot;:143.00007874015748,&quot;width&quot;:874.0381889763779}"/>
</p:tagLst>
</file>

<file path=ppt/tags/tag21.xml><?xml version="1.0" encoding="utf-8"?>
<p:tagLst xmlns:p="http://schemas.openxmlformats.org/presentationml/2006/main">
  <p:tag name="KSO_WM_DIAGRAM_VIRTUALLY_FRAME" val="{&quot;height&quot;:364.2196850393701,&quot;left&quot;:51.999763779527576,&quot;top&quot;:143.00007874015748,&quot;width&quot;:874.0381889763779}"/>
</p:tagLst>
</file>

<file path=ppt/tags/tag22.xml><?xml version="1.0" encoding="utf-8"?>
<p:tagLst xmlns:p="http://schemas.openxmlformats.org/presentationml/2006/main">
  <p:tag name="KSO_WM_DIAGRAM_VIRTUALLY_FRAME" val="{&quot;height&quot;:364.2196850393701,&quot;left&quot;:51.999763779527576,&quot;top&quot;:143.00007874015748,&quot;width&quot;:874.0381889763779}"/>
</p:tagLst>
</file>

<file path=ppt/tags/tag23.xml><?xml version="1.0" encoding="utf-8"?>
<p:tagLst xmlns:p="http://schemas.openxmlformats.org/presentationml/2006/main">
  <p:tag name="KSO_WM_DIAGRAM_VIRTUALLY_FRAME" val="{&quot;height&quot;:364.2196850393701,&quot;left&quot;:51.999763779527576,&quot;top&quot;:143.00007874015748,&quot;width&quot;:874.0381889763779}"/>
</p:tagLst>
</file>

<file path=ppt/tags/tag24.xml><?xml version="1.0" encoding="utf-8"?>
<p:tagLst xmlns:p="http://schemas.openxmlformats.org/presentationml/2006/main">
  <p:tag name="KSO_WM_DIAGRAM_VIRTUALLY_FRAME" val="{&quot;height&quot;:364.2196850393701,&quot;left&quot;:51.999763779527576,&quot;top&quot;:143.00007874015748,&quot;width&quot;:874.0381889763779}"/>
</p:tagLst>
</file>

<file path=ppt/tags/tag25.xml><?xml version="1.0" encoding="utf-8"?>
<p:tagLst xmlns:p="http://schemas.openxmlformats.org/presentationml/2006/main">
  <p:tag name="KSO_WM_DIAGRAM_VIRTUALLY_FRAME" val="{&quot;height&quot;:364.2196850393701,&quot;left&quot;:51.999763779527576,&quot;top&quot;:143.00007874015748,&quot;width&quot;:874.0381889763779}"/>
</p:tagLst>
</file>

<file path=ppt/tags/tag26.xml><?xml version="1.0" encoding="utf-8"?>
<p:tagLst xmlns:p="http://schemas.openxmlformats.org/presentationml/2006/main">
  <p:tag name="KSO_WM_DIAGRAM_VIRTUALLY_FRAME" val="{&quot;height&quot;:364.2196850393701,&quot;left&quot;:51.999763779527576,&quot;top&quot;:143.00007874015748,&quot;width&quot;:874.0381889763779}"/>
</p:tagLst>
</file>

<file path=ppt/tags/tag27.xml><?xml version="1.0" encoding="utf-8"?>
<p:tagLst xmlns:p="http://schemas.openxmlformats.org/presentationml/2006/main">
  <p:tag name="KSO_WM_DIAGRAM_VIRTUALLY_FRAME" val="{&quot;height&quot;:364.2196850393701,&quot;left&quot;:51.999763779527576,&quot;top&quot;:143.00007874015748,&quot;width&quot;:874.0381889763779}"/>
</p:tagLst>
</file>

<file path=ppt/tags/tag28.xml><?xml version="1.0" encoding="utf-8"?>
<p:tagLst xmlns:p="http://schemas.openxmlformats.org/presentationml/2006/main">
  <p:tag name="KSO_WM_DIAGRAM_VIRTUALLY_FRAME" val="{&quot;height&quot;:364.2196850393701,&quot;left&quot;:51.999763779527576,&quot;top&quot;:143.00007874015748,&quot;width&quot;:874.0381889763779}"/>
</p:tagLst>
</file>

<file path=ppt/tags/tag29.xml><?xml version="1.0" encoding="utf-8"?>
<p:tagLst xmlns:p="http://schemas.openxmlformats.org/presentationml/2006/main">
  <p:tag name="KSO_WM_DIAGRAM_VIRTUALLY_FRAME" val="{&quot;height&quot;:364.2196850393701,&quot;left&quot;:51.999763779527576,&quot;top&quot;:143.00007874015748,&quot;width&quot;:874.0381889763779}"/>
</p:tagLst>
</file>

<file path=ppt/tags/tag30.xml><?xml version="1.0" encoding="utf-8"?>
<p:tagLst xmlns:p="http://schemas.openxmlformats.org/presentationml/2006/main">
  <p:tag name="KSO_WM_DIAGRAM_VIRTUALLY_FRAME" val="{&quot;height&quot;:364.2196850393701,&quot;left&quot;:51.999763779527576,&quot;top&quot;:143.00007874015748,&quot;width&quot;:874.0381889763779}"/>
</p:tagLst>
</file>

<file path=ppt/tags/tag31.xml><?xml version="1.0" encoding="utf-8"?>
<p:tagLst xmlns:p="http://schemas.openxmlformats.org/presentationml/2006/main">
  <p:tag name="KSO_WM_DIAGRAM_VIRTUALLY_FRAME" val="{&quot;height&quot;:364.2196850393701,&quot;left&quot;:51.999763779527576,&quot;top&quot;:143.00007874015748,&quot;width&quot;:874.0381889763779}"/>
</p:tagLst>
</file>

<file path=ppt/tags/tag32.xml><?xml version="1.0" encoding="utf-8"?>
<p:tagLst xmlns:p="http://schemas.openxmlformats.org/presentationml/2006/main">
  <p:tag name="KSO_WM_DIAGRAM_VIRTUALLY_FRAME" val="{&quot;height&quot;:364.2196850393701,&quot;left&quot;:51.999763779527576,&quot;top&quot;:143.00007874015748,&quot;width&quot;:874.0381889763779}"/>
</p:tagLst>
</file>

<file path=ppt/tags/tag33.xml><?xml version="1.0" encoding="utf-8"?>
<p:tagLst xmlns:p="http://schemas.openxmlformats.org/presentationml/2006/main">
  <p:tag name="KSO_WM_DIAGRAM_VIRTUALLY_FRAME" val="{&quot;height&quot;:250.6189763779527,&quot;left&quot;:61.63055118110233,&quot;top&quot;:183.1596062992126,&quot;width&quot;:863.9469291338585}"/>
</p:tagLst>
</file>

<file path=ppt/tags/tag34.xml><?xml version="1.0" encoding="utf-8"?>
<p:tagLst xmlns:p="http://schemas.openxmlformats.org/presentationml/2006/main">
  <p:tag name="KSO_WM_DIAGRAM_VIRTUALLY_FRAME" val="{&quot;height&quot;:275.1426771653543,&quot;left&quot;:47.88968503937012,&quot;top&quot;:200.7840157480315,&quot;width&quot;:853.2337795275591}"/>
</p:tagLst>
</file>

<file path=ppt/tags/tag35.xml><?xml version="1.0" encoding="utf-8"?>
<p:tagLst xmlns:p="http://schemas.openxmlformats.org/presentationml/2006/main">
  <p:tag name="KSO_WM_DIAGRAM_VIRTUALLY_FRAME" val="{&quot;height&quot;:275.1426771653543,&quot;left&quot;:47.88968503937012,&quot;top&quot;:200.7840157480315,&quot;width&quot;:853.2337795275591}"/>
</p:tagLst>
</file>

<file path=ppt/tags/tag36.xml><?xml version="1.0" encoding="utf-8"?>
<p:tagLst xmlns:p="http://schemas.openxmlformats.org/presentationml/2006/main">
  <p:tag name="KSO_WM_DIAGRAM_VIRTUALLY_FRAME" val="{&quot;height&quot;:250.6189763779527,&quot;left&quot;:61.63055118110233,&quot;top&quot;:183.1596062992126,&quot;width&quot;:863.9469291338585}"/>
</p:tagLst>
</file>

<file path=ppt/tags/tag37.xml><?xml version="1.0" encoding="utf-8"?>
<p:tagLst xmlns:p="http://schemas.openxmlformats.org/presentationml/2006/main">
  <p:tag name="KSO_WM_DIAGRAM_VIRTUALLY_FRAME" val="{&quot;height&quot;:275.1426771653543,&quot;left&quot;:47.88968503937012,&quot;top&quot;:200.7840157480315,&quot;width&quot;:853.2337795275591}"/>
</p:tagLst>
</file>

<file path=ppt/tags/tag38.xml><?xml version="1.0" encoding="utf-8"?>
<p:tagLst xmlns:p="http://schemas.openxmlformats.org/presentationml/2006/main">
  <p:tag name="KSO_WM_DIAGRAM_VIRTUALLY_FRAME" val="{&quot;height&quot;:250.6189763779527,&quot;left&quot;:61.63055118110233,&quot;top&quot;:183.1596062992126,&quot;width&quot;:863.9469291338585}"/>
</p:tagLst>
</file>

<file path=ppt/tags/tag39.xml><?xml version="1.0" encoding="utf-8"?>
<p:tagLst xmlns:p="http://schemas.openxmlformats.org/presentationml/2006/main">
  <p:tag name="KSO_WM_DIAGRAM_VIRTUALLY_FRAME" val="{&quot;height&quot;:250.6189763779527,&quot;left&quot;:61.63055118110233,&quot;top&quot;:183.1596062992126,&quot;width&quot;:863.9469291338585}"/>
</p:tagLst>
</file>

<file path=ppt/tags/tag40.xml><?xml version="1.0" encoding="utf-8"?>
<p:tagLst xmlns:p="http://schemas.openxmlformats.org/presentationml/2006/main">
  <p:tag name="KSO_WM_DIAGRAM_VIRTUALLY_FRAME" val="{&quot;height&quot;:250.6189763779527,&quot;left&quot;:61.63055118110233,&quot;top&quot;:183.1596062992126,&quot;width&quot;:863.9469291338585}"/>
</p:tagLst>
</file>

<file path=ppt/tags/tag41.xml><?xml version="1.0" encoding="utf-8"?>
<p:tagLst xmlns:p="http://schemas.openxmlformats.org/presentationml/2006/main">
  <p:tag name="KSO_WM_DIAGRAM_VIRTUALLY_FRAME" val="{&quot;height&quot;:250.6189763779527,&quot;left&quot;:61.63055118110233,&quot;top&quot;:183.1596062992126,&quot;width&quot;:863.9469291338585}"/>
</p:tagLst>
</file>

<file path=ppt/tags/tag42.xml><?xml version="1.0" encoding="utf-8"?>
<p:tagLst xmlns:p="http://schemas.openxmlformats.org/presentationml/2006/main">
  <p:tag name="KSO_WM_DIAGRAM_VIRTUALLY_FRAME" val="{&quot;height&quot;:250.6189763779527,&quot;left&quot;:61.63055118110233,&quot;top&quot;:183.1596062992126,&quot;width&quot;:863.9469291338585}"/>
</p:tagLst>
</file>

<file path=ppt/tags/tag43.xml><?xml version="1.0" encoding="utf-8"?>
<p:tagLst xmlns:p="http://schemas.openxmlformats.org/presentationml/2006/main">
  <p:tag name="KSO_WM_DIAGRAM_VIRTUALLY_FRAME" val="{&quot;height&quot;:250.6189763779527,&quot;left&quot;:61.63055118110233,&quot;top&quot;:183.1596062992126,&quot;width&quot;:863.9469291338585}"/>
</p:tagLst>
</file>

<file path=ppt/tags/tag44.xml><?xml version="1.0" encoding="utf-8"?>
<p:tagLst xmlns:p="http://schemas.openxmlformats.org/presentationml/2006/main">
  <p:tag name="KSO_WM_DIAGRAM_VIRTUALLY_FRAME" val="{&quot;height&quot;:250.6189763779527,&quot;left&quot;:61.63055118110233,&quot;top&quot;:183.1596062992126,&quot;width&quot;:863.9469291338585}"/>
</p:tagLst>
</file>

<file path=ppt/tags/tag45.xml><?xml version="1.0" encoding="utf-8"?>
<p:tagLst xmlns:p="http://schemas.openxmlformats.org/presentationml/2006/main">
  <p:tag name="KSO_WM_DIAGRAM_VIRTUALLY_FRAME" val="{&quot;height&quot;:250.6189763779527,&quot;left&quot;:61.63055118110233,&quot;top&quot;:183.1596062992126,&quot;width&quot;:863.9469291338585}"/>
</p:tagLst>
</file>

<file path=ppt/tags/tag46.xml><?xml version="1.0" encoding="utf-8"?>
<p:tagLst xmlns:p="http://schemas.openxmlformats.org/presentationml/2006/main">
  <p:tag name="KSO_WM_DIAGRAM_VIRTUALLY_FRAME" val="{&quot;height&quot;:250.6189763779527,&quot;left&quot;:61.63055118110233,&quot;top&quot;:183.1596062992126,&quot;width&quot;:863.9469291338585}"/>
</p:tagLst>
</file>

<file path=ppt/tags/tag47.xml><?xml version="1.0" encoding="utf-8"?>
<p:tagLst xmlns:p="http://schemas.openxmlformats.org/presentationml/2006/main">
  <p:tag name="KSO_WM_DIAGRAM_VIRTUALLY_FRAME" val="{&quot;height&quot;:275.1426771653543,&quot;left&quot;:47.88968503937012,&quot;top&quot;:200.7840157480315,&quot;width&quot;:853.2337795275591}"/>
</p:tagLst>
</file>

<file path=ppt/tags/tag48.xml><?xml version="1.0" encoding="utf-8"?>
<p:tagLst xmlns:p="http://schemas.openxmlformats.org/presentationml/2006/main">
  <p:tag name="KSO_WM_DIAGRAM_VIRTUALLY_FRAME" val="{&quot;height&quot;:250.6189763779527,&quot;left&quot;:61.63055118110233,&quot;top&quot;:183.1596062992126,&quot;width&quot;:863.9469291338585}"/>
</p:tagLst>
</file>

<file path=ppt/tags/tag49.xml><?xml version="1.0" encoding="utf-8"?>
<p:tagLst xmlns:p="http://schemas.openxmlformats.org/presentationml/2006/main">
  <p:tag name="TABLE_ENDDRAG_ORIGIN_RECT" val="826*366"/>
  <p:tag name="TABLE_ENDDRAG_RECT" val="76*141*826*366"/>
</p:tagLst>
</file>

<file path=ppt/tags/tag50.xml><?xml version="1.0" encoding="utf-8"?>
<p:tagLst xmlns:p="http://schemas.openxmlformats.org/presentationml/2006/main">
  <p:tag name="KSO_WM_DIAGRAM_VIRTUALLY_FRAME" val="{&quot;height&quot;:396.1788188976378,&quot;left&quot;:46.00062992125984,&quot;top&quot;:88.57811023622047,&quot;width&quot;:785.4993700787402}"/>
</p:tagLst>
</file>

<file path=ppt/tags/tag51.xml><?xml version="1.0" encoding="utf-8"?>
<p:tagLst xmlns:p="http://schemas.openxmlformats.org/presentationml/2006/main">
  <p:tag name="KSO_WM_DIAGRAM_VIRTUALLY_FRAME" val="{&quot;height&quot;:396.1788188976378,&quot;left&quot;:46.00062992125984,&quot;top&quot;:88.57811023622047,&quot;width&quot;:785.4993700787402}"/>
</p:tagLst>
</file>

<file path=ppt/tags/tag52.xml><?xml version="1.0" encoding="utf-8"?>
<p:tagLst xmlns:p="http://schemas.openxmlformats.org/presentationml/2006/main">
  <p:tag name="KSO_WM_DIAGRAM_VIRTUALLY_FRAME" val="{&quot;height&quot;:396.1788188976378,&quot;left&quot;:46.00062992125984,&quot;top&quot;:88.57811023622047,&quot;width&quot;:785.4993700787402}"/>
</p:tagLst>
</file>

<file path=ppt/tags/tag53.xml><?xml version="1.0" encoding="utf-8"?>
<p:tagLst xmlns:p="http://schemas.openxmlformats.org/presentationml/2006/main">
  <p:tag name="KSO_WM_DIAGRAM_VIRTUALLY_FRAME" val="{&quot;height&quot;:396.1788188976378,&quot;left&quot;:46.00062992125984,&quot;top&quot;:88.57811023622047,&quot;width&quot;:785.4993700787402}"/>
</p:tagLst>
</file>

<file path=ppt/tags/tag54.xml><?xml version="1.0" encoding="utf-8"?>
<p:tagLst xmlns:p="http://schemas.openxmlformats.org/presentationml/2006/main">
  <p:tag name="KSO_WM_DIAGRAM_VIRTUALLY_FRAME" val="{&quot;height&quot;:396.1788188976378,&quot;left&quot;:46.00062992125984,&quot;top&quot;:88.57811023622047,&quot;width&quot;:785.4993700787402}"/>
</p:tagLst>
</file>

<file path=ppt/tags/tag55.xml><?xml version="1.0" encoding="utf-8"?>
<p:tagLst xmlns:p="http://schemas.openxmlformats.org/presentationml/2006/main">
  <p:tag name="KSO_WM_DIAGRAM_VIRTUALLY_FRAME" val="{&quot;height&quot;:396.1788188976378,&quot;left&quot;:46.00062992125984,&quot;top&quot;:88.57811023622047,&quot;width&quot;:785.4993700787402}"/>
</p:tagLst>
</file>

<file path=ppt/tags/tag56.xml><?xml version="1.0" encoding="utf-8"?>
<p:tagLst xmlns:p="http://schemas.openxmlformats.org/presentationml/2006/main">
  <p:tag name="KSO_WM_DIAGRAM_VIRTUALLY_FRAME" val="{&quot;height&quot;:396.1788188976378,&quot;left&quot;:46.00062992125984,&quot;top&quot;:88.57811023622047,&quot;width&quot;:785.4993700787402}"/>
</p:tagLst>
</file>

<file path=ppt/tags/tag57.xml><?xml version="1.0" encoding="utf-8"?>
<p:tagLst xmlns:p="http://schemas.openxmlformats.org/presentationml/2006/main">
  <p:tag name="KSO_WM_DIAGRAM_VIRTUALLY_FRAME" val="{&quot;height&quot;:396.1788188976378,&quot;left&quot;:46.00062992125984,&quot;top&quot;:88.57811023622047,&quot;width&quot;:785.4993700787402}"/>
</p:tagLst>
</file>

<file path=ppt/tags/tag58.xml><?xml version="1.0" encoding="utf-8"?>
<p:tagLst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ISLIDE.THEME" val="225bf695-daa2-4759-97b7-6398e4bba18c"/>
  <p:tag name="THINKCELLUNDODONOTDELETE" val="0"/>
  <p:tag name="ISLIDE.TEMPLATE" val="#47768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5751</Words>
  <Application>WPS 演示</Application>
  <PresentationFormat>宽屏</PresentationFormat>
  <Paragraphs>932</Paragraphs>
  <Slides>26</Slides>
  <Notes>42</Notes>
  <HiddenSlides>1</HiddenSlides>
  <MMClips>0</MMClips>
  <ScaleCrop>false</ScaleCrop>
  <HeadingPairs>
    <vt:vector size="8" baseType="variant">
      <vt:variant>
        <vt:lpstr>已用的字体</vt:lpstr>
      </vt:variant>
      <vt:variant>
        <vt:i4>36</vt:i4>
      </vt:variant>
      <vt:variant>
        <vt:lpstr>主题</vt:lpstr>
      </vt:variant>
      <vt:variant>
        <vt:i4>1</vt:i4>
      </vt:variant>
      <vt:variant>
        <vt:lpstr>嵌入 OLE 服务器</vt:lpstr>
      </vt:variant>
      <vt:variant>
        <vt:i4>2</vt:i4>
      </vt:variant>
      <vt:variant>
        <vt:lpstr>幻灯片标题</vt:lpstr>
      </vt:variant>
      <vt:variant>
        <vt:i4>26</vt:i4>
      </vt:variant>
    </vt:vector>
  </HeadingPairs>
  <TitlesOfParts>
    <vt:vector size="65" baseType="lpstr">
      <vt:lpstr>Arial</vt:lpstr>
      <vt:lpstr>宋体</vt:lpstr>
      <vt:lpstr>Wingdings</vt:lpstr>
      <vt:lpstr>Calibri</vt:lpstr>
      <vt:lpstr>微软雅黑</vt:lpstr>
      <vt:lpstr>Times New Roman</vt:lpstr>
      <vt:lpstr>Arial Unicode MS</vt:lpstr>
      <vt:lpstr>Cambria Math</vt:lpstr>
      <vt:lpstr>Söhne</vt:lpstr>
      <vt:lpstr>ESRI AMFM Electric</vt:lpstr>
      <vt:lpstr>PingFang-SC-Regular</vt:lpstr>
      <vt:lpstr>-apple-system</vt:lpstr>
      <vt:lpstr>华文仿宋</vt:lpstr>
      <vt:lpstr>等线</vt:lpstr>
      <vt:lpstr>黑体</vt:lpstr>
      <vt:lpstr>华文中宋</vt:lpstr>
      <vt:lpstr>标准粗黑</vt:lpstr>
      <vt:lpstr>H2O</vt:lpstr>
      <vt:lpstr>Wingdings 3</vt:lpstr>
      <vt:lpstr>Be Happy</vt:lpstr>
      <vt:lpstr>Arial</vt:lpstr>
      <vt:lpstr>Calibri</vt:lpstr>
      <vt:lpstr>阿里巴巴普惠体 B</vt:lpstr>
      <vt:lpstr>微软雅黑 Light</vt:lpstr>
      <vt:lpstr>演示流云楷</vt:lpstr>
      <vt:lpstr>阿里巴巴普惠体 B</vt:lpstr>
      <vt:lpstr>演示流云楷</vt:lpstr>
      <vt:lpstr>等线 Light</vt:lpstr>
      <vt:lpstr>华文隶书</vt:lpstr>
      <vt:lpstr>方正小标宋简体</vt:lpstr>
      <vt:lpstr>华文彩云</vt:lpstr>
      <vt:lpstr>汉仪颜楷简</vt:lpstr>
      <vt:lpstr>华文琥珀</vt:lpstr>
      <vt:lpstr>华文行楷</vt:lpstr>
      <vt:lpstr>Times New Roman</vt:lpstr>
      <vt:lpstr>MS Mincho</vt:lpstr>
      <vt:lpstr>Office 主题​​</vt:lpstr>
      <vt:lpstr>Visio.Drawing.15</vt:lpstr>
      <vt:lpstr>Equation.DSMT4</vt:lpstr>
      <vt:lpstr>PowerPoint 演示文稿</vt:lpstr>
      <vt:lpstr>PowerPoint 演示文稿</vt:lpstr>
      <vt:lpstr>研究背景|城市交通问题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模型构建|PCA主成分分析法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iSlide</Company>
  <LinksUpToDate>false</LinksUpToDate>
  <SharedDoc>false</SharedDoc>
  <HyperlinksChanged>false</HyperlinksChanged>
  <AppVersion>14.0000</AppVersion>
  <Manager>iSlide</Manager>
  <HyperlinkBase>https://www.islide.cc</HyperlinkBas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利用主成分地理加权随机森林 探究建成环境对城市交通拥堵的影响</dc:title>
  <dc:creator>菠萝煮茶</dc:creator>
  <cp:lastModifiedBy>shili</cp:lastModifiedBy>
  <cp:revision>160</cp:revision>
  <cp:lastPrinted>2025-04-21T12:54:00Z</cp:lastPrinted>
  <dcterms:created xsi:type="dcterms:W3CDTF">2025-04-21T14:21:00Z</dcterms:created>
  <dcterms:modified xsi:type="dcterms:W3CDTF">2025-12-08T13:34:12Z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Slide.TEMPLATE">
    <vt:lpwstr>67a787e4-bbb0-4b7b-a406-d39e9dc1117d</vt:lpwstr>
  </property>
  <property fmtid="{D5CDD505-2E9C-101B-9397-08002B2CF9AE}" pid="4" name="ICV">
    <vt:lpwstr>9C55DE36FAF749099DBBA1CD4CB4A9FB_13</vt:lpwstr>
  </property>
  <property fmtid="{D5CDD505-2E9C-101B-9397-08002B2CF9AE}" pid="5" name="KSOProductBuildVer">
    <vt:lpwstr>2052-12.1.0.23542</vt:lpwstr>
  </property>
</Properties>
</file>