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4.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5.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6.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7.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8.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9.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10.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notesSlides/notesSlide11.xml" ContentType="application/vnd.openxmlformats-officedocument.presentationml.notesSlide+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notesSlides/notesSlide12.xml" ContentType="application/vnd.openxmlformats-officedocument.presentationml.notesSlide+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13.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notesSlides/notesSlide14.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notesSlides/notesSlide15.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16.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notesSlides/notesSlide17.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18.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19.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notesSlides/notesSlide20.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notesSlides/notesSlide21.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notesSlides/notesSlide22.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notesSlides/notesSlide23.xml" ContentType="application/vnd.openxmlformats-officedocument.presentationml.notesSlide+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notesSlides/notesSlide24.xml" ContentType="application/vnd.openxmlformats-officedocument.presentationml.notesSlide+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notesSlides/notesSlide25.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notesSlides/notesSlide26.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notesSlides/notesSlide27.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496" r:id="rId3"/>
    <p:sldId id="577" r:id="rId4"/>
    <p:sldId id="477" r:id="rId5"/>
    <p:sldId id="528" r:id="rId6"/>
    <p:sldId id="480" r:id="rId7"/>
    <p:sldId id="554" r:id="rId8"/>
    <p:sldId id="476" r:id="rId9"/>
    <p:sldId id="463" r:id="rId10"/>
    <p:sldId id="555" r:id="rId11"/>
    <p:sldId id="501" r:id="rId12"/>
    <p:sldId id="557" r:id="rId13"/>
    <p:sldId id="579" r:id="rId14"/>
    <p:sldId id="558" r:id="rId15"/>
    <p:sldId id="560" r:id="rId16"/>
    <p:sldId id="561" r:id="rId17"/>
    <p:sldId id="563" r:id="rId18"/>
    <p:sldId id="564" r:id="rId19"/>
    <p:sldId id="565" r:id="rId20"/>
    <p:sldId id="566" r:id="rId21"/>
    <p:sldId id="567" r:id="rId22"/>
    <p:sldId id="568" r:id="rId23"/>
    <p:sldId id="570" r:id="rId24"/>
    <p:sldId id="571" r:id="rId25"/>
    <p:sldId id="572" r:id="rId26"/>
    <p:sldId id="573" r:id="rId27"/>
    <p:sldId id="575" r:id="rId28"/>
    <p:sldId id="576" r:id="rId29"/>
    <p:sldId id="500" r:id="rId30"/>
  </p:sldIdLst>
  <p:sldSz cx="12192000" cy="6858000"/>
  <p:notesSz cx="6858000" cy="9144000"/>
  <p:embeddedFontLst>
    <p:embeddedFont>
      <p:font typeface="等线" panose="02010600030101010101" pitchFamily="2" charset="-122"/>
      <p:regular r:id="rId32"/>
      <p:bold r:id="rId33"/>
    </p:embeddedFont>
    <p:embeddedFont>
      <p:font typeface="等线 Light" panose="02010600030101010101" pitchFamily="2" charset="-122"/>
      <p:regular r:id="rId34"/>
    </p:embeddedFont>
    <p:embeddedFont>
      <p:font typeface="微软雅黑" panose="020B0503020204020204" pitchFamily="34" charset="-122"/>
      <p:regular r:id="rId35"/>
      <p:bold r:id="rId36"/>
    </p:embeddedFont>
  </p:embeddedFontLst>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7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E79"/>
    <a:srgbClr val="C00000"/>
    <a:srgbClr val="DEEBF7"/>
    <a:srgbClr val="9DC3E6"/>
    <a:srgbClr val="BDD7EE"/>
    <a:srgbClr val="436A8F"/>
    <a:srgbClr val="D2DEEF"/>
    <a:srgbClr val="EAEFF7"/>
    <a:srgbClr val="5B9BD5"/>
    <a:srgbClr val="1157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6ED69F8-9B72-4EC9-AA9E-6817DAD541F4}" styleName="补充样式8 19">
    <a:wholeTbl>
      <a:tcTxStyle>
        <a:fontRef idx="none">
          <a:srgbClr val="000000"/>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accent1">
                  <a:lumMod val="30000"/>
                  <a:lumOff val="70000"/>
                </a:schemeClr>
              </a:solidFill>
            </a:ln>
          </a:insideH>
          <a:insideV>
            <a:ln>
              <a:noFill/>
            </a:ln>
          </a:insideV>
        </a:tcBdr>
        <a:fill>
          <a:solidFill>
            <a:srgbClr val="FFFFFF"/>
          </a:solidFill>
        </a:fill>
      </a:tcStyle>
    </a:wholeTbl>
    <a:band1H>
      <a:tcStyle>
        <a:tcBdr/>
        <a:fill>
          <a:solidFill>
            <a:schemeClr val="accent1">
              <a:lumMod val="10000"/>
              <a:lumOff val="90000"/>
            </a:schemeClr>
          </a:solidFill>
        </a:fill>
      </a:tcStyle>
    </a:band1H>
    <a:band1V>
      <a:tcStyle>
        <a:tcBdr/>
        <a:fill>
          <a:solidFill>
            <a:schemeClr val="accent1">
              <a:lumMod val="10000"/>
              <a:lumOff val="90000"/>
            </a:schemeClr>
          </a:solidFill>
        </a:fill>
      </a:tcStyle>
    </a:band1V>
    <a:firstCol>
      <a:tcTxStyle b="on">
        <a:fontRef idx="none">
          <a:srgbClr val="FFFFFF"/>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bg1">
                  <a:lumMod val="92000"/>
                </a:schemeClr>
              </a:solidFill>
            </a:ln>
          </a:insideH>
          <a:insideV>
            <a:ln>
              <a:noFill/>
            </a:ln>
          </a:insideV>
        </a:tcBdr>
        <a:fill>
          <a:solidFill>
            <a:schemeClr val="accent1"/>
          </a:solidFill>
        </a:fill>
      </a:tcStyle>
    </a:firstCol>
  </a:tblStyle>
  <a:tblStyle styleId="{936BEEA5-87D9-4E48-819E-407A5BCC7271}" styleName="表样式 1 25">
    <a:wholeTbl>
      <a:tcTxStyle>
        <a:fontRef idx="none">
          <a:srgbClr val="000000"/>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w="9525" cmpd="sng">
              <a:solidFill>
                <a:schemeClr val="accent1">
                  <a:lumMod val="40000"/>
                  <a:lumOff val="60000"/>
                </a:schemeClr>
              </a:solidFill>
            </a:ln>
          </a:insideV>
        </a:tcBdr>
        <a:fill>
          <a:solidFill>
            <a:srgbClr val="FFFFFF"/>
          </a:solidFill>
        </a:fill>
      </a:tcStyle>
    </a:wholeTbl>
    <a:band2H>
      <a:tcStyle>
        <a:tcBdr/>
        <a:fill>
          <a:solidFill>
            <a:schemeClr val="accent1">
              <a:lumMod val="10000"/>
              <a:lumOff val="90000"/>
            </a:schemeClr>
          </a:solidFill>
        </a:fill>
      </a:tcStyle>
    </a:band2H>
    <a:band1V>
      <a:tcStyle>
        <a:tcBdr/>
        <a:fill>
          <a:solidFill>
            <a:schemeClr val="accent1">
              <a:lumMod val="10000"/>
              <a:lumOff val="90000"/>
            </a:schemeClr>
          </a:solidFill>
        </a:fill>
      </a:tcStyle>
    </a:band1V>
    <a:band2V>
      <a:tcStyle>
        <a:tcBdr>
          <a:left>
            <a:ln w="9525" cmpd="sng">
              <a:solidFill>
                <a:schemeClr val="accent1">
                  <a:lumMod val="40000"/>
                  <a:lumOff val="60000"/>
                </a:schemeClr>
              </a:solidFill>
            </a:ln>
          </a:left>
          <a:right>
            <a:ln w="9525" cmpd="sng">
              <a:solidFill>
                <a:schemeClr val="accent1">
                  <a:lumMod val="40000"/>
                  <a:lumOff val="60000"/>
                </a:schemeClr>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ln>
          </a:left>
          <a:right>
            <a:ln w="9525" cmpd="sng">
              <a:solidFill>
                <a:schemeClr val="accent1">
                  <a:lumMod val="40000"/>
                  <a:lumOff val="60000"/>
                </a:schemeClr>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a:noFill/>
            </a:ln>
          </a:insideH>
          <a:insideV>
            <a:ln w="9525" cmpd="sng">
              <a:solidFill>
                <a:schemeClr val="accent1">
                  <a:lumMod val="40000"/>
                  <a:lumOff val="60000"/>
                </a:schemeClr>
              </a:solidFill>
            </a:ln>
          </a:insideV>
        </a:tcBdr>
        <a:fill>
          <a:solidFill>
            <a:schemeClr val="accent1"/>
          </a:solidFill>
        </a:fill>
      </a:tcStyle>
    </a:firstRow>
  </a:tblStyle>
  <a:tblStyle styleId="{BF1472C0-89E1-4C02-B17E-DC6DE9A4F452}" styleName="表样式 1 25">
    <a:wholeTbl>
      <a:tcTxStyle>
        <a:fontRef idx="none">
          <a:srgbClr val="000000"/>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w="9525" cmpd="sng">
              <a:solidFill>
                <a:schemeClr val="accent1">
                  <a:lumMod val="40000"/>
                  <a:lumOff val="60000"/>
                </a:schemeClr>
              </a:solidFill>
            </a:ln>
          </a:insideV>
        </a:tcBdr>
        <a:fill>
          <a:solidFill>
            <a:srgbClr val="FFFFFF"/>
          </a:solidFill>
        </a:fill>
      </a:tcStyle>
    </a:wholeTbl>
    <a:band2H>
      <a:tcStyle>
        <a:tcBdr/>
        <a:fill>
          <a:solidFill>
            <a:schemeClr val="accent1">
              <a:lumMod val="10000"/>
              <a:lumOff val="90000"/>
            </a:schemeClr>
          </a:solidFill>
        </a:fill>
      </a:tcStyle>
    </a:band2H>
    <a:band1V>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w="9525" cmpd="sng">
              <a:solidFill>
                <a:schemeClr val="accent1">
                  <a:lumMod val="40000"/>
                  <a:lumOff val="60000"/>
                </a:schemeClr>
              </a:solidFill>
            </a:ln>
          </a:insideV>
        </a:tcBdr>
        <a:fill>
          <a:solidFill>
            <a:schemeClr val="accent1">
              <a:lumMod val="10000"/>
              <a:lumOff val="90000"/>
            </a:schemeClr>
          </a:solidFill>
        </a:fill>
      </a:tcStyle>
    </a:band1V>
    <a:band2V>
      <a:tcStyle>
        <a:tcBdr>
          <a:left>
            <a:ln w="9525" cmpd="sng">
              <a:solidFill>
                <a:schemeClr val="accent1">
                  <a:lumMod val="40000"/>
                  <a:lumOff val="60000"/>
                </a:schemeClr>
              </a:solidFill>
            </a:ln>
          </a:left>
          <a:right>
            <a:ln w="9525" cmpd="sng">
              <a:solidFill>
                <a:schemeClr val="accent1">
                  <a:lumMod val="40000"/>
                  <a:lumOff val="60000"/>
                </a:schemeClr>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a:noFill/>
            </a:ln>
          </a:insideV>
        </a:tcBdr>
      </a:tcStyle>
    </a:band2V>
    <a:lastCol>
      <a:tcTxStyle b="on">
        <a:fontRef idx="none">
          <a:srgbClr val="08090C"/>
        </a:fontRef>
      </a:tcTxStyle>
      <a:tcStyle>
        <a:tcBdr>
          <a:left>
            <a:ln w="9525" cmpd="sng">
              <a:solidFill>
                <a:schemeClr val="accent1">
                  <a:lumMod val="40000"/>
                  <a:lumOff val="60000"/>
                </a:schemeClr>
              </a:solidFill>
            </a:ln>
          </a:left>
          <a:right>
            <a:ln w="9525" cmpd="sng">
              <a:solidFill>
                <a:schemeClr val="accent1"/>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w="9525" cmpd="sng">
              <a:solidFill>
                <a:schemeClr val="accent1"/>
              </a:solidFill>
            </a:ln>
          </a:left>
          <a:right>
            <a:ln w="9525" cmpd="sng">
              <a:solidFill>
                <a:schemeClr val="accent1">
                  <a:lumMod val="40000"/>
                  <a:lumOff val="60000"/>
                </a:schemeClr>
              </a:solidFill>
            </a:ln>
          </a:right>
          <a:top>
            <a:ln w="9525" cmpd="sng">
              <a:solidFill>
                <a:schemeClr val="accent1"/>
              </a:solidFill>
            </a:ln>
          </a:top>
          <a:bottom>
            <a:ln w="9525" cmpd="sng">
              <a:solidFill>
                <a:schemeClr val="accent1"/>
              </a:solidFill>
            </a:ln>
          </a:bottom>
          <a:insideH>
            <a:ln w="9525" cmpd="sng">
              <a:solidFill>
                <a:schemeClr val="accent1">
                  <a:lumMod val="40000"/>
                  <a:lumOff val="60000"/>
                </a:schemeClr>
              </a:solidFill>
            </a:ln>
          </a:insideH>
          <a:insideV>
            <a:ln>
              <a:noFill/>
            </a:ln>
          </a:insideV>
        </a:tcBdr>
        <a:fill>
          <a:solidFill>
            <a:schemeClr val="accent1">
              <a:lumMod val="20000"/>
              <a:lumOff val="80000"/>
            </a:schemeClr>
          </a:solidFill>
        </a:fill>
      </a:tcStyle>
    </a:firstCol>
    <a:lastRow>
      <a:tcTxStyle b="on">
        <a:fontRef idx="none">
          <a:schemeClr val="accent1"/>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a:noFill/>
            </a:ln>
          </a:insideH>
          <a:insideV>
            <a:ln>
              <a:noFill/>
            </a:ln>
          </a:insideV>
        </a:tcBdr>
        <a:fill>
          <a:solidFill>
            <a:srgbClr val="FFFFFF"/>
          </a:solidFill>
        </a:fill>
      </a:tcStyle>
    </a:lastRow>
    <a:firstRow>
      <a:tcTxStyle b="on">
        <a:fontRef idx="none">
          <a:srgbClr val="FFFFFF"/>
        </a:fontRef>
      </a:tcTxStyle>
      <a:tcStyle>
        <a:tcBdr>
          <a:left>
            <a:ln w="9525" cmpd="sng">
              <a:solidFill>
                <a:schemeClr val="accent1"/>
              </a:solidFill>
            </a:ln>
          </a:left>
          <a:right>
            <a:ln w="9525" cmpd="sng">
              <a:solidFill>
                <a:schemeClr val="accent1"/>
              </a:solidFill>
            </a:ln>
          </a:right>
          <a:top>
            <a:ln w="9525" cmpd="sng">
              <a:solidFill>
                <a:schemeClr val="accent1"/>
              </a:solidFill>
            </a:ln>
          </a:top>
          <a:bottom>
            <a:ln w="9525" cmpd="sng">
              <a:solidFill>
                <a:schemeClr val="accent1"/>
              </a:solidFill>
            </a:ln>
          </a:bottom>
          <a:insideH>
            <a:ln>
              <a:noFill/>
            </a:ln>
          </a:insideH>
          <a:insideV>
            <a:ln w="9525" cmpd="sng">
              <a:solidFill>
                <a:schemeClr val="accent1">
                  <a:lumMod val="40000"/>
                  <a:lumOff val="60000"/>
                </a:schemeClr>
              </a:solidFill>
            </a:ln>
          </a:insideV>
        </a:tcBdr>
        <a:fill>
          <a:solidFill>
            <a:schemeClr val="accent1"/>
          </a:solidFill>
        </a:fill>
      </a:tcStyle>
    </a:firstRow>
  </a:tblStyle>
  <a:tblStyle styleId="{47BA12E7-BA9D-445E-ABA1-313A490048F8}" styleName="表样式 1 14">
    <a:wholeTbl>
      <a:tcTxStyle>
        <a:fontRef idx="none">
          <a:srgbClr val="000000"/>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rgbClr val="FFFFFF"/>
          </a:solidFill>
        </a:fill>
      </a:tcStyle>
    </a:wholeTbl>
    <a:band2H>
      <a:tcStyle>
        <a:tcBdr/>
        <a:fill>
          <a:solidFill>
            <a:schemeClr val="accent1">
              <a:lumMod val="10000"/>
              <a:lumOff val="90000"/>
            </a:schemeClr>
          </a:solidFill>
        </a:fill>
      </a:tcStyle>
    </a:band2H>
    <a:band1V>
      <a:tcStyle>
        <a:tcBdr>
          <a:left>
            <a:ln>
              <a:noFill/>
            </a:ln>
          </a:left>
          <a:right>
            <a:ln>
              <a:noFill/>
            </a:ln>
          </a:right>
          <a:top>
            <a:ln>
              <a:noFill/>
            </a:ln>
          </a:top>
          <a:bottom>
            <a:ln>
              <a:noFill/>
            </a:ln>
          </a:bottom>
          <a:insideH>
            <a:ln>
              <a:noFill/>
            </a:ln>
          </a:insideH>
          <a:insideV>
            <a:ln>
              <a:noFill/>
            </a:ln>
          </a:insideV>
        </a:tcBdr>
        <a:fill>
          <a:solidFill>
            <a:schemeClr val="accent1">
              <a:lumMod val="10000"/>
              <a:lumOff val="90000"/>
            </a:schemeClr>
          </a:solidFill>
        </a:fill>
      </a:tcStyle>
    </a:band1V>
    <a:lastCol>
      <a:tcTxStyle b="on">
        <a:fontRef idx="none">
          <a:srgbClr val="08090C"/>
        </a:fontRef>
      </a:tcTxStyle>
      <a:tcStyle>
        <a:tcBdr>
          <a:left>
            <a:ln>
              <a:noFill/>
            </a:ln>
          </a:left>
          <a:right>
            <a:ln>
              <a:noFill/>
            </a:ln>
          </a:right>
          <a:top>
            <a:ln>
              <a:noFill/>
            </a:ln>
          </a:top>
          <a:bottom>
            <a:ln>
              <a:noFill/>
            </a:ln>
          </a:bottom>
          <a:insideH>
            <a:ln>
              <a:noFill/>
            </a:ln>
          </a:insideH>
          <a:insideV>
            <a:ln>
              <a:noFill/>
            </a:ln>
          </a:insideV>
        </a:tcBdr>
        <a:fill>
          <a:solidFill>
            <a:schemeClr val="accent1">
              <a:lumMod val="20000"/>
              <a:lumOff val="80000"/>
            </a:schemeClr>
          </a:solidFill>
        </a:fill>
      </a:tcStyle>
    </a:lastCol>
    <a:firstCol>
      <a:tcTxStyle b="on">
        <a:fontRef idx="none">
          <a:srgbClr val="08090C"/>
        </a:fontRef>
      </a:tcTxStyle>
      <a:tcStyle>
        <a:tcBdr>
          <a:left>
            <a:ln>
              <a:noFill/>
            </a:ln>
          </a:left>
          <a:right>
            <a:ln>
              <a:noFill/>
            </a:ln>
          </a:right>
          <a:top>
            <a:ln>
              <a:noFill/>
            </a:ln>
          </a:top>
          <a:bottom>
            <a:ln>
              <a:noFill/>
            </a:ln>
          </a:bottom>
          <a:insideH>
            <a:ln>
              <a:noFill/>
            </a:ln>
          </a:insideH>
          <a:insideV>
            <a:ln>
              <a:noFill/>
            </a:ln>
          </a:insideV>
        </a:tcBdr>
        <a:fill>
          <a:solidFill>
            <a:schemeClr val="accent1">
              <a:lumMod val="20000"/>
              <a:lumOff val="80000"/>
            </a:schemeClr>
          </a:solidFill>
        </a:fill>
      </a:tcStyle>
    </a:firstCol>
    <a:lastRow>
      <a:tcTxStyle b="on">
        <a:fontRef idx="none">
          <a:srgbClr val="FFFFFF"/>
        </a:fontRef>
      </a:tcTxStyle>
      <a:tcStyle>
        <a:tcBdr>
          <a:left>
            <a:ln>
              <a:noFill/>
            </a:ln>
          </a:left>
          <a:right>
            <a:ln>
              <a:noFill/>
            </a:ln>
          </a:right>
          <a:top>
            <a:ln w="9525" cmpd="sng">
              <a:solidFill>
                <a:schemeClr val="accent1"/>
              </a:solidFill>
            </a:ln>
          </a:top>
          <a:bottom>
            <a:ln w="9525" cmpd="sng">
              <a:solidFill>
                <a:schemeClr val="accent1"/>
              </a:solidFill>
            </a:ln>
          </a:bottom>
          <a:insideH>
            <a:ln>
              <a:noFill/>
            </a:ln>
          </a:insideH>
          <a:insideV>
            <a:ln>
              <a:noFill/>
            </a:ln>
          </a:insideV>
        </a:tcBdr>
        <a:fill>
          <a:solidFill>
            <a:schemeClr val="accent1"/>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74" autoAdjust="0"/>
    <p:restoredTop sz="94660"/>
  </p:normalViewPr>
  <p:slideViewPr>
    <p:cSldViewPr snapToGrid="0" showGuides="1">
      <p:cViewPr varScale="1">
        <p:scale>
          <a:sx n="56" d="100"/>
          <a:sy n="56" d="100"/>
        </p:scale>
        <p:origin x="36" y="1380"/>
      </p:cViewPr>
      <p:guideLst>
        <p:guide orient="horz" pos="2159"/>
        <p:guide pos="37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tags" Target="tags/tag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B0B508-8D57-EC54-CC43-71279CB698F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8041103-8A26-971D-7391-A657BBD289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47A89CE-550C-630F-1EAA-74C3449E347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F11F313-F55C-3233-CAA3-8BD6CD34954C}"/>
              </a:ext>
            </a:extLst>
          </p:cNvPr>
          <p:cNvSpPr>
            <a:spLocks noGrp="1"/>
          </p:cNvSpPr>
          <p:nvPr>
            <p:ph type="sldNum" sz="quarter" idx="10"/>
          </p:nvPr>
        </p:nvSpPr>
        <p:spPr/>
        <p:txBody>
          <a:bodyPr/>
          <a:lstStyle/>
          <a:p>
            <a:fld id="{0AD15365-EC8E-4D81-8CFC-9BA1709D9290}" type="slidenum">
              <a:rPr lang="zh-CN" altLang="en-US" smtClean="0"/>
              <a:t>3</a:t>
            </a:fld>
            <a:endParaRPr lang="zh-CN" altLang="en-US"/>
          </a:p>
        </p:txBody>
      </p:sp>
    </p:spTree>
    <p:extLst>
      <p:ext uri="{BB962C8B-B14F-4D97-AF65-F5344CB8AC3E}">
        <p14:creationId xmlns:p14="http://schemas.microsoft.com/office/powerpoint/2010/main" val="2703218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5</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7</a:t>
            </a:fld>
            <a:endParaRPr lang="zh-CN" altLang="en-US"/>
          </a:p>
        </p:txBody>
      </p:sp>
    </p:spTree>
    <p:extLst>
      <p:ext uri="{BB962C8B-B14F-4D97-AF65-F5344CB8AC3E}">
        <p14:creationId xmlns:p14="http://schemas.microsoft.com/office/powerpoint/2010/main" val="727486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10</a:t>
            </a:fld>
            <a:endParaRPr lang="zh-CN" altLang="en-US"/>
          </a:p>
        </p:txBody>
      </p:sp>
    </p:spTree>
    <p:extLst>
      <p:ext uri="{BB962C8B-B14F-4D97-AF65-F5344CB8AC3E}">
        <p14:creationId xmlns:p14="http://schemas.microsoft.com/office/powerpoint/2010/main" val="25939157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11</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12</a:t>
            </a:fld>
            <a:endParaRPr lang="zh-CN" altLang="en-US"/>
          </a:p>
        </p:txBody>
      </p:sp>
    </p:spTree>
    <p:extLst>
      <p:ext uri="{BB962C8B-B14F-4D97-AF65-F5344CB8AC3E}">
        <p14:creationId xmlns:p14="http://schemas.microsoft.com/office/powerpoint/2010/main" val="13619405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DFAB-FB70-61AA-A30F-CB9134AA258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ACA1BF0-8869-5AE9-C6AD-F8050D1067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F69D62-53A9-B5FB-5B59-B1E91ECF09B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82B499B-9427-E012-3F14-1A5715E68369}"/>
              </a:ext>
            </a:extLst>
          </p:cNvPr>
          <p:cNvSpPr>
            <a:spLocks noGrp="1"/>
          </p:cNvSpPr>
          <p:nvPr>
            <p:ph type="sldNum" sz="quarter" idx="10"/>
          </p:nvPr>
        </p:nvSpPr>
        <p:spPr/>
        <p:txBody>
          <a:bodyPr/>
          <a:lstStyle/>
          <a:p>
            <a:fld id="{0AD15365-EC8E-4D81-8CFC-9BA1709D9290}" type="slidenum">
              <a:rPr lang="zh-CN" altLang="en-US" smtClean="0"/>
              <a:t>13</a:t>
            </a:fld>
            <a:endParaRPr lang="zh-CN" altLang="en-US"/>
          </a:p>
        </p:txBody>
      </p:sp>
    </p:spTree>
    <p:extLst>
      <p:ext uri="{BB962C8B-B14F-4D97-AF65-F5344CB8AC3E}">
        <p14:creationId xmlns:p14="http://schemas.microsoft.com/office/powerpoint/2010/main" val="39778550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14</a:t>
            </a:fld>
            <a:endParaRPr lang="zh-CN" altLang="en-US"/>
          </a:p>
        </p:txBody>
      </p:sp>
    </p:spTree>
    <p:extLst>
      <p:ext uri="{BB962C8B-B14F-4D97-AF65-F5344CB8AC3E}">
        <p14:creationId xmlns:p14="http://schemas.microsoft.com/office/powerpoint/2010/main" val="731928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15</a:t>
            </a:fld>
            <a:endParaRPr lang="zh-CN" altLang="en-US"/>
          </a:p>
        </p:txBody>
      </p:sp>
    </p:spTree>
    <p:extLst>
      <p:ext uri="{BB962C8B-B14F-4D97-AF65-F5344CB8AC3E}">
        <p14:creationId xmlns:p14="http://schemas.microsoft.com/office/powerpoint/2010/main" val="39197610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16</a:t>
            </a:fld>
            <a:endParaRPr lang="zh-CN" altLang="en-US"/>
          </a:p>
        </p:txBody>
      </p:sp>
    </p:spTree>
    <p:extLst>
      <p:ext uri="{BB962C8B-B14F-4D97-AF65-F5344CB8AC3E}">
        <p14:creationId xmlns:p14="http://schemas.microsoft.com/office/powerpoint/2010/main" val="3293239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17</a:t>
            </a:fld>
            <a:endParaRPr lang="zh-CN" altLang="en-US"/>
          </a:p>
        </p:txBody>
      </p:sp>
    </p:spTree>
    <p:extLst>
      <p:ext uri="{BB962C8B-B14F-4D97-AF65-F5344CB8AC3E}">
        <p14:creationId xmlns:p14="http://schemas.microsoft.com/office/powerpoint/2010/main" val="4025245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18</a:t>
            </a:fld>
            <a:endParaRPr lang="zh-CN" altLang="en-US"/>
          </a:p>
        </p:txBody>
      </p:sp>
    </p:spTree>
    <p:extLst>
      <p:ext uri="{BB962C8B-B14F-4D97-AF65-F5344CB8AC3E}">
        <p14:creationId xmlns:p14="http://schemas.microsoft.com/office/powerpoint/2010/main" val="27963202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19</a:t>
            </a:fld>
            <a:endParaRPr lang="zh-CN" altLang="en-US"/>
          </a:p>
        </p:txBody>
      </p:sp>
    </p:spTree>
    <p:extLst>
      <p:ext uri="{BB962C8B-B14F-4D97-AF65-F5344CB8AC3E}">
        <p14:creationId xmlns:p14="http://schemas.microsoft.com/office/powerpoint/2010/main" val="15116607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20</a:t>
            </a:fld>
            <a:endParaRPr lang="zh-CN" altLang="en-US"/>
          </a:p>
        </p:txBody>
      </p:sp>
    </p:spTree>
    <p:extLst>
      <p:ext uri="{BB962C8B-B14F-4D97-AF65-F5344CB8AC3E}">
        <p14:creationId xmlns:p14="http://schemas.microsoft.com/office/powerpoint/2010/main" val="16999572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21</a:t>
            </a:fld>
            <a:endParaRPr lang="zh-CN" altLang="en-US"/>
          </a:p>
        </p:txBody>
      </p:sp>
    </p:spTree>
    <p:extLst>
      <p:ext uri="{BB962C8B-B14F-4D97-AF65-F5344CB8AC3E}">
        <p14:creationId xmlns:p14="http://schemas.microsoft.com/office/powerpoint/2010/main" val="11142809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22</a:t>
            </a:fld>
            <a:endParaRPr lang="zh-CN" altLang="en-US"/>
          </a:p>
        </p:txBody>
      </p:sp>
    </p:spTree>
    <p:extLst>
      <p:ext uri="{BB962C8B-B14F-4D97-AF65-F5344CB8AC3E}">
        <p14:creationId xmlns:p14="http://schemas.microsoft.com/office/powerpoint/2010/main" val="12442843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23</a:t>
            </a:fld>
            <a:endParaRPr lang="zh-CN" altLang="en-US"/>
          </a:p>
        </p:txBody>
      </p:sp>
    </p:spTree>
    <p:extLst>
      <p:ext uri="{BB962C8B-B14F-4D97-AF65-F5344CB8AC3E}">
        <p14:creationId xmlns:p14="http://schemas.microsoft.com/office/powerpoint/2010/main" val="1805079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24</a:t>
            </a:fld>
            <a:endParaRPr lang="zh-CN" altLang="en-US"/>
          </a:p>
        </p:txBody>
      </p:sp>
    </p:spTree>
    <p:extLst>
      <p:ext uri="{BB962C8B-B14F-4D97-AF65-F5344CB8AC3E}">
        <p14:creationId xmlns:p14="http://schemas.microsoft.com/office/powerpoint/2010/main" val="29939006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25</a:t>
            </a:fld>
            <a:endParaRPr lang="zh-CN" altLang="en-US"/>
          </a:p>
        </p:txBody>
      </p:sp>
    </p:spTree>
    <p:extLst>
      <p:ext uri="{BB962C8B-B14F-4D97-AF65-F5344CB8AC3E}">
        <p14:creationId xmlns:p14="http://schemas.microsoft.com/office/powerpoint/2010/main" val="6360539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26</a:t>
            </a:fld>
            <a:endParaRPr lang="zh-CN" altLang="en-US"/>
          </a:p>
        </p:txBody>
      </p:sp>
    </p:spTree>
    <p:extLst>
      <p:ext uri="{BB962C8B-B14F-4D97-AF65-F5344CB8AC3E}">
        <p14:creationId xmlns:p14="http://schemas.microsoft.com/office/powerpoint/2010/main" val="12816062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27</a:t>
            </a:fld>
            <a:endParaRPr lang="zh-CN" altLang="en-US"/>
          </a:p>
        </p:txBody>
      </p:sp>
    </p:spTree>
    <p:extLst>
      <p:ext uri="{BB962C8B-B14F-4D97-AF65-F5344CB8AC3E}">
        <p14:creationId xmlns:p14="http://schemas.microsoft.com/office/powerpoint/2010/main" val="274064746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AD15365-EC8E-4D81-8CFC-9BA1709D9290}" type="slidenum">
              <a:rPr lang="zh-CN" altLang="en-US" smtClean="0"/>
              <a:t>28</a:t>
            </a:fld>
            <a:endParaRPr lang="zh-CN" altLang="en-US"/>
          </a:p>
        </p:txBody>
      </p:sp>
    </p:spTree>
    <p:extLst>
      <p:ext uri="{BB962C8B-B14F-4D97-AF65-F5344CB8AC3E}">
        <p14:creationId xmlns:p14="http://schemas.microsoft.com/office/powerpoint/2010/main" val="4786384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40C6A686-F129-48DA-8ECF-1DA82628BEF3}" type="datetimeFigureOut">
              <a:rPr lang="zh-CN" altLang="en-US" smtClean="0"/>
              <a:t>2026/1/4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415713-C7A7-47AD-8CA4-5FDFE231CA99}" type="slidenum">
              <a:rPr lang="zh-CN" altLang="en-US" smtClean="0"/>
              <a:t>‹#›</a:t>
            </a:fld>
            <a:endParaRPr lang="zh-CN" altLang="en-US"/>
          </a:p>
        </p:txBody>
      </p:sp>
    </p:spTree>
  </p:cSld>
  <p:clrMapOvr>
    <a:masterClrMapping/>
  </p:clrMapOvr>
  <p:transition spd="med" advClick="0" advTm="0"/>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0C6A686-F129-48DA-8ECF-1DA82628BEF3}" type="datetimeFigureOut">
              <a:rPr lang="zh-CN" altLang="en-US" smtClean="0"/>
              <a:t>2026/1/4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415713-C7A7-47AD-8CA4-5FDFE231CA99}" type="slidenum">
              <a:rPr lang="zh-CN" altLang="en-US" smtClean="0"/>
              <a:t>‹#›</a:t>
            </a:fld>
            <a:endParaRPr lang="zh-CN" altLang="en-US"/>
          </a:p>
        </p:txBody>
      </p:sp>
    </p:spTree>
  </p:cSld>
  <p:clrMapOvr>
    <a:masterClrMapping/>
  </p:clrMapOvr>
  <p:transition spd="med" advClick="0" advTm="0"/>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40C6A686-F129-48DA-8ECF-1DA82628BEF3}" type="datetimeFigureOut">
              <a:rPr lang="zh-CN" altLang="en-US" smtClean="0"/>
              <a:t>2026/1/4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415713-C7A7-47AD-8CA4-5FDFE231CA99}" type="slidenum">
              <a:rPr lang="zh-CN" altLang="en-US" smtClean="0"/>
              <a:t>‹#›</a:t>
            </a:fld>
            <a:endParaRPr lang="zh-CN" altLang="en-US"/>
          </a:p>
        </p:txBody>
      </p:sp>
    </p:spTree>
  </p:cSld>
  <p:clrMapOvr>
    <a:masterClrMapping/>
  </p:clrMapOvr>
  <p:transition spd="med" advClick="0" advTm="0"/>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0C6A686-F129-48DA-8ECF-1DA82628BEF3}" type="datetimeFigureOut">
              <a:rPr lang="zh-CN" altLang="en-US" smtClean="0"/>
              <a:t>2026/1/4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5415713-C7A7-47AD-8CA4-5FDFE231CA99}" type="slidenum">
              <a:rPr lang="zh-CN" altLang="en-US" smtClean="0"/>
              <a:t>‹#›</a:t>
            </a:fld>
            <a:endParaRPr lang="zh-CN" altLang="en-US"/>
          </a:p>
        </p:txBody>
      </p:sp>
    </p:spTree>
  </p:cSld>
  <p:clrMapOvr>
    <a:masterClrMapping/>
  </p:clrMapOvr>
  <p:transition spd="med" advClick="0" advTm="0"/>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0C6A686-F129-48DA-8ECF-1DA82628BEF3}" type="datetimeFigureOut">
              <a:rPr lang="zh-CN" altLang="en-US" smtClean="0"/>
              <a:t>2026/1/4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5415713-C7A7-47AD-8CA4-5FDFE231CA99}" type="slidenum">
              <a:rPr lang="zh-CN" altLang="en-US" smtClean="0"/>
              <a:t>‹#›</a:t>
            </a:fld>
            <a:endParaRPr lang="zh-CN" altLang="en-US"/>
          </a:p>
        </p:txBody>
      </p:sp>
    </p:spTree>
  </p:cSld>
  <p:clrMapOvr>
    <a:masterClrMapping/>
  </p:clrMapOvr>
  <p:transition spd="med" advClick="0" advTm="0"/>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0C6A686-F129-48DA-8ECF-1DA82628BEF3}" type="datetimeFigureOut">
              <a:rPr lang="zh-CN" altLang="en-US" smtClean="0"/>
              <a:t>2026/1/4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5415713-C7A7-47AD-8CA4-5FDFE231CA99}" type="slidenum">
              <a:rPr lang="zh-CN" altLang="en-US" smtClean="0"/>
              <a:t>‹#›</a:t>
            </a:fld>
            <a:endParaRPr lang="zh-CN" altLang="en-US"/>
          </a:p>
        </p:txBody>
      </p:sp>
    </p:spTree>
  </p:cSld>
  <p:clrMapOvr>
    <a:masterClrMapping/>
  </p:clrMapOvr>
  <p:transition spd="med" advClick="0" advTm="0"/>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0C6A686-F129-48DA-8ECF-1DA82628BEF3}" type="datetimeFigureOut">
              <a:rPr lang="zh-CN" altLang="en-US" smtClean="0"/>
              <a:t>2026/1/4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5415713-C7A7-47AD-8CA4-5FDFE231CA99}" type="slidenum">
              <a:rPr lang="zh-CN" altLang="en-US" smtClean="0"/>
              <a:t>‹#›</a:t>
            </a:fld>
            <a:endParaRPr lang="zh-CN" altLang="en-US"/>
          </a:p>
        </p:txBody>
      </p:sp>
    </p:spTree>
  </p:cSld>
  <p:clrMapOvr>
    <a:masterClrMapping/>
  </p:clrMapOvr>
  <p:transition spd="med" advClick="0" advTm="0"/>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0C6A686-F129-48DA-8ECF-1DA82628BEF3}" type="datetimeFigureOut">
              <a:rPr lang="zh-CN" altLang="en-US" smtClean="0"/>
              <a:t>2026/1/4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5415713-C7A7-47AD-8CA4-5FDFE231CA99}" type="slidenum">
              <a:rPr lang="zh-CN" altLang="en-US" smtClean="0"/>
              <a:t>‹#›</a:t>
            </a:fld>
            <a:endParaRPr lang="zh-CN" altLang="en-US"/>
          </a:p>
        </p:txBody>
      </p:sp>
    </p:spTree>
  </p:cSld>
  <p:clrMapOvr>
    <a:masterClrMapping/>
  </p:clrMapOvr>
  <p:transition spd="med" advClick="0" advTm="0"/>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40C6A686-F129-48DA-8ECF-1DA82628BEF3}" type="datetimeFigureOut">
              <a:rPr lang="zh-CN" altLang="en-US" smtClean="0"/>
              <a:t>2026/1/4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5415713-C7A7-47AD-8CA4-5FDFE231CA99}" type="slidenum">
              <a:rPr lang="zh-CN" altLang="en-US" smtClean="0"/>
              <a:t>‹#›</a:t>
            </a:fld>
            <a:endParaRPr lang="zh-CN" altLang="en-US"/>
          </a:p>
        </p:txBody>
      </p:sp>
    </p:spTree>
  </p:cSld>
  <p:clrMapOvr>
    <a:masterClrMapping/>
  </p:clrMapOvr>
  <p:transition spd="med" advClick="0" advTm="0"/>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0C6A686-F129-48DA-8ECF-1DA82628BEF3}" type="datetimeFigureOut">
              <a:rPr lang="zh-CN" altLang="en-US" smtClean="0"/>
              <a:t>2026/1/4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415713-C7A7-47AD-8CA4-5FDFE231CA99}" type="slidenum">
              <a:rPr lang="zh-CN" altLang="en-US" smtClean="0"/>
              <a:t>‹#›</a:t>
            </a:fld>
            <a:endParaRPr lang="zh-CN" altLang="en-US"/>
          </a:p>
        </p:txBody>
      </p:sp>
    </p:spTree>
  </p:cSld>
  <p:clrMapOvr>
    <a:masterClrMapping/>
  </p:clrMapOvr>
  <p:transition spd="med" advClick="0" advTm="0"/>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0C6A686-F129-48DA-8ECF-1DA82628BEF3}" type="datetimeFigureOut">
              <a:rPr lang="zh-CN" altLang="en-US" smtClean="0"/>
              <a:t>2026/1/4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5415713-C7A7-47AD-8CA4-5FDFE231CA99}" type="slidenum">
              <a:rPr lang="zh-CN" altLang="en-US" smtClean="0"/>
              <a:t>‹#›</a:t>
            </a:fld>
            <a:endParaRPr lang="zh-CN" altLang="en-US"/>
          </a:p>
        </p:txBody>
      </p:sp>
    </p:spTree>
  </p:cSld>
  <p:clrMapOvr>
    <a:masterClrMapping/>
  </p:clrMapOvr>
  <p:transition spd="med" advClick="0" advTm="0"/>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C6A686-F129-48DA-8ECF-1DA82628BEF3}" type="datetimeFigureOut">
              <a:rPr lang="zh-CN" altLang="en-US" smtClean="0"/>
              <a:t>2026/1/4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415713-C7A7-47AD-8CA4-5FDFE231CA99}"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advClick="0" advTm="0"/>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image" Target="../media/image4.png"/><Relationship Id="rId18" Type="http://schemas.openxmlformats.org/officeDocument/2006/relationships/image" Target="../media/image9.svg"/><Relationship Id="rId3" Type="http://schemas.openxmlformats.org/officeDocument/2006/relationships/tags" Target="../tags/tag4.xml"/><Relationship Id="rId21" Type="http://schemas.openxmlformats.org/officeDocument/2006/relationships/image" Target="../media/image12.png"/><Relationship Id="rId7" Type="http://schemas.openxmlformats.org/officeDocument/2006/relationships/tags" Target="../tags/tag8.xml"/><Relationship Id="rId12" Type="http://schemas.openxmlformats.org/officeDocument/2006/relationships/image" Target="../media/image3.png"/><Relationship Id="rId17" Type="http://schemas.openxmlformats.org/officeDocument/2006/relationships/image" Target="../media/image8.png"/><Relationship Id="rId2" Type="http://schemas.openxmlformats.org/officeDocument/2006/relationships/tags" Target="../tags/tag3.xml"/><Relationship Id="rId16" Type="http://schemas.openxmlformats.org/officeDocument/2006/relationships/image" Target="../media/image7.svg"/><Relationship Id="rId20" Type="http://schemas.openxmlformats.org/officeDocument/2006/relationships/image" Target="../media/image11.svg"/><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notesSlide" Target="../notesSlides/notesSlide2.xml"/><Relationship Id="rId5" Type="http://schemas.openxmlformats.org/officeDocument/2006/relationships/tags" Target="../tags/tag6.xml"/><Relationship Id="rId15" Type="http://schemas.openxmlformats.org/officeDocument/2006/relationships/image" Target="../media/image6.png"/><Relationship Id="rId10" Type="http://schemas.openxmlformats.org/officeDocument/2006/relationships/slideLayout" Target="../slideLayouts/slideLayout1.xml"/><Relationship Id="rId19" Type="http://schemas.openxmlformats.org/officeDocument/2006/relationships/image" Target="../media/image10.png"/><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image" Target="../media/image5.svg"/><Relationship Id="rId22" Type="http://schemas.openxmlformats.org/officeDocument/2006/relationships/image" Target="../media/image13.sv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3.xml"/><Relationship Id="rId3" Type="http://schemas.openxmlformats.org/officeDocument/2006/relationships/tags" Target="../tags/tag13.xml"/><Relationship Id="rId7"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26.xml"/><Relationship Id="rId7" Type="http://schemas.openxmlformats.org/officeDocument/2006/relationships/slideLayout" Target="../slideLayouts/slideLayout2.xml"/><Relationship Id="rId12" Type="http://schemas.openxmlformats.org/officeDocument/2006/relationships/image" Target="../media/image17.png"/><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tags" Target="../tags/tag29.xml"/><Relationship Id="rId11" Type="http://schemas.openxmlformats.org/officeDocument/2006/relationships/image" Target="../media/image16.png"/><Relationship Id="rId5" Type="http://schemas.openxmlformats.org/officeDocument/2006/relationships/tags" Target="../tags/tag28.xml"/><Relationship Id="rId10" Type="http://schemas.openxmlformats.org/officeDocument/2006/relationships/image" Target="../media/image15.jpeg"/><Relationship Id="rId4" Type="http://schemas.openxmlformats.org/officeDocument/2006/relationships/tags" Target="../tags/tag27.xml"/><Relationship Id="rId9" Type="http://schemas.openxmlformats.org/officeDocument/2006/relationships/image" Target="../media/image14.jpe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13" Type="http://schemas.openxmlformats.org/officeDocument/2006/relationships/image" Target="../media/image22.png"/><Relationship Id="rId3" Type="http://schemas.openxmlformats.org/officeDocument/2006/relationships/tags" Target="../tags/tag32.xml"/><Relationship Id="rId7" Type="http://schemas.openxmlformats.org/officeDocument/2006/relationships/slideLayout" Target="../slideLayouts/slideLayout2.xml"/><Relationship Id="rId12" Type="http://schemas.openxmlformats.org/officeDocument/2006/relationships/image" Target="../media/image21.png"/><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image" Target="../media/image20.png"/><Relationship Id="rId5" Type="http://schemas.openxmlformats.org/officeDocument/2006/relationships/tags" Target="../tags/tag34.xml"/><Relationship Id="rId10" Type="http://schemas.openxmlformats.org/officeDocument/2006/relationships/image" Target="../media/image19.png"/><Relationship Id="rId4" Type="http://schemas.openxmlformats.org/officeDocument/2006/relationships/tags" Target="../tags/tag33.xml"/><Relationship Id="rId9" Type="http://schemas.openxmlformats.org/officeDocument/2006/relationships/image" Target="../media/image18.pn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3" Type="http://schemas.openxmlformats.org/officeDocument/2006/relationships/tags" Target="../tags/tag38.xml"/><Relationship Id="rId7"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3" Type="http://schemas.openxmlformats.org/officeDocument/2006/relationships/tags" Target="../tags/tag44.xml"/><Relationship Id="rId7"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13" Type="http://schemas.openxmlformats.org/officeDocument/2006/relationships/image" Target="../media/image30.png"/><Relationship Id="rId3" Type="http://schemas.openxmlformats.org/officeDocument/2006/relationships/tags" Target="../tags/tag50.xml"/><Relationship Id="rId7" Type="http://schemas.openxmlformats.org/officeDocument/2006/relationships/slideLayout" Target="../slideLayouts/slideLayout2.xml"/><Relationship Id="rId12" Type="http://schemas.openxmlformats.org/officeDocument/2006/relationships/image" Target="../media/image29.png"/><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image" Target="../media/image28.png"/><Relationship Id="rId5" Type="http://schemas.openxmlformats.org/officeDocument/2006/relationships/tags" Target="../tags/tag52.xml"/><Relationship Id="rId10" Type="http://schemas.openxmlformats.org/officeDocument/2006/relationships/image" Target="../media/image27.png"/><Relationship Id="rId4" Type="http://schemas.openxmlformats.org/officeDocument/2006/relationships/tags" Target="../tags/tag51.xml"/><Relationship Id="rId9" Type="http://schemas.openxmlformats.org/officeDocument/2006/relationships/image" Target="../media/image26.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3" Type="http://schemas.openxmlformats.org/officeDocument/2006/relationships/tags" Target="../tags/tag56.xml"/><Relationship Id="rId7" Type="http://schemas.openxmlformats.org/officeDocument/2006/relationships/slideLayout" Target="../slideLayouts/slideLayout2.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tags" Target="../tags/tag59.xml"/><Relationship Id="rId5" Type="http://schemas.openxmlformats.org/officeDocument/2006/relationships/tags" Target="../tags/tag58.xml"/><Relationship Id="rId4" Type="http://schemas.openxmlformats.org/officeDocument/2006/relationships/tags" Target="../tags/tag57.xml"/><Relationship Id="rId9" Type="http://schemas.openxmlformats.org/officeDocument/2006/relationships/image" Target="../media/image31.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62.xml"/><Relationship Id="rId7" Type="http://schemas.openxmlformats.org/officeDocument/2006/relationships/slideLayout" Target="../slideLayouts/slideLayout2.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5" Type="http://schemas.openxmlformats.org/officeDocument/2006/relationships/tags" Target="../tags/tag64.xml"/><Relationship Id="rId4" Type="http://schemas.openxmlformats.org/officeDocument/2006/relationships/tags" Target="../tags/tag63.xml"/><Relationship Id="rId9" Type="http://schemas.openxmlformats.org/officeDocument/2006/relationships/image" Target="../media/image32.jpe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3" Type="http://schemas.openxmlformats.org/officeDocument/2006/relationships/tags" Target="../tags/tag68.xml"/><Relationship Id="rId7" Type="http://schemas.openxmlformats.org/officeDocument/2006/relationships/slideLayout" Target="../slideLayouts/slideLayout2.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5" Type="http://schemas.openxmlformats.org/officeDocument/2006/relationships/tags" Target="../tags/tag70.xml"/><Relationship Id="rId10" Type="http://schemas.openxmlformats.org/officeDocument/2006/relationships/image" Target="../media/image33.emf"/><Relationship Id="rId4" Type="http://schemas.openxmlformats.org/officeDocument/2006/relationships/tags" Target="../tags/tag69.xml"/><Relationship Id="rId9" Type="http://schemas.openxmlformats.org/officeDocument/2006/relationships/image" Target="../media/image32.jpeg"/></Relationships>
</file>

<file path=ppt/slides/_rels/slide1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74.xml"/><Relationship Id="rId7" Type="http://schemas.openxmlformats.org/officeDocument/2006/relationships/tags" Target="../tags/tag78.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3" Type="http://schemas.openxmlformats.org/officeDocument/2006/relationships/tags" Target="../tags/tag81.xml"/><Relationship Id="rId7"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5" Type="http://schemas.openxmlformats.org/officeDocument/2006/relationships/tags" Target="../tags/tag83.xml"/><Relationship Id="rId10" Type="http://schemas.openxmlformats.org/officeDocument/2006/relationships/image" Target="../media/image35.jpeg"/><Relationship Id="rId4" Type="http://schemas.openxmlformats.org/officeDocument/2006/relationships/tags" Target="../tags/tag82.xml"/><Relationship Id="rId9" Type="http://schemas.openxmlformats.org/officeDocument/2006/relationships/image" Target="../media/image34.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3" Type="http://schemas.openxmlformats.org/officeDocument/2006/relationships/tags" Target="../tags/tag87.xml"/><Relationship Id="rId7" Type="http://schemas.openxmlformats.org/officeDocument/2006/relationships/slideLayout" Target="../slideLayouts/slideLayout2.xm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9" Type="http://schemas.openxmlformats.org/officeDocument/2006/relationships/image" Target="../media/image36.png"/></Relationships>
</file>

<file path=ppt/slides/_rels/slide16.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93.xml"/><Relationship Id="rId7" Type="http://schemas.openxmlformats.org/officeDocument/2006/relationships/tags" Target="../tags/tag97.xml"/><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tags" Target="../tags/tag96.xml"/><Relationship Id="rId5" Type="http://schemas.openxmlformats.org/officeDocument/2006/relationships/tags" Target="../tags/tag95.xml"/><Relationship Id="rId10" Type="http://schemas.openxmlformats.org/officeDocument/2006/relationships/image" Target="../media/image37.png"/><Relationship Id="rId4" Type="http://schemas.openxmlformats.org/officeDocument/2006/relationships/tags" Target="../tags/tag94.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00.xml"/><Relationship Id="rId7" Type="http://schemas.openxmlformats.org/officeDocument/2006/relationships/tags" Target="../tags/tag104.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9"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3" Type="http://schemas.openxmlformats.org/officeDocument/2006/relationships/tags" Target="../tags/tag107.xml"/><Relationship Id="rId7" Type="http://schemas.openxmlformats.org/officeDocument/2006/relationships/slideLayout" Target="../slideLayouts/slideLayout2.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9" Type="http://schemas.openxmlformats.org/officeDocument/2006/relationships/image" Target="../media/image38.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3" Type="http://schemas.openxmlformats.org/officeDocument/2006/relationships/tags" Target="../tags/tag113.xml"/><Relationship Id="rId7" Type="http://schemas.openxmlformats.org/officeDocument/2006/relationships/slideLayout" Target="../slideLayouts/slideLayout2.xml"/><Relationship Id="rId2" Type="http://schemas.openxmlformats.org/officeDocument/2006/relationships/tags" Target="../tags/tag112.xml"/><Relationship Id="rId1" Type="http://schemas.openxmlformats.org/officeDocument/2006/relationships/tags" Target="../tags/tag111.xml"/><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9" Type="http://schemas.openxmlformats.org/officeDocument/2006/relationships/image" Target="../media/image38.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3" Type="http://schemas.openxmlformats.org/officeDocument/2006/relationships/tags" Target="../tags/tag119.xml"/><Relationship Id="rId7" Type="http://schemas.openxmlformats.org/officeDocument/2006/relationships/slideLayout" Target="../slideLayouts/slideLayout2.xml"/><Relationship Id="rId2" Type="http://schemas.openxmlformats.org/officeDocument/2006/relationships/tags" Target="../tags/tag118.xml"/><Relationship Id="rId1" Type="http://schemas.openxmlformats.org/officeDocument/2006/relationships/tags" Target="../tags/tag117.xml"/><Relationship Id="rId6" Type="http://schemas.openxmlformats.org/officeDocument/2006/relationships/tags" Target="../tags/tag122.xml"/><Relationship Id="rId5" Type="http://schemas.openxmlformats.org/officeDocument/2006/relationships/tags" Target="../tags/tag121.xml"/><Relationship Id="rId4" Type="http://schemas.openxmlformats.org/officeDocument/2006/relationships/tags" Target="../tags/tag120.xml"/><Relationship Id="rId9" Type="http://schemas.openxmlformats.org/officeDocument/2006/relationships/image" Target="../media/image38.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3" Type="http://schemas.openxmlformats.org/officeDocument/2006/relationships/tags" Target="../tags/tag125.xml"/><Relationship Id="rId7" Type="http://schemas.openxmlformats.org/officeDocument/2006/relationships/slideLayout" Target="../slideLayouts/slideLayout2.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5" Type="http://schemas.openxmlformats.org/officeDocument/2006/relationships/tags" Target="../tags/tag127.xml"/><Relationship Id="rId10" Type="http://schemas.openxmlformats.org/officeDocument/2006/relationships/image" Target="../media/image40.jpeg"/><Relationship Id="rId4" Type="http://schemas.openxmlformats.org/officeDocument/2006/relationships/tags" Target="../tags/tag126.xml"/><Relationship Id="rId9" Type="http://schemas.openxmlformats.org/officeDocument/2006/relationships/image" Target="../media/image39.jpe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2.xml"/><Relationship Id="rId3" Type="http://schemas.openxmlformats.org/officeDocument/2006/relationships/tags" Target="../tags/tag131.xml"/><Relationship Id="rId7" Type="http://schemas.openxmlformats.org/officeDocument/2006/relationships/slideLayout" Target="../slideLayouts/slideLayout2.xml"/><Relationship Id="rId2" Type="http://schemas.openxmlformats.org/officeDocument/2006/relationships/tags" Target="../tags/tag130.xml"/><Relationship Id="rId1" Type="http://schemas.openxmlformats.org/officeDocument/2006/relationships/tags" Target="../tags/tag129.xml"/><Relationship Id="rId6" Type="http://schemas.openxmlformats.org/officeDocument/2006/relationships/tags" Target="../tags/tag134.xml"/><Relationship Id="rId5" Type="http://schemas.openxmlformats.org/officeDocument/2006/relationships/tags" Target="../tags/tag133.xml"/><Relationship Id="rId10" Type="http://schemas.openxmlformats.org/officeDocument/2006/relationships/image" Target="../media/image42.png"/><Relationship Id="rId4" Type="http://schemas.openxmlformats.org/officeDocument/2006/relationships/tags" Target="../tags/tag132.xml"/><Relationship Id="rId9" Type="http://schemas.openxmlformats.org/officeDocument/2006/relationships/image" Target="../media/image41.png"/></Relationships>
</file>

<file path=ppt/slides/_rels/slide2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37.xml"/><Relationship Id="rId7" Type="http://schemas.openxmlformats.org/officeDocument/2006/relationships/tags" Target="../tags/tag141.xml"/><Relationship Id="rId2" Type="http://schemas.openxmlformats.org/officeDocument/2006/relationships/tags" Target="../tags/tag136.xml"/><Relationship Id="rId1" Type="http://schemas.openxmlformats.org/officeDocument/2006/relationships/tags" Target="../tags/tag135.xml"/><Relationship Id="rId6" Type="http://schemas.openxmlformats.org/officeDocument/2006/relationships/tags" Target="../tags/tag140.xml"/><Relationship Id="rId5" Type="http://schemas.openxmlformats.org/officeDocument/2006/relationships/tags" Target="../tags/tag139.xml"/><Relationship Id="rId10" Type="http://schemas.openxmlformats.org/officeDocument/2006/relationships/image" Target="../media/image43.png"/><Relationship Id="rId4" Type="http://schemas.openxmlformats.org/officeDocument/2006/relationships/tags" Target="../tags/tag138.xml"/><Relationship Id="rId9"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144.xml"/><Relationship Id="rId7" Type="http://schemas.openxmlformats.org/officeDocument/2006/relationships/slideLayout" Target="../slideLayouts/slideLayout2.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9" Type="http://schemas.openxmlformats.org/officeDocument/2006/relationships/image" Target="../media/image44.png"/></Relationships>
</file>

<file path=ppt/slides/_rels/slide25.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9"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6.xml"/><Relationship Id="rId3" Type="http://schemas.openxmlformats.org/officeDocument/2006/relationships/tags" Target="../tags/tag157.xml"/><Relationship Id="rId7" Type="http://schemas.openxmlformats.org/officeDocument/2006/relationships/slideLayout" Target="../slideLayouts/slideLayout2.xml"/><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tags" Target="../tags/tag160.xml"/><Relationship Id="rId5" Type="http://schemas.openxmlformats.org/officeDocument/2006/relationships/tags" Target="../tags/tag159.xml"/><Relationship Id="rId4" Type="http://schemas.openxmlformats.org/officeDocument/2006/relationships/tags" Target="../tags/tag158.xml"/></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3" Type="http://schemas.openxmlformats.org/officeDocument/2006/relationships/tags" Target="../tags/tag163.xml"/><Relationship Id="rId7" Type="http://schemas.openxmlformats.org/officeDocument/2006/relationships/slideLayout" Target="../slideLayouts/slideLayout2.xml"/><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tags" Target="../tags/tag166.xml"/><Relationship Id="rId11" Type="http://schemas.openxmlformats.org/officeDocument/2006/relationships/image" Target="../media/image47.png"/><Relationship Id="rId5" Type="http://schemas.openxmlformats.org/officeDocument/2006/relationships/tags" Target="../tags/tag165.xml"/><Relationship Id="rId10" Type="http://schemas.openxmlformats.org/officeDocument/2006/relationships/image" Target="../media/image46.png"/><Relationship Id="rId4" Type="http://schemas.openxmlformats.org/officeDocument/2006/relationships/tags" Target="../tags/tag164.xml"/><Relationship Id="rId9" Type="http://schemas.openxmlformats.org/officeDocument/2006/relationships/image" Target="../media/image45.png"/></Relationships>
</file>

<file path=ppt/slides/_rels/slide28.xml.rels><?xml version="1.0" encoding="UTF-8" standalone="yes"?>
<Relationships xmlns="http://schemas.openxmlformats.org/package/2006/relationships"><Relationship Id="rId8" Type="http://schemas.openxmlformats.org/officeDocument/2006/relationships/notesSlide" Target="../notesSlides/notesSlide28.xml"/><Relationship Id="rId3" Type="http://schemas.openxmlformats.org/officeDocument/2006/relationships/tags" Target="../tags/tag169.xml"/><Relationship Id="rId7" Type="http://schemas.openxmlformats.org/officeDocument/2006/relationships/slideLayout" Target="../slideLayouts/slideLayout2.xml"/><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tags" Target="../tags/tag172.xml"/><Relationship Id="rId5" Type="http://schemas.openxmlformats.org/officeDocument/2006/relationships/tags" Target="../tags/tag171.xml"/><Relationship Id="rId10" Type="http://schemas.openxmlformats.org/officeDocument/2006/relationships/image" Target="../media/image49.png"/><Relationship Id="rId4" Type="http://schemas.openxmlformats.org/officeDocument/2006/relationships/tags" Target="../tags/tag170.xml"/><Relationship Id="rId9"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12" name="图片 11" descr="v2-007e96145ec1a9a8a69a87a72532bc6c_1440w"/>
          <p:cNvPicPr>
            <a:picLocks noChangeAspect="1"/>
          </p:cNvPicPr>
          <p:nvPr/>
        </p:nvPicPr>
        <p:blipFill>
          <a:blip r:embed="rId3">
            <a:alphaModFix amt="80000"/>
          </a:blip>
          <a:stretch>
            <a:fillRect/>
          </a:stretch>
        </p:blipFill>
        <p:spPr>
          <a:xfrm>
            <a:off x="-17145" y="0"/>
            <a:ext cx="12369800" cy="6858000"/>
          </a:xfrm>
          <a:prstGeom prst="rect">
            <a:avLst/>
          </a:prstGeom>
        </p:spPr>
      </p:pic>
      <p:sp>
        <p:nvSpPr>
          <p:cNvPr id="6" name="矩形 5"/>
          <p:cNvSpPr/>
          <p:nvPr/>
        </p:nvSpPr>
        <p:spPr>
          <a:xfrm>
            <a:off x="-17780" y="1634490"/>
            <a:ext cx="12226290" cy="5224145"/>
          </a:xfrm>
          <a:prstGeom prst="rect">
            <a:avLst/>
          </a:prstGeom>
          <a:solidFill>
            <a:schemeClr val="bg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794760" y="6705600"/>
            <a:ext cx="4972050" cy="17145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270" y="2858135"/>
            <a:ext cx="12174220" cy="1905635"/>
          </a:xfrm>
          <a:prstGeom prst="rect">
            <a:avLst/>
          </a:prstGeom>
          <a:noFill/>
        </p:spPr>
        <p:txBody>
          <a:bodyPr wrap="square" rtlCol="0">
            <a:noAutofit/>
          </a:bodyPr>
          <a:lstStyle/>
          <a:p>
            <a:pPr algn="ctr"/>
            <a:r>
              <a:rPr lang="zh-CN" altLang="en-US" sz="5400" b="1">
                <a:solidFill>
                  <a:srgbClr val="1F4E79"/>
                </a:solidFill>
                <a:latin typeface="微软雅黑" panose="020B0503020204020204" charset="-122"/>
                <a:ea typeface="微软雅黑" panose="020B0503020204020204" charset="-122"/>
                <a:cs typeface="微软雅黑" panose="020B0503020204020204" charset="-122"/>
              </a:rPr>
              <a:t>就</a:t>
            </a:r>
            <a:r>
              <a:rPr lang="en-US" altLang="zh-CN" sz="5400" b="1">
                <a:solidFill>
                  <a:srgbClr val="1F4E79"/>
                </a:solidFill>
                <a:latin typeface="微软雅黑" panose="020B0503020204020204" charset="-122"/>
                <a:ea typeface="微软雅黑" panose="020B0503020204020204" charset="-122"/>
                <a:cs typeface="微软雅黑" panose="020B0503020204020204" charset="-122"/>
              </a:rPr>
              <a:t>“</a:t>
            </a:r>
            <a:r>
              <a:rPr lang="zh-CN" altLang="en-US" sz="5400" b="1">
                <a:solidFill>
                  <a:srgbClr val="1F4E79"/>
                </a:solidFill>
                <a:latin typeface="微软雅黑" panose="020B0503020204020204" charset="-122"/>
                <a:ea typeface="微软雅黑" panose="020B0503020204020204" charset="-122"/>
                <a:cs typeface="微软雅黑" panose="020B0503020204020204" charset="-122"/>
              </a:rPr>
              <a:t>地</a:t>
            </a:r>
            <a:r>
              <a:rPr lang="en-US" altLang="zh-CN" sz="5400" b="1">
                <a:solidFill>
                  <a:srgbClr val="1F4E79"/>
                </a:solidFill>
                <a:latin typeface="微软雅黑" panose="020B0503020204020204" charset="-122"/>
                <a:ea typeface="微软雅黑" panose="020B0503020204020204" charset="-122"/>
                <a:cs typeface="微软雅黑" panose="020B0503020204020204" charset="-122"/>
              </a:rPr>
              <a:t>”</a:t>
            </a:r>
            <a:r>
              <a:rPr lang="zh-CN" altLang="en-US" sz="5400" b="1">
                <a:solidFill>
                  <a:srgbClr val="1F4E79"/>
                </a:solidFill>
                <a:latin typeface="微软雅黑" panose="020B0503020204020204" charset="-122"/>
                <a:ea typeface="微软雅黑" panose="020B0503020204020204" charset="-122"/>
                <a:cs typeface="微软雅黑" panose="020B0503020204020204" charset="-122"/>
              </a:rPr>
              <a:t>起价</a:t>
            </a:r>
            <a:r>
              <a:rPr lang="en-US" altLang="zh-CN" sz="5400" b="1">
                <a:solidFill>
                  <a:srgbClr val="1F4E79"/>
                </a:solidFill>
                <a:latin typeface="微软雅黑" panose="020B0503020204020204" charset="-122"/>
                <a:ea typeface="微软雅黑" panose="020B0503020204020204" charset="-122"/>
                <a:cs typeface="微软雅黑" panose="020B0503020204020204" charset="-122"/>
                <a:sym typeface="+mn-ea"/>
              </a:rPr>
              <a:t>——</a:t>
            </a:r>
            <a:endParaRPr lang="zh-CN" altLang="en-US" sz="5400" b="1">
              <a:solidFill>
                <a:srgbClr val="1F4E79"/>
              </a:solidFill>
              <a:latin typeface="微软雅黑" panose="020B0503020204020204" charset="-122"/>
              <a:ea typeface="微软雅黑" panose="020B0503020204020204" charset="-122"/>
              <a:cs typeface="微软雅黑" panose="020B0503020204020204" charset="-122"/>
            </a:endParaRPr>
          </a:p>
          <a:p>
            <a:pPr algn="ctr"/>
            <a:r>
              <a:rPr lang="zh-CN" altLang="en-US" sz="5400" b="1">
                <a:solidFill>
                  <a:srgbClr val="1F4E79"/>
                </a:solidFill>
                <a:latin typeface="微软雅黑" panose="020B0503020204020204" charset="-122"/>
                <a:ea typeface="微软雅黑" panose="020B0503020204020204" charset="-122"/>
                <a:cs typeface="微软雅黑" panose="020B0503020204020204" charset="-122"/>
              </a:rPr>
              <a:t>高精地图数据价值评估</a:t>
            </a:r>
          </a:p>
        </p:txBody>
      </p:sp>
      <p:sp>
        <p:nvSpPr>
          <p:cNvPr id="3" name="文本框 2"/>
          <p:cNvSpPr txBox="1"/>
          <p:nvPr/>
        </p:nvSpPr>
        <p:spPr>
          <a:xfrm>
            <a:off x="104775" y="4884420"/>
            <a:ext cx="12191365" cy="460375"/>
          </a:xfrm>
          <a:prstGeom prst="rect">
            <a:avLst/>
          </a:prstGeom>
          <a:noFill/>
        </p:spPr>
        <p:txBody>
          <a:bodyPr wrap="square" rtlCol="0">
            <a:spAutoFit/>
          </a:bodyPr>
          <a:lstStyle/>
          <a:p>
            <a:pPr algn="ctr"/>
            <a:r>
              <a:rPr lang="zh-CN" altLang="en-US" sz="2400" dirty="0">
                <a:solidFill>
                  <a:srgbClr val="1F4E79"/>
                </a:solidFill>
                <a:latin typeface="微软雅黑" panose="020B0503020204020204" charset="-122"/>
                <a:ea typeface="微软雅黑" panose="020B0503020204020204" charset="-122"/>
                <a:cs typeface="微软雅黑" panose="020B0503020204020204" charset="-122"/>
              </a:rPr>
              <a:t>武汉大学大学生创新训练计划项目结题报告</a:t>
            </a:r>
          </a:p>
        </p:txBody>
      </p:sp>
      <p:pic>
        <p:nvPicPr>
          <p:cNvPr id="13" name="图片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91230" y="1311275"/>
            <a:ext cx="4531360" cy="1426210"/>
          </a:xfrm>
          <a:prstGeom prst="rect">
            <a:avLst/>
          </a:prstGeom>
        </p:spPr>
      </p:pic>
      <p:sp>
        <p:nvSpPr>
          <p:cNvPr id="2" name="灯片编号占位符 1"/>
          <p:cNvSpPr>
            <a:spLocks noGrp="1"/>
          </p:cNvSpPr>
          <p:nvPr>
            <p:ph type="sldNum" sz="quarter" idx="12"/>
          </p:nvPr>
        </p:nvSpPr>
        <p:spPr/>
        <p:txBody>
          <a:bodyPr/>
          <a:lstStyle/>
          <a:p>
            <a:fld id="{45415713-C7A7-47AD-8CA4-5FDFE231CA99}" type="slidenum">
              <a:rPr lang="zh-CN" altLang="en-US" smtClean="0"/>
              <a:t>1</a:t>
            </a:fld>
            <a:endParaRPr lang="zh-CN" altLang="en-US"/>
          </a:p>
        </p:txBody>
      </p:sp>
      <p:sp>
        <p:nvSpPr>
          <p:cNvPr id="11" name="文本框 10"/>
          <p:cNvSpPr txBox="1"/>
          <p:nvPr/>
        </p:nvSpPr>
        <p:spPr>
          <a:xfrm>
            <a:off x="-17780" y="5465445"/>
            <a:ext cx="12191365" cy="460375"/>
          </a:xfrm>
          <a:prstGeom prst="rect">
            <a:avLst/>
          </a:prstGeom>
          <a:noFill/>
        </p:spPr>
        <p:txBody>
          <a:bodyPr wrap="square" rtlCol="0">
            <a:spAutoFit/>
          </a:bodyPr>
          <a:lstStyle/>
          <a:p>
            <a:pPr algn="ctr"/>
            <a:r>
              <a:rPr lang="zh-CN" altLang="en-US" sz="2400" dirty="0">
                <a:solidFill>
                  <a:srgbClr val="1F4E79"/>
                </a:solidFill>
                <a:latin typeface="微软雅黑" panose="020B0503020204020204" charset="-122"/>
                <a:ea typeface="微软雅黑" panose="020B0503020204020204" charset="-122"/>
                <a:cs typeface="微软雅黑" panose="020B0503020204020204" charset="-122"/>
              </a:rPr>
              <a:t>团队成员：高家垚</a:t>
            </a:r>
            <a:r>
              <a:rPr lang="en-US" altLang="zh-CN" sz="2400" dirty="0">
                <a:solidFill>
                  <a:srgbClr val="1F4E79"/>
                </a:solidFill>
                <a:latin typeface="微软雅黑" panose="020B0503020204020204" charset="-122"/>
                <a:ea typeface="微软雅黑" panose="020B0503020204020204" charset="-122"/>
                <a:cs typeface="微软雅黑" panose="020B0503020204020204" charset="-122"/>
              </a:rPr>
              <a:t>  </a:t>
            </a:r>
            <a:r>
              <a:rPr lang="zh-CN" altLang="en-US" sz="2400" dirty="0">
                <a:solidFill>
                  <a:srgbClr val="1F4E79"/>
                </a:solidFill>
                <a:latin typeface="微软雅黑" panose="020B0503020204020204" charset="-122"/>
                <a:ea typeface="微软雅黑" panose="020B0503020204020204" charset="-122"/>
                <a:cs typeface="微软雅黑" panose="020B0503020204020204" charset="-122"/>
              </a:rPr>
              <a:t>何灿非 普贝吉</a:t>
            </a:r>
            <a:r>
              <a:rPr lang="en-US" altLang="zh-CN" sz="2400" dirty="0">
                <a:solidFill>
                  <a:srgbClr val="1F4E79"/>
                </a:solidFill>
                <a:latin typeface="微软雅黑" panose="020B0503020204020204" charset="-122"/>
                <a:ea typeface="微软雅黑" panose="020B0503020204020204" charset="-122"/>
                <a:cs typeface="微软雅黑" panose="020B0503020204020204" charset="-122"/>
              </a:rPr>
              <a:t>           </a:t>
            </a:r>
            <a:r>
              <a:rPr lang="zh-CN" altLang="en-US" sz="2400" dirty="0">
                <a:solidFill>
                  <a:srgbClr val="1F4E79"/>
                </a:solidFill>
                <a:latin typeface="微软雅黑" panose="020B0503020204020204" charset="-122"/>
                <a:ea typeface="微软雅黑" panose="020B0503020204020204" charset="-122"/>
                <a:cs typeface="微软雅黑" panose="020B0503020204020204" charset="-122"/>
              </a:rPr>
              <a:t>指导老师：应申</a:t>
            </a:r>
            <a:r>
              <a:rPr lang="en-US" altLang="zh-CN" sz="2400" dirty="0">
                <a:solidFill>
                  <a:srgbClr val="1F4E79"/>
                </a:solidFill>
                <a:latin typeface="微软雅黑" panose="020B0503020204020204" charset="-122"/>
                <a:ea typeface="微软雅黑" panose="020B0503020204020204" charset="-122"/>
                <a:cs typeface="微软雅黑" panose="020B0503020204020204" charset="-122"/>
              </a:rPr>
              <a:t>  </a:t>
            </a:r>
            <a:r>
              <a:rPr lang="zh-CN" altLang="en-US" sz="2400" dirty="0">
                <a:solidFill>
                  <a:srgbClr val="1F4E79"/>
                </a:solidFill>
                <a:latin typeface="微软雅黑" panose="020B0503020204020204" charset="-122"/>
                <a:ea typeface="微软雅黑" panose="020B0503020204020204" charset="-122"/>
                <a:cs typeface="微软雅黑" panose="020B0503020204020204" charset="-122"/>
              </a:rPr>
              <a:t>教授</a:t>
            </a:r>
          </a:p>
        </p:txBody>
      </p:sp>
      <p:sp>
        <p:nvSpPr>
          <p:cNvPr id="10" name="文本框 9"/>
          <p:cNvSpPr txBox="1"/>
          <p:nvPr/>
        </p:nvSpPr>
        <p:spPr>
          <a:xfrm>
            <a:off x="-35560" y="6245225"/>
            <a:ext cx="12191365" cy="398780"/>
          </a:xfrm>
          <a:prstGeom prst="rect">
            <a:avLst/>
          </a:prstGeom>
          <a:noFill/>
        </p:spPr>
        <p:txBody>
          <a:bodyPr wrap="square" rtlCol="0">
            <a:spAutoFit/>
          </a:bodyPr>
          <a:lstStyle/>
          <a:p>
            <a:pPr algn="ctr"/>
            <a:r>
              <a:rPr lang="zh-CN" altLang="en-US" sz="2000">
                <a:solidFill>
                  <a:srgbClr val="1F4E79"/>
                </a:solidFill>
                <a:latin typeface="微软雅黑" panose="020B0503020204020204" charset="-122"/>
                <a:ea typeface="微软雅黑" panose="020B0503020204020204" charset="-122"/>
                <a:cs typeface="微软雅黑" panose="020B0503020204020204" charset="-122"/>
              </a:rPr>
              <a:t>二零二五年十二月</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1659694252148884"/>
          <p:cNvPicPr>
            <a:picLocks noChangeAspect="1"/>
          </p:cNvPicPr>
          <p:nvPr/>
        </p:nvPicPr>
        <p:blipFill>
          <a:blip r:embed="rId12"/>
          <a:srcRect l="23115" r="28326"/>
          <a:stretch>
            <a:fillRect/>
          </a:stretch>
        </p:blipFill>
        <p:spPr>
          <a:xfrm>
            <a:off x="0" y="0"/>
            <a:ext cx="5962015" cy="6858000"/>
          </a:xfrm>
          <a:prstGeom prst="rect">
            <a:avLst/>
          </a:prstGeom>
        </p:spPr>
      </p:pic>
      <p:grpSp>
        <p:nvGrpSpPr>
          <p:cNvPr id="19" name="组合 18"/>
          <p:cNvGrpSpPr/>
          <p:nvPr>
            <p:custDataLst>
              <p:tags r:id="rId1"/>
            </p:custDataLst>
          </p:nvPr>
        </p:nvGrpSpPr>
        <p:grpSpPr>
          <a:xfrm>
            <a:off x="6856095" y="283210"/>
            <a:ext cx="7296785" cy="6318250"/>
            <a:chOff x="9174" y="1229"/>
            <a:chExt cx="11491" cy="9950"/>
          </a:xfrm>
        </p:grpSpPr>
        <p:sp>
          <p:nvSpPr>
            <p:cNvPr id="5" name="文本框 4"/>
            <p:cNvSpPr txBox="1"/>
            <p:nvPr>
              <p:custDataLst>
                <p:tags r:id="rId2"/>
              </p:custDataLst>
            </p:nvPr>
          </p:nvSpPr>
          <p:spPr>
            <a:xfrm>
              <a:off x="11151" y="3218"/>
              <a:ext cx="9514" cy="1695"/>
            </a:xfrm>
            <a:prstGeom prst="rect">
              <a:avLst/>
            </a:prstGeom>
            <a:noFill/>
          </p:spPr>
          <p:txBody>
            <a:bodyPr wrap="square" rtlCol="0">
              <a:spAutoFit/>
            </a:bodyPr>
            <a:lstStyle/>
            <a:p>
              <a:pPr>
                <a:lnSpc>
                  <a:spcPct val="200000"/>
                </a:lnSpc>
              </a:pPr>
              <a:r>
                <a:rPr lang="zh-CN" altLang="en-US" sz="3200" b="1">
                  <a:solidFill>
                    <a:schemeClr val="tx1">
                      <a:lumMod val="75000"/>
                      <a:lumOff val="25000"/>
                    </a:schemeClr>
                  </a:solidFill>
                  <a:latin typeface="微软雅黑" panose="020B0503020204020204" charset="-122"/>
                  <a:ea typeface="微软雅黑" panose="020B0503020204020204" charset="-122"/>
                  <a:cs typeface="Arial Black" panose="020B0A04020102020204" charset="0"/>
                </a:rPr>
                <a:t>研究背景</a:t>
              </a:r>
            </a:p>
          </p:txBody>
        </p:sp>
        <p:sp>
          <p:nvSpPr>
            <p:cNvPr id="13" name="文本框 9"/>
            <p:cNvSpPr txBox="1"/>
            <p:nvPr>
              <p:custDataLst>
                <p:tags r:id="rId3"/>
              </p:custDataLst>
            </p:nvPr>
          </p:nvSpPr>
          <p:spPr>
            <a:xfrm>
              <a:off x="11151" y="5405"/>
              <a:ext cx="9514" cy="3013"/>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3200" b="1" dirty="0">
                  <a:solidFill>
                    <a:schemeClr val="tx1">
                      <a:lumMod val="75000"/>
                      <a:lumOff val="25000"/>
                    </a:schemeClr>
                  </a:solidFill>
                  <a:latin typeface="微软雅黑" panose="020B0503020204020204" charset="-122"/>
                  <a:ea typeface="微软雅黑" panose="020B0503020204020204" charset="-122"/>
                  <a:cs typeface="Arial Black" panose="020B0A04020102020204" charset="0"/>
                  <a:sym typeface="+mn-ea"/>
                </a:rPr>
                <a:t>研究内容</a:t>
              </a:r>
              <a:endParaRPr lang="zh-CN" altLang="en-US" sz="3200" b="1" dirty="0">
                <a:solidFill>
                  <a:schemeClr val="tx1">
                    <a:lumMod val="75000"/>
                    <a:lumOff val="25000"/>
                  </a:schemeClr>
                </a:solidFill>
                <a:latin typeface="微软雅黑" panose="020B0503020204020204" charset="-122"/>
                <a:ea typeface="微软雅黑" panose="020B0503020204020204" charset="-122"/>
                <a:cs typeface="Arial Black" panose="020B0A04020102020204" charset="0"/>
              </a:endParaRPr>
            </a:p>
            <a:p>
              <a:pPr>
                <a:lnSpc>
                  <a:spcPct val="200000"/>
                </a:lnSpc>
              </a:pPr>
              <a:endParaRPr lang="zh-CN" altLang="en-US" sz="3200" b="1" dirty="0">
                <a:solidFill>
                  <a:schemeClr val="tx1">
                    <a:lumMod val="75000"/>
                    <a:lumOff val="25000"/>
                  </a:schemeClr>
                </a:solidFill>
                <a:latin typeface="微软雅黑" panose="020B0503020204020204" charset="-122"/>
                <a:ea typeface="微软雅黑" panose="020B0503020204020204" charset="-122"/>
                <a:cs typeface="Arial Black" panose="020B0A04020102020204" charset="0"/>
              </a:endParaRPr>
            </a:p>
          </p:txBody>
        </p:sp>
        <p:sp>
          <p:nvSpPr>
            <p:cNvPr id="22" name="文本框 15"/>
            <p:cNvSpPr txBox="1"/>
            <p:nvPr>
              <p:custDataLst>
                <p:tags r:id="rId4"/>
              </p:custDataLst>
            </p:nvPr>
          </p:nvSpPr>
          <p:spPr>
            <a:xfrm>
              <a:off x="11151" y="7473"/>
              <a:ext cx="9514" cy="16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lnSpc>
                  <a:spcPct val="200000"/>
                </a:lnSpc>
                <a:buClrTx/>
                <a:buSzTx/>
                <a:buFontTx/>
              </a:pPr>
              <a:r>
                <a:rPr lang="zh-CN" altLang="en-US" sz="3200" b="1" dirty="0">
                  <a:solidFill>
                    <a:schemeClr val="tx1">
                      <a:lumMod val="75000"/>
                      <a:lumOff val="25000"/>
                    </a:schemeClr>
                  </a:solidFill>
                  <a:latin typeface="微软雅黑" panose="020B0503020204020204" charset="-122"/>
                  <a:ea typeface="微软雅黑" panose="020B0503020204020204" charset="-122"/>
                  <a:cs typeface="Arial Black" panose="020B0A04020102020204" charset="0"/>
                  <a:sym typeface="+mn-ea"/>
                </a:rPr>
                <a:t>亮点难点</a:t>
              </a:r>
              <a:endParaRPr lang="zh-CN" altLang="en-US" sz="3200" b="1" dirty="0">
                <a:solidFill>
                  <a:schemeClr val="tx1">
                    <a:lumMod val="75000"/>
                    <a:lumOff val="25000"/>
                  </a:schemeClr>
                </a:solidFill>
                <a:latin typeface="微软雅黑" panose="020B0503020204020204" charset="-122"/>
                <a:ea typeface="微软雅黑" panose="020B0503020204020204" charset="-122"/>
                <a:cs typeface="Arial Black" panose="020B0A04020102020204" charset="0"/>
              </a:endParaRPr>
            </a:p>
          </p:txBody>
        </p:sp>
        <p:sp>
          <p:nvSpPr>
            <p:cNvPr id="2" name="文本框 9"/>
            <p:cNvSpPr txBox="1"/>
            <p:nvPr>
              <p:custDataLst>
                <p:tags r:id="rId5"/>
              </p:custDataLst>
            </p:nvPr>
          </p:nvSpPr>
          <p:spPr>
            <a:xfrm>
              <a:off x="11151" y="1229"/>
              <a:ext cx="9514" cy="146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3200" b="1" dirty="0">
                  <a:solidFill>
                    <a:schemeClr val="tx1">
                      <a:lumMod val="75000"/>
                      <a:lumOff val="25000"/>
                    </a:schemeClr>
                  </a:solidFill>
                  <a:latin typeface="微软雅黑" panose="020B0503020204020204" charset="-122"/>
                  <a:ea typeface="微软雅黑" panose="020B0503020204020204" charset="-122"/>
                  <a:cs typeface="Arial Black" panose="020B0A04020102020204" charset="0"/>
                </a:rPr>
                <a:t>项目简介</a:t>
              </a:r>
            </a:p>
          </p:txBody>
        </p:sp>
        <p:pic>
          <p:nvPicPr>
            <p:cNvPr id="11" name="图片 10" descr="书本"/>
            <p:cNvPicPr>
              <a:picLocks noChangeAspect="1"/>
            </p:cNvPicPr>
            <p:nvPr>
              <p:custDataLst>
                <p:tags r:id="rId6"/>
              </p:custDataLst>
            </p:nvPr>
          </p:nvPicPr>
          <p:blipFill>
            <a:blip r:embed="rId13">
              <a:extLst>
                <a:ext uri="{96DAC541-7B7A-43D3-8B79-37D633B846F1}">
                  <asvg:svgBlip xmlns:asvg="http://schemas.microsoft.com/office/drawing/2016/SVG/main" r:embed="rId14"/>
                </a:ext>
              </a:extLst>
            </a:blip>
            <a:stretch>
              <a:fillRect/>
            </a:stretch>
          </p:blipFill>
          <p:spPr>
            <a:xfrm>
              <a:off x="9174" y="3721"/>
              <a:ext cx="1191" cy="1191"/>
            </a:xfrm>
            <a:prstGeom prst="rect">
              <a:avLst/>
            </a:prstGeom>
          </p:spPr>
        </p:pic>
        <p:pic>
          <p:nvPicPr>
            <p:cNvPr id="12" name="图片 11" descr="灯泡"/>
            <p:cNvPicPr>
              <a:picLocks noChangeAspect="1"/>
            </p:cNvPicPr>
            <p:nvPr>
              <p:custDataLst>
                <p:tags r:id="rId7"/>
              </p:custDataLst>
            </p:nvPr>
          </p:nvPicPr>
          <p:blipFill>
            <a:blip r:embed="rId15">
              <a:extLst>
                <a:ext uri="{96DAC541-7B7A-43D3-8B79-37D633B846F1}">
                  <asvg:svgBlip xmlns:asvg="http://schemas.microsoft.com/office/drawing/2016/SVG/main" r:embed="rId16"/>
                </a:ext>
              </a:extLst>
            </a:blip>
            <a:stretch>
              <a:fillRect/>
            </a:stretch>
          </p:blipFill>
          <p:spPr>
            <a:xfrm>
              <a:off x="9320" y="7908"/>
              <a:ext cx="1260" cy="1260"/>
            </a:xfrm>
            <a:prstGeom prst="rect">
              <a:avLst/>
            </a:prstGeom>
          </p:spPr>
        </p:pic>
        <p:pic>
          <p:nvPicPr>
            <p:cNvPr id="14" name="图片 13" descr="工作计划"/>
            <p:cNvPicPr>
              <a:picLocks noChangeAspect="1"/>
            </p:cNvPicPr>
            <p:nvPr>
              <p:custDataLst>
                <p:tags r:id="rId8"/>
              </p:custDataLst>
            </p:nvPr>
          </p:nvPicPr>
          <p:blipFill>
            <a:blip r:embed="rId17">
              <a:extLst>
                <a:ext uri="{96DAC541-7B7A-43D3-8B79-37D633B846F1}">
                  <asvg:svgBlip xmlns:asvg="http://schemas.microsoft.com/office/drawing/2016/SVG/main" r:embed="rId18"/>
                </a:ext>
              </a:extLst>
            </a:blip>
            <a:stretch>
              <a:fillRect/>
            </a:stretch>
          </p:blipFill>
          <p:spPr>
            <a:xfrm>
              <a:off x="9195" y="1678"/>
              <a:ext cx="1311" cy="1311"/>
            </a:xfrm>
            <a:prstGeom prst="rect">
              <a:avLst/>
            </a:prstGeom>
          </p:spPr>
        </p:pic>
        <p:sp>
          <p:nvSpPr>
            <p:cNvPr id="16" name="文本框 9"/>
            <p:cNvSpPr txBox="1"/>
            <p:nvPr>
              <p:custDataLst>
                <p:tags r:id="rId9"/>
              </p:custDataLst>
            </p:nvPr>
          </p:nvSpPr>
          <p:spPr>
            <a:xfrm>
              <a:off x="11151" y="9484"/>
              <a:ext cx="9514" cy="16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200000"/>
                </a:lnSpc>
              </a:pPr>
              <a:r>
                <a:rPr lang="zh-CN" altLang="en-US" sz="3200" b="1" dirty="0">
                  <a:solidFill>
                    <a:schemeClr val="tx1">
                      <a:lumMod val="75000"/>
                      <a:lumOff val="25000"/>
                    </a:schemeClr>
                  </a:solidFill>
                  <a:latin typeface="微软雅黑" panose="020B0503020204020204" charset="-122"/>
                  <a:ea typeface="微软雅黑" panose="020B0503020204020204" charset="-122"/>
                  <a:cs typeface="Arial Black" panose="020B0A04020102020204" charset="0"/>
                </a:rPr>
                <a:t>研究展望</a:t>
              </a:r>
            </a:p>
          </p:txBody>
        </p:sp>
      </p:grpSp>
      <p:pic>
        <p:nvPicPr>
          <p:cNvPr id="20" name="图片 19" descr="纸飞机"/>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7027545" y="6005195"/>
            <a:ext cx="641985" cy="641985"/>
          </a:xfrm>
          <a:prstGeom prst="rect">
            <a:avLst/>
          </a:prstGeom>
        </p:spPr>
      </p:pic>
      <p:pic>
        <p:nvPicPr>
          <p:cNvPr id="21" name="图片 20" descr="电脑屏幕"/>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958965" y="3331845"/>
            <a:ext cx="742950" cy="742950"/>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0B1CD-06E6-27DE-E843-72613A242BFF}"/>
            </a:ext>
          </a:extLst>
        </p:cNvPr>
        <p:cNvGrpSpPr/>
        <p:nvPr/>
      </p:nvGrpSpPr>
      <p:grpSpPr>
        <a:xfrm>
          <a:off x="0" y="0"/>
          <a:ext cx="0" cy="0"/>
          <a:chOff x="0" y="0"/>
          <a:chExt cx="0" cy="0"/>
        </a:xfrm>
      </p:grpSpPr>
      <p:sp>
        <p:nvSpPr>
          <p:cNvPr id="10" name="矩形 9">
            <a:extLst>
              <a:ext uri="{FF2B5EF4-FFF2-40B4-BE49-F238E27FC236}">
                <a16:creationId xmlns:a16="http://schemas.microsoft.com/office/drawing/2014/main" id="{D1029D41-B7C9-9B08-EDE6-D5DED8CEA5B5}"/>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任意多边形: 形状 83">
            <a:extLst>
              <a:ext uri="{FF2B5EF4-FFF2-40B4-BE49-F238E27FC236}">
                <a16:creationId xmlns:a16="http://schemas.microsoft.com/office/drawing/2014/main" id="{455552F8-F651-F8A5-206C-31CF3114059A}"/>
              </a:ext>
            </a:extLst>
          </p:cNvPr>
          <p:cNvSpPr/>
          <p:nvPr>
            <p:custDataLst>
              <p:tags r:id="rId1"/>
            </p:custDataLst>
          </p:nvPr>
        </p:nvSpPr>
        <p:spPr>
          <a:xfrm rot="10800000">
            <a:off x="-9542" y="-15551"/>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13" name="文本框 12">
            <a:extLst>
              <a:ext uri="{FF2B5EF4-FFF2-40B4-BE49-F238E27FC236}">
                <a16:creationId xmlns:a16="http://schemas.microsoft.com/office/drawing/2014/main" id="{BA254E19-1473-14EC-E5A9-31DE0145E839}"/>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15" name="文本框 14">
            <a:extLst>
              <a:ext uri="{FF2B5EF4-FFF2-40B4-BE49-F238E27FC236}">
                <a16:creationId xmlns:a16="http://schemas.microsoft.com/office/drawing/2014/main" id="{EA656708-05CD-ED0C-B9D0-AB2A615032B0}"/>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6" name="文本框 15">
            <a:extLst>
              <a:ext uri="{FF2B5EF4-FFF2-40B4-BE49-F238E27FC236}">
                <a16:creationId xmlns:a16="http://schemas.microsoft.com/office/drawing/2014/main" id="{66BDA553-C17B-FBFD-A559-1E7378690A9C}"/>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22" name="文本框 21">
            <a:extLst>
              <a:ext uri="{FF2B5EF4-FFF2-40B4-BE49-F238E27FC236}">
                <a16:creationId xmlns:a16="http://schemas.microsoft.com/office/drawing/2014/main" id="{DFAC93F0-2F9C-7647-FCA0-9ADCEC3766B5}"/>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7" name="矩形 6">
            <a:extLst>
              <a:ext uri="{FF2B5EF4-FFF2-40B4-BE49-F238E27FC236}">
                <a16:creationId xmlns:a16="http://schemas.microsoft.com/office/drawing/2014/main" id="{EAC61BE3-0926-15A9-5039-318E6FE97FDE}"/>
              </a:ext>
            </a:extLst>
          </p:cNvPr>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a:extLst>
              <a:ext uri="{FF2B5EF4-FFF2-40B4-BE49-F238E27FC236}">
                <a16:creationId xmlns:a16="http://schemas.microsoft.com/office/drawing/2014/main" id="{907A277C-A0F1-FBCF-BF4D-56D9610496FF}"/>
              </a:ext>
            </a:extLst>
          </p:cNvPr>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a:extLst>
              <a:ext uri="{FF2B5EF4-FFF2-40B4-BE49-F238E27FC236}">
                <a16:creationId xmlns:a16="http://schemas.microsoft.com/office/drawing/2014/main" id="{45D8B1DD-80DE-213E-2B50-F56A9B642FAC}"/>
              </a:ext>
            </a:extLst>
          </p:cNvPr>
          <p:cNvSpPr txBox="1"/>
          <p:nvPr/>
        </p:nvSpPr>
        <p:spPr>
          <a:xfrm>
            <a:off x="0" y="843280"/>
            <a:ext cx="244602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1.1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项目简介</a:t>
            </a:r>
          </a:p>
        </p:txBody>
      </p:sp>
      <p:sp>
        <p:nvSpPr>
          <p:cNvPr id="2" name="文本框 1">
            <a:extLst>
              <a:ext uri="{FF2B5EF4-FFF2-40B4-BE49-F238E27FC236}">
                <a16:creationId xmlns:a16="http://schemas.microsoft.com/office/drawing/2014/main" id="{FA2B8096-4200-B3B5-9631-04890F9AE98A}"/>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项目简介</a:t>
            </a:r>
          </a:p>
        </p:txBody>
      </p:sp>
      <p:sp>
        <p:nvSpPr>
          <p:cNvPr id="4" name="椭圆 3">
            <a:extLst>
              <a:ext uri="{FF2B5EF4-FFF2-40B4-BE49-F238E27FC236}">
                <a16:creationId xmlns:a16="http://schemas.microsoft.com/office/drawing/2014/main" id="{318A5AAA-B5C0-2881-E31E-E59ADC531559}"/>
              </a:ext>
            </a:extLst>
          </p:cNvPr>
          <p:cNvSpPr/>
          <p:nvPr/>
        </p:nvSpPr>
        <p:spPr>
          <a:xfrm>
            <a:off x="442848" y="1767180"/>
            <a:ext cx="6008132" cy="4052567"/>
          </a:xfrm>
          <a:prstGeom prst="ellipse">
            <a:avLst/>
          </a:prstGeom>
          <a:solidFill>
            <a:schemeClr val="accent1">
              <a:lumMod val="20000"/>
              <a:lumOff val="80000"/>
            </a:schemeClr>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AF1FD54C-9AA3-5F85-DDFD-C10E7687AF3F}"/>
              </a:ext>
            </a:extLst>
          </p:cNvPr>
          <p:cNvSpPr/>
          <p:nvPr/>
        </p:nvSpPr>
        <p:spPr>
          <a:xfrm>
            <a:off x="1555595" y="2142461"/>
            <a:ext cx="4895385" cy="3302004"/>
          </a:xfrm>
          <a:prstGeom prst="ellipse">
            <a:avLst/>
          </a:prstGeom>
          <a:solidFill>
            <a:schemeClr val="accent1">
              <a:lumMod val="40000"/>
              <a:lumOff val="60000"/>
            </a:schemeClr>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a:extLst>
              <a:ext uri="{FF2B5EF4-FFF2-40B4-BE49-F238E27FC236}">
                <a16:creationId xmlns:a16="http://schemas.microsoft.com/office/drawing/2014/main" id="{E6F5250F-CDC6-D9B6-2856-343742CBC66E}"/>
              </a:ext>
            </a:extLst>
          </p:cNvPr>
          <p:cNvSpPr/>
          <p:nvPr/>
        </p:nvSpPr>
        <p:spPr>
          <a:xfrm>
            <a:off x="3081361" y="2572721"/>
            <a:ext cx="3369619" cy="2272854"/>
          </a:xfrm>
          <a:prstGeom prst="ellipse">
            <a:avLst/>
          </a:prstGeom>
          <a:solidFill>
            <a:schemeClr val="accent1">
              <a:lumMod val="60000"/>
              <a:lumOff val="40000"/>
            </a:schemeClr>
          </a:solid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4FF4142C-6621-B5D2-26E3-735BDCBE542D}"/>
              </a:ext>
            </a:extLst>
          </p:cNvPr>
          <p:cNvSpPr txBox="1"/>
          <p:nvPr/>
        </p:nvSpPr>
        <p:spPr>
          <a:xfrm>
            <a:off x="3492190" y="3478316"/>
            <a:ext cx="2719039" cy="461665"/>
          </a:xfrm>
          <a:prstGeom prst="rect">
            <a:avLst/>
          </a:prstGeom>
          <a:noFill/>
        </p:spPr>
        <p:txBody>
          <a:bodyPr wrap="square" rtlCol="0">
            <a:spAutoFit/>
          </a:bodyPr>
          <a:lstStyle/>
          <a:p>
            <a:r>
              <a:rPr lang="zh-CN" altLang="en-US" sz="2400" b="1" dirty="0">
                <a:solidFill>
                  <a:srgbClr val="1F4E79"/>
                </a:solidFill>
                <a:latin typeface="微软雅黑" panose="020B0503020204020204" charset="-122"/>
                <a:ea typeface="微软雅黑" panose="020B0503020204020204" charset="-122"/>
                <a:cs typeface="微软雅黑" panose="020B0503020204020204" charset="-122"/>
              </a:rPr>
              <a:t>高精地图数据资产</a:t>
            </a:r>
          </a:p>
        </p:txBody>
      </p:sp>
      <p:sp>
        <p:nvSpPr>
          <p:cNvPr id="12" name="文本框 11">
            <a:extLst>
              <a:ext uri="{FF2B5EF4-FFF2-40B4-BE49-F238E27FC236}">
                <a16:creationId xmlns:a16="http://schemas.microsoft.com/office/drawing/2014/main" id="{3407EB75-C938-7086-48AD-5E03799B85C4}"/>
              </a:ext>
            </a:extLst>
          </p:cNvPr>
          <p:cNvSpPr txBox="1"/>
          <p:nvPr/>
        </p:nvSpPr>
        <p:spPr>
          <a:xfrm>
            <a:off x="1630031" y="3478316"/>
            <a:ext cx="1525766" cy="461665"/>
          </a:xfrm>
          <a:prstGeom prst="rect">
            <a:avLst/>
          </a:prstGeom>
          <a:noFill/>
        </p:spPr>
        <p:txBody>
          <a:bodyPr wrap="square" rtlCol="0">
            <a:spAutoFit/>
          </a:bodyPr>
          <a:lstStyle/>
          <a:p>
            <a:r>
              <a:rPr lang="zh-CN" altLang="en-US" sz="2400" b="1" dirty="0">
                <a:solidFill>
                  <a:srgbClr val="1F4E79"/>
                </a:solidFill>
                <a:latin typeface="微软雅黑" panose="020B0503020204020204" charset="-122"/>
                <a:ea typeface="微软雅黑" panose="020B0503020204020204" charset="-122"/>
                <a:cs typeface="微软雅黑" panose="020B0503020204020204" charset="-122"/>
              </a:rPr>
              <a:t>数据资产</a:t>
            </a:r>
          </a:p>
        </p:txBody>
      </p:sp>
      <p:sp>
        <p:nvSpPr>
          <p:cNvPr id="14" name="文本框 13">
            <a:extLst>
              <a:ext uri="{FF2B5EF4-FFF2-40B4-BE49-F238E27FC236}">
                <a16:creationId xmlns:a16="http://schemas.microsoft.com/office/drawing/2014/main" id="{8F62831C-9355-E172-CAE8-CCBB1B885CCB}"/>
              </a:ext>
            </a:extLst>
          </p:cNvPr>
          <p:cNvSpPr txBox="1"/>
          <p:nvPr/>
        </p:nvSpPr>
        <p:spPr>
          <a:xfrm>
            <a:off x="546600" y="3478316"/>
            <a:ext cx="862269" cy="461665"/>
          </a:xfrm>
          <a:prstGeom prst="rect">
            <a:avLst/>
          </a:prstGeom>
          <a:noFill/>
        </p:spPr>
        <p:txBody>
          <a:bodyPr wrap="square" rtlCol="0">
            <a:spAutoFit/>
          </a:bodyPr>
          <a:lstStyle/>
          <a:p>
            <a:r>
              <a:rPr lang="zh-CN" altLang="en-US" sz="2400" b="1" dirty="0">
                <a:solidFill>
                  <a:srgbClr val="1F4E79"/>
                </a:solidFill>
                <a:latin typeface="微软雅黑" panose="020B0503020204020204" charset="-122"/>
                <a:ea typeface="微软雅黑" panose="020B0503020204020204" charset="-122"/>
                <a:cs typeface="微软雅黑" panose="020B0503020204020204" charset="-122"/>
              </a:rPr>
              <a:t>资产</a:t>
            </a:r>
          </a:p>
        </p:txBody>
      </p:sp>
      <p:cxnSp>
        <p:nvCxnSpPr>
          <p:cNvPr id="18" name="连接符: 肘形 17">
            <a:extLst>
              <a:ext uri="{FF2B5EF4-FFF2-40B4-BE49-F238E27FC236}">
                <a16:creationId xmlns:a16="http://schemas.microsoft.com/office/drawing/2014/main" id="{9B3E8687-62D2-3FCD-75EC-12CB37362D2F}"/>
              </a:ext>
            </a:extLst>
          </p:cNvPr>
          <p:cNvCxnSpPr>
            <a:cxnSpLocks/>
            <a:stCxn id="9" idx="6"/>
            <a:endCxn id="29" idx="1"/>
          </p:cNvCxnSpPr>
          <p:nvPr/>
        </p:nvCxnSpPr>
        <p:spPr>
          <a:xfrm flipV="1">
            <a:off x="6450980" y="1419655"/>
            <a:ext cx="2582798" cy="2289493"/>
          </a:xfrm>
          <a:prstGeom prst="bentConnector3">
            <a:avLst>
              <a:gd name="adj1" fmla="val 73746"/>
            </a:avLst>
          </a:prstGeom>
          <a:ln w="28575">
            <a:solidFill>
              <a:srgbClr val="9DC3E6"/>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490FFD0D-B121-BF30-4084-D1DA2C77CBFE}"/>
              </a:ext>
            </a:extLst>
          </p:cNvPr>
          <p:cNvSpPr txBox="1"/>
          <p:nvPr/>
        </p:nvSpPr>
        <p:spPr>
          <a:xfrm>
            <a:off x="9033778" y="1219600"/>
            <a:ext cx="1797205" cy="400110"/>
          </a:xfrm>
          <a:prstGeom prst="rect">
            <a:avLst/>
          </a:prstGeom>
          <a:noFill/>
        </p:spPr>
        <p:txBody>
          <a:bodyPr wrap="square" rtlCol="0">
            <a:spAutoFit/>
          </a:bodyPr>
          <a:lstStyle/>
          <a:p>
            <a:r>
              <a:rPr lang="zh-CN" altLang="en-US" sz="2000" b="1" dirty="0">
                <a:solidFill>
                  <a:srgbClr val="1F4E79"/>
                </a:solidFill>
                <a:latin typeface="微软雅黑" panose="020B0503020204020204" charset="-122"/>
                <a:ea typeface="微软雅黑" panose="020B0503020204020204" charset="-122"/>
                <a:cs typeface="微软雅黑" panose="020B0503020204020204" charset="-122"/>
              </a:rPr>
              <a:t>数据资产认定</a:t>
            </a:r>
          </a:p>
        </p:txBody>
      </p:sp>
      <p:cxnSp>
        <p:nvCxnSpPr>
          <p:cNvPr id="32" name="连接符: 肘形 31">
            <a:extLst>
              <a:ext uri="{FF2B5EF4-FFF2-40B4-BE49-F238E27FC236}">
                <a16:creationId xmlns:a16="http://schemas.microsoft.com/office/drawing/2014/main" id="{403537FE-66AE-F8C4-3CC9-E36D42CA62F4}"/>
              </a:ext>
            </a:extLst>
          </p:cNvPr>
          <p:cNvCxnSpPr>
            <a:cxnSpLocks/>
            <a:stCxn id="9" idx="6"/>
            <a:endCxn id="39" idx="1"/>
          </p:cNvCxnSpPr>
          <p:nvPr/>
        </p:nvCxnSpPr>
        <p:spPr>
          <a:xfrm flipV="1">
            <a:off x="6450980" y="2870082"/>
            <a:ext cx="2582798" cy="839066"/>
          </a:xfrm>
          <a:prstGeom prst="bentConnector3">
            <a:avLst>
              <a:gd name="adj1" fmla="val 73746"/>
            </a:avLst>
          </a:prstGeom>
          <a:ln w="28575">
            <a:solidFill>
              <a:srgbClr val="9DC3E6"/>
            </a:solidFill>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EAB0F253-1F05-6D83-C845-90A2235A8C68}"/>
              </a:ext>
            </a:extLst>
          </p:cNvPr>
          <p:cNvSpPr txBox="1"/>
          <p:nvPr/>
        </p:nvSpPr>
        <p:spPr>
          <a:xfrm>
            <a:off x="9033778" y="2670027"/>
            <a:ext cx="1797205" cy="400110"/>
          </a:xfrm>
          <a:prstGeom prst="rect">
            <a:avLst/>
          </a:prstGeom>
          <a:noFill/>
        </p:spPr>
        <p:txBody>
          <a:bodyPr wrap="square" rtlCol="0">
            <a:spAutoFit/>
          </a:bodyPr>
          <a:lstStyle/>
          <a:p>
            <a:r>
              <a:rPr lang="zh-CN" altLang="en-US" sz="2000" b="1" dirty="0">
                <a:solidFill>
                  <a:srgbClr val="1F4E79"/>
                </a:solidFill>
                <a:latin typeface="微软雅黑" panose="020B0503020204020204" charset="-122"/>
                <a:ea typeface="微软雅黑" panose="020B0503020204020204" charset="-122"/>
                <a:cs typeface="微软雅黑" panose="020B0503020204020204" charset="-122"/>
              </a:rPr>
              <a:t>数据权责问题</a:t>
            </a:r>
          </a:p>
        </p:txBody>
      </p:sp>
      <p:cxnSp>
        <p:nvCxnSpPr>
          <p:cNvPr id="40" name="连接符: 肘形 39">
            <a:extLst>
              <a:ext uri="{FF2B5EF4-FFF2-40B4-BE49-F238E27FC236}">
                <a16:creationId xmlns:a16="http://schemas.microsoft.com/office/drawing/2014/main" id="{1E25184F-C56C-F103-3456-267AEC011C00}"/>
              </a:ext>
            </a:extLst>
          </p:cNvPr>
          <p:cNvCxnSpPr>
            <a:cxnSpLocks/>
            <a:stCxn id="9" idx="6"/>
            <a:endCxn id="44" idx="1"/>
          </p:cNvCxnSpPr>
          <p:nvPr/>
        </p:nvCxnSpPr>
        <p:spPr>
          <a:xfrm>
            <a:off x="6450980" y="3709148"/>
            <a:ext cx="2582798" cy="611361"/>
          </a:xfrm>
          <a:prstGeom prst="bentConnector3">
            <a:avLst>
              <a:gd name="adj1" fmla="val 73746"/>
            </a:avLst>
          </a:prstGeom>
          <a:ln w="28575">
            <a:solidFill>
              <a:srgbClr val="9DC3E6"/>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2F81DC6C-67E0-73E4-191C-604BCB0B5859}"/>
              </a:ext>
            </a:extLst>
          </p:cNvPr>
          <p:cNvSpPr txBox="1"/>
          <p:nvPr/>
        </p:nvSpPr>
        <p:spPr>
          <a:xfrm>
            <a:off x="9033778" y="4120454"/>
            <a:ext cx="1797205" cy="400110"/>
          </a:xfrm>
          <a:prstGeom prst="rect">
            <a:avLst/>
          </a:prstGeom>
          <a:noFill/>
        </p:spPr>
        <p:txBody>
          <a:bodyPr wrap="square" rtlCol="0">
            <a:spAutoFit/>
          </a:bodyPr>
          <a:lstStyle/>
          <a:p>
            <a:r>
              <a:rPr lang="zh-CN" altLang="en-US" sz="2000" b="1" dirty="0">
                <a:solidFill>
                  <a:srgbClr val="1F4E79"/>
                </a:solidFill>
                <a:latin typeface="微软雅黑" panose="020B0503020204020204" charset="-122"/>
                <a:ea typeface="微软雅黑" panose="020B0503020204020204" charset="-122"/>
                <a:cs typeface="微软雅黑" panose="020B0503020204020204" charset="-122"/>
              </a:rPr>
              <a:t>数据价值体现</a:t>
            </a:r>
          </a:p>
        </p:txBody>
      </p:sp>
      <p:cxnSp>
        <p:nvCxnSpPr>
          <p:cNvPr id="45" name="连接符: 肘形 44">
            <a:extLst>
              <a:ext uri="{FF2B5EF4-FFF2-40B4-BE49-F238E27FC236}">
                <a16:creationId xmlns:a16="http://schemas.microsoft.com/office/drawing/2014/main" id="{5BDD4363-7EC0-71C1-F2B2-0AF89FD7F3AD}"/>
              </a:ext>
            </a:extLst>
          </p:cNvPr>
          <p:cNvCxnSpPr>
            <a:cxnSpLocks/>
            <a:stCxn id="9" idx="6"/>
            <a:endCxn id="51" idx="1"/>
          </p:cNvCxnSpPr>
          <p:nvPr/>
        </p:nvCxnSpPr>
        <p:spPr>
          <a:xfrm>
            <a:off x="6450980" y="3709148"/>
            <a:ext cx="2582798" cy="2061789"/>
          </a:xfrm>
          <a:prstGeom prst="bentConnector3">
            <a:avLst>
              <a:gd name="adj1" fmla="val 73746"/>
            </a:avLst>
          </a:prstGeom>
          <a:ln w="28575">
            <a:solidFill>
              <a:srgbClr val="9DC3E6"/>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78340C8B-51CE-1D30-B3DC-FF44E1BC805E}"/>
              </a:ext>
            </a:extLst>
          </p:cNvPr>
          <p:cNvSpPr txBox="1"/>
          <p:nvPr/>
        </p:nvSpPr>
        <p:spPr>
          <a:xfrm>
            <a:off x="9033778" y="5570882"/>
            <a:ext cx="1797205" cy="400110"/>
          </a:xfrm>
          <a:prstGeom prst="rect">
            <a:avLst/>
          </a:prstGeom>
          <a:noFill/>
        </p:spPr>
        <p:txBody>
          <a:bodyPr wrap="square" rtlCol="0">
            <a:spAutoFit/>
          </a:bodyPr>
          <a:lstStyle/>
          <a:p>
            <a:r>
              <a:rPr lang="zh-CN" altLang="en-US" sz="2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价值评估方法</a:t>
            </a:r>
          </a:p>
        </p:txBody>
      </p:sp>
      <p:sp>
        <p:nvSpPr>
          <p:cNvPr id="31" name="矩形 30">
            <a:extLst>
              <a:ext uri="{FF2B5EF4-FFF2-40B4-BE49-F238E27FC236}">
                <a16:creationId xmlns:a16="http://schemas.microsoft.com/office/drawing/2014/main" id="{04B5F09D-4717-635A-49A4-9B1F1BA93982}"/>
              </a:ext>
            </a:extLst>
          </p:cNvPr>
          <p:cNvSpPr/>
          <p:nvPr/>
        </p:nvSpPr>
        <p:spPr>
          <a:xfrm>
            <a:off x="6787373" y="3453657"/>
            <a:ext cx="1185653" cy="510981"/>
          </a:xfrm>
          <a:prstGeom prst="rect">
            <a:avLst/>
          </a:prstGeom>
          <a:solidFill>
            <a:srgbClr val="BDD7EE"/>
          </a:solidFill>
          <a:ln w="285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436A8F"/>
                </a:solidFill>
                <a:latin typeface="微软雅黑" panose="020B0503020204020204" pitchFamily="34" charset="-122"/>
                <a:ea typeface="微软雅黑" panose="020B0503020204020204" pitchFamily="34" charset="-122"/>
              </a:rPr>
              <a:t>价值评估</a:t>
            </a:r>
          </a:p>
        </p:txBody>
      </p:sp>
      <p:sp>
        <p:nvSpPr>
          <p:cNvPr id="70" name="右中括号 69">
            <a:extLst>
              <a:ext uri="{FF2B5EF4-FFF2-40B4-BE49-F238E27FC236}">
                <a16:creationId xmlns:a16="http://schemas.microsoft.com/office/drawing/2014/main" id="{16F1E978-29C3-62DC-5C08-939EC6B254CF}"/>
              </a:ext>
            </a:extLst>
          </p:cNvPr>
          <p:cNvSpPr/>
          <p:nvPr/>
        </p:nvSpPr>
        <p:spPr>
          <a:xfrm>
            <a:off x="10830983" y="1419655"/>
            <a:ext cx="203149" cy="1450427"/>
          </a:xfrm>
          <a:prstGeom prst="rightBracket">
            <a:avLst>
              <a:gd name="adj" fmla="val 0"/>
            </a:avLst>
          </a:prstGeom>
          <a:ln w="28575">
            <a:solidFill>
              <a:srgbClr val="9DC3E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w="76200">
                <a:solidFill>
                  <a:srgbClr val="9DC3E6"/>
                </a:solidFill>
              </a:ln>
            </a:endParaRPr>
          </a:p>
        </p:txBody>
      </p:sp>
      <p:sp>
        <p:nvSpPr>
          <p:cNvPr id="71" name="文本框 70">
            <a:extLst>
              <a:ext uri="{FF2B5EF4-FFF2-40B4-BE49-F238E27FC236}">
                <a16:creationId xmlns:a16="http://schemas.microsoft.com/office/drawing/2014/main" id="{7AE2DBDF-BCB9-A62D-649C-068A7055B6AD}"/>
              </a:ext>
            </a:extLst>
          </p:cNvPr>
          <p:cNvSpPr txBox="1"/>
          <p:nvPr/>
        </p:nvSpPr>
        <p:spPr>
          <a:xfrm>
            <a:off x="11034132" y="2029316"/>
            <a:ext cx="1223202" cy="338554"/>
          </a:xfrm>
          <a:prstGeom prst="rect">
            <a:avLst/>
          </a:prstGeom>
          <a:noFill/>
        </p:spPr>
        <p:txBody>
          <a:bodyPr wrap="square" rtlCol="0">
            <a:spAutoFit/>
          </a:bodyPr>
          <a:lstStyle/>
          <a:p>
            <a:r>
              <a:rPr lang="zh-CN" altLang="en-US" sz="1600" b="1" dirty="0">
                <a:solidFill>
                  <a:srgbClr val="1F4E79"/>
                </a:solidFill>
                <a:latin typeface="微软雅黑" panose="020B0503020204020204" charset="-122"/>
                <a:ea typeface="微软雅黑" panose="020B0503020204020204" charset="-122"/>
                <a:cs typeface="微软雅黑" panose="020B0503020204020204" charset="-122"/>
              </a:rPr>
              <a:t>产出论文</a:t>
            </a:r>
          </a:p>
        </p:txBody>
      </p:sp>
      <p:sp>
        <p:nvSpPr>
          <p:cNvPr id="72" name="箭头: 下 71">
            <a:extLst>
              <a:ext uri="{FF2B5EF4-FFF2-40B4-BE49-F238E27FC236}">
                <a16:creationId xmlns:a16="http://schemas.microsoft.com/office/drawing/2014/main" id="{063B796B-13EA-1A71-DDBF-AAF8A90E99C8}"/>
              </a:ext>
            </a:extLst>
          </p:cNvPr>
          <p:cNvSpPr/>
          <p:nvPr/>
        </p:nvSpPr>
        <p:spPr>
          <a:xfrm>
            <a:off x="9746163" y="1809632"/>
            <a:ext cx="365812" cy="708774"/>
          </a:xfrm>
          <a:prstGeom prst="downArrow">
            <a:avLst/>
          </a:prstGeom>
          <a:solidFill>
            <a:srgbClr val="9DC3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箭头: 下 74">
            <a:extLst>
              <a:ext uri="{FF2B5EF4-FFF2-40B4-BE49-F238E27FC236}">
                <a16:creationId xmlns:a16="http://schemas.microsoft.com/office/drawing/2014/main" id="{1DE06754-713B-9F3F-9807-3107EC1AFBCB}"/>
              </a:ext>
            </a:extLst>
          </p:cNvPr>
          <p:cNvSpPr/>
          <p:nvPr/>
        </p:nvSpPr>
        <p:spPr>
          <a:xfrm>
            <a:off x="9746163" y="3255864"/>
            <a:ext cx="365812" cy="708774"/>
          </a:xfrm>
          <a:prstGeom prst="downArrow">
            <a:avLst/>
          </a:prstGeom>
          <a:solidFill>
            <a:srgbClr val="9DC3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箭头: 下 75">
            <a:extLst>
              <a:ext uri="{FF2B5EF4-FFF2-40B4-BE49-F238E27FC236}">
                <a16:creationId xmlns:a16="http://schemas.microsoft.com/office/drawing/2014/main" id="{FCA96DEC-F91E-8F9D-E418-480AAC66F68D}"/>
              </a:ext>
            </a:extLst>
          </p:cNvPr>
          <p:cNvSpPr/>
          <p:nvPr/>
        </p:nvSpPr>
        <p:spPr>
          <a:xfrm>
            <a:off x="9746163" y="4735691"/>
            <a:ext cx="365812" cy="708774"/>
          </a:xfrm>
          <a:prstGeom prst="downArrow">
            <a:avLst/>
          </a:prstGeom>
          <a:solidFill>
            <a:srgbClr val="9DC3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86348807"/>
      </p:ext>
    </p:extLst>
  </p:cSld>
  <p:clrMapOvr>
    <a:masterClrMapping/>
  </p:clrMapOvr>
  <p:transition spd="med" advClick="0" advTm="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graphicFrame>
        <p:nvGraphicFramePr>
          <p:cNvPr id="2" name="表格 1"/>
          <p:cNvGraphicFramePr/>
          <p:nvPr>
            <p:custDataLst>
              <p:tags r:id="rId1"/>
            </p:custDataLst>
            <p:extLst>
              <p:ext uri="{D42A27DB-BD31-4B8C-83A1-F6EECF244321}">
                <p14:modId xmlns:p14="http://schemas.microsoft.com/office/powerpoint/2010/main" val="3986521431"/>
              </p:ext>
            </p:extLst>
          </p:nvPr>
        </p:nvGraphicFramePr>
        <p:xfrm>
          <a:off x="166537" y="1444745"/>
          <a:ext cx="11858925" cy="4951838"/>
        </p:xfrm>
        <a:graphic>
          <a:graphicData uri="http://schemas.openxmlformats.org/drawingml/2006/table">
            <a:tbl>
              <a:tblPr firstRow="1" bandRow="1">
                <a:tableStyleId>{5C22544A-7EE6-4342-B048-85BDC9FD1C3A}</a:tableStyleId>
              </a:tblPr>
              <a:tblGrid>
                <a:gridCol w="1609725">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1609200">
                  <a:extLst>
                    <a:ext uri="{9D8B030D-6E8A-4147-A177-3AD203B41FA5}">
                      <a16:colId xmlns:a16="http://schemas.microsoft.com/office/drawing/2014/main" val="20002"/>
                    </a:ext>
                  </a:extLst>
                </a:gridCol>
                <a:gridCol w="4320000">
                  <a:extLst>
                    <a:ext uri="{9D8B030D-6E8A-4147-A177-3AD203B41FA5}">
                      <a16:colId xmlns:a16="http://schemas.microsoft.com/office/drawing/2014/main" val="20003"/>
                    </a:ext>
                  </a:extLst>
                </a:gridCol>
              </a:tblGrid>
              <a:tr h="510935">
                <a:tc>
                  <a:txBody>
                    <a:bodyPr/>
                    <a:lstStyle/>
                    <a:p>
                      <a:pPr algn="ctr">
                        <a:buNone/>
                      </a:pPr>
                      <a:r>
                        <a:rPr lang="zh-CN" altLang="en-US" sz="2400" b="1" dirty="0">
                          <a:latin typeface="微软雅黑" panose="020B0503020204020204" charset="-122"/>
                          <a:ea typeface="微软雅黑" panose="020B0503020204020204" charset="-122"/>
                        </a:rPr>
                        <a:t>时间</a:t>
                      </a:r>
                    </a:p>
                  </a:txBody>
                  <a:tcPr anchor="ctr">
                    <a:solidFill>
                      <a:srgbClr val="1F4E79"/>
                    </a:solidFill>
                  </a:tcPr>
                </a:tc>
                <a:tc>
                  <a:txBody>
                    <a:bodyPr/>
                    <a:lstStyle/>
                    <a:p>
                      <a:pPr algn="ctr">
                        <a:buNone/>
                      </a:pPr>
                      <a:r>
                        <a:rPr lang="zh-CN" altLang="en-US" sz="2400" b="1" dirty="0">
                          <a:latin typeface="微软雅黑" panose="020B0503020204020204" charset="-122"/>
                          <a:ea typeface="微软雅黑" panose="020B0503020204020204" charset="-122"/>
                        </a:rPr>
                        <a:t>任务</a:t>
                      </a:r>
                    </a:p>
                  </a:txBody>
                  <a:tcPr anchor="ctr">
                    <a:solidFill>
                      <a:srgbClr val="1F4E79"/>
                    </a:solidFill>
                  </a:tcPr>
                </a:tc>
                <a:tc>
                  <a:txBody>
                    <a:bodyPr/>
                    <a:lstStyle/>
                    <a:p>
                      <a:pPr algn="ctr">
                        <a:buNone/>
                      </a:pPr>
                      <a:r>
                        <a:rPr lang="zh-CN" altLang="en-US" sz="2400" b="1" dirty="0">
                          <a:latin typeface="微软雅黑" panose="020B0503020204020204" charset="-122"/>
                          <a:ea typeface="微软雅黑" panose="020B0503020204020204" charset="-122"/>
                        </a:rPr>
                        <a:t>时间</a:t>
                      </a:r>
                    </a:p>
                  </a:txBody>
                  <a:tcPr anchor="ctr">
                    <a:solidFill>
                      <a:srgbClr val="1F4E79"/>
                    </a:solidFill>
                  </a:tcPr>
                </a:tc>
                <a:tc>
                  <a:txBody>
                    <a:bodyPr/>
                    <a:lstStyle/>
                    <a:p>
                      <a:pPr algn="ctr">
                        <a:buNone/>
                      </a:pPr>
                      <a:r>
                        <a:rPr lang="zh-CN" altLang="en-US" sz="2400" b="1" dirty="0">
                          <a:latin typeface="微软雅黑" panose="020B0503020204020204" charset="-122"/>
                          <a:ea typeface="微软雅黑" panose="020B0503020204020204" charset="-122"/>
                        </a:rPr>
                        <a:t>任务</a:t>
                      </a:r>
                    </a:p>
                  </a:txBody>
                  <a:tcPr anchor="ctr">
                    <a:solidFill>
                      <a:srgbClr val="1F4E79"/>
                    </a:solidFill>
                  </a:tcPr>
                </a:tc>
                <a:extLst>
                  <a:ext uri="{0D108BD9-81ED-4DB2-BD59-A6C34878D82A}">
                    <a16:rowId xmlns:a16="http://schemas.microsoft.com/office/drawing/2014/main" val="10000"/>
                  </a:ext>
                </a:extLst>
              </a:tr>
              <a:tr h="930395">
                <a:tc>
                  <a:txBody>
                    <a:bodyPr/>
                    <a:lstStyle/>
                    <a:p>
                      <a:pPr algn="ctr" fontAlgn="ct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2024</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年</a:t>
                      </a: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7</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月</a:t>
                      </a:r>
                    </a:p>
                  </a:txBody>
                  <a:tcPr marL="5080" marR="5080" marT="5080" marB="0" anchor="ctr"/>
                </a:tc>
                <a:tc>
                  <a:txBody>
                    <a:bodyPr/>
                    <a:lstStyle/>
                    <a:p>
                      <a:pPr marL="0" marR="0" lvl="0" indent="457200" algn="l" defTabSz="914400" rtl="0" eaLnBrk="1" fontAlgn="ctr"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59296752"/>
                          </a:ext>
                        </a:extLst>
                      </a:pPr>
                      <a:r>
                        <a:rPr lang="zh-CN" altLang="en-US" sz="1800" b="1" i="0" dirty="0">
                          <a:solidFill>
                            <a:schemeClr val="tx1"/>
                          </a:solidFill>
                          <a:latin typeface="微软雅黑" panose="020B0503020204020204" charset="-122"/>
                          <a:ea typeface="微软雅黑" panose="020B0503020204020204" charset="-122"/>
                        </a:rPr>
                        <a:t>阅读文献，了解国内外关于数据资产的研究现状，了解数据资产的定义、数据确权的困境与数据全生命周期理论。</a:t>
                      </a:r>
                    </a:p>
                  </a:txBody>
                  <a:tcPr marL="5080" marR="5080" marT="5080" marB="0" anchor="ctr">
                    <a:solidFill>
                      <a:srgbClr val="D2DEEF"/>
                    </a:solidFill>
                  </a:tcPr>
                </a:tc>
                <a:tc>
                  <a:txBody>
                    <a:bodyPr/>
                    <a:lstStyle/>
                    <a:p>
                      <a:pPr algn="ctr" fontAlgn="ct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2025</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年</a:t>
                      </a: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5</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月</a:t>
                      </a:r>
                    </a:p>
                  </a:txBody>
                  <a:tcPr marL="5080" marR="5080" marT="5080" marB="0" anchor="ctr">
                    <a:solidFill>
                      <a:srgbClr val="D2DEEF"/>
                    </a:solidFill>
                  </a:tcPr>
                </a:tc>
                <a:tc>
                  <a:txBody>
                    <a:bodyPr/>
                    <a:lstStyle/>
                    <a:p>
                      <a:pPr indent="457200" algn="l" fontAlgn="ctr"/>
                      <a:r>
                        <a:rPr lang="zh-CN" altLang="en-US" sz="1800" b="1" i="0" dirty="0">
                          <a:solidFill>
                            <a:schemeClr val="tx1"/>
                          </a:solidFill>
                          <a:latin typeface="微软雅黑" panose="020B0503020204020204" charset="-122"/>
                          <a:ea typeface="微软雅黑" panose="020B0503020204020204" charset="-122"/>
                        </a:rPr>
                        <a:t>研究车路云一体化系统下高精地图在不同阶段的数据流通与权利流动。</a:t>
                      </a:r>
                    </a:p>
                  </a:txBody>
                  <a:tcPr marL="5080" marR="5080" marT="5080" marB="0" anchor="ctr"/>
                </a:tc>
                <a:extLst>
                  <a:ext uri="{0D108BD9-81ED-4DB2-BD59-A6C34878D82A}">
                    <a16:rowId xmlns:a16="http://schemas.microsoft.com/office/drawing/2014/main" val="10001"/>
                  </a:ext>
                </a:extLst>
              </a:tr>
              <a:tr h="933450">
                <a:tc>
                  <a:txBody>
                    <a:bodyPr/>
                    <a:lstStyle/>
                    <a:p>
                      <a:pPr algn="ctr" fontAlgn="ct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2024</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年</a:t>
                      </a: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9</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月</a:t>
                      </a:r>
                    </a:p>
                  </a:txBody>
                  <a:tcPr marL="5080" marR="5080" marT="5080" marB="0" anchor="ctr"/>
                </a:tc>
                <a:tc>
                  <a:txBody>
                    <a:bodyPr/>
                    <a:lstStyle/>
                    <a:p>
                      <a:pPr marL="0" marR="0" lvl="0" indent="457200" algn="l" defTabSz="914400" rtl="0" eaLnBrk="1" fontAlgn="ctr"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59296752"/>
                          </a:ext>
                        </a:extLst>
                      </a:pPr>
                      <a:r>
                        <a:rPr lang="zh-CN" altLang="en-US" sz="1800" b="1" i="0" dirty="0">
                          <a:solidFill>
                            <a:schemeClr val="tx1"/>
                          </a:solidFill>
                          <a:latin typeface="微软雅黑" panose="020B0503020204020204" charset="-122"/>
                          <a:ea typeface="微软雅黑" panose="020B0503020204020204" charset="-122"/>
                        </a:rPr>
                        <a:t>搜集地理信息数据相关政策和相关法规；研究高精地图的数据类型、数据组成、数据结构和发展现状。</a:t>
                      </a:r>
                    </a:p>
                  </a:txBody>
                  <a:tcPr marL="5080" marR="5080" marT="5080" marB="0" anchor="ctr">
                    <a:solidFill>
                      <a:srgbClr val="EAEFF7"/>
                    </a:solidFill>
                  </a:tcPr>
                </a:tc>
                <a:tc>
                  <a:txBody>
                    <a:bodyPr/>
                    <a:lstStyle/>
                    <a:p>
                      <a:pPr algn="ctr" fontAlgn="ct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2025</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年</a:t>
                      </a: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7</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月</a:t>
                      </a:r>
                    </a:p>
                  </a:txBody>
                  <a:tcPr marL="5080" marR="5080" marT="5080" marB="0" anchor="ctr"/>
                </a:tc>
                <a:tc>
                  <a:txBody>
                    <a:bodyPr/>
                    <a:lstStyle/>
                    <a:p>
                      <a:pPr indent="457200" algn="l" fontAlgn="ctr"/>
                      <a:r>
                        <a:rPr lang="zh-CN" altLang="en-US" sz="1800" b="1" i="0" dirty="0">
                          <a:solidFill>
                            <a:schemeClr val="tx1"/>
                          </a:solidFill>
                          <a:latin typeface="微软雅黑" panose="020B0503020204020204" charset="-122"/>
                          <a:ea typeface="微软雅黑" panose="020B0503020204020204" charset="-122"/>
                        </a:rPr>
                        <a:t>结合价值增殖理论，研究高精地图数据在不同阶段的权利流动。</a:t>
                      </a:r>
                    </a:p>
                  </a:txBody>
                  <a:tcPr marL="5080" marR="5080" marT="5080" marB="0" anchor="ctr"/>
                </a:tc>
                <a:extLst>
                  <a:ext uri="{0D108BD9-81ED-4DB2-BD59-A6C34878D82A}">
                    <a16:rowId xmlns:a16="http://schemas.microsoft.com/office/drawing/2014/main" val="10002"/>
                  </a:ext>
                </a:extLst>
              </a:tr>
              <a:tr h="962025">
                <a:tc>
                  <a:txBody>
                    <a:bodyPr/>
                    <a:lstStyle/>
                    <a:p>
                      <a:pPr algn="ctr" fontAlgn="ct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2024</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年</a:t>
                      </a: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11</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月</a:t>
                      </a:r>
                    </a:p>
                  </a:txBody>
                  <a:tcPr marL="5080" marR="5080" marT="5080" marB="0" anchor="ctr"/>
                </a:tc>
                <a:tc>
                  <a:txBody>
                    <a:bodyPr/>
                    <a:lstStyle/>
                    <a:p>
                      <a:pPr marL="0" marR="0" lvl="0" indent="457200" algn="l" defTabSz="914400" rtl="0" eaLnBrk="1" fontAlgn="ctr"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59296752"/>
                          </a:ext>
                        </a:extLst>
                      </a:pPr>
                      <a:r>
                        <a:rPr lang="zh-CN" altLang="en-US" sz="1800" b="1" i="0" dirty="0">
                          <a:solidFill>
                            <a:schemeClr val="tx1"/>
                          </a:solidFill>
                          <a:latin typeface="微软雅黑" panose="020B0503020204020204" charset="-122"/>
                          <a:ea typeface="微软雅黑" panose="020B0503020204020204" charset="-122"/>
                        </a:rPr>
                        <a:t>深入研究车路云一体化系统的概念、作用和对高精地图的影响；了解价值链相关的经济学理论。</a:t>
                      </a:r>
                    </a:p>
                  </a:txBody>
                  <a:tcPr marL="5080" marR="5080" marT="5080" marB="0" anchor="ctr"/>
                </a:tc>
                <a:tc>
                  <a:txBody>
                    <a:bodyPr/>
                    <a:lstStyle/>
                    <a:p>
                      <a:pPr algn="ctr" fontAlgn="ct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2025</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年</a:t>
                      </a: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9</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月</a:t>
                      </a:r>
                    </a:p>
                  </a:txBody>
                  <a:tcPr marL="5080" marR="5080" marT="5080" marB="0" anchor="ctr"/>
                </a:tc>
                <a:tc>
                  <a:txBody>
                    <a:bodyPr/>
                    <a:lstStyle/>
                    <a:p>
                      <a:pPr indent="457200" algn="l" fontAlgn="ctr"/>
                      <a:r>
                        <a:rPr lang="zh-CN" altLang="en-US" sz="1800" b="1" i="0" dirty="0">
                          <a:solidFill>
                            <a:schemeClr val="tx1"/>
                          </a:solidFill>
                          <a:latin typeface="微软雅黑" panose="020B0503020204020204" charset="-122"/>
                          <a:ea typeface="微软雅黑" panose="020B0503020204020204" charset="-122"/>
                        </a:rPr>
                        <a:t>整合数据确权、价值体现相关内容，为高精地图数据价值评估奠定理论基础。</a:t>
                      </a:r>
                    </a:p>
                  </a:txBody>
                  <a:tcPr marL="5080" marR="5080" marT="5080" marB="0" anchor="ctr"/>
                </a:tc>
                <a:extLst>
                  <a:ext uri="{0D108BD9-81ED-4DB2-BD59-A6C34878D82A}">
                    <a16:rowId xmlns:a16="http://schemas.microsoft.com/office/drawing/2014/main" val="10003"/>
                  </a:ext>
                </a:extLst>
              </a:tr>
              <a:tr h="885825">
                <a:tc>
                  <a:txBody>
                    <a:bodyPr/>
                    <a:lstStyle/>
                    <a:p>
                      <a:pPr algn="ctr" fontAlgn="ct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2025</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年</a:t>
                      </a: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1</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月</a:t>
                      </a:r>
                    </a:p>
                  </a:txBody>
                  <a:tcPr marL="5080" marR="5080" marT="5080" marB="0" anchor="ctr"/>
                </a:tc>
                <a:tc>
                  <a:txBody>
                    <a:bodyPr/>
                    <a:lstStyle/>
                    <a:p>
                      <a:pPr marL="0" marR="0" lvl="0" indent="457200" algn="l" defTabSz="914400" rtl="0" eaLnBrk="1" fontAlgn="ctr"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59296752"/>
                          </a:ext>
                        </a:extLst>
                      </a:pPr>
                      <a:r>
                        <a:rPr lang="zh-CN" altLang="en-US" sz="1800" b="1" i="0" dirty="0">
                          <a:solidFill>
                            <a:schemeClr val="tx1"/>
                          </a:solidFill>
                          <a:latin typeface="微软雅黑" panose="020B0503020204020204" charset="-122"/>
                          <a:ea typeface="微软雅黑" panose="020B0503020204020204" charset="-122"/>
                        </a:rPr>
                        <a:t>研究车路云一体化系统中高精地图的数据来源、数据类型、数据分类，以及高精地图数据资产相关内容。</a:t>
                      </a:r>
                    </a:p>
                  </a:txBody>
                  <a:tcPr marL="5080" marR="5080" marT="5080" marB="0" anchor="ctr"/>
                </a:tc>
                <a:tc>
                  <a:txBody>
                    <a:bodyPr/>
                    <a:lstStyle/>
                    <a:p>
                      <a:pPr algn="ctr" fontAlgn="ct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2025</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年</a:t>
                      </a: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11</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月</a:t>
                      </a:r>
                    </a:p>
                  </a:txBody>
                  <a:tcPr marL="5080" marR="5080" marT="5080" marB="0" anchor="ctr"/>
                </a:tc>
                <a:tc>
                  <a:txBody>
                    <a:bodyPr/>
                    <a:lstStyle/>
                    <a:p>
                      <a:pPr algn="ctr" fontAlgn="ctr"/>
                      <a:r>
                        <a:rPr lang="zh-CN" altLang="en-US" sz="1800" b="1" i="0" dirty="0">
                          <a:solidFill>
                            <a:schemeClr val="tx1"/>
                          </a:solidFill>
                          <a:latin typeface="微软雅黑" panose="020B0503020204020204" charset="-122"/>
                          <a:ea typeface="微软雅黑" panose="020B0503020204020204" charset="-122"/>
                        </a:rPr>
                        <a:t>整理研究成果，补充撰写研究报告。</a:t>
                      </a:r>
                    </a:p>
                  </a:txBody>
                  <a:tcPr marL="5080" marR="5080" marT="5080" marB="0" anchor="ctr"/>
                </a:tc>
                <a:extLst>
                  <a:ext uri="{0D108BD9-81ED-4DB2-BD59-A6C34878D82A}">
                    <a16:rowId xmlns:a16="http://schemas.microsoft.com/office/drawing/2014/main" val="10004"/>
                  </a:ext>
                </a:extLst>
              </a:tr>
              <a:tr h="729208">
                <a:tc>
                  <a:txBody>
                    <a:bodyPr/>
                    <a:lstStyle/>
                    <a:p>
                      <a:pPr algn="ctr" fontAlgn="ct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2025</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年</a:t>
                      </a:r>
                      <a:r>
                        <a:rPr lang="en-US" altLang="zh-CN" sz="1800" b="1" i="0" dirty="0">
                          <a:solidFill>
                            <a:schemeClr val="tx1"/>
                          </a:solidFill>
                          <a:latin typeface="微软雅黑" panose="020B0503020204020204" charset="-122"/>
                          <a:ea typeface="微软雅黑" panose="020B0503020204020204" charset="-122"/>
                          <a:cs typeface="微软雅黑" panose="020B0503020204020204" charset="-122"/>
                        </a:rPr>
                        <a:t>3</a:t>
                      </a:r>
                      <a:r>
                        <a:rPr lang="zh-CN" altLang="en-US" sz="1800" b="1" i="0" dirty="0">
                          <a:solidFill>
                            <a:schemeClr val="tx1"/>
                          </a:solidFill>
                          <a:latin typeface="微软雅黑" panose="020B0503020204020204" charset="-122"/>
                          <a:ea typeface="微软雅黑" panose="020B0503020204020204" charset="-122"/>
                          <a:cs typeface="微软雅黑" panose="020B0503020204020204" charset="-122"/>
                        </a:rPr>
                        <a:t>月</a:t>
                      </a:r>
                    </a:p>
                  </a:txBody>
                  <a:tcPr marL="5080" marR="5080" marT="5080" marB="0" anchor="ctr"/>
                </a:tc>
                <a:tc>
                  <a:txBody>
                    <a:bodyPr/>
                    <a:lstStyle/>
                    <a:p>
                      <a:pPr indent="457200" algn="l" fontAlgn="ctr">
                        <a:extLst>
                          <a:ext uri="{35155182-B16C-46BC-9424-99874614C6A1}">
                            <wpsdc:indentchars xmlns="" xmlns:wpsdc="http://www.wps.cn/officeDocument/2017/drawingmlCustomData" val="200" checksum="59296752"/>
                          </a:ext>
                        </a:extLst>
                      </a:pPr>
                      <a:r>
                        <a:rPr lang="zh-CN" altLang="en-US" sz="1800" b="1" i="0" dirty="0">
                          <a:solidFill>
                            <a:schemeClr val="tx1"/>
                          </a:solidFill>
                          <a:latin typeface="微软雅黑" panose="020B0503020204020204" charset="-122"/>
                          <a:ea typeface="微软雅黑" panose="020B0503020204020204" charset="-122"/>
                        </a:rPr>
                        <a:t>以“三权分置”理论为基础，分析高精地图中的权利与责任流动架构。</a:t>
                      </a:r>
                    </a:p>
                  </a:txBody>
                  <a:tcPr marL="5080" marR="5080" marT="5080" marB="0" anchor="ctr"/>
                </a:tc>
                <a:tc>
                  <a:txBody>
                    <a:bodyPr/>
                    <a:lstStyle/>
                    <a:p>
                      <a:pPr algn="ctr" fontAlgn="ctr"/>
                      <a:endParaRPr lang="zh-CN" altLang="en-US" sz="1800" b="1" i="0" dirty="0">
                        <a:solidFill>
                          <a:schemeClr val="tx1"/>
                        </a:solidFill>
                        <a:latin typeface="微软雅黑" panose="020B0503020204020204" charset="-122"/>
                        <a:ea typeface="微软雅黑" panose="020B0503020204020204" charset="-122"/>
                        <a:cs typeface="微软雅黑" panose="020B0503020204020204" charset="-122"/>
                      </a:endParaRPr>
                    </a:p>
                  </a:txBody>
                  <a:tcPr marL="5080" marR="5080" marT="508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zh-CN" altLang="en-US" sz="1800" b="1" i="0" dirty="0">
                        <a:solidFill>
                          <a:schemeClr val="tx1"/>
                        </a:solidFill>
                        <a:latin typeface="微软雅黑" panose="020B0503020204020204" charset="-122"/>
                        <a:ea typeface="微软雅黑" panose="020B0503020204020204" charset="-122"/>
                      </a:endParaRPr>
                    </a:p>
                  </a:txBody>
                  <a:tcPr marL="5080" marR="5080" marT="5080" marB="0" anchor="ctr"/>
                </a:tc>
                <a:extLst>
                  <a:ext uri="{0D108BD9-81ED-4DB2-BD59-A6C34878D82A}">
                    <a16:rowId xmlns:a16="http://schemas.microsoft.com/office/drawing/2014/main" val="10005"/>
                  </a:ext>
                </a:extLst>
              </a:tr>
            </a:tbl>
          </a:graphicData>
        </a:graphic>
      </p:graphicFrame>
      <p:sp>
        <p:nvSpPr>
          <p:cNvPr id="19" name="文本框 18">
            <a:extLst>
              <a:ext uri="{FF2B5EF4-FFF2-40B4-BE49-F238E27FC236}">
                <a16:creationId xmlns:a16="http://schemas.microsoft.com/office/drawing/2014/main" id="{130FDC97-0AE5-9C61-334F-9F1859542BDE}"/>
              </a:ext>
            </a:extLst>
          </p:cNvPr>
          <p:cNvSpPr txBox="1"/>
          <p:nvPr/>
        </p:nvSpPr>
        <p:spPr>
          <a:xfrm>
            <a:off x="5079" y="752475"/>
            <a:ext cx="2646681"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1.2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项目时间线</a:t>
            </a:r>
            <a:endParaRPr lang="zh-CN" altLang="en-US" sz="2800" b="1" dirty="0">
              <a:solidFill>
                <a:srgbClr val="FF0000"/>
              </a:solidFill>
              <a:latin typeface="微软雅黑" panose="020B0503020204020204" charset="-122"/>
              <a:ea typeface="微软雅黑" panose="020B0503020204020204" charset="-122"/>
              <a:cs typeface="微软雅黑" panose="020B0503020204020204" charset="-122"/>
            </a:endParaRPr>
          </a:p>
        </p:txBody>
      </p:sp>
      <p:sp>
        <p:nvSpPr>
          <p:cNvPr id="10" name="矩形 9">
            <a:extLst>
              <a:ext uri="{FF2B5EF4-FFF2-40B4-BE49-F238E27FC236}">
                <a16:creationId xmlns:a16="http://schemas.microsoft.com/office/drawing/2014/main" id="{F11685F5-3874-BF18-660C-53C794AF5720}"/>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2" name="任意多边形: 形状 83">
            <a:extLst>
              <a:ext uri="{FF2B5EF4-FFF2-40B4-BE49-F238E27FC236}">
                <a16:creationId xmlns:a16="http://schemas.microsoft.com/office/drawing/2014/main" id="{12BB1FF4-EE37-ADA5-A634-78A02AECD34F}"/>
              </a:ext>
            </a:extLst>
          </p:cNvPr>
          <p:cNvSpPr/>
          <p:nvPr>
            <p:custDataLst>
              <p:tags r:id="rId2"/>
            </p:custDataLst>
          </p:nvPr>
        </p:nvSpPr>
        <p:spPr>
          <a:xfrm rot="10800000">
            <a:off x="-9542" y="-15551"/>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13" name="文本框 12">
            <a:extLst>
              <a:ext uri="{FF2B5EF4-FFF2-40B4-BE49-F238E27FC236}">
                <a16:creationId xmlns:a16="http://schemas.microsoft.com/office/drawing/2014/main" id="{480E183F-A56E-B30D-4806-A1D72E7A18C5}"/>
              </a:ext>
            </a:extLst>
          </p:cNvPr>
          <p:cNvSpPr txBox="1"/>
          <p:nvPr>
            <p:custDataLst>
              <p:tags r:id="rId3"/>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14" name="文本框 13">
            <a:extLst>
              <a:ext uri="{FF2B5EF4-FFF2-40B4-BE49-F238E27FC236}">
                <a16:creationId xmlns:a16="http://schemas.microsoft.com/office/drawing/2014/main" id="{837D50E9-57BC-F5ED-0D27-38B0157E9AAF}"/>
              </a:ext>
            </a:extLst>
          </p:cNvPr>
          <p:cNvSpPr txBox="1"/>
          <p:nvPr>
            <p:custDataLst>
              <p:tags r:id="rId4"/>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5" name="文本框 14">
            <a:extLst>
              <a:ext uri="{FF2B5EF4-FFF2-40B4-BE49-F238E27FC236}">
                <a16:creationId xmlns:a16="http://schemas.microsoft.com/office/drawing/2014/main" id="{BEFF64E9-3B8B-E1FB-FFC5-2F31A6CF1AC5}"/>
              </a:ext>
            </a:extLst>
          </p:cNvPr>
          <p:cNvSpPr txBox="1"/>
          <p:nvPr>
            <p:custDataLst>
              <p:tags r:id="rId5"/>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6" name="文本框 15">
            <a:extLst>
              <a:ext uri="{FF2B5EF4-FFF2-40B4-BE49-F238E27FC236}">
                <a16:creationId xmlns:a16="http://schemas.microsoft.com/office/drawing/2014/main" id="{269C7EB3-3C37-994D-7002-E0230C81AE49}"/>
              </a:ext>
            </a:extLst>
          </p:cNvPr>
          <p:cNvSpPr txBox="1"/>
          <p:nvPr>
            <p:custDataLst>
              <p:tags r:id="rId6"/>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21" name="文本框 20">
            <a:extLst>
              <a:ext uri="{FF2B5EF4-FFF2-40B4-BE49-F238E27FC236}">
                <a16:creationId xmlns:a16="http://schemas.microsoft.com/office/drawing/2014/main" id="{31942D43-1A27-F823-4928-4BB1A2A5EFF2}"/>
              </a:ext>
            </a:extLst>
          </p:cNvPr>
          <p:cNvSpPr txBox="1"/>
          <p:nvPr>
            <p:custDataLst>
              <p:tags r:id="rId7"/>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项目简介</a:t>
            </a:r>
          </a:p>
        </p:txBody>
      </p:sp>
    </p:spTree>
  </p:cSld>
  <p:clrMapOvr>
    <a:masterClrMapping/>
  </p:clrMapOvr>
  <p:transition spd="med" advClick="0" advTm="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5217795" y="653415"/>
            <a:ext cx="6974205" cy="592645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8" name="文本框 7"/>
          <p:cNvSpPr txBox="1"/>
          <p:nvPr/>
        </p:nvSpPr>
        <p:spPr>
          <a:xfrm>
            <a:off x="294640" y="1317309"/>
            <a:ext cx="4628515" cy="1116965"/>
          </a:xfrm>
          <a:prstGeom prst="rect">
            <a:avLst/>
          </a:prstGeom>
          <a:noFill/>
        </p:spPr>
        <p:txBody>
          <a:bodyPr wrap="square" rtlCol="0">
            <a:noAutofit/>
          </a:bodyPr>
          <a:lstStyle/>
          <a:p>
            <a:pPr indent="0" fontAlgn="auto">
              <a:lnSpc>
                <a:spcPct val="150000"/>
              </a:lnSpc>
            </a:pPr>
            <a:r>
              <a:rPr lang="zh-CN" sz="2800" b="1" dirty="0">
                <a:latin typeface="微软雅黑" panose="020B0503020204020204" charset="-122"/>
                <a:ea typeface="微软雅黑" panose="020B0503020204020204" charset="-122"/>
                <a:cs typeface="微软雅黑" panose="020B0503020204020204" charset="-122"/>
              </a:rPr>
              <a:t>参加学术会议</a:t>
            </a:r>
          </a:p>
          <a:p>
            <a:pPr indent="0" fontAlgn="auto"/>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2024</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地理信息技术创新大会</a:t>
            </a:r>
          </a:p>
        </p:txBody>
      </p:sp>
      <p:cxnSp>
        <p:nvCxnSpPr>
          <p:cNvPr id="9" name="直接连接符 8"/>
          <p:cNvCxnSpPr>
            <a:cxnSpLocks/>
          </p:cNvCxnSpPr>
          <p:nvPr/>
        </p:nvCxnSpPr>
        <p:spPr>
          <a:xfrm>
            <a:off x="407035" y="2538730"/>
            <a:ext cx="4516120" cy="0"/>
          </a:xfrm>
          <a:prstGeom prst="line">
            <a:avLst/>
          </a:prstGeom>
          <a:ln w="63500" cap="rnd">
            <a:solidFill>
              <a:srgbClr val="1F4E79"/>
            </a:solidFill>
            <a:round/>
          </a:ln>
        </p:spPr>
        <p:style>
          <a:lnRef idx="0">
            <a:srgbClr val="FFFFFF"/>
          </a:lnRef>
          <a:fillRef idx="0">
            <a:srgbClr val="FFFFFF"/>
          </a:fillRef>
          <a:effectRef idx="0">
            <a:srgbClr val="FFFFFF"/>
          </a:effectRef>
          <a:fontRef idx="minor">
            <a:schemeClr val="tx1"/>
          </a:fontRef>
        </p:style>
      </p:cxnSp>
      <p:pic>
        <p:nvPicPr>
          <p:cNvPr id="20" name="图片 19"/>
          <p:cNvPicPr>
            <a:picLocks noChangeAspect="1"/>
          </p:cNvPicPr>
          <p:nvPr/>
        </p:nvPicPr>
        <p:blipFill>
          <a:blip r:embed="rId9"/>
          <a:stretch>
            <a:fillRect/>
          </a:stretch>
        </p:blipFill>
        <p:spPr>
          <a:xfrm>
            <a:off x="398780" y="2764289"/>
            <a:ext cx="2880000" cy="1620253"/>
          </a:xfrm>
          <a:prstGeom prst="roundRect">
            <a:avLst/>
          </a:prstGeom>
          <a:effectLst>
            <a:outerShdw blurRad="444500" dist="38100" dir="2700000" algn="tl" rotWithShape="0">
              <a:prstClr val="black">
                <a:alpha val="40000"/>
              </a:prstClr>
            </a:outerShdw>
          </a:effectLst>
        </p:spPr>
      </p:pic>
      <p:pic>
        <p:nvPicPr>
          <p:cNvPr id="28" name="图片 27"/>
          <p:cNvPicPr>
            <a:picLocks noChangeAspect="1"/>
          </p:cNvPicPr>
          <p:nvPr/>
        </p:nvPicPr>
        <p:blipFill>
          <a:blip r:embed="rId10"/>
          <a:stretch>
            <a:fillRect/>
          </a:stretch>
        </p:blipFill>
        <p:spPr>
          <a:xfrm>
            <a:off x="2195931" y="4517020"/>
            <a:ext cx="2880000" cy="1620253"/>
          </a:xfrm>
          <a:prstGeom prst="roundRect">
            <a:avLst/>
          </a:prstGeom>
          <a:effectLst>
            <a:outerShdw blurRad="444500" dist="38100" dir="2700000" algn="tl" rotWithShape="0">
              <a:prstClr val="black">
                <a:alpha val="40000"/>
              </a:prstClr>
            </a:outerShdw>
          </a:effectLst>
        </p:spPr>
      </p:pic>
      <p:pic>
        <p:nvPicPr>
          <p:cNvPr id="11" name="图片 10"/>
          <p:cNvPicPr>
            <a:picLocks noChangeAspect="1"/>
          </p:cNvPicPr>
          <p:nvPr/>
        </p:nvPicPr>
        <p:blipFill>
          <a:blip r:embed="rId11"/>
          <a:stretch>
            <a:fillRect/>
          </a:stretch>
        </p:blipFill>
        <p:spPr>
          <a:xfrm>
            <a:off x="5606415" y="1402080"/>
            <a:ext cx="6167120" cy="2724785"/>
          </a:xfrm>
          <a:prstGeom prst="rect">
            <a:avLst/>
          </a:prstGeom>
          <a:effectLst>
            <a:softEdge rad="76200"/>
          </a:effectLst>
        </p:spPr>
      </p:pic>
      <p:pic>
        <p:nvPicPr>
          <p:cNvPr id="17" name="图片 16"/>
          <p:cNvPicPr>
            <a:picLocks noChangeAspect="1"/>
          </p:cNvPicPr>
          <p:nvPr/>
        </p:nvPicPr>
        <p:blipFill>
          <a:blip r:embed="rId12"/>
          <a:stretch>
            <a:fillRect/>
          </a:stretch>
        </p:blipFill>
        <p:spPr>
          <a:xfrm>
            <a:off x="5616575" y="4240530"/>
            <a:ext cx="6176645" cy="1678940"/>
          </a:xfrm>
          <a:prstGeom prst="rect">
            <a:avLst/>
          </a:prstGeom>
          <a:effectLst>
            <a:softEdge rad="76200"/>
          </a:effectLst>
        </p:spPr>
      </p:pic>
      <p:sp>
        <p:nvSpPr>
          <p:cNvPr id="5" name="文本框 4">
            <a:extLst>
              <a:ext uri="{FF2B5EF4-FFF2-40B4-BE49-F238E27FC236}">
                <a16:creationId xmlns:a16="http://schemas.microsoft.com/office/drawing/2014/main" id="{83B0B3AC-5184-5B8F-1C62-67CD4A9401C0}"/>
              </a:ext>
            </a:extLst>
          </p:cNvPr>
          <p:cNvSpPr txBox="1"/>
          <p:nvPr/>
        </p:nvSpPr>
        <p:spPr>
          <a:xfrm>
            <a:off x="-635" y="702311"/>
            <a:ext cx="3761929"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1.3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项目过程及成果</a:t>
            </a:r>
          </a:p>
        </p:txBody>
      </p:sp>
      <p:sp>
        <p:nvSpPr>
          <p:cNvPr id="6" name="矩形 5">
            <a:extLst>
              <a:ext uri="{FF2B5EF4-FFF2-40B4-BE49-F238E27FC236}">
                <a16:creationId xmlns:a16="http://schemas.microsoft.com/office/drawing/2014/main" id="{D7AD75AB-3FD6-6C22-89FF-C24080B97ECE}"/>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B46D785E-E01D-D24D-BA9B-826042BC2387}"/>
              </a:ext>
            </a:extLst>
          </p:cNvPr>
          <p:cNvSpPr txBox="1"/>
          <p:nvPr>
            <p:custDataLst>
              <p:tags r:id="rId1"/>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18" name="文本框 17">
            <a:extLst>
              <a:ext uri="{FF2B5EF4-FFF2-40B4-BE49-F238E27FC236}">
                <a16:creationId xmlns:a16="http://schemas.microsoft.com/office/drawing/2014/main" id="{2E782B30-3AEF-2D01-AF8D-D787BB7A3D9C}"/>
              </a:ext>
            </a:extLst>
          </p:cNvPr>
          <p:cNvSpPr txBox="1"/>
          <p:nvPr>
            <p:custDataLst>
              <p:tags r:id="rId2"/>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9" name="文本框 18">
            <a:extLst>
              <a:ext uri="{FF2B5EF4-FFF2-40B4-BE49-F238E27FC236}">
                <a16:creationId xmlns:a16="http://schemas.microsoft.com/office/drawing/2014/main" id="{00C33E3A-EBC8-A710-40A8-FA7D6C21E46A}"/>
              </a:ext>
            </a:extLst>
          </p:cNvPr>
          <p:cNvSpPr txBox="1"/>
          <p:nvPr>
            <p:custDataLst>
              <p:tags r:id="rId3"/>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21" name="文本框 20">
            <a:extLst>
              <a:ext uri="{FF2B5EF4-FFF2-40B4-BE49-F238E27FC236}">
                <a16:creationId xmlns:a16="http://schemas.microsoft.com/office/drawing/2014/main" id="{A352C29F-4E22-7EE7-7613-79998893F96E}"/>
              </a:ext>
            </a:extLst>
          </p:cNvPr>
          <p:cNvSpPr txBox="1"/>
          <p:nvPr>
            <p:custDataLst>
              <p:tags r:id="rId4"/>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24" name="任意多边形: 形状 83">
            <a:extLst>
              <a:ext uri="{FF2B5EF4-FFF2-40B4-BE49-F238E27FC236}">
                <a16:creationId xmlns:a16="http://schemas.microsoft.com/office/drawing/2014/main" id="{0D374131-CB27-1E32-8B4A-1D2A952EDB11}"/>
              </a:ext>
            </a:extLst>
          </p:cNvPr>
          <p:cNvSpPr/>
          <p:nvPr>
            <p:custDataLst>
              <p:tags r:id="rId5"/>
            </p:custDataLst>
          </p:nvPr>
        </p:nvSpPr>
        <p:spPr>
          <a:xfrm rot="10800000">
            <a:off x="-9542" y="-15551"/>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25" name="文本框 24">
            <a:extLst>
              <a:ext uri="{FF2B5EF4-FFF2-40B4-BE49-F238E27FC236}">
                <a16:creationId xmlns:a16="http://schemas.microsoft.com/office/drawing/2014/main" id="{DA46A999-537C-E053-D664-1F533AA23A22}"/>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项目简介</a:t>
            </a:r>
          </a:p>
        </p:txBody>
      </p:sp>
    </p:spTree>
  </p:cSld>
  <p:clrMapOvr>
    <a:masterClrMapping/>
  </p:clrMapOvr>
  <p:transition spd="med" advClick="0" advTm="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a:xfrm>
            <a:off x="4797425" y="653415"/>
            <a:ext cx="7394575" cy="5926455"/>
          </a:xfrm>
          <a:prstGeom prst="rect">
            <a:avLst/>
          </a:prstGeom>
          <a:solidFill>
            <a:schemeClr val="accent1">
              <a:lumMod val="20000"/>
              <a:lumOff val="8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8" name="文本框 7"/>
          <p:cNvSpPr txBox="1"/>
          <p:nvPr/>
        </p:nvSpPr>
        <p:spPr>
          <a:xfrm>
            <a:off x="269557" y="1160144"/>
            <a:ext cx="4525010" cy="1116965"/>
          </a:xfrm>
          <a:prstGeom prst="rect">
            <a:avLst/>
          </a:prstGeom>
          <a:noFill/>
        </p:spPr>
        <p:txBody>
          <a:bodyPr wrap="square" rtlCol="0">
            <a:noAutofit/>
          </a:bodyPr>
          <a:lstStyle/>
          <a:p>
            <a:pPr indent="0" fontAlgn="auto">
              <a:lnSpc>
                <a:spcPct val="150000"/>
              </a:lnSpc>
            </a:pPr>
            <a:r>
              <a:rPr lang="zh-CN" altLang="en-US" sz="2800" b="1" dirty="0">
                <a:latin typeface="微软雅黑" panose="020B0503020204020204" charset="-122"/>
                <a:ea typeface="微软雅黑" panose="020B0503020204020204" charset="-122"/>
                <a:cs typeface="微软雅黑" panose="020B0503020204020204" charset="-122"/>
              </a:rPr>
              <a:t>精读文献</a:t>
            </a:r>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128</a:t>
            </a:r>
            <a:r>
              <a:rPr lang="zh-CN" altLang="en-US" sz="2800" b="1" dirty="0">
                <a:latin typeface="微软雅黑" panose="020B0503020204020204" charset="-122"/>
                <a:ea typeface="微软雅黑" panose="020B0503020204020204" charset="-122"/>
                <a:cs typeface="微软雅黑" panose="020B0503020204020204" charset="-122"/>
              </a:rPr>
              <a:t>篇</a:t>
            </a:r>
            <a:endParaRPr lang="en-US" altLang="zh-CN" sz="2800" b="1" dirty="0">
              <a:latin typeface="微软雅黑" panose="020B0503020204020204" charset="-122"/>
              <a:ea typeface="微软雅黑" panose="020B0503020204020204" charset="-122"/>
              <a:cs typeface="微软雅黑" panose="020B0503020204020204" charset="-122"/>
            </a:endParaRPr>
          </a:p>
          <a:p>
            <a:pPr indent="0" fontAlgn="auto"/>
            <a:r>
              <a:rPr lang="zh-CN" altLang="en-US" sz="2800" b="1" dirty="0">
                <a:latin typeface="微软雅黑" panose="020B0503020204020204" charset="-122"/>
                <a:ea typeface="微软雅黑" panose="020B0503020204020204" charset="-122"/>
                <a:cs typeface="微软雅黑" panose="020B0503020204020204" charset="-122"/>
              </a:rPr>
              <a:t>产出论文一篇</a:t>
            </a:r>
            <a:endParaRPr lang="en-US" altLang="zh-CN" sz="2800" b="1" dirty="0">
              <a:latin typeface="微软雅黑" panose="020B0503020204020204" charset="-122"/>
              <a:ea typeface="微软雅黑" panose="020B0503020204020204" charset="-122"/>
              <a:cs typeface="微软雅黑" panose="020B0503020204020204" charset="-122"/>
            </a:endParaRPr>
          </a:p>
          <a:p>
            <a:pPr indent="0" fontAlgn="auto"/>
            <a:r>
              <a:rPr lang="zh-CN" altLang="en-US" sz="2800" b="1" dirty="0">
                <a:latin typeface="微软雅黑" panose="020B0503020204020204" charset="-122"/>
                <a:ea typeface="微软雅黑" panose="020B0503020204020204" charset="-122"/>
                <a:cs typeface="微软雅黑" panose="020B0503020204020204" charset="-122"/>
              </a:rPr>
              <a:t>发表在</a:t>
            </a:r>
            <a:r>
              <a:rPr lang="en-US" altLang="zh-CN" sz="2800" b="1" dirty="0">
                <a:latin typeface="微软雅黑" panose="020B0503020204020204" charset="-122"/>
                <a:ea typeface="微软雅黑" panose="020B0503020204020204" charset="-122"/>
                <a:cs typeface="微软雅黑" panose="020B0503020204020204" charset="-122"/>
              </a:rPr>
              <a:t>《</a:t>
            </a:r>
            <a:r>
              <a:rPr lang="zh-CN" altLang="en-US" sz="2800" b="1" dirty="0">
                <a:latin typeface="微软雅黑" panose="020B0503020204020204" charset="-122"/>
                <a:ea typeface="微软雅黑" panose="020B0503020204020204" charset="-122"/>
                <a:cs typeface="微软雅黑" panose="020B0503020204020204" charset="-122"/>
              </a:rPr>
              <a:t>测绘科学</a:t>
            </a:r>
            <a:r>
              <a:rPr lang="en-US" altLang="zh-CN" sz="2800" b="1" dirty="0">
                <a:latin typeface="微软雅黑" panose="020B0503020204020204" charset="-122"/>
                <a:ea typeface="微软雅黑" panose="020B0503020204020204" charset="-122"/>
                <a:cs typeface="微软雅黑" panose="020B0503020204020204" charset="-122"/>
              </a:rPr>
              <a:t>》</a:t>
            </a:r>
            <a:r>
              <a:rPr lang="zh-CN" altLang="en-US" sz="2800" b="1" dirty="0">
                <a:latin typeface="微软雅黑" panose="020B0503020204020204" charset="-122"/>
                <a:ea typeface="微软雅黑" panose="020B0503020204020204" charset="-122"/>
                <a:cs typeface="微软雅黑" panose="020B0503020204020204" charset="-122"/>
              </a:rPr>
              <a:t>期刊</a:t>
            </a:r>
          </a:p>
        </p:txBody>
      </p:sp>
      <p:cxnSp>
        <p:nvCxnSpPr>
          <p:cNvPr id="9" name="直接连接符 8"/>
          <p:cNvCxnSpPr>
            <a:cxnSpLocks/>
          </p:cNvCxnSpPr>
          <p:nvPr/>
        </p:nvCxnSpPr>
        <p:spPr>
          <a:xfrm>
            <a:off x="288925" y="2847880"/>
            <a:ext cx="3985895" cy="0"/>
          </a:xfrm>
          <a:prstGeom prst="line">
            <a:avLst/>
          </a:prstGeom>
          <a:ln w="63500" cap="rnd">
            <a:solidFill>
              <a:srgbClr val="1F4E79"/>
            </a:solidFill>
            <a:round/>
          </a:ln>
        </p:spPr>
        <p:style>
          <a:lnRef idx="0">
            <a:srgbClr val="FFFFFF"/>
          </a:lnRef>
          <a:fillRef idx="0">
            <a:srgbClr val="FFFFFF"/>
          </a:fillRef>
          <a:effectRef idx="0">
            <a:srgbClr val="FFFFFF"/>
          </a:effectRef>
          <a:fontRef idx="minor">
            <a:schemeClr val="tx1"/>
          </a:fontRef>
        </p:style>
      </p:cxnSp>
      <p:pic>
        <p:nvPicPr>
          <p:cNvPr id="17" name="图片 16"/>
          <p:cNvPicPr/>
          <p:nvPr/>
        </p:nvPicPr>
        <p:blipFill>
          <a:blip r:embed="rId9"/>
          <a:stretch>
            <a:fillRect/>
          </a:stretch>
        </p:blipFill>
        <p:spPr>
          <a:xfrm>
            <a:off x="5090160" y="934181"/>
            <a:ext cx="2281237" cy="1935289"/>
          </a:xfrm>
          <a:prstGeom prst="roundRect">
            <a:avLst/>
          </a:prstGeom>
          <a:effectLst>
            <a:outerShdw blurRad="50800" dist="38100" dir="2700000" algn="tl" rotWithShape="0">
              <a:prstClr val="black">
                <a:alpha val="40000"/>
              </a:prstClr>
            </a:outerShdw>
            <a:softEdge rad="12700"/>
          </a:effectLst>
        </p:spPr>
      </p:pic>
      <p:pic>
        <p:nvPicPr>
          <p:cNvPr id="18" name="图片 17"/>
          <p:cNvPicPr/>
          <p:nvPr/>
        </p:nvPicPr>
        <p:blipFill>
          <a:blip r:embed="rId10"/>
          <a:stretch>
            <a:fillRect/>
          </a:stretch>
        </p:blipFill>
        <p:spPr>
          <a:xfrm>
            <a:off x="7775035" y="794862"/>
            <a:ext cx="4216209" cy="1402397"/>
          </a:xfrm>
          <a:prstGeom prst="roundRect">
            <a:avLst/>
          </a:prstGeom>
          <a:effectLst>
            <a:outerShdw blurRad="50800" dist="38100" dir="2700000" algn="tl" rotWithShape="0">
              <a:prstClr val="black">
                <a:alpha val="40000"/>
              </a:prstClr>
            </a:outerShdw>
            <a:softEdge rad="12700"/>
          </a:effectLst>
        </p:spPr>
      </p:pic>
      <p:pic>
        <p:nvPicPr>
          <p:cNvPr id="21" name="图片 20"/>
          <p:cNvPicPr>
            <a:picLocks noChangeAspect="1"/>
          </p:cNvPicPr>
          <p:nvPr/>
        </p:nvPicPr>
        <p:blipFill>
          <a:blip r:embed="rId11"/>
          <a:stretch>
            <a:fillRect/>
          </a:stretch>
        </p:blipFill>
        <p:spPr>
          <a:xfrm>
            <a:off x="7774940" y="2427605"/>
            <a:ext cx="4069715" cy="2133600"/>
          </a:xfrm>
          <a:prstGeom prst="roundRect">
            <a:avLst/>
          </a:prstGeom>
          <a:effectLst>
            <a:outerShdw blurRad="50800" dist="38100" dir="2700000" algn="tl" rotWithShape="0">
              <a:prstClr val="black">
                <a:alpha val="40000"/>
              </a:prstClr>
            </a:outerShdw>
            <a:softEdge rad="12700"/>
          </a:effectLst>
        </p:spPr>
      </p:pic>
      <p:pic>
        <p:nvPicPr>
          <p:cNvPr id="23" name="图片 22"/>
          <p:cNvPicPr>
            <a:picLocks noChangeAspect="1"/>
          </p:cNvPicPr>
          <p:nvPr/>
        </p:nvPicPr>
        <p:blipFill>
          <a:blip r:embed="rId12"/>
          <a:stretch>
            <a:fillRect/>
          </a:stretch>
        </p:blipFill>
        <p:spPr>
          <a:xfrm>
            <a:off x="5090160" y="3463925"/>
            <a:ext cx="2476500" cy="2663825"/>
          </a:xfrm>
          <a:prstGeom prst="roundRect">
            <a:avLst/>
          </a:prstGeom>
          <a:effectLst>
            <a:outerShdw blurRad="50800" dist="38100" dir="2700000" algn="tl" rotWithShape="0">
              <a:prstClr val="black">
                <a:alpha val="40000"/>
              </a:prstClr>
            </a:outerShdw>
            <a:softEdge rad="12700"/>
          </a:effectLst>
        </p:spPr>
      </p:pic>
      <p:pic>
        <p:nvPicPr>
          <p:cNvPr id="24" name="图片 23"/>
          <p:cNvPicPr>
            <a:picLocks noChangeAspect="1"/>
          </p:cNvPicPr>
          <p:nvPr/>
        </p:nvPicPr>
        <p:blipFill>
          <a:blip r:embed="rId13"/>
          <a:stretch>
            <a:fillRect/>
          </a:stretch>
        </p:blipFill>
        <p:spPr>
          <a:xfrm>
            <a:off x="7802245" y="4710430"/>
            <a:ext cx="3997325" cy="1694180"/>
          </a:xfrm>
          <a:prstGeom prst="roundRect">
            <a:avLst/>
          </a:prstGeom>
          <a:effectLst>
            <a:outerShdw blurRad="50800" dist="38100" dir="2700000" algn="tl" rotWithShape="0">
              <a:prstClr val="black">
                <a:alpha val="40000"/>
              </a:prstClr>
            </a:outerShdw>
            <a:softEdge rad="12700"/>
          </a:effectLst>
        </p:spPr>
      </p:pic>
      <p:sp>
        <p:nvSpPr>
          <p:cNvPr id="30" name="文本框 29">
            <a:extLst>
              <a:ext uri="{FF2B5EF4-FFF2-40B4-BE49-F238E27FC236}">
                <a16:creationId xmlns:a16="http://schemas.microsoft.com/office/drawing/2014/main" id="{C5645308-5ACC-4B71-FD0B-C619FFD51FFC}"/>
              </a:ext>
            </a:extLst>
          </p:cNvPr>
          <p:cNvSpPr txBox="1"/>
          <p:nvPr/>
        </p:nvSpPr>
        <p:spPr>
          <a:xfrm>
            <a:off x="-634" y="702311"/>
            <a:ext cx="3535686"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1.3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项目过程及成果</a:t>
            </a:r>
          </a:p>
        </p:txBody>
      </p:sp>
      <p:sp>
        <p:nvSpPr>
          <p:cNvPr id="31" name="矩形 30">
            <a:extLst>
              <a:ext uri="{FF2B5EF4-FFF2-40B4-BE49-F238E27FC236}">
                <a16:creationId xmlns:a16="http://schemas.microsoft.com/office/drawing/2014/main" id="{90B22E0C-A9D4-6B67-F627-9A8E233833F6}"/>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2" name="任意多边形: 形状 83">
            <a:extLst>
              <a:ext uri="{FF2B5EF4-FFF2-40B4-BE49-F238E27FC236}">
                <a16:creationId xmlns:a16="http://schemas.microsoft.com/office/drawing/2014/main" id="{2F931EA7-E73D-9DDB-5045-9A86BCF5E0A4}"/>
              </a:ext>
            </a:extLst>
          </p:cNvPr>
          <p:cNvSpPr/>
          <p:nvPr>
            <p:custDataLst>
              <p:tags r:id="rId1"/>
            </p:custDataLst>
          </p:nvPr>
        </p:nvSpPr>
        <p:spPr>
          <a:xfrm rot="10800000">
            <a:off x="-9542" y="-15551"/>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33" name="文本框 32">
            <a:extLst>
              <a:ext uri="{FF2B5EF4-FFF2-40B4-BE49-F238E27FC236}">
                <a16:creationId xmlns:a16="http://schemas.microsoft.com/office/drawing/2014/main" id="{F0D934E0-142D-ADFE-0957-9DF4533420F4}"/>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35" name="文本框 34">
            <a:extLst>
              <a:ext uri="{FF2B5EF4-FFF2-40B4-BE49-F238E27FC236}">
                <a16:creationId xmlns:a16="http://schemas.microsoft.com/office/drawing/2014/main" id="{B8405F90-BE2D-735E-AD70-89CFBE14A6D9}"/>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36" name="文本框 35">
            <a:extLst>
              <a:ext uri="{FF2B5EF4-FFF2-40B4-BE49-F238E27FC236}">
                <a16:creationId xmlns:a16="http://schemas.microsoft.com/office/drawing/2014/main" id="{2A5924F1-BB9E-B980-96D6-50EC5BF13217}"/>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37" name="文本框 36">
            <a:extLst>
              <a:ext uri="{FF2B5EF4-FFF2-40B4-BE49-F238E27FC236}">
                <a16:creationId xmlns:a16="http://schemas.microsoft.com/office/drawing/2014/main" id="{7782690B-C794-791C-74B3-3324308657DA}"/>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38" name="文本框 37">
            <a:extLst>
              <a:ext uri="{FF2B5EF4-FFF2-40B4-BE49-F238E27FC236}">
                <a16:creationId xmlns:a16="http://schemas.microsoft.com/office/drawing/2014/main" id="{DABA49B1-6339-E432-E4A8-53AB2B35F0E2}"/>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项目简介</a:t>
            </a:r>
          </a:p>
        </p:txBody>
      </p:sp>
      <p:pic>
        <p:nvPicPr>
          <p:cNvPr id="43" name="图片 42">
            <a:extLst>
              <a:ext uri="{FF2B5EF4-FFF2-40B4-BE49-F238E27FC236}">
                <a16:creationId xmlns:a16="http://schemas.microsoft.com/office/drawing/2014/main" id="{CF33EBD1-61C6-5A99-7C25-67E5DE2DE220}"/>
              </a:ext>
            </a:extLst>
          </p:cNvPr>
          <p:cNvPicPr>
            <a:picLocks noChangeAspect="1"/>
          </p:cNvPicPr>
          <p:nvPr/>
        </p:nvPicPr>
        <p:blipFill>
          <a:blip r:embed="rId14"/>
          <a:stretch>
            <a:fillRect/>
          </a:stretch>
        </p:blipFill>
        <p:spPr>
          <a:xfrm>
            <a:off x="402989" y="3065573"/>
            <a:ext cx="3714760" cy="2991264"/>
          </a:xfrm>
          <a:prstGeom prst="rect">
            <a:avLst/>
          </a:prstGeom>
          <a:effectLst>
            <a:outerShdw blurRad="63500" sx="102000" sy="102000" algn="ctr" rotWithShape="0">
              <a:prstClr val="black">
                <a:alpha val="40000"/>
              </a:prstClr>
            </a:outerShdw>
          </a:effectLst>
        </p:spPr>
      </p:pic>
    </p:spTree>
  </p:cSld>
  <p:clrMapOvr>
    <a:masterClrMapping/>
  </p:clrMapOvr>
  <p:transition spd="med" advClick="0" advTm="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p:cNvSpPr txBox="1"/>
          <p:nvPr/>
        </p:nvSpPr>
        <p:spPr>
          <a:xfrm>
            <a:off x="1" y="711731"/>
            <a:ext cx="3401122" cy="52197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2.1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数据资产化趋势</a:t>
            </a:r>
          </a:p>
        </p:txBody>
      </p:sp>
      <p:sp>
        <p:nvSpPr>
          <p:cNvPr id="4" name="矩形 3">
            <a:extLst>
              <a:ext uri="{FF2B5EF4-FFF2-40B4-BE49-F238E27FC236}">
                <a16:creationId xmlns:a16="http://schemas.microsoft.com/office/drawing/2014/main" id="{5C97A984-0A25-7844-CA94-28F5638C7B83}"/>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任意多边形: 形状 83">
            <a:extLst>
              <a:ext uri="{FF2B5EF4-FFF2-40B4-BE49-F238E27FC236}">
                <a16:creationId xmlns:a16="http://schemas.microsoft.com/office/drawing/2014/main" id="{D63653B0-0D58-97E7-8B92-9C5DF34FA067}"/>
              </a:ext>
            </a:extLst>
          </p:cNvPr>
          <p:cNvSpPr/>
          <p:nvPr>
            <p:custDataLst>
              <p:tags r:id="rId1"/>
            </p:custDataLst>
          </p:nvPr>
        </p:nvSpPr>
        <p:spPr>
          <a:xfrm rot="10800000">
            <a:off x="2445486" y="-11399"/>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11" name="文本框 10">
            <a:extLst>
              <a:ext uri="{FF2B5EF4-FFF2-40B4-BE49-F238E27FC236}">
                <a16:creationId xmlns:a16="http://schemas.microsoft.com/office/drawing/2014/main" id="{7015807D-55A5-8CF8-2CA7-B47F6DAB668D}"/>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13" name="文本框 12">
            <a:extLst>
              <a:ext uri="{FF2B5EF4-FFF2-40B4-BE49-F238E27FC236}">
                <a16:creationId xmlns:a16="http://schemas.microsoft.com/office/drawing/2014/main" id="{F1B753D3-E202-91FB-C54C-221FEAB1E81B}"/>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B906420C-CE83-FDDA-1A64-669D7D9F2E33}"/>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0702C3CE-956F-8959-578E-8E5FFC241499}"/>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59CAD0FB-A00A-43C1-DD21-E3DF7B4EDE4A}"/>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sp>
        <p:nvSpPr>
          <p:cNvPr id="6" name="矩形 5">
            <a:extLst>
              <a:ext uri="{FF2B5EF4-FFF2-40B4-BE49-F238E27FC236}">
                <a16:creationId xmlns:a16="http://schemas.microsoft.com/office/drawing/2014/main" id="{510B1DE2-82C3-C838-EE75-F7ED403587D6}"/>
              </a:ext>
            </a:extLst>
          </p:cNvPr>
          <p:cNvSpPr/>
          <p:nvPr/>
        </p:nvSpPr>
        <p:spPr>
          <a:xfrm>
            <a:off x="440472" y="2279478"/>
            <a:ext cx="5319132" cy="38471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1F4E79"/>
                </a:solidFill>
                <a:latin typeface="微软雅黑" panose="020B0503020204020204" pitchFamily="34" charset="-122"/>
                <a:ea typeface="微软雅黑" panose="020B0503020204020204" pitchFamily="34" charset="-122"/>
              </a:rPr>
              <a:t>新质生产力</a:t>
            </a:r>
          </a:p>
        </p:txBody>
      </p:sp>
      <p:sp>
        <p:nvSpPr>
          <p:cNvPr id="8" name="矩形 7">
            <a:extLst>
              <a:ext uri="{FF2B5EF4-FFF2-40B4-BE49-F238E27FC236}">
                <a16:creationId xmlns:a16="http://schemas.microsoft.com/office/drawing/2014/main" id="{965B2A8E-BD5D-7645-6865-74CD6E4DE2B7}"/>
              </a:ext>
            </a:extLst>
          </p:cNvPr>
          <p:cNvSpPr/>
          <p:nvPr/>
        </p:nvSpPr>
        <p:spPr>
          <a:xfrm>
            <a:off x="440472" y="3358061"/>
            <a:ext cx="1499840" cy="38471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1F4E79"/>
                </a:solidFill>
                <a:latin typeface="微软雅黑" panose="020B0503020204020204" pitchFamily="34" charset="-122"/>
                <a:ea typeface="微软雅黑" panose="020B0503020204020204" pitchFamily="34" charset="-122"/>
              </a:rPr>
              <a:t>高科技</a:t>
            </a:r>
          </a:p>
        </p:txBody>
      </p:sp>
      <p:sp>
        <p:nvSpPr>
          <p:cNvPr id="10" name="矩形 9">
            <a:extLst>
              <a:ext uri="{FF2B5EF4-FFF2-40B4-BE49-F238E27FC236}">
                <a16:creationId xmlns:a16="http://schemas.microsoft.com/office/drawing/2014/main" id="{D07E43A1-12A0-7E93-B136-EDC976B1E999}"/>
              </a:ext>
            </a:extLst>
          </p:cNvPr>
          <p:cNvSpPr/>
          <p:nvPr/>
        </p:nvSpPr>
        <p:spPr>
          <a:xfrm>
            <a:off x="2350118" y="3358061"/>
            <a:ext cx="1499840" cy="38471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1F4E79"/>
                </a:solidFill>
                <a:latin typeface="微软雅黑" panose="020B0503020204020204" pitchFamily="34" charset="-122"/>
                <a:ea typeface="微软雅黑" panose="020B0503020204020204" pitchFamily="34" charset="-122"/>
              </a:rPr>
              <a:t>高效能</a:t>
            </a:r>
          </a:p>
        </p:txBody>
      </p:sp>
      <p:sp>
        <p:nvSpPr>
          <p:cNvPr id="12" name="矩形 11">
            <a:extLst>
              <a:ext uri="{FF2B5EF4-FFF2-40B4-BE49-F238E27FC236}">
                <a16:creationId xmlns:a16="http://schemas.microsoft.com/office/drawing/2014/main" id="{D14FF245-4780-F103-4D08-050B123C0C20}"/>
              </a:ext>
            </a:extLst>
          </p:cNvPr>
          <p:cNvSpPr/>
          <p:nvPr/>
        </p:nvSpPr>
        <p:spPr>
          <a:xfrm>
            <a:off x="4259763" y="3358061"/>
            <a:ext cx="1499840" cy="38471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1F4E79"/>
                </a:solidFill>
                <a:latin typeface="微软雅黑" panose="020B0503020204020204" pitchFamily="34" charset="-122"/>
                <a:ea typeface="微软雅黑" panose="020B0503020204020204" pitchFamily="34" charset="-122"/>
              </a:rPr>
              <a:t>高质量</a:t>
            </a:r>
          </a:p>
        </p:txBody>
      </p:sp>
      <p:cxnSp>
        <p:nvCxnSpPr>
          <p:cNvPr id="16" name="连接符: 肘形 15">
            <a:extLst>
              <a:ext uri="{FF2B5EF4-FFF2-40B4-BE49-F238E27FC236}">
                <a16:creationId xmlns:a16="http://schemas.microsoft.com/office/drawing/2014/main" id="{AAC7D9FA-F1D4-71F9-376E-94F3C1BDF3C9}"/>
              </a:ext>
            </a:extLst>
          </p:cNvPr>
          <p:cNvCxnSpPr>
            <a:stCxn id="6" idx="2"/>
            <a:endCxn id="8" idx="0"/>
          </p:cNvCxnSpPr>
          <p:nvPr/>
        </p:nvCxnSpPr>
        <p:spPr>
          <a:xfrm rot="5400000">
            <a:off x="1798282" y="2056305"/>
            <a:ext cx="693866" cy="1909646"/>
          </a:xfrm>
          <a:prstGeom prst="bentConnector3">
            <a:avLst>
              <a:gd name="adj1" fmla="val 74910"/>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2B63DB9F-AA6A-9BC7-A0E0-2824D7F943EB}"/>
              </a:ext>
            </a:extLst>
          </p:cNvPr>
          <p:cNvCxnSpPr>
            <a:stCxn id="6" idx="2"/>
            <a:endCxn id="12" idx="0"/>
          </p:cNvCxnSpPr>
          <p:nvPr/>
        </p:nvCxnSpPr>
        <p:spPr>
          <a:xfrm rot="16200000" flipH="1">
            <a:off x="3707927" y="2056305"/>
            <a:ext cx="693866" cy="1909645"/>
          </a:xfrm>
          <a:prstGeom prst="bentConnector3">
            <a:avLst>
              <a:gd name="adj1" fmla="val 74911"/>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6A63878E-86CD-7637-C716-7C48142EE2E7}"/>
              </a:ext>
            </a:extLst>
          </p:cNvPr>
          <p:cNvCxnSpPr>
            <a:stCxn id="6" idx="2"/>
            <a:endCxn id="10" idx="0"/>
          </p:cNvCxnSpPr>
          <p:nvPr/>
        </p:nvCxnSpPr>
        <p:spPr>
          <a:xfrm>
            <a:off x="3100038" y="2664195"/>
            <a:ext cx="0" cy="693866"/>
          </a:xfrm>
          <a:prstGeom prst="line">
            <a:avLst/>
          </a:prstGeom>
          <a:ln w="190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7CE6D220-B84C-A032-62F2-856725696D3C}"/>
              </a:ext>
            </a:extLst>
          </p:cNvPr>
          <p:cNvSpPr/>
          <p:nvPr/>
        </p:nvSpPr>
        <p:spPr>
          <a:xfrm>
            <a:off x="456576" y="4051927"/>
            <a:ext cx="5319132" cy="38471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1F4E79"/>
                </a:solidFill>
                <a:latin typeface="微软雅黑" panose="020B0503020204020204" pitchFamily="34" charset="-122"/>
                <a:ea typeface="微软雅黑" panose="020B0503020204020204" pitchFamily="34" charset="-122"/>
              </a:rPr>
              <a:t>关键生产要素</a:t>
            </a:r>
            <a:r>
              <a:rPr lang="en-US" altLang="zh-CN" b="1" dirty="0">
                <a:solidFill>
                  <a:srgbClr val="1F4E79"/>
                </a:solidFill>
                <a:latin typeface="微软雅黑" panose="020B0503020204020204" pitchFamily="34" charset="-122"/>
                <a:ea typeface="微软雅黑" panose="020B0503020204020204" pitchFamily="34" charset="-122"/>
              </a:rPr>
              <a:t>——</a:t>
            </a:r>
            <a:r>
              <a:rPr lang="zh-CN" altLang="en-US" b="1" dirty="0">
                <a:solidFill>
                  <a:srgbClr val="1F4E79"/>
                </a:solidFill>
                <a:latin typeface="微软雅黑" panose="020B0503020204020204" pitchFamily="34" charset="-122"/>
                <a:ea typeface="微软雅黑" panose="020B0503020204020204" pitchFamily="34" charset="-122"/>
              </a:rPr>
              <a:t>数据</a:t>
            </a:r>
          </a:p>
        </p:txBody>
      </p:sp>
      <p:pic>
        <p:nvPicPr>
          <p:cNvPr id="28" name="图片 27">
            <a:extLst>
              <a:ext uri="{FF2B5EF4-FFF2-40B4-BE49-F238E27FC236}">
                <a16:creationId xmlns:a16="http://schemas.microsoft.com/office/drawing/2014/main" id="{210E446E-C545-4955-FC05-85E3CD48AFEF}"/>
              </a:ext>
            </a:extLst>
          </p:cNvPr>
          <p:cNvPicPr>
            <a:picLocks noChangeAspect="1"/>
          </p:cNvPicPr>
          <p:nvPr/>
        </p:nvPicPr>
        <p:blipFill>
          <a:blip r:embed="rId9"/>
          <a:stretch>
            <a:fillRect/>
          </a:stretch>
        </p:blipFill>
        <p:spPr>
          <a:xfrm>
            <a:off x="7052529" y="1154416"/>
            <a:ext cx="4736482" cy="4024436"/>
          </a:xfrm>
          <a:prstGeom prst="rect">
            <a:avLst/>
          </a:prstGeom>
          <a:noFill/>
          <a:ln>
            <a:noFill/>
          </a:ln>
          <a:effectLst>
            <a:outerShdw blurRad="50800" dist="38100" dir="2700000" algn="tl" rotWithShape="0">
              <a:prstClr val="black">
                <a:alpha val="40000"/>
              </a:prstClr>
            </a:outerShdw>
          </a:effectLst>
        </p:spPr>
      </p:pic>
      <p:sp>
        <p:nvSpPr>
          <p:cNvPr id="29" name="文本框 28">
            <a:extLst>
              <a:ext uri="{FF2B5EF4-FFF2-40B4-BE49-F238E27FC236}">
                <a16:creationId xmlns:a16="http://schemas.microsoft.com/office/drawing/2014/main" id="{D27913B9-A582-4ED9-A5C9-8940AAF0620D}"/>
              </a:ext>
            </a:extLst>
          </p:cNvPr>
          <p:cNvSpPr txBox="1"/>
          <p:nvPr/>
        </p:nvSpPr>
        <p:spPr>
          <a:xfrm>
            <a:off x="402989" y="5517663"/>
            <a:ext cx="10369255" cy="369332"/>
          </a:xfrm>
          <a:prstGeom prst="rect">
            <a:avLst/>
          </a:prstGeom>
          <a:noFill/>
        </p:spPr>
        <p:txBody>
          <a:bodyPr wrap="square" rtlCol="0">
            <a:spAutoFit/>
          </a:bodyPr>
          <a:lstStyle/>
          <a:p>
            <a:pPr indent="457200"/>
            <a:r>
              <a:rPr lang="zh-CN" altLang="en-US" b="1" dirty="0">
                <a:latin typeface="微软雅黑" panose="020B0503020204020204" charset="-122"/>
                <a:ea typeface="微软雅黑" panose="020B0503020204020204" charset="-122"/>
              </a:rPr>
              <a:t>为了释放数据中蕴含的巨大价值，国家颁布了一系列政策以推动数据资产化进程</a:t>
            </a:r>
            <a:endParaRPr lang="en-US" altLang="zh-CN" b="1" dirty="0">
              <a:latin typeface="微软雅黑" panose="020B0503020204020204" charset="-122"/>
              <a:ea typeface="微软雅黑" panose="020B0503020204020204" charset="-122"/>
            </a:endParaRPr>
          </a:p>
        </p:txBody>
      </p:sp>
      <p:sp>
        <p:nvSpPr>
          <p:cNvPr id="30" name="文本框 29">
            <a:extLst>
              <a:ext uri="{FF2B5EF4-FFF2-40B4-BE49-F238E27FC236}">
                <a16:creationId xmlns:a16="http://schemas.microsoft.com/office/drawing/2014/main" id="{7BB10911-AE5A-3B69-9A0E-D487F0AEE2CD}"/>
              </a:ext>
            </a:extLst>
          </p:cNvPr>
          <p:cNvSpPr txBox="1"/>
          <p:nvPr/>
        </p:nvSpPr>
        <p:spPr>
          <a:xfrm>
            <a:off x="402989" y="1717924"/>
            <a:ext cx="5142983" cy="369332"/>
          </a:xfrm>
          <a:prstGeom prst="rect">
            <a:avLst/>
          </a:prstGeom>
          <a:noFill/>
        </p:spPr>
        <p:txBody>
          <a:bodyPr wrap="square" rtlCol="0">
            <a:spAutoFit/>
          </a:bodyPr>
          <a:lstStyle/>
          <a:p>
            <a:pPr indent="457200"/>
            <a:r>
              <a:rPr lang="zh-CN" altLang="en-US" b="1" dirty="0">
                <a:solidFill>
                  <a:srgbClr val="C00000"/>
                </a:solidFill>
                <a:latin typeface="微软雅黑" panose="020B0503020204020204" charset="-122"/>
                <a:ea typeface="微软雅黑" panose="020B0503020204020204" charset="-122"/>
              </a:rPr>
              <a:t>发展新质生产力，关键在于数据价值释放</a:t>
            </a:r>
            <a:endParaRPr lang="en-US" altLang="zh-CN" b="1" dirty="0">
              <a:solidFill>
                <a:srgbClr val="C000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4105245583"/>
      </p:ext>
    </p:extLst>
  </p:cSld>
  <p:clrMapOvr>
    <a:masterClrMapping/>
  </p:clrMapOvr>
  <p:transition spd="med" advClick="0" advTm="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p:cNvSpPr txBox="1"/>
          <p:nvPr/>
        </p:nvSpPr>
        <p:spPr>
          <a:xfrm>
            <a:off x="-635" y="791958"/>
            <a:ext cx="7667625" cy="52197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2.2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数据资产价值评估的必要性</a:t>
            </a:r>
          </a:p>
        </p:txBody>
      </p:sp>
      <p:pic>
        <p:nvPicPr>
          <p:cNvPr id="4" name="图片 4" descr="图1.2-4 区别与联系"/>
          <p:cNvPicPr>
            <a:picLocks noChangeAspect="1"/>
          </p:cNvPicPr>
          <p:nvPr/>
        </p:nvPicPr>
        <p:blipFill>
          <a:blip r:embed="rId9"/>
          <a:stretch>
            <a:fillRect/>
          </a:stretch>
        </p:blipFill>
        <p:spPr>
          <a:xfrm>
            <a:off x="79057" y="1924705"/>
            <a:ext cx="12033885" cy="2703830"/>
          </a:xfrm>
          <a:prstGeom prst="rect">
            <a:avLst/>
          </a:prstGeom>
        </p:spPr>
      </p:pic>
      <p:sp>
        <p:nvSpPr>
          <p:cNvPr id="5" name="文本框 4"/>
          <p:cNvSpPr txBox="1"/>
          <p:nvPr/>
        </p:nvSpPr>
        <p:spPr>
          <a:xfrm>
            <a:off x="0" y="4876647"/>
            <a:ext cx="11705590" cy="923330"/>
          </a:xfrm>
          <a:prstGeom prst="rect">
            <a:avLst/>
          </a:prstGeom>
          <a:noFill/>
        </p:spPr>
        <p:txBody>
          <a:bodyPr wrap="square" rtlCol="0">
            <a:spAutoFit/>
          </a:bodyPr>
          <a:lstStyle/>
          <a:p>
            <a:pPr indent="457200"/>
            <a:r>
              <a:rPr lang="en-US" altLang="zh-CN" b="1" dirty="0">
                <a:solidFill>
                  <a:srgbClr val="C00000"/>
                </a:solidFill>
                <a:latin typeface="微软雅黑" panose="020B0503020204020204" charset="-122"/>
                <a:ea typeface="微软雅黑" panose="020B0503020204020204" charset="-122"/>
                <a:sym typeface="+mn-ea"/>
              </a:rPr>
              <a:t>1. </a:t>
            </a:r>
            <a:r>
              <a:rPr lang="zh-CN" altLang="en-US" b="1" dirty="0">
                <a:solidFill>
                  <a:srgbClr val="C00000"/>
                </a:solidFill>
                <a:latin typeface="微软雅黑" panose="020B0503020204020204" charset="-122"/>
                <a:ea typeface="微软雅黑" panose="020B0503020204020204" charset="-122"/>
                <a:sym typeface="+mn-ea"/>
              </a:rPr>
              <a:t>数据资产入表的必经之路</a:t>
            </a:r>
            <a:endParaRPr lang="en-US" altLang="zh-CN" b="1" dirty="0">
              <a:solidFill>
                <a:srgbClr val="C00000"/>
              </a:solidFill>
              <a:latin typeface="微软雅黑" panose="020B0503020204020204" charset="-122"/>
              <a:ea typeface="微软雅黑" panose="020B0503020204020204" charset="-122"/>
              <a:sym typeface="+mn-ea"/>
            </a:endParaRPr>
          </a:p>
          <a:p>
            <a:pPr indent="457200"/>
            <a:endParaRPr lang="en-US" altLang="zh-CN" b="1" dirty="0">
              <a:latin typeface="微软雅黑" panose="020B0503020204020204" charset="-122"/>
              <a:ea typeface="微软雅黑" panose="020B0503020204020204" charset="-122"/>
              <a:sym typeface="+mn-ea"/>
            </a:endParaRPr>
          </a:p>
          <a:p>
            <a:pPr indent="457200"/>
            <a:r>
              <a:rPr lang="en-US" altLang="zh-CN" b="1" dirty="0">
                <a:solidFill>
                  <a:srgbClr val="C00000"/>
                </a:solidFill>
                <a:latin typeface="微软雅黑" panose="020B0503020204020204" charset="-122"/>
                <a:ea typeface="微软雅黑" panose="020B0503020204020204" charset="-122"/>
              </a:rPr>
              <a:t>2. </a:t>
            </a:r>
            <a:r>
              <a:rPr lang="zh-CN" altLang="en-US" b="1" dirty="0">
                <a:solidFill>
                  <a:srgbClr val="C00000"/>
                </a:solidFill>
                <a:latin typeface="微软雅黑" panose="020B0503020204020204" charset="-122"/>
                <a:ea typeface="微软雅黑" panose="020B0503020204020204" charset="-122"/>
              </a:rPr>
              <a:t>数据赋能的关键路径</a:t>
            </a:r>
            <a:endParaRPr lang="zh-CN" altLang="en-US" b="1" dirty="0">
              <a:latin typeface="微软雅黑" panose="020B0503020204020204" charset="-122"/>
              <a:ea typeface="微软雅黑" panose="020B0503020204020204" charset="-122"/>
            </a:endParaRPr>
          </a:p>
        </p:txBody>
      </p:sp>
      <p:sp>
        <p:nvSpPr>
          <p:cNvPr id="2" name="矩形 1">
            <a:extLst>
              <a:ext uri="{FF2B5EF4-FFF2-40B4-BE49-F238E27FC236}">
                <a16:creationId xmlns:a16="http://schemas.microsoft.com/office/drawing/2014/main" id="{0E8C32C4-AE94-3863-1E67-BCFAEF2FA48F}"/>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任意多边形: 形状 83">
            <a:extLst>
              <a:ext uri="{FF2B5EF4-FFF2-40B4-BE49-F238E27FC236}">
                <a16:creationId xmlns:a16="http://schemas.microsoft.com/office/drawing/2014/main" id="{F2B96463-016B-3D61-A768-54AB3018CFC2}"/>
              </a:ext>
            </a:extLst>
          </p:cNvPr>
          <p:cNvSpPr/>
          <p:nvPr>
            <p:custDataLst>
              <p:tags r:id="rId1"/>
            </p:custDataLst>
          </p:nvPr>
        </p:nvSpPr>
        <p:spPr>
          <a:xfrm rot="10800000">
            <a:off x="2445486" y="-11399"/>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11" name="文本框 10">
            <a:extLst>
              <a:ext uri="{FF2B5EF4-FFF2-40B4-BE49-F238E27FC236}">
                <a16:creationId xmlns:a16="http://schemas.microsoft.com/office/drawing/2014/main" id="{954400DF-7459-266C-8F61-E95A9ADA16F3}"/>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13" name="文本框 12">
            <a:extLst>
              <a:ext uri="{FF2B5EF4-FFF2-40B4-BE49-F238E27FC236}">
                <a16:creationId xmlns:a16="http://schemas.microsoft.com/office/drawing/2014/main" id="{033CA80F-E7E4-45FC-C0AD-E2F54699BE9B}"/>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C8E83D5-6E14-089E-5AA8-6FC3ADD969CC}"/>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87FBD65E-F53D-9167-FDDD-72D01F89A002}"/>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98C8A2D3-00BE-456E-3885-A6482E2FDE48}"/>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sp>
        <p:nvSpPr>
          <p:cNvPr id="6" name="文本框 5">
            <a:extLst>
              <a:ext uri="{FF2B5EF4-FFF2-40B4-BE49-F238E27FC236}">
                <a16:creationId xmlns:a16="http://schemas.microsoft.com/office/drawing/2014/main" id="{434FB037-B60E-EF76-3BD1-2B32AC1A4BF4}"/>
              </a:ext>
            </a:extLst>
          </p:cNvPr>
          <p:cNvSpPr txBox="1"/>
          <p:nvPr/>
        </p:nvSpPr>
        <p:spPr>
          <a:xfrm>
            <a:off x="4395127" y="1625812"/>
            <a:ext cx="2669172" cy="369332"/>
          </a:xfrm>
          <a:prstGeom prst="rect">
            <a:avLst/>
          </a:prstGeom>
          <a:noFill/>
        </p:spPr>
        <p:txBody>
          <a:bodyPr wrap="square" rtlCol="0">
            <a:spAutoFit/>
          </a:bodyPr>
          <a:lstStyle/>
          <a:p>
            <a:pPr indent="457200"/>
            <a:r>
              <a:rPr lang="zh-CN" altLang="en-US" b="1" dirty="0">
                <a:latin typeface="微软雅黑" panose="020B0503020204020204" charset="-122"/>
                <a:ea typeface="微软雅黑" panose="020B0503020204020204" charset="-122"/>
              </a:rPr>
              <a:t>数据价值释放过程</a:t>
            </a:r>
            <a:endParaRPr lang="en-US" altLang="zh-CN" b="1" dirty="0">
              <a:latin typeface="微软雅黑" panose="020B0503020204020204" charset="-122"/>
              <a:ea typeface="微软雅黑" panose="020B0503020204020204" charset="-122"/>
            </a:endParaRPr>
          </a:p>
        </p:txBody>
      </p:sp>
    </p:spTree>
  </p:cSld>
  <p:clrMapOvr>
    <a:masterClrMapping/>
  </p:clrMapOvr>
  <p:transition spd="med" advClick="0" advTm="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p:nvPr/>
        </p:nvSpPr>
        <p:spPr>
          <a:xfrm>
            <a:off x="0" y="3429000"/>
            <a:ext cx="12192000" cy="3105150"/>
          </a:xfrm>
          <a:prstGeom prst="rect">
            <a:avLst/>
          </a:prstGeom>
          <a:solidFill>
            <a:srgbClr val="1F4E79"/>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p:cNvSpPr txBox="1"/>
          <p:nvPr/>
        </p:nvSpPr>
        <p:spPr>
          <a:xfrm>
            <a:off x="0" y="710565"/>
            <a:ext cx="7667625" cy="52197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2.3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我国自动驾驶产业现状及高精地图的发展</a:t>
            </a:r>
          </a:p>
        </p:txBody>
      </p:sp>
      <p:sp>
        <p:nvSpPr>
          <p:cNvPr id="5" name="文本框 4"/>
          <p:cNvSpPr txBox="1"/>
          <p:nvPr/>
        </p:nvSpPr>
        <p:spPr>
          <a:xfrm>
            <a:off x="296762" y="1818205"/>
            <a:ext cx="11705590" cy="923330"/>
          </a:xfrm>
          <a:prstGeom prst="rect">
            <a:avLst/>
          </a:prstGeom>
          <a:noFill/>
        </p:spPr>
        <p:txBody>
          <a:bodyPr wrap="square" rtlCol="0">
            <a:spAutoFit/>
          </a:bodyPr>
          <a:lstStyle/>
          <a:p>
            <a:pPr indent="457200"/>
            <a:r>
              <a:rPr lang="zh-CN" altLang="en-US" b="1" dirty="0">
                <a:latin typeface="微软雅黑" panose="020B0503020204020204" charset="-122"/>
                <a:ea typeface="微软雅黑" panose="020B0503020204020204" charset="-122"/>
              </a:rPr>
              <a:t>我国在自动驾驶领域的政策布局以</a:t>
            </a:r>
            <a:r>
              <a:rPr lang="zh-CN" altLang="en-US" b="1" dirty="0">
                <a:solidFill>
                  <a:srgbClr val="C00000"/>
                </a:solidFill>
                <a:latin typeface="微软雅黑" panose="020B0503020204020204" charset="-122"/>
                <a:ea typeface="微软雅黑" panose="020B0503020204020204" charset="-122"/>
              </a:rPr>
              <a:t>国家战略</a:t>
            </a:r>
            <a:r>
              <a:rPr lang="zh-CN" altLang="en-US" b="1" dirty="0">
                <a:latin typeface="微软雅黑" panose="020B0503020204020204" charset="-122"/>
                <a:ea typeface="微软雅黑" panose="020B0503020204020204" charset="-122"/>
              </a:rPr>
              <a:t>为引领，</a:t>
            </a:r>
            <a:r>
              <a:rPr lang="zh-CN" altLang="en-US" b="1" dirty="0">
                <a:solidFill>
                  <a:srgbClr val="C00000"/>
                </a:solidFill>
                <a:latin typeface="微软雅黑" panose="020B0503020204020204" charset="-122"/>
                <a:ea typeface="微软雅黑" panose="020B0503020204020204" charset="-122"/>
              </a:rPr>
              <a:t>地方政策</a:t>
            </a:r>
            <a:r>
              <a:rPr lang="zh-CN" altLang="en-US" b="1" dirty="0">
                <a:latin typeface="微软雅黑" panose="020B0503020204020204" charset="-122"/>
                <a:ea typeface="微软雅黑" panose="020B0503020204020204" charset="-122"/>
              </a:rPr>
              <a:t>为支撑，形成了从技术研发、测试验证到商业化应用的</a:t>
            </a:r>
            <a:r>
              <a:rPr lang="zh-CN" altLang="en-US" b="1" dirty="0">
                <a:solidFill>
                  <a:srgbClr val="C00000"/>
                </a:solidFill>
                <a:latin typeface="微软雅黑" panose="020B0503020204020204" charset="-122"/>
                <a:ea typeface="微软雅黑" panose="020B0503020204020204" charset="-122"/>
              </a:rPr>
              <a:t>完整政策体系</a:t>
            </a:r>
            <a:r>
              <a:rPr lang="zh-CN" altLang="en-US" b="1" dirty="0">
                <a:latin typeface="微软雅黑" panose="020B0503020204020204" charset="-122"/>
                <a:ea typeface="微软雅黑" panose="020B0503020204020204" charset="-122"/>
              </a:rPr>
              <a:t>。</a:t>
            </a:r>
          </a:p>
          <a:p>
            <a:pPr indent="457200"/>
            <a:r>
              <a:rPr lang="zh-CN" altLang="en-US" b="1" dirty="0">
                <a:latin typeface="微软雅黑" panose="020B0503020204020204" charset="-122"/>
                <a:ea typeface="微软雅黑" panose="020B0503020204020204" charset="-122"/>
              </a:rPr>
              <a:t>中国在高精地图领域的政策主要集中在</a:t>
            </a:r>
            <a:r>
              <a:rPr lang="zh-CN" altLang="en-US" b="1" dirty="0">
                <a:solidFill>
                  <a:srgbClr val="C00000"/>
                </a:solidFill>
                <a:latin typeface="微软雅黑" panose="020B0503020204020204" charset="-122"/>
                <a:ea typeface="微软雅黑" panose="020B0503020204020204" charset="-122"/>
              </a:rPr>
              <a:t>数据安全、资质管理、标准化和试点应用</a:t>
            </a:r>
            <a:r>
              <a:rPr lang="zh-CN" altLang="en-US" b="1" dirty="0">
                <a:latin typeface="微软雅黑" panose="020B0503020204020204" charset="-122"/>
                <a:ea typeface="微软雅黑" panose="020B0503020204020204" charset="-122"/>
              </a:rPr>
              <a:t>等方面</a:t>
            </a:r>
          </a:p>
        </p:txBody>
      </p:sp>
      <p:grpSp>
        <p:nvGrpSpPr>
          <p:cNvPr id="27" name="组合 26"/>
          <p:cNvGrpSpPr/>
          <p:nvPr/>
        </p:nvGrpSpPr>
        <p:grpSpPr>
          <a:xfrm>
            <a:off x="1388110" y="3545205"/>
            <a:ext cx="9351010" cy="2941955"/>
            <a:chOff x="2260" y="4763"/>
            <a:chExt cx="14726" cy="4633"/>
          </a:xfrm>
        </p:grpSpPr>
        <p:pic>
          <p:nvPicPr>
            <p:cNvPr id="11" name="图片 10"/>
            <p:cNvPicPr>
              <a:picLocks noChangeAspect="1"/>
            </p:cNvPicPr>
            <p:nvPr/>
          </p:nvPicPr>
          <p:blipFill>
            <a:blip r:embed="rId9"/>
            <a:stretch>
              <a:fillRect/>
            </a:stretch>
          </p:blipFill>
          <p:spPr>
            <a:xfrm>
              <a:off x="13768" y="4862"/>
              <a:ext cx="3219" cy="4535"/>
            </a:xfrm>
            <a:prstGeom prst="rect">
              <a:avLst/>
            </a:prstGeom>
            <a:effectLst>
              <a:outerShdw blurRad="63500" sx="102000" sy="102000" algn="ctr" rotWithShape="0">
                <a:prstClr val="black">
                  <a:alpha val="40000"/>
                </a:prstClr>
              </a:outerShdw>
              <a:reflection blurRad="6350" stA="50000" endA="300" endPos="55000" dir="5400000" sy="-100000" algn="bl" rotWithShape="0"/>
            </a:effectLst>
            <a:scene3d>
              <a:camera prst="perspectiveLeft">
                <a:rot lat="0" lon="1800000" rev="0"/>
              </a:camera>
              <a:lightRig rig="threePt" dir="t"/>
            </a:scene3d>
          </p:spPr>
        </p:pic>
        <p:pic>
          <p:nvPicPr>
            <p:cNvPr id="23" name="图片 22"/>
            <p:cNvPicPr>
              <a:picLocks noChangeAspect="1"/>
            </p:cNvPicPr>
            <p:nvPr/>
          </p:nvPicPr>
          <p:blipFill>
            <a:blip r:embed="rId10"/>
            <a:stretch>
              <a:fillRect/>
            </a:stretch>
          </p:blipFill>
          <p:spPr>
            <a:xfrm>
              <a:off x="2260" y="4851"/>
              <a:ext cx="3212" cy="4535"/>
            </a:xfrm>
            <a:prstGeom prst="rect">
              <a:avLst/>
            </a:prstGeom>
            <a:effectLst>
              <a:outerShdw blurRad="50800" dist="38100" dir="2700000" algn="tl" rotWithShape="0">
                <a:prstClr val="black">
                  <a:alpha val="40000"/>
                </a:prstClr>
              </a:outerShdw>
              <a:reflection blurRad="6350" stA="50000" endA="300" endPos="55500" dist="50800" dir="5400000" sy="-100000" algn="bl" rotWithShape="0"/>
            </a:effectLst>
            <a:scene3d>
              <a:camera prst="perspectiveRight" fov="2700000">
                <a:rot lat="0" lon="19800000" rev="0"/>
              </a:camera>
              <a:lightRig rig="threePt" dir="t"/>
            </a:scene3d>
          </p:spPr>
        </p:pic>
        <p:pic>
          <p:nvPicPr>
            <p:cNvPr id="9" name="图片 8"/>
            <p:cNvPicPr>
              <a:picLocks noChangeAspect="1"/>
            </p:cNvPicPr>
            <p:nvPr/>
          </p:nvPicPr>
          <p:blipFill>
            <a:blip r:embed="rId11"/>
            <a:stretch>
              <a:fillRect/>
            </a:stretch>
          </p:blipFill>
          <p:spPr>
            <a:xfrm>
              <a:off x="10872" y="4796"/>
              <a:ext cx="3331" cy="4535"/>
            </a:xfrm>
            <a:prstGeom prst="rect">
              <a:avLst/>
            </a:prstGeom>
            <a:effectLst>
              <a:outerShdw blurRad="63500" sx="102000" sy="102000" algn="ctr" rotWithShape="0">
                <a:prstClr val="black">
                  <a:alpha val="40000"/>
                </a:prstClr>
              </a:outerShdw>
              <a:reflection blurRad="6350" stA="50000" endA="300" endPos="55000" dir="5400000" sy="-100000" algn="bl" rotWithShape="0"/>
            </a:effectLst>
            <a:scene3d>
              <a:camera prst="perspectiveLeft">
                <a:rot lat="0" lon="1800000" rev="0"/>
              </a:camera>
              <a:lightRig rig="threePt" dir="t"/>
            </a:scene3d>
          </p:spPr>
        </p:pic>
        <p:pic>
          <p:nvPicPr>
            <p:cNvPr id="21" name="图片 20"/>
            <p:cNvPicPr>
              <a:picLocks noChangeAspect="1"/>
            </p:cNvPicPr>
            <p:nvPr/>
          </p:nvPicPr>
          <p:blipFill>
            <a:blip r:embed="rId12"/>
            <a:stretch>
              <a:fillRect/>
            </a:stretch>
          </p:blipFill>
          <p:spPr>
            <a:xfrm>
              <a:off x="5041" y="4796"/>
              <a:ext cx="3198" cy="4535"/>
            </a:xfrm>
            <a:prstGeom prst="rect">
              <a:avLst/>
            </a:prstGeom>
            <a:effectLst>
              <a:outerShdw blurRad="63500" sx="102000" sy="102000" algn="ctr" rotWithShape="0">
                <a:prstClr val="black">
                  <a:alpha val="40000"/>
                </a:prstClr>
              </a:outerShdw>
              <a:reflection blurRad="6350" stA="50000" endA="300" endPos="55000" dir="5400000" sy="-100000" algn="bl" rotWithShape="0"/>
            </a:effectLst>
            <a:scene3d>
              <a:camera prst="perspectiveRight" fov="2700000">
                <a:rot lat="0" lon="19800000" rev="0"/>
              </a:camera>
              <a:lightRig rig="threePt" dir="t"/>
            </a:scene3d>
          </p:spPr>
        </p:pic>
        <p:pic>
          <p:nvPicPr>
            <p:cNvPr id="20" name="图片 19"/>
            <p:cNvPicPr>
              <a:picLocks noChangeAspect="1"/>
            </p:cNvPicPr>
            <p:nvPr/>
          </p:nvPicPr>
          <p:blipFill>
            <a:blip r:embed="rId13"/>
            <a:stretch>
              <a:fillRect/>
            </a:stretch>
          </p:blipFill>
          <p:spPr>
            <a:xfrm>
              <a:off x="7959" y="4763"/>
              <a:ext cx="3192" cy="4535"/>
            </a:xfrm>
            <a:prstGeom prst="rect">
              <a:avLst/>
            </a:prstGeom>
            <a:effectLst>
              <a:outerShdw blurRad="63500" sx="102000" sy="102000" algn="ctr" rotWithShape="0">
                <a:prstClr val="black">
                  <a:alpha val="40000"/>
                </a:prstClr>
              </a:outerShdw>
              <a:reflection blurRad="6350" stA="50000" endA="300" endPos="55000" dir="5400000" sy="-100000" algn="bl" rotWithShape="0"/>
            </a:effectLst>
          </p:spPr>
        </p:pic>
      </p:grpSp>
      <p:sp>
        <p:nvSpPr>
          <p:cNvPr id="2" name="矩形 1">
            <a:extLst>
              <a:ext uri="{FF2B5EF4-FFF2-40B4-BE49-F238E27FC236}">
                <a16:creationId xmlns:a16="http://schemas.microsoft.com/office/drawing/2014/main" id="{E8A7240D-7B56-93FD-9F08-F361BB9F43E4}"/>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2E25ABFE-9460-3AD7-5891-B5BA1F4BCC81}"/>
              </a:ext>
            </a:extLst>
          </p:cNvPr>
          <p:cNvSpPr/>
          <p:nvPr>
            <p:custDataLst>
              <p:tags r:id="rId1"/>
            </p:custDataLst>
          </p:nvPr>
        </p:nvSpPr>
        <p:spPr>
          <a:xfrm rot="10800000">
            <a:off x="2445486" y="-11399"/>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6" name="文本框 5">
            <a:extLst>
              <a:ext uri="{FF2B5EF4-FFF2-40B4-BE49-F238E27FC236}">
                <a16:creationId xmlns:a16="http://schemas.microsoft.com/office/drawing/2014/main" id="{D952D76D-FF5E-D001-E251-5F74D7903400}"/>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8" name="文本框 7">
            <a:extLst>
              <a:ext uri="{FF2B5EF4-FFF2-40B4-BE49-F238E27FC236}">
                <a16:creationId xmlns:a16="http://schemas.microsoft.com/office/drawing/2014/main" id="{FD430AD8-4B91-6934-AD9E-49A98A8C1F89}"/>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7" name="文本框 16">
            <a:extLst>
              <a:ext uri="{FF2B5EF4-FFF2-40B4-BE49-F238E27FC236}">
                <a16:creationId xmlns:a16="http://schemas.microsoft.com/office/drawing/2014/main" id="{B20C2B8F-994A-9402-EE15-CCC19A94C044}"/>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8" name="文本框 17">
            <a:extLst>
              <a:ext uri="{FF2B5EF4-FFF2-40B4-BE49-F238E27FC236}">
                <a16:creationId xmlns:a16="http://schemas.microsoft.com/office/drawing/2014/main" id="{EB37DBC2-6F8D-A6DA-BF61-9A6454D923F4}"/>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9" name="文本框 18">
            <a:extLst>
              <a:ext uri="{FF2B5EF4-FFF2-40B4-BE49-F238E27FC236}">
                <a16:creationId xmlns:a16="http://schemas.microsoft.com/office/drawing/2014/main" id="{0D9184D1-723E-EF3F-0070-9D9AC323B680}"/>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spTree>
  </p:cSld>
  <p:clrMapOvr>
    <a:masterClrMapping/>
  </p:clrMapOvr>
  <p:transition spd="med" advClick="0" advTm="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p:cNvSpPr txBox="1"/>
          <p:nvPr/>
        </p:nvSpPr>
        <p:spPr>
          <a:xfrm>
            <a:off x="202565" y="710565"/>
            <a:ext cx="7667625" cy="52197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2.4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应用场景</a:t>
            </a:r>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车路云一体化系统</a:t>
            </a:r>
          </a:p>
        </p:txBody>
      </p:sp>
      <p:pic>
        <p:nvPicPr>
          <p:cNvPr id="13" name="图片 12"/>
          <p:cNvPicPr/>
          <p:nvPr/>
        </p:nvPicPr>
        <p:blipFill>
          <a:blip r:embed="rId9"/>
          <a:stretch>
            <a:fillRect/>
          </a:stretch>
        </p:blipFill>
        <p:spPr>
          <a:xfrm>
            <a:off x="622872" y="1306195"/>
            <a:ext cx="5988744" cy="4041683"/>
          </a:xfrm>
          <a:prstGeom prst="rect">
            <a:avLst/>
          </a:prstGeom>
        </p:spPr>
      </p:pic>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2445486" y="-11399"/>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sp>
        <p:nvSpPr>
          <p:cNvPr id="19" name="圆角矩形 70">
            <a:extLst>
              <a:ext uri="{FF2B5EF4-FFF2-40B4-BE49-F238E27FC236}">
                <a16:creationId xmlns:a16="http://schemas.microsoft.com/office/drawing/2014/main" id="{861F7C5F-4B22-1A07-DA68-0BAF7311D327}"/>
              </a:ext>
            </a:extLst>
          </p:cNvPr>
          <p:cNvSpPr/>
          <p:nvPr/>
        </p:nvSpPr>
        <p:spPr>
          <a:xfrm>
            <a:off x="8489545" y="1142791"/>
            <a:ext cx="3077598" cy="476885"/>
          </a:xfrm>
          <a:prstGeom prst="roundRect">
            <a:avLst>
              <a:gd name="adj" fmla="val 7665"/>
            </a:avLst>
          </a:prstGeom>
          <a:solidFill>
            <a:srgbClr val="EAEFF7"/>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2400" b="1" dirty="0">
                <a:solidFill>
                  <a:srgbClr val="1F4E79"/>
                </a:solidFill>
                <a:latin typeface="微软雅黑" panose="020B0503020204020204" charset="-122"/>
                <a:ea typeface="微软雅黑" panose="020B0503020204020204" charset="-122"/>
                <a:cs typeface="微软雅黑" panose="020B0503020204020204" charset="-122"/>
                <a:sym typeface="+mn-ea"/>
              </a:rPr>
              <a:t>车路云一体化概念</a:t>
            </a:r>
          </a:p>
        </p:txBody>
      </p:sp>
      <p:sp>
        <p:nvSpPr>
          <p:cNvPr id="20" name="矩形 19">
            <a:extLst>
              <a:ext uri="{FF2B5EF4-FFF2-40B4-BE49-F238E27FC236}">
                <a16:creationId xmlns:a16="http://schemas.microsoft.com/office/drawing/2014/main" id="{01B50430-BDD2-78D5-0FF2-58C7E4D1C403}"/>
              </a:ext>
            </a:extLst>
          </p:cNvPr>
          <p:cNvSpPr/>
          <p:nvPr/>
        </p:nvSpPr>
        <p:spPr>
          <a:xfrm>
            <a:off x="8616314" y="1721132"/>
            <a:ext cx="2474595" cy="76200"/>
          </a:xfrm>
          <a:prstGeom prst="rect">
            <a:avLst/>
          </a:prstGeom>
          <a:gradFill flip="none" rotWithShape="1">
            <a:gsLst>
              <a:gs pos="0">
                <a:schemeClr val="accent1">
                  <a:lumMod val="50000"/>
                  <a:tint val="66000"/>
                  <a:satMod val="160000"/>
                </a:schemeClr>
              </a:gs>
              <a:gs pos="50000">
                <a:schemeClr val="accent1">
                  <a:lumMod val="50000"/>
                  <a:tint val="44500"/>
                  <a:satMod val="160000"/>
                </a:schemeClr>
              </a:gs>
              <a:gs pos="100000">
                <a:schemeClr val="accent1">
                  <a:lumMod val="5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6" name="组合 5">
            <a:extLst>
              <a:ext uri="{FF2B5EF4-FFF2-40B4-BE49-F238E27FC236}">
                <a16:creationId xmlns:a16="http://schemas.microsoft.com/office/drawing/2014/main" id="{FB996CF0-EB72-20D0-A192-07CA38CA19D4}"/>
              </a:ext>
            </a:extLst>
          </p:cNvPr>
          <p:cNvGrpSpPr/>
          <p:nvPr/>
        </p:nvGrpSpPr>
        <p:grpSpPr>
          <a:xfrm>
            <a:off x="8526914" y="1996513"/>
            <a:ext cx="2334739" cy="3320060"/>
            <a:chOff x="5067727" y="723526"/>
            <a:chExt cx="2334739" cy="3320060"/>
          </a:xfrm>
        </p:grpSpPr>
        <p:sp>
          <p:nvSpPr>
            <p:cNvPr id="8" name="文本框 7">
              <a:extLst>
                <a:ext uri="{FF2B5EF4-FFF2-40B4-BE49-F238E27FC236}">
                  <a16:creationId xmlns:a16="http://schemas.microsoft.com/office/drawing/2014/main" id="{58F76510-B157-730A-C64E-72EA4A63D1AD}"/>
                </a:ext>
              </a:extLst>
            </p:cNvPr>
            <p:cNvSpPr txBox="1"/>
            <p:nvPr/>
          </p:nvSpPr>
          <p:spPr>
            <a:xfrm>
              <a:off x="5067728" y="723526"/>
              <a:ext cx="2334738" cy="338554"/>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车辆及其他交通参与者</a:t>
              </a:r>
              <a:endParaRPr lang="en-US" altLang="zh-CN" sz="1600" b="1" dirty="0">
                <a:latin typeface="微软雅黑" panose="020B0503020204020204" pitchFamily="34" charset="-122"/>
                <a:ea typeface="微软雅黑" panose="020B0503020204020204" pitchFamily="34" charset="-122"/>
              </a:endParaRPr>
            </a:p>
          </p:txBody>
        </p:sp>
        <p:sp>
          <p:nvSpPr>
            <p:cNvPr id="10" name="文本框 9">
              <a:extLst>
                <a:ext uri="{FF2B5EF4-FFF2-40B4-BE49-F238E27FC236}">
                  <a16:creationId xmlns:a16="http://schemas.microsoft.com/office/drawing/2014/main" id="{7183E1C4-C3B7-7C13-6900-24AD6717D3F0}"/>
                </a:ext>
              </a:extLst>
            </p:cNvPr>
            <p:cNvSpPr txBox="1"/>
            <p:nvPr/>
          </p:nvSpPr>
          <p:spPr>
            <a:xfrm>
              <a:off x="5067728" y="1634116"/>
              <a:ext cx="1540350" cy="338554"/>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路侧基础设施</a:t>
              </a:r>
              <a:endParaRPr lang="en-US" altLang="zh-CN" sz="1600" b="1"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F1BDF65C-A5D0-3F52-248F-DE6D8E32EFEA}"/>
                </a:ext>
              </a:extLst>
            </p:cNvPr>
            <p:cNvSpPr txBox="1"/>
            <p:nvPr/>
          </p:nvSpPr>
          <p:spPr>
            <a:xfrm>
              <a:off x="5067727" y="2544706"/>
              <a:ext cx="1122663" cy="338554"/>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云控平台</a:t>
              </a:r>
              <a:endParaRPr lang="en-US" altLang="zh-CN" sz="1600" b="1" dirty="0">
                <a:latin typeface="微软雅黑" panose="020B0503020204020204" pitchFamily="34" charset="-122"/>
                <a:ea typeface="微软雅黑" panose="020B0503020204020204" pitchFamily="34" charset="-122"/>
              </a:endParaRPr>
            </a:p>
          </p:txBody>
        </p:sp>
        <p:sp>
          <p:nvSpPr>
            <p:cNvPr id="12" name="文本框 11">
              <a:extLst>
                <a:ext uri="{FF2B5EF4-FFF2-40B4-BE49-F238E27FC236}">
                  <a16:creationId xmlns:a16="http://schemas.microsoft.com/office/drawing/2014/main" id="{18C1982F-6EAE-77E3-9FC0-A4F4DF06EA4D}"/>
                </a:ext>
              </a:extLst>
            </p:cNvPr>
            <p:cNvSpPr txBox="1"/>
            <p:nvPr/>
          </p:nvSpPr>
          <p:spPr>
            <a:xfrm>
              <a:off x="5067727" y="3455297"/>
              <a:ext cx="1122663" cy="338554"/>
            </a:xfrm>
            <a:prstGeom prst="rect">
              <a:avLst/>
            </a:prstGeom>
            <a:noFill/>
          </p:spPr>
          <p:txBody>
            <a:bodyPr wrap="square">
              <a:spAutoFit/>
            </a:bodyPr>
            <a:lstStyle/>
            <a:p>
              <a:r>
                <a:rPr lang="zh-CN" altLang="en-US" sz="1600" b="1" dirty="0">
                  <a:latin typeface="微软雅黑" panose="020B0503020204020204" pitchFamily="34" charset="-122"/>
                  <a:ea typeface="微软雅黑" panose="020B0503020204020204" pitchFamily="34" charset="-122"/>
                </a:rPr>
                <a:t>通信网</a:t>
              </a:r>
              <a:endParaRPr lang="en-US" altLang="zh-CN" sz="1600" b="1" dirty="0">
                <a:latin typeface="微软雅黑" panose="020B0503020204020204" pitchFamily="34" charset="-122"/>
                <a:ea typeface="微软雅黑" panose="020B0503020204020204" pitchFamily="34" charset="-122"/>
              </a:endParaRPr>
            </a:p>
          </p:txBody>
        </p:sp>
        <p:sp>
          <p:nvSpPr>
            <p:cNvPr id="15" name="文本框 14">
              <a:extLst>
                <a:ext uri="{FF2B5EF4-FFF2-40B4-BE49-F238E27FC236}">
                  <a16:creationId xmlns:a16="http://schemas.microsoft.com/office/drawing/2014/main" id="{F90D3729-4362-F891-B510-0CBB15202E09}"/>
                </a:ext>
              </a:extLst>
            </p:cNvPr>
            <p:cNvSpPr txBox="1"/>
            <p:nvPr/>
          </p:nvSpPr>
          <p:spPr>
            <a:xfrm>
              <a:off x="5394092" y="1066202"/>
              <a:ext cx="2008374"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提供数据，使用服务</a:t>
              </a:r>
              <a:endParaRPr lang="en-US" altLang="zh-CN" sz="1200" dirty="0">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DCB52F54-2894-7954-D013-0280B184F449}"/>
                </a:ext>
              </a:extLst>
            </p:cNvPr>
            <p:cNvSpPr txBox="1"/>
            <p:nvPr/>
          </p:nvSpPr>
          <p:spPr>
            <a:xfrm>
              <a:off x="5394092" y="1966330"/>
              <a:ext cx="2008374"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采集数据，信息中转</a:t>
              </a:r>
              <a:endParaRPr lang="en-US" altLang="zh-CN" sz="1200" dirty="0">
                <a:latin typeface="微软雅黑" panose="020B0503020204020204" pitchFamily="34" charset="-122"/>
                <a:ea typeface="微软雅黑" panose="020B0503020204020204" pitchFamily="34" charset="-122"/>
              </a:endParaRPr>
            </a:p>
          </p:txBody>
        </p:sp>
        <p:sp>
          <p:nvSpPr>
            <p:cNvPr id="21" name="文本框 20">
              <a:extLst>
                <a:ext uri="{FF2B5EF4-FFF2-40B4-BE49-F238E27FC236}">
                  <a16:creationId xmlns:a16="http://schemas.microsoft.com/office/drawing/2014/main" id="{70428B33-06D6-6F3E-6AFE-6DC6AC4C7890}"/>
                </a:ext>
              </a:extLst>
            </p:cNvPr>
            <p:cNvSpPr txBox="1"/>
            <p:nvPr/>
          </p:nvSpPr>
          <p:spPr>
            <a:xfrm>
              <a:off x="5394092" y="2866458"/>
              <a:ext cx="1712218"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数据中枢，提供服务</a:t>
              </a:r>
              <a:endParaRPr lang="en-US" altLang="zh-CN" sz="1200"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1E046979-B725-EA30-3E3E-78B730B0AC59}"/>
                </a:ext>
              </a:extLst>
            </p:cNvPr>
            <p:cNvSpPr txBox="1"/>
            <p:nvPr/>
          </p:nvSpPr>
          <p:spPr>
            <a:xfrm>
              <a:off x="5394092" y="3766587"/>
              <a:ext cx="1712218" cy="276999"/>
            </a:xfrm>
            <a:prstGeom prst="rect">
              <a:avLst/>
            </a:prstGeom>
            <a:noFill/>
          </p:spPr>
          <p:txBody>
            <a:bodyPr wrap="square">
              <a:spAutoFit/>
            </a:bodyPr>
            <a:lstStyle/>
            <a:p>
              <a:r>
                <a:rPr lang="zh-CN" altLang="en-US" sz="1200" dirty="0">
                  <a:latin typeface="微软雅黑" panose="020B0503020204020204" pitchFamily="34" charset="-122"/>
                  <a:ea typeface="微软雅黑" panose="020B0503020204020204" pitchFamily="34" charset="-122"/>
                </a:rPr>
                <a:t>为信息传输提供保障</a:t>
              </a:r>
              <a:endParaRPr lang="en-US" altLang="zh-CN" sz="1200" dirty="0">
                <a:latin typeface="微软雅黑" panose="020B0503020204020204" pitchFamily="34" charset="-122"/>
                <a:ea typeface="微软雅黑" panose="020B0503020204020204" pitchFamily="34" charset="-122"/>
              </a:endParaRPr>
            </a:p>
          </p:txBody>
        </p:sp>
      </p:grpSp>
      <p:sp>
        <p:nvSpPr>
          <p:cNvPr id="23" name="文本框 22">
            <a:extLst>
              <a:ext uri="{FF2B5EF4-FFF2-40B4-BE49-F238E27FC236}">
                <a16:creationId xmlns:a16="http://schemas.microsoft.com/office/drawing/2014/main" id="{44C55B82-B070-3347-E487-EF11673215A0}"/>
              </a:ext>
            </a:extLst>
          </p:cNvPr>
          <p:cNvSpPr txBox="1"/>
          <p:nvPr/>
        </p:nvSpPr>
        <p:spPr>
          <a:xfrm>
            <a:off x="1308499" y="6080113"/>
            <a:ext cx="2071168" cy="307777"/>
          </a:xfrm>
          <a:prstGeom prst="rect">
            <a:avLst/>
          </a:prstGeom>
          <a:noFill/>
        </p:spPr>
        <p:txBody>
          <a:bodyPr wrap="square">
            <a:spAutoFit/>
          </a:bodyPr>
          <a:lstStyle/>
          <a:p>
            <a:pPr algn="ctr"/>
            <a:r>
              <a:rPr lang="zh-CN" altLang="en-US" sz="1400" dirty="0">
                <a:solidFill>
                  <a:srgbClr val="1F4E79"/>
                </a:solidFill>
                <a:latin typeface="微软雅黑" panose="020B0503020204020204" pitchFamily="34" charset="-122"/>
                <a:ea typeface="微软雅黑" panose="020B0503020204020204" pitchFamily="34" charset="-122"/>
              </a:rPr>
              <a:t>车载计算基础平台</a:t>
            </a:r>
            <a:endParaRPr lang="en-US" altLang="zh-CN" sz="1400" dirty="0">
              <a:solidFill>
                <a:srgbClr val="1F4E79"/>
              </a:solidFill>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id="{1B0D01D3-C60A-6CA6-78E2-3F5E83CB5EEA}"/>
              </a:ext>
            </a:extLst>
          </p:cNvPr>
          <p:cNvSpPr txBox="1"/>
          <p:nvPr/>
        </p:nvSpPr>
        <p:spPr>
          <a:xfrm>
            <a:off x="3165908" y="6080113"/>
            <a:ext cx="2071168" cy="307777"/>
          </a:xfrm>
          <a:prstGeom prst="rect">
            <a:avLst/>
          </a:prstGeom>
          <a:noFill/>
        </p:spPr>
        <p:txBody>
          <a:bodyPr wrap="square">
            <a:spAutoFit/>
          </a:bodyPr>
          <a:lstStyle/>
          <a:p>
            <a:pPr algn="ctr"/>
            <a:r>
              <a:rPr lang="zh-CN" altLang="en-US" sz="1400" dirty="0">
                <a:solidFill>
                  <a:srgbClr val="1F4E79"/>
                </a:solidFill>
                <a:latin typeface="微软雅黑" panose="020B0503020204020204" pitchFamily="34" charset="-122"/>
                <a:ea typeface="微软雅黑" panose="020B0503020204020204" pitchFamily="34" charset="-122"/>
              </a:rPr>
              <a:t>智能终端基础平台</a:t>
            </a:r>
          </a:p>
        </p:txBody>
      </p:sp>
      <p:sp>
        <p:nvSpPr>
          <p:cNvPr id="25" name="文本框 24">
            <a:extLst>
              <a:ext uri="{FF2B5EF4-FFF2-40B4-BE49-F238E27FC236}">
                <a16:creationId xmlns:a16="http://schemas.microsoft.com/office/drawing/2014/main" id="{991A06F4-96E8-DF5A-4CB9-A0E201E73A59}"/>
              </a:ext>
            </a:extLst>
          </p:cNvPr>
          <p:cNvSpPr txBox="1"/>
          <p:nvPr/>
        </p:nvSpPr>
        <p:spPr>
          <a:xfrm>
            <a:off x="5024577" y="6086982"/>
            <a:ext cx="2356327" cy="307777"/>
          </a:xfrm>
          <a:prstGeom prst="rect">
            <a:avLst/>
          </a:prstGeom>
          <a:noFill/>
        </p:spPr>
        <p:txBody>
          <a:bodyPr wrap="square">
            <a:spAutoFit/>
          </a:bodyPr>
          <a:lstStyle/>
          <a:p>
            <a:pPr algn="ctr"/>
            <a:r>
              <a:rPr lang="zh-CN" altLang="en-US" sz="1400" b="1" dirty="0">
                <a:solidFill>
                  <a:srgbClr val="1F4E79"/>
                </a:solidFill>
                <a:latin typeface="微软雅黑" panose="020B0503020204020204" pitchFamily="34" charset="-122"/>
                <a:ea typeface="微软雅黑" panose="020B0503020204020204" pitchFamily="34" charset="-122"/>
              </a:rPr>
              <a:t>高精动态地图基础平台</a:t>
            </a:r>
          </a:p>
        </p:txBody>
      </p:sp>
      <p:sp>
        <p:nvSpPr>
          <p:cNvPr id="26" name="文本框 25">
            <a:extLst>
              <a:ext uri="{FF2B5EF4-FFF2-40B4-BE49-F238E27FC236}">
                <a16:creationId xmlns:a16="http://schemas.microsoft.com/office/drawing/2014/main" id="{BC021D97-30E4-B6AD-5CF1-63B31CCC761A}"/>
              </a:ext>
            </a:extLst>
          </p:cNvPr>
          <p:cNvSpPr txBox="1"/>
          <p:nvPr/>
        </p:nvSpPr>
        <p:spPr>
          <a:xfrm>
            <a:off x="7297243" y="6080113"/>
            <a:ext cx="1627784" cy="307777"/>
          </a:xfrm>
          <a:prstGeom prst="rect">
            <a:avLst/>
          </a:prstGeom>
          <a:noFill/>
        </p:spPr>
        <p:txBody>
          <a:bodyPr wrap="square">
            <a:spAutoFit/>
          </a:bodyPr>
          <a:lstStyle/>
          <a:p>
            <a:pPr algn="ctr"/>
            <a:r>
              <a:rPr lang="zh-CN" altLang="en-US" sz="1400" dirty="0">
                <a:solidFill>
                  <a:srgbClr val="1F4E79"/>
                </a:solidFill>
                <a:latin typeface="微软雅黑" panose="020B0503020204020204" pitchFamily="34" charset="-122"/>
                <a:ea typeface="微软雅黑" panose="020B0503020204020204" pitchFamily="34" charset="-122"/>
              </a:rPr>
              <a:t>云控基础平台</a:t>
            </a:r>
          </a:p>
        </p:txBody>
      </p:sp>
      <p:sp>
        <p:nvSpPr>
          <p:cNvPr id="27" name="文本框 26">
            <a:extLst>
              <a:ext uri="{FF2B5EF4-FFF2-40B4-BE49-F238E27FC236}">
                <a16:creationId xmlns:a16="http://schemas.microsoft.com/office/drawing/2014/main" id="{5EFE1CEF-5948-ECDC-756F-3AE5E39332B5}"/>
              </a:ext>
            </a:extLst>
          </p:cNvPr>
          <p:cNvSpPr txBox="1"/>
          <p:nvPr/>
        </p:nvSpPr>
        <p:spPr>
          <a:xfrm>
            <a:off x="9068023" y="6080113"/>
            <a:ext cx="1915927" cy="307777"/>
          </a:xfrm>
          <a:prstGeom prst="rect">
            <a:avLst/>
          </a:prstGeom>
          <a:noFill/>
        </p:spPr>
        <p:txBody>
          <a:bodyPr wrap="square">
            <a:spAutoFit/>
          </a:bodyPr>
          <a:lstStyle/>
          <a:p>
            <a:pPr algn="ctr"/>
            <a:r>
              <a:rPr lang="zh-CN" altLang="en-US" sz="1400" dirty="0">
                <a:solidFill>
                  <a:srgbClr val="1F4E79"/>
                </a:solidFill>
                <a:latin typeface="微软雅黑" panose="020B0503020204020204" pitchFamily="34" charset="-122"/>
                <a:ea typeface="微软雅黑" panose="020B0503020204020204" pitchFamily="34" charset="-122"/>
              </a:rPr>
              <a:t>信息安全基础平台</a:t>
            </a:r>
          </a:p>
        </p:txBody>
      </p:sp>
      <p:sp>
        <p:nvSpPr>
          <p:cNvPr id="29" name="圆角矩形 70">
            <a:extLst>
              <a:ext uri="{FF2B5EF4-FFF2-40B4-BE49-F238E27FC236}">
                <a16:creationId xmlns:a16="http://schemas.microsoft.com/office/drawing/2014/main" id="{13866D55-F4D9-8157-DEC5-4AE685FCAC20}"/>
              </a:ext>
            </a:extLst>
          </p:cNvPr>
          <p:cNvSpPr/>
          <p:nvPr/>
        </p:nvSpPr>
        <p:spPr>
          <a:xfrm>
            <a:off x="5402516" y="5447059"/>
            <a:ext cx="1600451" cy="404391"/>
          </a:xfrm>
          <a:prstGeom prst="roundRect">
            <a:avLst>
              <a:gd name="adj" fmla="val 7665"/>
            </a:avLst>
          </a:prstGeom>
          <a:solidFill>
            <a:srgbClr val="EAEFF7"/>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b="1" dirty="0">
                <a:solidFill>
                  <a:srgbClr val="1F4E79"/>
                </a:solidFill>
                <a:latin typeface="微软雅黑" panose="020B0503020204020204" charset="-122"/>
                <a:ea typeface="微软雅黑" panose="020B0503020204020204" charset="-122"/>
                <a:cs typeface="微软雅黑" panose="020B0503020204020204" charset="-122"/>
                <a:sym typeface="+mn-ea"/>
              </a:rPr>
              <a:t>五大基础平台</a:t>
            </a:r>
          </a:p>
        </p:txBody>
      </p:sp>
      <p:cxnSp>
        <p:nvCxnSpPr>
          <p:cNvPr id="31" name="连接符: 肘形 30">
            <a:extLst>
              <a:ext uri="{FF2B5EF4-FFF2-40B4-BE49-F238E27FC236}">
                <a16:creationId xmlns:a16="http://schemas.microsoft.com/office/drawing/2014/main" id="{2FFFAAC0-F1ED-EC62-10E9-1ADA96EA0BD4}"/>
              </a:ext>
            </a:extLst>
          </p:cNvPr>
          <p:cNvCxnSpPr>
            <a:stCxn id="29" idx="2"/>
            <a:endCxn id="25" idx="0"/>
          </p:cNvCxnSpPr>
          <p:nvPr/>
        </p:nvCxnSpPr>
        <p:spPr>
          <a:xfrm rot="5400000">
            <a:off x="6084976" y="5969216"/>
            <a:ext cx="235532" cy="1"/>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34" name="连接符: 肘形 33">
            <a:extLst>
              <a:ext uri="{FF2B5EF4-FFF2-40B4-BE49-F238E27FC236}">
                <a16:creationId xmlns:a16="http://schemas.microsoft.com/office/drawing/2014/main" id="{49B316B0-7812-5F47-EF10-8B6BA27EF2F3}"/>
              </a:ext>
            </a:extLst>
          </p:cNvPr>
          <p:cNvCxnSpPr>
            <a:stCxn id="29" idx="2"/>
            <a:endCxn id="24" idx="0"/>
          </p:cNvCxnSpPr>
          <p:nvPr/>
        </p:nvCxnSpPr>
        <p:spPr>
          <a:xfrm rot="5400000">
            <a:off x="5087786" y="4965156"/>
            <a:ext cx="228663" cy="2001250"/>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31D860D4-7130-A53E-3FC7-0DCA15D4F2E9}"/>
              </a:ext>
            </a:extLst>
          </p:cNvPr>
          <p:cNvCxnSpPr>
            <a:stCxn id="29" idx="2"/>
            <a:endCxn id="26" idx="0"/>
          </p:cNvCxnSpPr>
          <p:nvPr/>
        </p:nvCxnSpPr>
        <p:spPr>
          <a:xfrm rot="16200000" flipH="1">
            <a:off x="7042607" y="5011584"/>
            <a:ext cx="228663" cy="1908393"/>
          </a:xfrm>
          <a:prstGeom prst="bentConnector3">
            <a:avLst/>
          </a:prstGeom>
          <a:ln w="12700"/>
        </p:spPr>
        <p:style>
          <a:lnRef idx="1">
            <a:schemeClr val="accent1"/>
          </a:lnRef>
          <a:fillRef idx="0">
            <a:schemeClr val="accent1"/>
          </a:fillRef>
          <a:effectRef idx="0">
            <a:schemeClr val="accent1"/>
          </a:effectRef>
          <a:fontRef idx="minor">
            <a:schemeClr val="tx1"/>
          </a:fontRef>
        </p:style>
      </p:cxnSp>
      <p:cxnSp>
        <p:nvCxnSpPr>
          <p:cNvPr id="38" name="连接符: 肘形 37">
            <a:extLst>
              <a:ext uri="{FF2B5EF4-FFF2-40B4-BE49-F238E27FC236}">
                <a16:creationId xmlns:a16="http://schemas.microsoft.com/office/drawing/2014/main" id="{BD2E0A6C-2336-A72E-10AD-68C1B3AA36AF}"/>
              </a:ext>
            </a:extLst>
          </p:cNvPr>
          <p:cNvCxnSpPr>
            <a:stCxn id="29" idx="1"/>
            <a:endCxn id="23" idx="0"/>
          </p:cNvCxnSpPr>
          <p:nvPr/>
        </p:nvCxnSpPr>
        <p:spPr>
          <a:xfrm rot="10800000" flipV="1">
            <a:off x="2344084" y="5649255"/>
            <a:ext cx="3058433" cy="430858"/>
          </a:xfrm>
          <a:prstGeom prst="bentConnector2">
            <a:avLst/>
          </a:prstGeom>
          <a:ln w="12700"/>
        </p:spPr>
        <p:style>
          <a:lnRef idx="1">
            <a:schemeClr val="accent1"/>
          </a:lnRef>
          <a:fillRef idx="0">
            <a:schemeClr val="accent1"/>
          </a:fillRef>
          <a:effectRef idx="0">
            <a:schemeClr val="accent1"/>
          </a:effectRef>
          <a:fontRef idx="minor">
            <a:schemeClr val="tx1"/>
          </a:fontRef>
        </p:style>
      </p:cxnSp>
      <p:cxnSp>
        <p:nvCxnSpPr>
          <p:cNvPr id="40" name="连接符: 肘形 39">
            <a:extLst>
              <a:ext uri="{FF2B5EF4-FFF2-40B4-BE49-F238E27FC236}">
                <a16:creationId xmlns:a16="http://schemas.microsoft.com/office/drawing/2014/main" id="{4FB080BD-FE58-CD58-D166-511925D39C68}"/>
              </a:ext>
            </a:extLst>
          </p:cNvPr>
          <p:cNvCxnSpPr>
            <a:stCxn id="29" idx="3"/>
            <a:endCxn id="27" idx="0"/>
          </p:cNvCxnSpPr>
          <p:nvPr/>
        </p:nvCxnSpPr>
        <p:spPr>
          <a:xfrm>
            <a:off x="7002967" y="5649255"/>
            <a:ext cx="3023020" cy="430858"/>
          </a:xfrm>
          <a:prstGeom prst="bentConnector2">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5307377"/>
      </p:ext>
    </p:extLst>
  </p:cSld>
  <p:clrMapOvr>
    <a:masterClrMapping/>
  </p:clrMapOvr>
  <p:transition spd="med" advClick="0" advTm="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p:cNvSpPr txBox="1"/>
          <p:nvPr/>
        </p:nvSpPr>
        <p:spPr>
          <a:xfrm>
            <a:off x="202565" y="710565"/>
            <a:ext cx="7667625" cy="52197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2.4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应用场景</a:t>
            </a:r>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车路云一体化系统</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2445486" y="-11399"/>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sp>
        <p:nvSpPr>
          <p:cNvPr id="26" name="圆角矩形 70">
            <a:extLst>
              <a:ext uri="{FF2B5EF4-FFF2-40B4-BE49-F238E27FC236}">
                <a16:creationId xmlns:a16="http://schemas.microsoft.com/office/drawing/2014/main" id="{33BDE45C-D2CF-DCE6-B80D-769C90A06DAC}"/>
              </a:ext>
            </a:extLst>
          </p:cNvPr>
          <p:cNvSpPr/>
          <p:nvPr/>
        </p:nvSpPr>
        <p:spPr>
          <a:xfrm>
            <a:off x="8516109" y="1489233"/>
            <a:ext cx="3417570" cy="3879534"/>
          </a:xfrm>
          <a:prstGeom prst="roundRect">
            <a:avLst>
              <a:gd name="adj" fmla="val 7665"/>
            </a:avLst>
          </a:prstGeom>
          <a:solidFill>
            <a:srgbClr val="EAEFF7"/>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2400" b="1" dirty="0">
                <a:solidFill>
                  <a:srgbClr val="1F4E79"/>
                </a:solidFill>
                <a:latin typeface="微软雅黑" panose="020B0503020204020204" charset="-122"/>
                <a:ea typeface="微软雅黑" panose="020B0503020204020204" charset="-122"/>
                <a:cs typeface="微软雅黑" panose="020B0503020204020204" charset="-122"/>
                <a:sym typeface="+mn-ea"/>
              </a:rPr>
              <a:t>问题</a:t>
            </a:r>
          </a:p>
          <a:p>
            <a:pPr>
              <a:lnSpc>
                <a:spcPct val="150000"/>
              </a:lnSpc>
            </a:pPr>
            <a:endParaRPr lang="en-US" altLang="zh-CN" b="1" dirty="0">
              <a:solidFill>
                <a:srgbClr val="C00000"/>
              </a:solidFill>
              <a:latin typeface="微软雅黑" panose="020B0503020204020204" charset="-122"/>
              <a:ea typeface="微软雅黑" panose="020B0503020204020204" charset="-122"/>
              <a:sym typeface="+mn-ea"/>
            </a:endParaRPr>
          </a:p>
          <a:p>
            <a:pPr>
              <a:lnSpc>
                <a:spcPct val="150000"/>
              </a:lnSpc>
            </a:pPr>
            <a:r>
              <a:rPr lang="zh-CN" altLang="en-US" b="1" dirty="0">
                <a:solidFill>
                  <a:srgbClr val="C00000"/>
                </a:solidFill>
                <a:latin typeface="微软雅黑" panose="020B0503020204020204" charset="-122"/>
                <a:ea typeface="微软雅黑" panose="020B0503020204020204" charset="-122"/>
                <a:sym typeface="+mn-ea"/>
              </a:rPr>
              <a:t>高精地图数据如何定义？</a:t>
            </a:r>
            <a:endParaRPr lang="en-US" altLang="zh-CN" b="1" dirty="0">
              <a:solidFill>
                <a:srgbClr val="C00000"/>
              </a:solidFill>
              <a:latin typeface="微软雅黑" panose="020B0503020204020204" charset="-122"/>
              <a:ea typeface="微软雅黑" panose="020B0503020204020204" charset="-122"/>
              <a:sym typeface="+mn-ea"/>
            </a:endParaRPr>
          </a:p>
          <a:p>
            <a:pPr>
              <a:lnSpc>
                <a:spcPct val="150000"/>
              </a:lnSpc>
            </a:pPr>
            <a:endParaRPr lang="en-US" altLang="zh-CN" b="1" dirty="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b="1" dirty="0">
                <a:solidFill>
                  <a:srgbClr val="C00000"/>
                </a:solidFill>
                <a:latin typeface="微软雅黑" panose="020B0503020204020204" charset="-122"/>
                <a:ea typeface="微软雅黑" panose="020B0503020204020204" charset="-122"/>
                <a:sym typeface="+mn-ea"/>
              </a:rPr>
              <a:t>数据权责如何认定？</a:t>
            </a:r>
            <a:endParaRPr lang="en-US" altLang="zh-CN" b="1" dirty="0">
              <a:solidFill>
                <a:srgbClr val="C00000"/>
              </a:solidFill>
              <a:latin typeface="微软雅黑" panose="020B0503020204020204" charset="-122"/>
              <a:ea typeface="微软雅黑" panose="020B0503020204020204" charset="-122"/>
              <a:sym typeface="+mn-ea"/>
            </a:endParaRPr>
          </a:p>
          <a:p>
            <a:pPr>
              <a:lnSpc>
                <a:spcPct val="150000"/>
              </a:lnSpc>
            </a:pPr>
            <a:endParaRPr lang="en-US" altLang="zh-CN" b="1" dirty="0">
              <a:latin typeface="微软雅黑" panose="020B0503020204020204" charset="-122"/>
              <a:ea typeface="微软雅黑" panose="020B0503020204020204" charset="-122"/>
              <a:cs typeface="微软雅黑" panose="020B0503020204020204" charset="-122"/>
              <a:sym typeface="+mn-ea"/>
            </a:endParaRPr>
          </a:p>
          <a:p>
            <a:pPr>
              <a:lnSpc>
                <a:spcPct val="150000"/>
              </a:lnSpc>
            </a:pPr>
            <a:r>
              <a:rPr lang="zh-CN" altLang="en-US" b="1" dirty="0">
                <a:solidFill>
                  <a:srgbClr val="C00000"/>
                </a:solidFill>
                <a:latin typeface="微软雅黑" panose="020B0503020204020204" charset="-122"/>
                <a:ea typeface="微软雅黑" panose="020B0503020204020204" charset="-122"/>
                <a:sym typeface="+mn-ea"/>
              </a:rPr>
              <a:t>高精地图数据的价值如何体现？</a:t>
            </a:r>
            <a:endParaRPr lang="en-US" altLang="zh-CN" b="1" dirty="0">
              <a:solidFill>
                <a:srgbClr val="C00000"/>
              </a:solidFill>
              <a:latin typeface="微软雅黑" panose="020B0503020204020204" charset="-122"/>
              <a:ea typeface="微软雅黑" panose="020B0503020204020204" charset="-122"/>
              <a:sym typeface="+mn-ea"/>
            </a:endParaRPr>
          </a:p>
        </p:txBody>
      </p:sp>
      <p:sp>
        <p:nvSpPr>
          <p:cNvPr id="27" name="矩形 26">
            <a:extLst>
              <a:ext uri="{FF2B5EF4-FFF2-40B4-BE49-F238E27FC236}">
                <a16:creationId xmlns:a16="http://schemas.microsoft.com/office/drawing/2014/main" id="{AD36991A-7864-F19C-F523-405E21E1828A}"/>
              </a:ext>
            </a:extLst>
          </p:cNvPr>
          <p:cNvSpPr/>
          <p:nvPr/>
        </p:nvSpPr>
        <p:spPr>
          <a:xfrm>
            <a:off x="8679328" y="2587990"/>
            <a:ext cx="2474595" cy="76200"/>
          </a:xfrm>
          <a:prstGeom prst="rect">
            <a:avLst/>
          </a:prstGeom>
          <a:gradFill flip="none" rotWithShape="1">
            <a:gsLst>
              <a:gs pos="0">
                <a:schemeClr val="accent1">
                  <a:lumMod val="50000"/>
                  <a:tint val="66000"/>
                  <a:satMod val="160000"/>
                </a:schemeClr>
              </a:gs>
              <a:gs pos="50000">
                <a:schemeClr val="accent1">
                  <a:lumMod val="50000"/>
                  <a:tint val="44500"/>
                  <a:satMod val="160000"/>
                </a:schemeClr>
              </a:gs>
              <a:gs pos="100000">
                <a:schemeClr val="accent1">
                  <a:lumMod val="50000"/>
                  <a:tint val="23500"/>
                  <a:satMod val="160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pic>
        <p:nvPicPr>
          <p:cNvPr id="8" name="图片 7">
            <a:extLst>
              <a:ext uri="{FF2B5EF4-FFF2-40B4-BE49-F238E27FC236}">
                <a16:creationId xmlns:a16="http://schemas.microsoft.com/office/drawing/2014/main" id="{AA381B13-1B30-FDBF-E649-D2D8097E429A}"/>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56085" y="2703872"/>
            <a:ext cx="7963661" cy="2221157"/>
          </a:xfrm>
          <a:prstGeom prst="rect">
            <a:avLst/>
          </a:prstGeom>
        </p:spPr>
      </p:pic>
      <p:sp>
        <p:nvSpPr>
          <p:cNvPr id="11" name="文本框 10">
            <a:extLst>
              <a:ext uri="{FF2B5EF4-FFF2-40B4-BE49-F238E27FC236}">
                <a16:creationId xmlns:a16="http://schemas.microsoft.com/office/drawing/2014/main" id="{64A72DB7-FE45-D005-0427-56C282A1EBEA}"/>
              </a:ext>
            </a:extLst>
          </p:cNvPr>
          <p:cNvSpPr txBox="1"/>
          <p:nvPr/>
        </p:nvSpPr>
        <p:spPr>
          <a:xfrm>
            <a:off x="258321" y="2043888"/>
            <a:ext cx="6078544" cy="458908"/>
          </a:xfrm>
          <a:prstGeom prst="rect">
            <a:avLst/>
          </a:prstGeom>
          <a:noFill/>
        </p:spPr>
        <p:txBody>
          <a:bodyPr wrap="square">
            <a:spAutoFit/>
          </a:bodyPr>
          <a:lstStyle/>
          <a:p>
            <a:pPr>
              <a:lnSpc>
                <a:spcPct val="150000"/>
              </a:lnSpc>
            </a:pPr>
            <a:r>
              <a:rPr lang="zh-CN" altLang="en-US" b="1" dirty="0">
                <a:solidFill>
                  <a:srgbClr val="1F4E79"/>
                </a:solidFill>
                <a:latin typeface="微软雅黑" panose="020B0503020204020204" charset="-122"/>
                <a:ea typeface="微软雅黑" panose="020B0503020204020204" charset="-122"/>
                <a:cs typeface="微软雅黑" panose="020B0503020204020204" charset="-122"/>
                <a:sym typeface="+mn-ea"/>
              </a:rPr>
              <a:t>高精动态地图基础平台</a:t>
            </a:r>
            <a:r>
              <a:rPr lang="en-US" altLang="zh-CN" b="1" dirty="0">
                <a:solidFill>
                  <a:srgbClr val="1F4E79"/>
                </a:solidFill>
                <a:latin typeface="微软雅黑" panose="020B0503020204020204" charset="-122"/>
                <a:ea typeface="微软雅黑" panose="020B0503020204020204" charset="-122"/>
                <a:cs typeface="微软雅黑" panose="020B0503020204020204" charset="-122"/>
                <a:sym typeface="+mn-ea"/>
              </a:rPr>
              <a:t>——</a:t>
            </a:r>
            <a:r>
              <a:rPr lang="zh-CN" altLang="en-US" b="1" dirty="0">
                <a:solidFill>
                  <a:srgbClr val="1F4E79"/>
                </a:solidFill>
                <a:latin typeface="微软雅黑" panose="020B0503020204020204" charset="-122"/>
                <a:ea typeface="微软雅黑" panose="020B0503020204020204" charset="-122"/>
                <a:cs typeface="微软雅黑" panose="020B0503020204020204" charset="-122"/>
                <a:sym typeface="+mn-ea"/>
              </a:rPr>
              <a:t>车路云一体化系统的神经中枢</a:t>
            </a:r>
            <a:endParaRPr lang="zh-CN" altLang="en-US" sz="1800" b="1" dirty="0">
              <a:solidFill>
                <a:srgbClr val="1F4E79"/>
              </a:solidFill>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spd="med" advClick="0" advTm="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p:cNvSpPr txBox="1"/>
          <p:nvPr/>
        </p:nvSpPr>
        <p:spPr>
          <a:xfrm>
            <a:off x="-6250" y="761824"/>
            <a:ext cx="7667625" cy="52197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3.1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数据资产认定</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pic>
        <p:nvPicPr>
          <p:cNvPr id="29" name="图片 28">
            <a:extLst>
              <a:ext uri="{FF2B5EF4-FFF2-40B4-BE49-F238E27FC236}">
                <a16:creationId xmlns:a16="http://schemas.microsoft.com/office/drawing/2014/main" id="{C1FAAD7A-484C-3A99-7232-7EC7654B7735}"/>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75424" y="2576161"/>
            <a:ext cx="9059441" cy="2526783"/>
          </a:xfrm>
          <a:prstGeom prst="rect">
            <a:avLst/>
          </a:prstGeom>
        </p:spPr>
      </p:pic>
      <p:pic>
        <p:nvPicPr>
          <p:cNvPr id="20" name="图片 19">
            <a:extLst>
              <a:ext uri="{FF2B5EF4-FFF2-40B4-BE49-F238E27FC236}">
                <a16:creationId xmlns:a16="http://schemas.microsoft.com/office/drawing/2014/main" id="{D8C2BA61-A90D-3927-170A-42D55E7CCEDF}"/>
              </a:ext>
            </a:extLst>
          </p:cNvPr>
          <p:cNvPicPr>
            <a:picLocks noChangeAspect="1"/>
          </p:cNvPicPr>
          <p:nvPr/>
        </p:nvPicPr>
        <p:blipFill>
          <a:blip r:embed="rId10"/>
          <a:stretch>
            <a:fillRect/>
          </a:stretch>
        </p:blipFill>
        <p:spPr>
          <a:xfrm>
            <a:off x="5567962" y="918371"/>
            <a:ext cx="5755076" cy="5277163"/>
          </a:xfrm>
          <a:prstGeom prst="rect">
            <a:avLst/>
          </a:prstGeom>
        </p:spPr>
      </p:pic>
      <p:sp>
        <p:nvSpPr>
          <p:cNvPr id="30" name="文本框 29">
            <a:extLst>
              <a:ext uri="{FF2B5EF4-FFF2-40B4-BE49-F238E27FC236}">
                <a16:creationId xmlns:a16="http://schemas.microsoft.com/office/drawing/2014/main" id="{A0DDA143-CF85-E42F-E300-732AA858891D}"/>
              </a:ext>
            </a:extLst>
          </p:cNvPr>
          <p:cNvSpPr txBox="1"/>
          <p:nvPr/>
        </p:nvSpPr>
        <p:spPr>
          <a:xfrm>
            <a:off x="675424" y="1493616"/>
            <a:ext cx="3232050" cy="400110"/>
          </a:xfrm>
          <a:prstGeom prst="rect">
            <a:avLst/>
          </a:prstGeom>
          <a:noFill/>
        </p:spPr>
        <p:txBody>
          <a:bodyPr wrap="square" rtlCol="0">
            <a:spAutoFit/>
          </a:bodyPr>
          <a:lstStyle/>
          <a:p>
            <a:r>
              <a:rPr lang="zh-CN" altLang="en-US" sz="2000" b="1" dirty="0">
                <a:solidFill>
                  <a:srgbClr val="1F4E79"/>
                </a:solidFill>
                <a:latin typeface="微软雅黑" panose="020B0503020204020204" charset="-122"/>
                <a:ea typeface="微软雅黑" panose="020B0503020204020204" charset="-122"/>
                <a:cs typeface="微软雅黑" panose="020B0503020204020204" charset="-122"/>
              </a:rPr>
              <a:t>高精地图数据内容</a:t>
            </a:r>
          </a:p>
        </p:txBody>
      </p:sp>
    </p:spTree>
    <p:extLst>
      <p:ext uri="{BB962C8B-B14F-4D97-AF65-F5344CB8AC3E}">
        <p14:creationId xmlns:p14="http://schemas.microsoft.com/office/powerpoint/2010/main" val="3040896088"/>
      </p:ext>
    </p:extLst>
  </p:cSld>
  <p:clrMapOvr>
    <a:masterClrMapping/>
  </p:clrMapOvr>
  <p:transition spd="med" advClick="0" advTm="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101AA-89F6-9E61-B5A3-28F403106AA2}"/>
            </a:ext>
          </a:extLst>
        </p:cNvPr>
        <p:cNvGrpSpPr/>
        <p:nvPr/>
      </p:nvGrpSpPr>
      <p:grpSpPr>
        <a:xfrm>
          <a:off x="0" y="0"/>
          <a:ext cx="0" cy="0"/>
          <a:chOff x="0" y="0"/>
          <a:chExt cx="0" cy="0"/>
        </a:xfrm>
      </p:grpSpPr>
      <p:sp>
        <p:nvSpPr>
          <p:cNvPr id="7" name="矩形 6">
            <a:extLst>
              <a:ext uri="{FF2B5EF4-FFF2-40B4-BE49-F238E27FC236}">
                <a16:creationId xmlns:a16="http://schemas.microsoft.com/office/drawing/2014/main" id="{CCD8A494-E7D6-8CC4-F937-9882777E346E}"/>
              </a:ext>
            </a:extLst>
          </p:cNvPr>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a:extLst>
              <a:ext uri="{FF2B5EF4-FFF2-40B4-BE49-F238E27FC236}">
                <a16:creationId xmlns:a16="http://schemas.microsoft.com/office/drawing/2014/main" id="{C6F324F8-2A26-EB61-9FEB-0727649F1DB4}"/>
              </a:ext>
            </a:extLst>
          </p:cNvPr>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a:extLst>
              <a:ext uri="{FF2B5EF4-FFF2-40B4-BE49-F238E27FC236}">
                <a16:creationId xmlns:a16="http://schemas.microsoft.com/office/drawing/2014/main" id="{BA4CD468-0094-1B0F-548E-EFE5119D0C9C}"/>
              </a:ext>
            </a:extLst>
          </p:cNvPr>
          <p:cNvSpPr txBox="1"/>
          <p:nvPr/>
        </p:nvSpPr>
        <p:spPr>
          <a:xfrm>
            <a:off x="-6250" y="761824"/>
            <a:ext cx="7667625" cy="52197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3.1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数据资产认定</a:t>
            </a:r>
          </a:p>
        </p:txBody>
      </p:sp>
      <p:sp>
        <p:nvSpPr>
          <p:cNvPr id="2" name="矩形 1">
            <a:extLst>
              <a:ext uri="{FF2B5EF4-FFF2-40B4-BE49-F238E27FC236}">
                <a16:creationId xmlns:a16="http://schemas.microsoft.com/office/drawing/2014/main" id="{5745D99F-8DEC-B77F-0F1A-3A93BD4E1F75}"/>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D3742FAA-7921-0604-94AF-720B47C6F89C}"/>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4901EB31-99FF-A59C-DFED-56CC20353AA0}"/>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DE4FE976-011E-817B-1CBD-52998E9E0EF6}"/>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185A0761-3963-B1DA-BABC-DFC5C3B0C07D}"/>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92694308-5A15-8931-CF38-07334AA50A94}"/>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F824361E-06CB-6EB5-4969-276EDCF550F6}"/>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sp>
        <p:nvSpPr>
          <p:cNvPr id="6" name="任意多边形: 形状 5">
            <a:extLst>
              <a:ext uri="{FF2B5EF4-FFF2-40B4-BE49-F238E27FC236}">
                <a16:creationId xmlns:a16="http://schemas.microsoft.com/office/drawing/2014/main" id="{CD576C2D-9976-7466-AA5E-A2634CB84391}"/>
              </a:ext>
            </a:extLst>
          </p:cNvPr>
          <p:cNvSpPr/>
          <p:nvPr/>
        </p:nvSpPr>
        <p:spPr bwMode="auto">
          <a:xfrm>
            <a:off x="-635" y="1484472"/>
            <a:ext cx="12192000" cy="4992528"/>
          </a:xfrm>
          <a:custGeom>
            <a:avLst/>
            <a:gdLst>
              <a:gd name="connsiteX0" fmla="*/ 6100513 w 12192000"/>
              <a:gd name="connsiteY0" fmla="*/ 65 h 5266033"/>
              <a:gd name="connsiteX1" fmla="*/ 12185886 w 12192000"/>
              <a:gd name="connsiteY1" fmla="*/ 2644790 h 5266033"/>
              <a:gd name="connsiteX2" fmla="*/ 12192000 w 12192000"/>
              <a:gd name="connsiteY2" fmla="*/ 2651338 h 5266033"/>
              <a:gd name="connsiteX3" fmla="*/ 12192000 w 12192000"/>
              <a:gd name="connsiteY3" fmla="*/ 5266033 h 5266033"/>
              <a:gd name="connsiteX4" fmla="*/ 0 w 12192000"/>
              <a:gd name="connsiteY4" fmla="*/ 5266033 h 5266033"/>
              <a:gd name="connsiteX5" fmla="*/ 0 w 12192000"/>
              <a:gd name="connsiteY5" fmla="*/ 2594379 h 5266033"/>
              <a:gd name="connsiteX6" fmla="*/ 269306 w 12192000"/>
              <a:gd name="connsiteY6" fmla="*/ 2332469 h 5266033"/>
              <a:gd name="connsiteX7" fmla="*/ 6100513 w 12192000"/>
              <a:gd name="connsiteY7" fmla="*/ 65 h 526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266033">
                <a:moveTo>
                  <a:pt x="6100513" y="65"/>
                </a:moveTo>
                <a:cubicBezTo>
                  <a:pt x="8454195" y="9342"/>
                  <a:pt x="10597144" y="1011405"/>
                  <a:pt x="12185886" y="2644790"/>
                </a:cubicBezTo>
                <a:lnTo>
                  <a:pt x="12192000" y="2651338"/>
                </a:lnTo>
                <a:lnTo>
                  <a:pt x="12192000" y="5266033"/>
                </a:lnTo>
                <a:lnTo>
                  <a:pt x="0" y="5266033"/>
                </a:lnTo>
                <a:lnTo>
                  <a:pt x="0" y="2594379"/>
                </a:lnTo>
                <a:lnTo>
                  <a:pt x="269306" y="2332469"/>
                </a:lnTo>
                <a:cubicBezTo>
                  <a:pt x="1836778" y="869501"/>
                  <a:pt x="3877638" y="-8699"/>
                  <a:pt x="6100513" y="65"/>
                </a:cubicBezTo>
                <a:close/>
              </a:path>
            </a:pathLst>
          </a:custGeom>
          <a:gradFill>
            <a:gsLst>
              <a:gs pos="0">
                <a:schemeClr val="accent1">
                  <a:lumMod val="5000"/>
                  <a:lumOff val="95000"/>
                  <a:alpha val="20000"/>
                </a:schemeClr>
              </a:gs>
              <a:gs pos="100000">
                <a:schemeClr val="accent1">
                  <a:lumMod val="40000"/>
                  <a:lumOff val="60000"/>
                  <a:alpha val="50000"/>
                </a:schemeClr>
              </a:gs>
            </a:gsLst>
            <a:lin ang="16200000" scaled="0"/>
          </a:gradFill>
          <a:ln w="12700" cap="flat">
            <a:gradFill>
              <a:gsLst>
                <a:gs pos="53200">
                  <a:schemeClr val="accent1">
                    <a:lumMod val="20000"/>
                    <a:lumOff val="80000"/>
                    <a:alpha val="50000"/>
                  </a:schemeClr>
                </a:gs>
                <a:gs pos="0">
                  <a:schemeClr val="bg1">
                    <a:alpha val="0"/>
                  </a:schemeClr>
                </a:gs>
                <a:gs pos="100000">
                  <a:schemeClr val="accent1">
                    <a:lumMod val="75000"/>
                  </a:schemeClr>
                </a:gs>
              </a:gsLst>
              <a:lin ang="16200000" scaled="0"/>
            </a:gradFill>
            <a:prstDash val="solid"/>
            <a:miter lim="800000"/>
          </a:ln>
        </p:spPr>
        <p:txBody>
          <a:bodyPr wrap="squar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zh-CN" kern="0" dirty="0">
              <a:solidFill>
                <a:srgbClr val="000000"/>
              </a:solidFill>
              <a:latin typeface="Arial" panose="020B0604020202020204"/>
              <a:ea typeface="微软雅黑" panose="020B0503020204020204" charset="-122"/>
              <a:sym typeface="+mn-lt"/>
            </a:endParaRPr>
          </a:p>
        </p:txBody>
      </p:sp>
      <p:grpSp>
        <p:nvGrpSpPr>
          <p:cNvPr id="11" name="组合 10">
            <a:extLst>
              <a:ext uri="{FF2B5EF4-FFF2-40B4-BE49-F238E27FC236}">
                <a16:creationId xmlns:a16="http://schemas.microsoft.com/office/drawing/2014/main" id="{975C647E-4468-4276-4499-9468FEB70962}"/>
              </a:ext>
            </a:extLst>
          </p:cNvPr>
          <p:cNvGrpSpPr/>
          <p:nvPr/>
        </p:nvGrpSpPr>
        <p:grpSpPr>
          <a:xfrm>
            <a:off x="1679401" y="2860563"/>
            <a:ext cx="664739" cy="664739"/>
            <a:chOff x="1979910" y="4731071"/>
            <a:chExt cx="664739" cy="664739"/>
          </a:xfrm>
        </p:grpSpPr>
        <p:sp>
          <p:nvSpPr>
            <p:cNvPr id="35" name="î$1iďè">
              <a:extLst>
                <a:ext uri="{FF2B5EF4-FFF2-40B4-BE49-F238E27FC236}">
                  <a16:creationId xmlns:a16="http://schemas.microsoft.com/office/drawing/2014/main" id="{264C1F66-9633-72DF-AD80-555B7DF66183}"/>
                </a:ext>
              </a:extLst>
            </p:cNvPr>
            <p:cNvSpPr/>
            <p:nvPr/>
          </p:nvSpPr>
          <p:spPr bwMode="auto">
            <a:xfrm>
              <a:off x="1979910" y="4731071"/>
              <a:ext cx="664739" cy="664739"/>
            </a:xfrm>
            <a:prstGeom prst="ellipse">
              <a:avLst/>
            </a:prstGeom>
            <a:solidFill>
              <a:srgbClr val="1F4E79"/>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36" name="íṥ1ïḍè">
              <a:extLst>
                <a:ext uri="{FF2B5EF4-FFF2-40B4-BE49-F238E27FC236}">
                  <a16:creationId xmlns:a16="http://schemas.microsoft.com/office/drawing/2014/main" id="{ACC1CE4D-D9AA-32DC-D27E-9DFA2B9056AD}"/>
                </a:ext>
              </a:extLst>
            </p:cNvPr>
            <p:cNvSpPr/>
            <p:nvPr/>
          </p:nvSpPr>
          <p:spPr>
            <a:xfrm>
              <a:off x="2101286" y="4878265"/>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kern="0" dirty="0">
                <a:solidFill>
                  <a:srgbClr val="FFFFFF"/>
                </a:solidFill>
                <a:latin typeface="Arial" panose="020B0604020202020204"/>
                <a:ea typeface="微软雅黑" panose="020B0503020204020204" charset="-122"/>
                <a:sym typeface="+mn-lt"/>
              </a:endParaRPr>
            </a:p>
          </p:txBody>
        </p:sp>
      </p:grpSp>
      <p:grpSp>
        <p:nvGrpSpPr>
          <p:cNvPr id="12" name="组合 11">
            <a:extLst>
              <a:ext uri="{FF2B5EF4-FFF2-40B4-BE49-F238E27FC236}">
                <a16:creationId xmlns:a16="http://schemas.microsoft.com/office/drawing/2014/main" id="{0C84177F-AB27-6F1D-8B02-9BA952503246}"/>
              </a:ext>
            </a:extLst>
          </p:cNvPr>
          <p:cNvGrpSpPr/>
          <p:nvPr/>
        </p:nvGrpSpPr>
        <p:grpSpPr>
          <a:xfrm>
            <a:off x="5762361" y="1484432"/>
            <a:ext cx="664739" cy="664739"/>
            <a:chOff x="6045076" y="1096796"/>
            <a:chExt cx="664739" cy="664739"/>
          </a:xfrm>
        </p:grpSpPr>
        <p:sp>
          <p:nvSpPr>
            <p:cNvPr id="33" name="íṡļíḋé">
              <a:extLst>
                <a:ext uri="{FF2B5EF4-FFF2-40B4-BE49-F238E27FC236}">
                  <a16:creationId xmlns:a16="http://schemas.microsoft.com/office/drawing/2014/main" id="{820C3D2B-C3E8-2B03-C6BC-9D49FF06DFB9}"/>
                </a:ext>
              </a:extLst>
            </p:cNvPr>
            <p:cNvSpPr/>
            <p:nvPr/>
          </p:nvSpPr>
          <p:spPr bwMode="auto">
            <a:xfrm>
              <a:off x="6045076" y="1096796"/>
              <a:ext cx="664739" cy="664739"/>
            </a:xfrm>
            <a:prstGeom prst="ellipse">
              <a:avLst/>
            </a:prstGeom>
            <a:solidFill>
              <a:srgbClr val="1F4E79"/>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34" name="íṡ1îḍé">
              <a:extLst>
                <a:ext uri="{FF2B5EF4-FFF2-40B4-BE49-F238E27FC236}">
                  <a16:creationId xmlns:a16="http://schemas.microsoft.com/office/drawing/2014/main" id="{B9C79181-D2A1-D42B-CDF7-1458616AB854}"/>
                </a:ext>
              </a:extLst>
            </p:cNvPr>
            <p:cNvSpPr/>
            <p:nvPr/>
          </p:nvSpPr>
          <p:spPr>
            <a:xfrm>
              <a:off x="6168172" y="1217473"/>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kern="0" dirty="0">
                <a:solidFill>
                  <a:srgbClr val="FFFFFF"/>
                </a:solidFill>
                <a:latin typeface="Arial" panose="020B0604020202020204"/>
                <a:ea typeface="微软雅黑" panose="020B0503020204020204" charset="-122"/>
                <a:sym typeface="+mn-lt"/>
              </a:endParaRPr>
            </a:p>
          </p:txBody>
        </p:sp>
      </p:grpSp>
      <p:sp>
        <p:nvSpPr>
          <p:cNvPr id="13" name="îṧľíḑê">
            <a:extLst>
              <a:ext uri="{FF2B5EF4-FFF2-40B4-BE49-F238E27FC236}">
                <a16:creationId xmlns:a16="http://schemas.microsoft.com/office/drawing/2014/main" id="{9F8EC083-1C74-7C71-51A0-6AB5D1513E11}"/>
              </a:ext>
            </a:extLst>
          </p:cNvPr>
          <p:cNvSpPr/>
          <p:nvPr/>
        </p:nvSpPr>
        <p:spPr>
          <a:xfrm>
            <a:off x="1603171" y="5427242"/>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kern="0" dirty="0">
              <a:solidFill>
                <a:srgbClr val="FFFFFF"/>
              </a:solidFill>
              <a:latin typeface="Arial" panose="020B0604020202020204"/>
              <a:ea typeface="微软雅黑" panose="020B0503020204020204" charset="-122"/>
              <a:sym typeface="+mn-lt"/>
            </a:endParaRPr>
          </a:p>
        </p:txBody>
      </p:sp>
      <p:sp>
        <p:nvSpPr>
          <p:cNvPr id="15" name="文本框 34">
            <a:extLst>
              <a:ext uri="{FF2B5EF4-FFF2-40B4-BE49-F238E27FC236}">
                <a16:creationId xmlns:a16="http://schemas.microsoft.com/office/drawing/2014/main" id="{165B881D-5C7B-F3F2-1D60-6ECA7D960650}"/>
              </a:ext>
            </a:extLst>
          </p:cNvPr>
          <p:cNvSpPr txBox="1"/>
          <p:nvPr/>
        </p:nvSpPr>
        <p:spPr>
          <a:xfrm>
            <a:off x="8476908" y="3539947"/>
            <a:ext cx="3572902" cy="835660"/>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buSzTx/>
              <a:buFontTx/>
            </a:pPr>
            <a:r>
              <a:rPr lang="zh-CN" altLang="en-US" sz="2400" b="1" dirty="0">
                <a:solidFill>
                  <a:srgbClr val="1F4E79"/>
                </a:solidFill>
                <a:latin typeface="Arial" panose="020B0604020202020204"/>
                <a:ea typeface="微软雅黑" panose="020B0503020204020204" charset="-122"/>
                <a:cs typeface="+mn-ea"/>
                <a:sym typeface="+mn-lt"/>
              </a:rPr>
              <a:t>车路云一体化系统下的</a:t>
            </a:r>
            <a:endParaRPr lang="en-US" altLang="zh-CN" sz="2400" b="1" dirty="0">
              <a:solidFill>
                <a:srgbClr val="1F4E79"/>
              </a:solidFill>
              <a:latin typeface="Arial" panose="020B0604020202020204"/>
              <a:ea typeface="微软雅黑" panose="020B0503020204020204" charset="-122"/>
              <a:cs typeface="+mn-ea"/>
              <a:sym typeface="+mn-lt"/>
            </a:endParaRPr>
          </a:p>
          <a:p>
            <a:pPr algn="ctr">
              <a:buClrTx/>
              <a:buSzTx/>
              <a:buFontTx/>
            </a:pPr>
            <a:r>
              <a:rPr lang="zh-CN" altLang="en-US" sz="2400" b="1" dirty="0">
                <a:solidFill>
                  <a:srgbClr val="1F4E79"/>
                </a:solidFill>
                <a:latin typeface="Arial" panose="020B0604020202020204"/>
                <a:ea typeface="微软雅黑" panose="020B0503020204020204" charset="-122"/>
                <a:cs typeface="+mn-ea"/>
                <a:sym typeface="+mn-lt"/>
              </a:rPr>
              <a:t>高精地图数据资产</a:t>
            </a:r>
          </a:p>
        </p:txBody>
      </p:sp>
      <p:sp>
        <p:nvSpPr>
          <p:cNvPr id="16" name="文本框 35">
            <a:extLst>
              <a:ext uri="{FF2B5EF4-FFF2-40B4-BE49-F238E27FC236}">
                <a16:creationId xmlns:a16="http://schemas.microsoft.com/office/drawing/2014/main" id="{5F8947F9-351A-CCFF-520F-99CF1FD373C3}"/>
              </a:ext>
            </a:extLst>
          </p:cNvPr>
          <p:cNvSpPr txBox="1"/>
          <p:nvPr/>
        </p:nvSpPr>
        <p:spPr>
          <a:xfrm>
            <a:off x="8544560" y="4494839"/>
            <a:ext cx="3388995" cy="1447102"/>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457200" algn="l">
              <a:spcBef>
                <a:spcPts val="0"/>
              </a:spcBef>
              <a:buClrTx/>
              <a:buSzTx/>
              <a:buFontTx/>
            </a:pPr>
            <a:r>
              <a:rPr lang="zh-CN" altLang="en-US" b="1" dirty="0">
                <a:latin typeface="Arial" panose="020B0604020202020204"/>
                <a:ea typeface="微软雅黑" panose="020B0503020204020204" charset="-122"/>
                <a:cs typeface="+mn-ea"/>
              </a:rPr>
              <a:t>高精地图数据资产是由多家企业与政府相关机构合法拥有和合法控制部分数据而组成的一个</a:t>
            </a:r>
            <a:r>
              <a:rPr lang="zh-CN" altLang="en-US" b="1" dirty="0">
                <a:solidFill>
                  <a:srgbClr val="C00000"/>
                </a:solidFill>
                <a:latin typeface="Arial" panose="020B0604020202020204"/>
                <a:ea typeface="微软雅黑" panose="020B0503020204020204" charset="-122"/>
                <a:cs typeface="+mn-ea"/>
              </a:rPr>
              <a:t>综合数据系统，</a:t>
            </a:r>
            <a:r>
              <a:rPr lang="zh-CN" altLang="en-US" b="1" dirty="0">
                <a:latin typeface="Arial" panose="020B0604020202020204"/>
                <a:ea typeface="微软雅黑" panose="020B0503020204020204" charset="-122"/>
                <a:cs typeface="+mn-ea"/>
              </a:rPr>
              <a:t>数据在这些平台间互联互通，不断被流通与加工。</a:t>
            </a:r>
          </a:p>
        </p:txBody>
      </p:sp>
      <p:sp>
        <p:nvSpPr>
          <p:cNvPr id="22" name="文本框 36">
            <a:extLst>
              <a:ext uri="{FF2B5EF4-FFF2-40B4-BE49-F238E27FC236}">
                <a16:creationId xmlns:a16="http://schemas.microsoft.com/office/drawing/2014/main" id="{B42BBBDD-D3EA-F930-6B8E-5B0B77C98972}"/>
              </a:ext>
            </a:extLst>
          </p:cNvPr>
          <p:cNvSpPr txBox="1"/>
          <p:nvPr/>
        </p:nvSpPr>
        <p:spPr>
          <a:xfrm>
            <a:off x="4255771" y="2193112"/>
            <a:ext cx="3873500" cy="619125"/>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buClrTx/>
              <a:buSzTx/>
              <a:buFontTx/>
            </a:pPr>
            <a:r>
              <a:rPr lang="zh-CN" altLang="en-US" sz="2400" b="1" dirty="0">
                <a:solidFill>
                  <a:srgbClr val="1F4E79"/>
                </a:solidFill>
                <a:latin typeface="Arial" panose="020B0604020202020204"/>
                <a:ea typeface="微软雅黑" panose="020B0503020204020204" charset="-122"/>
                <a:cs typeface="+mn-ea"/>
                <a:sym typeface="+mn-lt"/>
              </a:rPr>
              <a:t>车路云一体化下的</a:t>
            </a:r>
          </a:p>
          <a:p>
            <a:pPr algn="ctr">
              <a:buClrTx/>
              <a:buSzTx/>
              <a:buFontTx/>
            </a:pPr>
            <a:r>
              <a:rPr lang="zh-CN" altLang="en-US" sz="2400" b="1" dirty="0">
                <a:solidFill>
                  <a:srgbClr val="1F4E79"/>
                </a:solidFill>
                <a:latin typeface="Arial" panose="020B0604020202020204"/>
                <a:ea typeface="微软雅黑" panose="020B0503020204020204" charset="-122"/>
                <a:cs typeface="+mn-ea"/>
                <a:sym typeface="+mn-lt"/>
              </a:rPr>
              <a:t>高精地图的全新概念</a:t>
            </a:r>
          </a:p>
        </p:txBody>
      </p:sp>
      <p:sp>
        <p:nvSpPr>
          <p:cNvPr id="23" name="文本框 37">
            <a:extLst>
              <a:ext uri="{FF2B5EF4-FFF2-40B4-BE49-F238E27FC236}">
                <a16:creationId xmlns:a16="http://schemas.microsoft.com/office/drawing/2014/main" id="{51A02D56-343A-6161-DAD6-A3041556E2D9}"/>
              </a:ext>
            </a:extLst>
          </p:cNvPr>
          <p:cNvSpPr txBox="1"/>
          <p:nvPr/>
        </p:nvSpPr>
        <p:spPr>
          <a:xfrm>
            <a:off x="4314607" y="3158312"/>
            <a:ext cx="3759420" cy="1839322"/>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l"/>
            <a:r>
              <a:rPr lang="zh-CN" altLang="en-US" b="1" dirty="0">
                <a:latin typeface="Arial" panose="020B0604020202020204"/>
                <a:ea typeface="微软雅黑" panose="020B0503020204020204" charset="-122"/>
                <a:cs typeface="+mn-ea"/>
                <a:sym typeface="+mn-lt"/>
              </a:rPr>
              <a:t>高精地图具备厘米级精度、全要素覆盖和实时更新的技术特征，是整个系统的基础设施，承担着</a:t>
            </a:r>
            <a:r>
              <a:rPr lang="zh-CN" altLang="en-US" b="1" dirty="0">
                <a:solidFill>
                  <a:srgbClr val="C00000"/>
                </a:solidFill>
                <a:latin typeface="Arial" panose="020B0604020202020204"/>
                <a:ea typeface="微软雅黑" panose="020B0503020204020204" charset="-122"/>
                <a:cs typeface="+mn-ea"/>
                <a:sym typeface="+mn-lt"/>
              </a:rPr>
              <a:t>感知、定位、决策和控制优化</a:t>
            </a:r>
            <a:r>
              <a:rPr lang="zh-CN" altLang="en-US" b="1" dirty="0">
                <a:latin typeface="Arial" panose="020B0604020202020204"/>
                <a:ea typeface="微软雅黑" panose="020B0503020204020204" charset="-122"/>
                <a:cs typeface="+mn-ea"/>
                <a:sym typeface="+mn-lt"/>
              </a:rPr>
              <a:t>的关键功能，</a:t>
            </a:r>
            <a:r>
              <a:rPr lang="zh-CN" altLang="en-US" b="1" dirty="0">
                <a:solidFill>
                  <a:srgbClr val="C00000"/>
                </a:solidFill>
                <a:latin typeface="Arial" panose="020B0604020202020204"/>
                <a:ea typeface="微软雅黑" panose="020B0503020204020204" charset="-122"/>
                <a:cs typeface="+mn-ea"/>
                <a:sym typeface="+mn-lt"/>
              </a:rPr>
              <a:t>其数据构成能够直接映射车路云一体化系统的数据构成。</a:t>
            </a:r>
          </a:p>
        </p:txBody>
      </p:sp>
      <p:sp>
        <p:nvSpPr>
          <p:cNvPr id="24" name="文本框 38">
            <a:extLst>
              <a:ext uri="{FF2B5EF4-FFF2-40B4-BE49-F238E27FC236}">
                <a16:creationId xmlns:a16="http://schemas.microsoft.com/office/drawing/2014/main" id="{2CD29D0A-436A-6E53-A946-E0F216DB3AC2}"/>
              </a:ext>
            </a:extLst>
          </p:cNvPr>
          <p:cNvSpPr txBox="1"/>
          <p:nvPr/>
        </p:nvSpPr>
        <p:spPr>
          <a:xfrm>
            <a:off x="138433" y="3539947"/>
            <a:ext cx="3685372" cy="454246"/>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rgbClr val="1F4E79"/>
                </a:solidFill>
                <a:latin typeface="Arial" panose="020B0604020202020204"/>
                <a:ea typeface="微软雅黑" panose="020B0503020204020204" charset="-122"/>
                <a:cs typeface="+mn-ea"/>
                <a:sym typeface="+mn-lt"/>
              </a:rPr>
              <a:t>车路云一体化中的</a:t>
            </a:r>
            <a:r>
              <a:rPr lang="en-US" altLang="zh-CN" sz="2400" b="1" dirty="0">
                <a:solidFill>
                  <a:srgbClr val="1F4E79"/>
                </a:solidFill>
                <a:latin typeface="Arial" panose="020B0604020202020204"/>
                <a:ea typeface="微软雅黑" panose="020B0503020204020204" charset="-122"/>
                <a:cs typeface="+mn-ea"/>
                <a:sym typeface="+mn-lt"/>
              </a:rPr>
              <a:t>“</a:t>
            </a:r>
            <a:r>
              <a:rPr lang="zh-CN" altLang="en-US" sz="2400" b="1" dirty="0">
                <a:solidFill>
                  <a:srgbClr val="1F4E79"/>
                </a:solidFill>
                <a:latin typeface="Arial" panose="020B0604020202020204"/>
                <a:ea typeface="微软雅黑" panose="020B0503020204020204" charset="-122"/>
                <a:cs typeface="+mn-ea"/>
                <a:sym typeface="+mn-lt"/>
              </a:rPr>
              <a:t>地图</a:t>
            </a:r>
            <a:r>
              <a:rPr lang="en-US" altLang="zh-CN" sz="2400" b="1" dirty="0">
                <a:solidFill>
                  <a:srgbClr val="1F4E79"/>
                </a:solidFill>
                <a:latin typeface="Arial" panose="020B0604020202020204"/>
                <a:ea typeface="微软雅黑" panose="020B0503020204020204" charset="-122"/>
                <a:cs typeface="+mn-ea"/>
                <a:sym typeface="+mn-lt"/>
              </a:rPr>
              <a:t>”</a:t>
            </a:r>
          </a:p>
        </p:txBody>
      </p:sp>
      <p:sp>
        <p:nvSpPr>
          <p:cNvPr id="25" name="文本1">
            <a:extLst>
              <a:ext uri="{FF2B5EF4-FFF2-40B4-BE49-F238E27FC236}">
                <a16:creationId xmlns:a16="http://schemas.microsoft.com/office/drawing/2014/main" id="{03554A75-029D-1A56-1F43-2D2EF63E00E3}"/>
              </a:ext>
            </a:extLst>
          </p:cNvPr>
          <p:cNvSpPr>
            <a:spLocks noChangeArrowheads="1"/>
          </p:cNvSpPr>
          <p:nvPr/>
        </p:nvSpPr>
        <p:spPr bwMode="gray">
          <a:xfrm>
            <a:off x="76200" y="4008838"/>
            <a:ext cx="3893820" cy="1997821"/>
          </a:xfrm>
          <a:prstGeom prst="roundRect">
            <a:avLst>
              <a:gd name="adj" fmla="val 11505"/>
            </a:avLst>
          </a:prstGeom>
          <a:noFill/>
          <a:ln w="15875" cap="flat" cmpd="sng" algn="ctr">
            <a:solidFill>
              <a:srgbClr val="1F4E79"/>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defTabSz="1219200" fontAlgn="base">
              <a:lnSpc>
                <a:spcPct val="150000"/>
              </a:lnSpc>
              <a:spcBef>
                <a:spcPct val="0"/>
              </a:spcBef>
              <a:spcAft>
                <a:spcPct val="0"/>
              </a:spcAft>
              <a:buFont typeface="Wingdings" panose="05000000000000000000" pitchFamily="2" charset="2"/>
              <a:buChar char="n"/>
              <a:defRPr/>
            </a:pPr>
            <a:endParaRPr lang="en-US" altLang="zh-CN" dirty="0">
              <a:solidFill>
                <a:prstClr val="black">
                  <a:lumMod val="75000"/>
                  <a:lumOff val="25000"/>
                </a:prstClr>
              </a:solidFill>
              <a:latin typeface="微软雅黑" panose="020B0503020204020204" charset="-122"/>
              <a:ea typeface="微软雅黑" panose="020B0503020204020204" charset="-122"/>
            </a:endParaRPr>
          </a:p>
        </p:txBody>
      </p:sp>
      <p:grpSp>
        <p:nvGrpSpPr>
          <p:cNvPr id="26" name="组合 25">
            <a:extLst>
              <a:ext uri="{FF2B5EF4-FFF2-40B4-BE49-F238E27FC236}">
                <a16:creationId xmlns:a16="http://schemas.microsoft.com/office/drawing/2014/main" id="{AC464485-ADCF-32B9-36F4-9FB68030D184}"/>
              </a:ext>
            </a:extLst>
          </p:cNvPr>
          <p:cNvGrpSpPr/>
          <p:nvPr/>
        </p:nvGrpSpPr>
        <p:grpSpPr>
          <a:xfrm>
            <a:off x="9969236" y="2860563"/>
            <a:ext cx="664739" cy="664739"/>
            <a:chOff x="1979910" y="4731071"/>
            <a:chExt cx="664739" cy="664739"/>
          </a:xfrm>
        </p:grpSpPr>
        <p:sp>
          <p:nvSpPr>
            <p:cNvPr id="31" name="î$1iďè">
              <a:extLst>
                <a:ext uri="{FF2B5EF4-FFF2-40B4-BE49-F238E27FC236}">
                  <a16:creationId xmlns:a16="http://schemas.microsoft.com/office/drawing/2014/main" id="{B4CA5E66-77E1-CE66-7143-F311EB16BB61}"/>
                </a:ext>
              </a:extLst>
            </p:cNvPr>
            <p:cNvSpPr/>
            <p:nvPr/>
          </p:nvSpPr>
          <p:spPr bwMode="auto">
            <a:xfrm>
              <a:off x="1979910" y="4731071"/>
              <a:ext cx="664739" cy="664739"/>
            </a:xfrm>
            <a:prstGeom prst="ellipse">
              <a:avLst/>
            </a:prstGeom>
            <a:solidFill>
              <a:srgbClr val="1F4E79"/>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32" name="íṥ1ïḍè">
              <a:extLst>
                <a:ext uri="{FF2B5EF4-FFF2-40B4-BE49-F238E27FC236}">
                  <a16:creationId xmlns:a16="http://schemas.microsoft.com/office/drawing/2014/main" id="{3932040F-28D7-4E65-B4FA-0E03D0641ADF}"/>
                </a:ext>
              </a:extLst>
            </p:cNvPr>
            <p:cNvSpPr/>
            <p:nvPr/>
          </p:nvSpPr>
          <p:spPr>
            <a:xfrm>
              <a:off x="2101286" y="4878265"/>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kern="0" dirty="0">
                <a:solidFill>
                  <a:srgbClr val="FFFFFF"/>
                </a:solidFill>
                <a:latin typeface="Arial" panose="020B0604020202020204"/>
                <a:ea typeface="微软雅黑" panose="020B0503020204020204" charset="-122"/>
                <a:sym typeface="+mn-lt"/>
              </a:endParaRPr>
            </a:p>
          </p:txBody>
        </p:sp>
      </p:grpSp>
      <p:sp>
        <p:nvSpPr>
          <p:cNvPr id="27" name="文本1">
            <a:extLst>
              <a:ext uri="{FF2B5EF4-FFF2-40B4-BE49-F238E27FC236}">
                <a16:creationId xmlns:a16="http://schemas.microsoft.com/office/drawing/2014/main" id="{3FF2D092-EC37-56F2-093B-68F070D53509}"/>
              </a:ext>
            </a:extLst>
          </p:cNvPr>
          <p:cNvSpPr>
            <a:spLocks noChangeArrowheads="1"/>
          </p:cNvSpPr>
          <p:nvPr/>
        </p:nvSpPr>
        <p:spPr bwMode="gray">
          <a:xfrm>
            <a:off x="8476908" y="4390252"/>
            <a:ext cx="3572902" cy="1690509"/>
          </a:xfrm>
          <a:prstGeom prst="roundRect">
            <a:avLst>
              <a:gd name="adj" fmla="val 11505"/>
            </a:avLst>
          </a:prstGeom>
          <a:noFill/>
          <a:ln w="15875" cap="flat" cmpd="sng" algn="ctr">
            <a:solidFill>
              <a:srgbClr val="1F4E79"/>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defTabSz="1219200" fontAlgn="base">
              <a:lnSpc>
                <a:spcPct val="150000"/>
              </a:lnSpc>
              <a:spcBef>
                <a:spcPct val="0"/>
              </a:spcBef>
              <a:spcAft>
                <a:spcPct val="0"/>
              </a:spcAft>
              <a:buFont typeface="Wingdings" panose="05000000000000000000" pitchFamily="2" charset="2"/>
              <a:buChar char="n"/>
              <a:defRPr/>
            </a:pPr>
            <a:endParaRPr lang="en-US" altLang="zh-CN" dirty="0">
              <a:solidFill>
                <a:prstClr val="black">
                  <a:lumMod val="75000"/>
                  <a:lumOff val="25000"/>
                </a:prstClr>
              </a:solidFill>
              <a:latin typeface="微软雅黑" panose="020B0503020204020204" charset="-122"/>
              <a:ea typeface="微软雅黑" panose="020B0503020204020204" charset="-122"/>
            </a:endParaRPr>
          </a:p>
        </p:txBody>
      </p:sp>
      <p:sp>
        <p:nvSpPr>
          <p:cNvPr id="28" name="文本1">
            <a:extLst>
              <a:ext uri="{FF2B5EF4-FFF2-40B4-BE49-F238E27FC236}">
                <a16:creationId xmlns:a16="http://schemas.microsoft.com/office/drawing/2014/main" id="{3BE6F294-181A-33A1-B528-C6666925628C}"/>
              </a:ext>
            </a:extLst>
          </p:cNvPr>
          <p:cNvSpPr>
            <a:spLocks noChangeArrowheads="1"/>
          </p:cNvSpPr>
          <p:nvPr/>
        </p:nvSpPr>
        <p:spPr bwMode="gray">
          <a:xfrm>
            <a:off x="4255771" y="3085287"/>
            <a:ext cx="3818256" cy="1912347"/>
          </a:xfrm>
          <a:prstGeom prst="roundRect">
            <a:avLst>
              <a:gd name="adj" fmla="val 11505"/>
            </a:avLst>
          </a:prstGeom>
          <a:noFill/>
          <a:ln w="15875" cap="flat" cmpd="sng" algn="ctr">
            <a:solidFill>
              <a:srgbClr val="1F4E79"/>
            </a:solidFill>
            <a:prstDash val="solid"/>
          </a:ln>
          <a:effectLst/>
        </p:spPr>
        <p:txBody>
          <a:bodyPr lIns="82824" tIns="41411" rIns="82824" bIns="41411"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defTabSz="1219200" fontAlgn="base">
              <a:lnSpc>
                <a:spcPct val="150000"/>
              </a:lnSpc>
              <a:spcBef>
                <a:spcPct val="0"/>
              </a:spcBef>
              <a:spcAft>
                <a:spcPct val="0"/>
              </a:spcAft>
              <a:buFont typeface="Wingdings" panose="05000000000000000000" pitchFamily="2" charset="2"/>
              <a:buChar char="n"/>
              <a:defRPr/>
            </a:pPr>
            <a:endParaRPr lang="en-US" altLang="zh-CN" dirty="0">
              <a:solidFill>
                <a:prstClr val="black">
                  <a:lumMod val="75000"/>
                  <a:lumOff val="25000"/>
                </a:prstClr>
              </a:solidFill>
              <a:latin typeface="微软雅黑" panose="020B0503020204020204" charset="-122"/>
              <a:ea typeface="微软雅黑" panose="020B0503020204020204" charset="-122"/>
            </a:endParaRPr>
          </a:p>
        </p:txBody>
      </p:sp>
      <p:graphicFrame>
        <p:nvGraphicFramePr>
          <p:cNvPr id="37" name="表格 36">
            <a:extLst>
              <a:ext uri="{FF2B5EF4-FFF2-40B4-BE49-F238E27FC236}">
                <a16:creationId xmlns:a16="http://schemas.microsoft.com/office/drawing/2014/main" id="{40D03635-4124-B84F-EC50-D6E6F47C94B5}"/>
              </a:ext>
            </a:extLst>
          </p:cNvPr>
          <p:cNvGraphicFramePr/>
          <p:nvPr>
            <p:custDataLst>
              <p:tags r:id="rId7"/>
            </p:custDataLst>
          </p:nvPr>
        </p:nvGraphicFramePr>
        <p:xfrm>
          <a:off x="137593" y="4125234"/>
          <a:ext cx="3772705" cy="1744800"/>
        </p:xfrm>
        <a:graphic>
          <a:graphicData uri="http://schemas.openxmlformats.org/drawingml/2006/table">
            <a:tbl>
              <a:tblPr firstRow="1" bandRow="1">
                <a:tableStyleId>{5C22544A-7EE6-4342-B048-85BDC9FD1C3A}</a:tableStyleId>
              </a:tblPr>
              <a:tblGrid>
                <a:gridCol w="1082845">
                  <a:extLst>
                    <a:ext uri="{9D8B030D-6E8A-4147-A177-3AD203B41FA5}">
                      <a16:colId xmlns:a16="http://schemas.microsoft.com/office/drawing/2014/main" val="20000"/>
                    </a:ext>
                  </a:extLst>
                </a:gridCol>
                <a:gridCol w="2689860">
                  <a:extLst>
                    <a:ext uri="{9D8B030D-6E8A-4147-A177-3AD203B41FA5}">
                      <a16:colId xmlns:a16="http://schemas.microsoft.com/office/drawing/2014/main" val="20001"/>
                    </a:ext>
                  </a:extLst>
                </a:gridCol>
              </a:tblGrid>
              <a:tr h="288000">
                <a:tc>
                  <a:txBody>
                    <a:bodyPr/>
                    <a:lstStyle/>
                    <a:p>
                      <a:pPr algn="ctr">
                        <a:buNone/>
                      </a:pPr>
                      <a:r>
                        <a:rPr lang="zh-CN" altLang="en-US" sz="1400" b="1" dirty="0">
                          <a:latin typeface="微软雅黑" panose="020B0503020204020204" charset="-122"/>
                          <a:ea typeface="微软雅黑" panose="020B0503020204020204" charset="-122"/>
                        </a:rPr>
                        <a:t>服务类别</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F4E79"/>
                    </a:solidFill>
                  </a:tcPr>
                </a:tc>
                <a:tc>
                  <a:txBody>
                    <a:bodyPr/>
                    <a:lstStyle/>
                    <a:p>
                      <a:pPr algn="ctr">
                        <a:buNone/>
                      </a:pPr>
                      <a:r>
                        <a:rPr lang="zh-CN" altLang="en-US" sz="1400" b="1" dirty="0">
                          <a:latin typeface="微软雅黑" panose="020B0503020204020204" charset="-122"/>
                          <a:ea typeface="微软雅黑" panose="020B0503020204020204" charset="-122"/>
                        </a:rPr>
                        <a:t>接口功能</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288000">
                <a:tc>
                  <a:txBody>
                    <a:bodyPr/>
                    <a:lstStyle/>
                    <a:p>
                      <a:pPr indent="0" algn="ctr" fontAlgn="ctr"/>
                      <a:r>
                        <a:rPr lang="zh-CN" altLang="en-US" sz="1200" b="0" i="0" dirty="0">
                          <a:solidFill>
                            <a:schemeClr val="tx1"/>
                          </a:solidFill>
                          <a:latin typeface="微软雅黑" panose="020B0503020204020204" charset="-122"/>
                          <a:ea typeface="微软雅黑" panose="020B0503020204020204" charset="-122"/>
                          <a:cs typeface="微软雅黑" panose="020B0503020204020204" charset="-122"/>
                        </a:rPr>
                        <a:t>云端地图引擎</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59296752"/>
                          </a:ext>
                        </a:extLst>
                      </a:pPr>
                      <a:r>
                        <a:rPr lang="zh-CN" altLang="en-US" sz="1200" b="0" i="0" dirty="0">
                          <a:solidFill>
                            <a:schemeClr val="tx1"/>
                          </a:solidFill>
                          <a:latin typeface="微软雅黑" panose="020B0503020204020204" charset="-122"/>
                          <a:ea typeface="微软雅黑" panose="020B0503020204020204" charset="-122"/>
                        </a:rPr>
                        <a:t>地图及更新数据在线发布；地图查询</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DEEF"/>
                    </a:solidFill>
                  </a:tcPr>
                </a:tc>
                <a:extLst>
                  <a:ext uri="{0D108BD9-81ED-4DB2-BD59-A6C34878D82A}">
                    <a16:rowId xmlns:a16="http://schemas.microsoft.com/office/drawing/2014/main" val="10001"/>
                  </a:ext>
                </a:extLst>
              </a:tr>
              <a:tr h="288000">
                <a:tc>
                  <a:txBody>
                    <a:bodyPr/>
                    <a:lstStyle/>
                    <a:p>
                      <a:pPr indent="0" algn="ctr" fontAlgn="ctr"/>
                      <a:r>
                        <a:rPr lang="zh-CN" altLang="en-US" sz="1200" b="0" i="0" dirty="0">
                          <a:solidFill>
                            <a:schemeClr val="tx1"/>
                          </a:solidFill>
                          <a:latin typeface="微软雅黑" panose="020B0503020204020204" charset="-122"/>
                          <a:ea typeface="微软雅黑" panose="020B0503020204020204" charset="-122"/>
                          <a:cs typeface="微软雅黑" panose="020B0503020204020204" charset="-122"/>
                        </a:rPr>
                        <a:t>路段地图引擎</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59296752"/>
                          </a:ext>
                        </a:extLst>
                      </a:pPr>
                      <a:r>
                        <a:rPr lang="zh-CN" altLang="en-US" sz="1200" b="0" i="0" dirty="0">
                          <a:solidFill>
                            <a:schemeClr val="tx1"/>
                          </a:solidFill>
                          <a:latin typeface="微软雅黑" panose="020B0503020204020204" charset="-122"/>
                          <a:ea typeface="微软雅黑" panose="020B0503020204020204" charset="-122"/>
                        </a:rPr>
                        <a:t>地图更新；地图查询</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AEFF7"/>
                    </a:solidFill>
                  </a:tcPr>
                </a:tc>
                <a:extLst>
                  <a:ext uri="{0D108BD9-81ED-4DB2-BD59-A6C34878D82A}">
                    <a16:rowId xmlns:a16="http://schemas.microsoft.com/office/drawing/2014/main" val="10002"/>
                  </a:ext>
                </a:extLst>
              </a:tr>
              <a:tr h="288000">
                <a:tc>
                  <a:txBody>
                    <a:bodyPr/>
                    <a:lstStyle/>
                    <a:p>
                      <a:pPr indent="0" algn="ctr" fontAlgn="ctr"/>
                      <a:r>
                        <a:rPr lang="zh-CN" altLang="en-US" sz="1200" b="0" i="0" dirty="0">
                          <a:solidFill>
                            <a:schemeClr val="tx1"/>
                          </a:solidFill>
                          <a:latin typeface="微软雅黑" panose="020B0503020204020204" charset="-122"/>
                          <a:ea typeface="微软雅黑" panose="020B0503020204020204" charset="-122"/>
                          <a:cs typeface="微软雅黑" panose="020B0503020204020204" charset="-122"/>
                        </a:rPr>
                        <a:t>车端地图引擎</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59296752"/>
                          </a:ext>
                        </a:extLst>
                      </a:pPr>
                      <a:r>
                        <a:rPr lang="zh-CN" altLang="en-US" sz="1200" b="0" i="0" dirty="0">
                          <a:solidFill>
                            <a:schemeClr val="tx1"/>
                          </a:solidFill>
                          <a:latin typeface="微软雅黑" panose="020B0503020204020204" charset="-122"/>
                          <a:ea typeface="微软雅黑" panose="020B0503020204020204" charset="-122"/>
                        </a:rPr>
                        <a:t>地图更新；地图查询；路径规划</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3"/>
                  </a:ext>
                </a:extLst>
              </a:tr>
              <a:tr h="288000">
                <a:tc>
                  <a:txBody>
                    <a:bodyPr/>
                    <a:lstStyle/>
                    <a:p>
                      <a:pPr indent="0" algn="ctr" fontAlgn="ctr"/>
                      <a:r>
                        <a:rPr lang="zh-CN" altLang="en-US" sz="1200" b="0" i="0" dirty="0">
                          <a:solidFill>
                            <a:schemeClr val="tx1"/>
                          </a:solidFill>
                          <a:latin typeface="微软雅黑" panose="020B0503020204020204" charset="-122"/>
                          <a:ea typeface="微软雅黑" panose="020B0503020204020204" charset="-122"/>
                          <a:cs typeface="微软雅黑" panose="020B0503020204020204" charset="-122"/>
                        </a:rPr>
                        <a:t>基础</a:t>
                      </a:r>
                      <a:r>
                        <a:rPr lang="en-US" altLang="zh-CN" sz="1200" b="0" i="0" dirty="0">
                          <a:solidFill>
                            <a:schemeClr val="tx1"/>
                          </a:solidFill>
                          <a:latin typeface="微软雅黑" panose="020B0503020204020204" charset="-122"/>
                          <a:ea typeface="微软雅黑" panose="020B0503020204020204" charset="-122"/>
                          <a:cs typeface="微软雅黑" panose="020B0503020204020204" charset="-122"/>
                        </a:rPr>
                        <a:t>GIS</a:t>
                      </a:r>
                      <a:r>
                        <a:rPr lang="zh-CN" altLang="en-US" sz="1200" b="0" i="0" dirty="0">
                          <a:solidFill>
                            <a:schemeClr val="tx1"/>
                          </a:solidFill>
                          <a:latin typeface="微软雅黑" panose="020B0503020204020204" charset="-122"/>
                          <a:ea typeface="微软雅黑" panose="020B0503020204020204" charset="-122"/>
                          <a:cs typeface="微软雅黑" panose="020B0503020204020204" charset="-122"/>
                        </a:rPr>
                        <a:t>服务</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59296752"/>
                          </a:ext>
                        </a:extLst>
                      </a:pPr>
                      <a:r>
                        <a:rPr lang="zh-CN" altLang="en-US" sz="1200" b="0" i="0" dirty="0">
                          <a:solidFill>
                            <a:schemeClr val="tx1"/>
                          </a:solidFill>
                          <a:latin typeface="微软雅黑" panose="020B0503020204020204" charset="-122"/>
                          <a:ea typeface="微软雅黑" panose="020B0503020204020204" charset="-122"/>
                        </a:rPr>
                        <a:t>地址服务；轨迹服务；时空分析</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4"/>
                  </a:ext>
                </a:extLst>
              </a:tr>
              <a:tr h="288000">
                <a:tc>
                  <a:txBody>
                    <a:bodyPr/>
                    <a:lstStyle/>
                    <a:p>
                      <a:pPr indent="0" algn="ctr" fontAlgn="ctr"/>
                      <a:r>
                        <a:rPr lang="zh-CN" altLang="en-US" sz="1200" b="0" i="0" dirty="0">
                          <a:solidFill>
                            <a:schemeClr val="tx1"/>
                          </a:solidFill>
                          <a:latin typeface="微软雅黑" panose="020B0503020204020204" charset="-122"/>
                          <a:ea typeface="微软雅黑" panose="020B0503020204020204" charset="-122"/>
                          <a:cs typeface="微软雅黑" panose="020B0503020204020204" charset="-122"/>
                        </a:rPr>
                        <a:t>地图渲染服务</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indent="0" algn="ctr" fontAlgn="ctr">
                        <a:extLst>
                          <a:ext uri="{35155182-B16C-46BC-9424-99874614C6A1}">
                            <wpsdc:indentchars xmlns="" xmlns:wpsdc="http://www.wps.cn/officeDocument/2017/drawingmlCustomData" val="200" checksum="59296752"/>
                          </a:ext>
                        </a:extLst>
                      </a:pPr>
                      <a:r>
                        <a:rPr lang="zh-CN" altLang="en-US" sz="1200" b="0" i="0" dirty="0">
                          <a:solidFill>
                            <a:schemeClr val="tx1"/>
                          </a:solidFill>
                          <a:latin typeface="微软雅黑" panose="020B0503020204020204" charset="-122"/>
                          <a:ea typeface="微软雅黑" panose="020B0503020204020204" charset="-122"/>
                        </a:rPr>
                        <a:t>海量数据渲染，城市级三维渲染</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69945900"/>
      </p:ext>
    </p:extLst>
  </p:cSld>
  <p:clrMapOvr>
    <a:masterClrMapping/>
  </p:clrMapOvr>
  <p:transition spd="med" advClick="0" advTm="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p:cNvSpPr txBox="1"/>
          <p:nvPr/>
        </p:nvSpPr>
        <p:spPr>
          <a:xfrm>
            <a:off x="-6250" y="703669"/>
            <a:ext cx="7667625" cy="52197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3.2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数据权责认定框架</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pic>
        <p:nvPicPr>
          <p:cNvPr id="8" name="图片 7">
            <a:extLst>
              <a:ext uri="{FF2B5EF4-FFF2-40B4-BE49-F238E27FC236}">
                <a16:creationId xmlns:a16="http://schemas.microsoft.com/office/drawing/2014/main" id="{2C7412B8-1306-C996-74F3-236CF18BA418}"/>
              </a:ext>
            </a:extLst>
          </p:cNvPr>
          <p:cNvPicPr>
            <a:picLocks noChangeAspect="1"/>
          </p:cNvPicPr>
          <p:nvPr/>
        </p:nvPicPr>
        <p:blipFill>
          <a:blip r:embed="rId9"/>
          <a:srcRect l="4191" t="8168" r="2614" b="6676"/>
          <a:stretch>
            <a:fillRect/>
          </a:stretch>
        </p:blipFill>
        <p:spPr>
          <a:xfrm>
            <a:off x="2789544" y="1254264"/>
            <a:ext cx="7238800" cy="3364626"/>
          </a:xfrm>
          <a:prstGeom prst="rect">
            <a:avLst/>
          </a:prstGeom>
          <a:noFill/>
          <a:ln>
            <a:noFill/>
          </a:ln>
          <a:effectLst>
            <a:outerShdw blurRad="50800" dist="38100" dir="2700000" algn="tl" rotWithShape="0">
              <a:prstClr val="black">
                <a:alpha val="40000"/>
              </a:prstClr>
            </a:outerShdw>
          </a:effectLst>
        </p:spPr>
      </p:pic>
      <p:sp>
        <p:nvSpPr>
          <p:cNvPr id="10" name="矩形 9">
            <a:extLst>
              <a:ext uri="{FF2B5EF4-FFF2-40B4-BE49-F238E27FC236}">
                <a16:creationId xmlns:a16="http://schemas.microsoft.com/office/drawing/2014/main" id="{0E210D99-09AC-0897-47D3-50020A616568}"/>
              </a:ext>
            </a:extLst>
          </p:cNvPr>
          <p:cNvSpPr/>
          <p:nvPr/>
        </p:nvSpPr>
        <p:spPr>
          <a:xfrm>
            <a:off x="-6250" y="4676140"/>
            <a:ext cx="12188190" cy="1800860"/>
          </a:xfrm>
          <a:prstGeom prst="rect">
            <a:avLst/>
          </a:prstGeom>
          <a:solidFill>
            <a:schemeClr val="accent1">
              <a:lumMod val="20000"/>
              <a:lumOff val="80000"/>
            </a:schemeClr>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endParaRPr>
          </a:p>
        </p:txBody>
      </p:sp>
      <p:pic>
        <p:nvPicPr>
          <p:cNvPr id="19" name="图片 18">
            <a:extLst>
              <a:ext uri="{FF2B5EF4-FFF2-40B4-BE49-F238E27FC236}">
                <a16:creationId xmlns:a16="http://schemas.microsoft.com/office/drawing/2014/main" id="{57BA3B66-B05D-F52C-6B16-CB2FB551EDA5}"/>
              </a:ext>
            </a:extLst>
          </p:cNvPr>
          <p:cNvPicPr/>
          <p:nvPr/>
        </p:nvPicPr>
        <p:blipFill>
          <a:blip r:embed="rId10"/>
          <a:stretch>
            <a:fillRect/>
          </a:stretch>
        </p:blipFill>
        <p:spPr>
          <a:xfrm>
            <a:off x="339557" y="4741009"/>
            <a:ext cx="3392070" cy="1671121"/>
          </a:xfrm>
          <a:prstGeom prst="rect">
            <a:avLst/>
          </a:prstGeom>
          <a:effectLst>
            <a:outerShdw blurRad="50800" dist="38100" dir="2700000" algn="tl" rotWithShape="0">
              <a:prstClr val="black">
                <a:alpha val="40000"/>
              </a:prstClr>
            </a:outerShdw>
          </a:effectLst>
        </p:spPr>
      </p:pic>
      <p:sp>
        <p:nvSpPr>
          <p:cNvPr id="20" name="文本框 17">
            <a:extLst>
              <a:ext uri="{FF2B5EF4-FFF2-40B4-BE49-F238E27FC236}">
                <a16:creationId xmlns:a16="http://schemas.microsoft.com/office/drawing/2014/main" id="{FFCA28F1-F611-15B6-0B6A-4912CA54E4A2}"/>
              </a:ext>
            </a:extLst>
          </p:cNvPr>
          <p:cNvSpPr txBox="1"/>
          <p:nvPr/>
        </p:nvSpPr>
        <p:spPr>
          <a:xfrm>
            <a:off x="3930566" y="4846954"/>
            <a:ext cx="8052435" cy="165481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defTabSz="266700" fontAlgn="auto">
              <a:lnSpc>
                <a:spcPts val="2300"/>
              </a:lnSpc>
              <a:spcBef>
                <a:spcPct val="0"/>
              </a:spcBef>
              <a:spcAft>
                <a:spcPct val="0"/>
              </a:spcAft>
            </a:pPr>
            <a:r>
              <a:rPr lang="zh-CN" altLang="en-US" b="1" dirty="0">
                <a:solidFill>
                  <a:schemeClr val="tx1"/>
                </a:solidFill>
                <a:latin typeface="微软雅黑" panose="020B0503020204020204" charset="-122"/>
                <a:ea typeface="微软雅黑" panose="020B0503020204020204" charset="-122"/>
                <a:cs typeface="微软雅黑" panose="020B0503020204020204" charset="-122"/>
              </a:rPr>
              <a:t>在三权分置的体系框架中，</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数据持有权主体对其掌控的数据资源享有完整的权能束（持有、使用、收益和处分）。</a:t>
            </a:r>
            <a:r>
              <a:rPr lang="zh-CN" altLang="en-US" b="1" dirty="0">
                <a:solidFill>
                  <a:schemeClr val="tx1"/>
                </a:solidFill>
                <a:latin typeface="微软雅黑" panose="020B0503020204020204" charset="-122"/>
                <a:ea typeface="微软雅黑" panose="020B0503020204020204" charset="-122"/>
                <a:cs typeface="微软雅黑" panose="020B0503020204020204" charset="-122"/>
              </a:rPr>
              <a:t>持有权主体可授予</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数据加工使用权</a:t>
            </a:r>
            <a:r>
              <a:rPr lang="zh-CN" altLang="en-US" b="1" dirty="0">
                <a:solidFill>
                  <a:schemeClr val="tx1"/>
                </a:solidFill>
                <a:latin typeface="微软雅黑" panose="020B0503020204020204" charset="-122"/>
                <a:ea typeface="微软雅黑" panose="020B0503020204020204" charset="-122"/>
                <a:cs typeface="微软雅黑" panose="020B0503020204020204" charset="-122"/>
              </a:rPr>
              <a:t>给被授权方</a:t>
            </a:r>
            <a:r>
              <a:rPr lang="en-US" altLang="zh-CN" b="1" dirty="0">
                <a:solidFill>
                  <a:schemeClr val="tx1"/>
                </a:solidFill>
                <a:latin typeface="微软雅黑" panose="020B0503020204020204" charset="-122"/>
                <a:ea typeface="微软雅黑" panose="020B0503020204020204" charset="-122"/>
                <a:cs typeface="微软雅黑" panose="020B0503020204020204" charset="-122"/>
              </a:rPr>
              <a:t>——</a:t>
            </a:r>
            <a:r>
              <a:rPr lang="zh-CN" altLang="en-US" b="1" dirty="0">
                <a:solidFill>
                  <a:schemeClr val="tx1"/>
                </a:solidFill>
                <a:latin typeface="微软雅黑" panose="020B0503020204020204" charset="-122"/>
                <a:ea typeface="微软雅黑" panose="020B0503020204020204" charset="-122"/>
                <a:cs typeface="微软雅黑" panose="020B0503020204020204" charset="-122"/>
              </a:rPr>
              <a:t>被授权方据此获得对</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数据的使用与收益权能</a:t>
            </a:r>
            <a:r>
              <a:rPr lang="zh-CN" altLang="en-US" b="1" dirty="0">
                <a:solidFill>
                  <a:schemeClr val="tx1"/>
                </a:solidFill>
                <a:latin typeface="微软雅黑" panose="020B0503020204020204" charset="-122"/>
                <a:ea typeface="微软雅黑" panose="020B0503020204020204" charset="-122"/>
                <a:cs typeface="微软雅黑" panose="020B0503020204020204" charset="-122"/>
              </a:rPr>
              <a:t>，同时经被授权方加工形成的衍生数据与衍生数据产品将归属</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新的持有权</a:t>
            </a:r>
            <a:r>
              <a:rPr lang="zh-CN" altLang="en-US" b="1" dirty="0">
                <a:solidFill>
                  <a:schemeClr val="tx1"/>
                </a:solidFill>
                <a:latin typeface="微软雅黑" panose="020B0503020204020204" charset="-122"/>
                <a:ea typeface="微软雅黑" panose="020B0503020204020204" charset="-122"/>
                <a:cs typeface="微软雅黑" panose="020B0503020204020204" charset="-122"/>
              </a:rPr>
              <a:t>主体，</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数据产品经营权</a:t>
            </a:r>
            <a:r>
              <a:rPr lang="zh-CN" altLang="en-US" b="1" dirty="0">
                <a:solidFill>
                  <a:schemeClr val="tx1"/>
                </a:solidFill>
                <a:latin typeface="微软雅黑" panose="020B0503020204020204" charset="-122"/>
                <a:ea typeface="微软雅黑" panose="020B0503020204020204" charset="-122"/>
                <a:cs typeface="微软雅黑" panose="020B0503020204020204" charset="-122"/>
              </a:rPr>
              <a:t>也通过持有权主体授予，以赋予经营者特定的</a:t>
            </a:r>
            <a:r>
              <a:rPr lang="zh-CN" altLang="en-US" b="1" dirty="0">
                <a:solidFill>
                  <a:srgbClr val="C00000"/>
                </a:solidFill>
                <a:latin typeface="微软雅黑" panose="020B0503020204020204" charset="-122"/>
                <a:ea typeface="微软雅黑" panose="020B0503020204020204" charset="-122"/>
                <a:cs typeface="微软雅黑" panose="020B0503020204020204" charset="-122"/>
              </a:rPr>
              <a:t>收益权限。</a:t>
            </a:r>
          </a:p>
        </p:txBody>
      </p:sp>
    </p:spTree>
    <p:extLst>
      <p:ext uri="{BB962C8B-B14F-4D97-AF65-F5344CB8AC3E}">
        <p14:creationId xmlns:p14="http://schemas.microsoft.com/office/powerpoint/2010/main" val="1569801056"/>
      </p:ext>
    </p:extLst>
  </p:cSld>
  <p:clrMapOvr>
    <a:masterClrMapping/>
  </p:clrMapOvr>
  <p:transition spd="med" advClick="0" advTm="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p:cNvSpPr txBox="1"/>
          <p:nvPr/>
        </p:nvSpPr>
        <p:spPr>
          <a:xfrm>
            <a:off x="-6250" y="703669"/>
            <a:ext cx="7667625" cy="52197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高精地图数据权利转移和价值体现</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pic>
        <p:nvPicPr>
          <p:cNvPr id="10" name="图片 9">
            <a:extLst>
              <a:ext uri="{FF2B5EF4-FFF2-40B4-BE49-F238E27FC236}">
                <a16:creationId xmlns:a16="http://schemas.microsoft.com/office/drawing/2014/main" id="{F8F958CC-F127-2947-915C-0DE80C79BB10}"/>
              </a:ext>
            </a:extLst>
          </p:cNvPr>
          <p:cNvPicPr>
            <a:picLocks noChangeAspect="1"/>
          </p:cNvPicPr>
          <p:nvPr/>
        </p:nvPicPr>
        <p:blipFill>
          <a:blip r:embed="rId9"/>
          <a:srcRect l="4399" t="7266" r="6388" b="18852"/>
          <a:stretch>
            <a:fillRect/>
          </a:stretch>
        </p:blipFill>
        <p:spPr>
          <a:xfrm>
            <a:off x="337113" y="1736990"/>
            <a:ext cx="8283722" cy="3789484"/>
          </a:xfrm>
          <a:prstGeom prst="rect">
            <a:avLst/>
          </a:prstGeom>
          <a:noFill/>
          <a:ln>
            <a:noFill/>
          </a:ln>
        </p:spPr>
      </p:pic>
      <p:sp>
        <p:nvSpPr>
          <p:cNvPr id="11" name="矩形 10">
            <a:extLst>
              <a:ext uri="{FF2B5EF4-FFF2-40B4-BE49-F238E27FC236}">
                <a16:creationId xmlns:a16="http://schemas.microsoft.com/office/drawing/2014/main" id="{F742AB0B-1C20-A2AD-C044-978AC265CCCD}"/>
              </a:ext>
            </a:extLst>
          </p:cNvPr>
          <p:cNvSpPr/>
          <p:nvPr/>
        </p:nvSpPr>
        <p:spPr>
          <a:xfrm>
            <a:off x="8872220" y="1073151"/>
            <a:ext cx="2884170" cy="404054"/>
          </a:xfrm>
          <a:prstGeom prst="rect">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latin typeface="微软雅黑" panose="020B0503020204020204" charset="-122"/>
                <a:ea typeface="微软雅黑" panose="020B0503020204020204" charset="-122"/>
              </a:rPr>
              <a:t>前置生产阶段</a:t>
            </a:r>
          </a:p>
        </p:txBody>
      </p:sp>
      <p:sp>
        <p:nvSpPr>
          <p:cNvPr id="16" name="矩形 15">
            <a:extLst>
              <a:ext uri="{FF2B5EF4-FFF2-40B4-BE49-F238E27FC236}">
                <a16:creationId xmlns:a16="http://schemas.microsoft.com/office/drawing/2014/main" id="{5C3243EE-26B2-AFBB-FD97-E037F4A68CA9}"/>
              </a:ext>
            </a:extLst>
          </p:cNvPr>
          <p:cNvSpPr/>
          <p:nvPr/>
        </p:nvSpPr>
        <p:spPr>
          <a:xfrm>
            <a:off x="8872220" y="1477204"/>
            <a:ext cx="2884170" cy="77831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a:solidFill>
                  <a:schemeClr val="tx1"/>
                </a:solidFill>
                <a:latin typeface="微软雅黑" panose="020B0503020204020204" charset="-122"/>
                <a:ea typeface="微软雅黑" panose="020B0503020204020204" charset="-122"/>
              </a:rPr>
              <a:t>       企业将个人用户数据进行脱敏化操作后参与到生产过程。</a:t>
            </a:r>
          </a:p>
        </p:txBody>
      </p:sp>
      <p:sp>
        <p:nvSpPr>
          <p:cNvPr id="19" name="矩形 18">
            <a:extLst>
              <a:ext uri="{FF2B5EF4-FFF2-40B4-BE49-F238E27FC236}">
                <a16:creationId xmlns:a16="http://schemas.microsoft.com/office/drawing/2014/main" id="{9A3A8BA9-47F1-A07A-5A4D-0B74245376A0}"/>
              </a:ext>
            </a:extLst>
          </p:cNvPr>
          <p:cNvSpPr/>
          <p:nvPr/>
        </p:nvSpPr>
        <p:spPr>
          <a:xfrm>
            <a:off x="8872220" y="2684013"/>
            <a:ext cx="2884170" cy="404054"/>
          </a:xfrm>
          <a:prstGeom prst="rect">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latin typeface="微软雅黑" panose="020B0503020204020204" charset="-122"/>
                <a:ea typeface="微软雅黑" panose="020B0503020204020204" charset="-122"/>
              </a:rPr>
              <a:t>正式生产阶段</a:t>
            </a:r>
          </a:p>
        </p:txBody>
      </p:sp>
      <p:sp>
        <p:nvSpPr>
          <p:cNvPr id="20" name="矩形 19">
            <a:extLst>
              <a:ext uri="{FF2B5EF4-FFF2-40B4-BE49-F238E27FC236}">
                <a16:creationId xmlns:a16="http://schemas.microsoft.com/office/drawing/2014/main" id="{E6431C31-18C8-BE3F-450C-64A2AC43D216}"/>
              </a:ext>
            </a:extLst>
          </p:cNvPr>
          <p:cNvSpPr/>
          <p:nvPr/>
        </p:nvSpPr>
        <p:spPr>
          <a:xfrm>
            <a:off x="8872220" y="3088065"/>
            <a:ext cx="2884170" cy="109477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a:solidFill>
                  <a:schemeClr val="tx1"/>
                </a:solidFill>
                <a:latin typeface="微软雅黑" panose="020B0503020204020204" charset="-122"/>
                <a:ea typeface="微软雅黑" panose="020B0503020204020204" charset="-122"/>
              </a:rPr>
              <a:t>       数据在车端、路端、云端及支撑平台之间互联互通，实现车辆的自动驾驶功能。</a:t>
            </a:r>
          </a:p>
        </p:txBody>
      </p:sp>
      <p:sp>
        <p:nvSpPr>
          <p:cNvPr id="21" name="矩形 20">
            <a:extLst>
              <a:ext uri="{FF2B5EF4-FFF2-40B4-BE49-F238E27FC236}">
                <a16:creationId xmlns:a16="http://schemas.microsoft.com/office/drawing/2014/main" id="{B0C9B179-4DEF-8ECA-045E-6DB15E2EA295}"/>
              </a:ext>
            </a:extLst>
          </p:cNvPr>
          <p:cNvSpPr/>
          <p:nvPr/>
        </p:nvSpPr>
        <p:spPr>
          <a:xfrm>
            <a:off x="8872220" y="4553416"/>
            <a:ext cx="2884170" cy="404054"/>
          </a:xfrm>
          <a:prstGeom prst="rect">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latin typeface="微软雅黑" panose="020B0503020204020204" charset="-122"/>
                <a:ea typeface="微软雅黑" panose="020B0503020204020204" charset="-122"/>
              </a:rPr>
              <a:t>应用阶段</a:t>
            </a:r>
          </a:p>
        </p:txBody>
      </p:sp>
      <p:sp>
        <p:nvSpPr>
          <p:cNvPr id="22" name="矩形 21">
            <a:extLst>
              <a:ext uri="{FF2B5EF4-FFF2-40B4-BE49-F238E27FC236}">
                <a16:creationId xmlns:a16="http://schemas.microsoft.com/office/drawing/2014/main" id="{2051D066-E1A1-FDA7-1A85-0D9B141E59CB}"/>
              </a:ext>
            </a:extLst>
          </p:cNvPr>
          <p:cNvSpPr/>
          <p:nvPr/>
        </p:nvSpPr>
        <p:spPr>
          <a:xfrm>
            <a:off x="8872220" y="4957469"/>
            <a:ext cx="2884170" cy="124049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zh-CN" altLang="en-US" sz="1600" b="1" dirty="0">
                <a:solidFill>
                  <a:schemeClr val="tx1"/>
                </a:solidFill>
                <a:latin typeface="微软雅黑" panose="020B0503020204020204" charset="-122"/>
                <a:ea typeface="微软雅黑" panose="020B0503020204020204" charset="-122"/>
              </a:rPr>
              <a:t>       在车路云一体化系统中实现的功能或产生的数据产品应用于第三方企业、机构或者个人用户。</a:t>
            </a:r>
          </a:p>
        </p:txBody>
      </p:sp>
      <p:sp>
        <p:nvSpPr>
          <p:cNvPr id="23" name="箭头: 下 22">
            <a:extLst>
              <a:ext uri="{FF2B5EF4-FFF2-40B4-BE49-F238E27FC236}">
                <a16:creationId xmlns:a16="http://schemas.microsoft.com/office/drawing/2014/main" id="{534021CD-6F09-3518-AE77-DFBA4D15AA03}"/>
              </a:ext>
            </a:extLst>
          </p:cNvPr>
          <p:cNvSpPr/>
          <p:nvPr/>
        </p:nvSpPr>
        <p:spPr>
          <a:xfrm>
            <a:off x="10203180" y="2298246"/>
            <a:ext cx="251460" cy="327851"/>
          </a:xfrm>
          <a:prstGeom prst="downArrow">
            <a:avLst/>
          </a:prstGeom>
          <a:solidFill>
            <a:srgbClr val="1F4E79"/>
          </a:solidFill>
          <a:ln>
            <a:solidFill>
              <a:srgbClr val="1F4E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下 23">
            <a:extLst>
              <a:ext uri="{FF2B5EF4-FFF2-40B4-BE49-F238E27FC236}">
                <a16:creationId xmlns:a16="http://schemas.microsoft.com/office/drawing/2014/main" id="{5FB7276D-E33D-38C3-83F9-B516A4AA49ED}"/>
              </a:ext>
            </a:extLst>
          </p:cNvPr>
          <p:cNvSpPr/>
          <p:nvPr/>
        </p:nvSpPr>
        <p:spPr>
          <a:xfrm>
            <a:off x="10188575" y="4226647"/>
            <a:ext cx="251460" cy="327851"/>
          </a:xfrm>
          <a:prstGeom prst="downArrow">
            <a:avLst/>
          </a:prstGeom>
          <a:solidFill>
            <a:srgbClr val="1F4E79"/>
          </a:solidFill>
          <a:ln>
            <a:solidFill>
              <a:srgbClr val="1F4E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55008247"/>
      </p:ext>
    </p:extLst>
  </p:cSld>
  <p:clrMapOvr>
    <a:masterClrMapping/>
  </p:clrMapOvr>
  <p:transition spd="med" advClick="0" advTm="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sp>
        <p:nvSpPr>
          <p:cNvPr id="16" name="流程图: 可选过程 15">
            <a:extLst>
              <a:ext uri="{FF2B5EF4-FFF2-40B4-BE49-F238E27FC236}">
                <a16:creationId xmlns:a16="http://schemas.microsoft.com/office/drawing/2014/main" id="{5C3243EE-26B2-AFBB-FD97-E037F4A68CA9}"/>
              </a:ext>
            </a:extLst>
          </p:cNvPr>
          <p:cNvSpPr/>
          <p:nvPr/>
        </p:nvSpPr>
        <p:spPr>
          <a:xfrm>
            <a:off x="7716520" y="4036624"/>
            <a:ext cx="3830464" cy="2232642"/>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indent="457200" algn="just" defTabSz="266700">
              <a:lnSpc>
                <a:spcPts val="2300"/>
              </a:lnSpc>
              <a:spcBef>
                <a:spcPct val="0"/>
              </a:spcBef>
              <a:spcAft>
                <a:spcPct val="0"/>
              </a:spcAft>
            </a:pPr>
            <a:r>
              <a:rPr lang="zh-CN" altLang="en-US" b="1" dirty="0">
                <a:solidFill>
                  <a:schemeClr val="tx1"/>
                </a:solidFill>
                <a:latin typeface="微软雅黑" panose="020B0503020204020204" charset="-122"/>
                <a:ea typeface="微软雅黑" panose="020B0503020204020204" charset="-122"/>
                <a:sym typeface="+mn-ea"/>
              </a:rPr>
              <a:t>车端用户用户在驾驶过程中产生数据被自动采集处理，加工处理使得数据脱敏与匿名化，</a:t>
            </a:r>
            <a:r>
              <a:rPr lang="zh-CN" altLang="en-US" b="1" dirty="0">
                <a:solidFill>
                  <a:srgbClr val="C00000"/>
                </a:solidFill>
                <a:latin typeface="微软雅黑" panose="020B0503020204020204" charset="-122"/>
                <a:ea typeface="微软雅黑" panose="020B0503020204020204" charset="-122"/>
                <a:sym typeface="+mn-ea"/>
              </a:rPr>
              <a:t>没有实现直接的价值增殖。</a:t>
            </a:r>
            <a:endParaRPr lang="zh-CN" altLang="en-US" b="1" dirty="0">
              <a:solidFill>
                <a:srgbClr val="C00000"/>
              </a:solidFill>
              <a:latin typeface="微软雅黑" panose="020B0503020204020204" charset="-122"/>
              <a:ea typeface="微软雅黑" panose="020B0503020204020204" charset="-122"/>
            </a:endParaRPr>
          </a:p>
        </p:txBody>
      </p:sp>
      <p:pic>
        <p:nvPicPr>
          <p:cNvPr id="6" name="图片 5">
            <a:extLst>
              <a:ext uri="{FF2B5EF4-FFF2-40B4-BE49-F238E27FC236}">
                <a16:creationId xmlns:a16="http://schemas.microsoft.com/office/drawing/2014/main" id="{2BD2E10C-CDC0-FD06-E980-DDDE11CFF450}"/>
              </a:ext>
            </a:extLst>
          </p:cNvPr>
          <p:cNvPicPr>
            <a:picLocks noChangeAspect="1"/>
          </p:cNvPicPr>
          <p:nvPr/>
        </p:nvPicPr>
        <p:blipFill>
          <a:blip r:embed="rId10"/>
          <a:srcRect l="1101" t="8117" r="3388" b="9324"/>
          <a:stretch>
            <a:fillRect/>
          </a:stretch>
        </p:blipFill>
        <p:spPr>
          <a:xfrm>
            <a:off x="877994" y="1654781"/>
            <a:ext cx="9663006" cy="1810336"/>
          </a:xfrm>
          <a:prstGeom prst="rect">
            <a:avLst/>
          </a:prstGeom>
          <a:noFill/>
          <a:ln>
            <a:noFill/>
          </a:ln>
        </p:spPr>
      </p:pic>
      <p:graphicFrame>
        <p:nvGraphicFramePr>
          <p:cNvPr id="8" name="表格 7">
            <a:extLst>
              <a:ext uri="{FF2B5EF4-FFF2-40B4-BE49-F238E27FC236}">
                <a16:creationId xmlns:a16="http://schemas.microsoft.com/office/drawing/2014/main" id="{0D01AD82-26D0-7FEC-273A-1F856EAFD613}"/>
              </a:ext>
            </a:extLst>
          </p:cNvPr>
          <p:cNvGraphicFramePr/>
          <p:nvPr>
            <p:custDataLst>
              <p:tags r:id="rId7"/>
            </p:custDataLst>
            <p:extLst>
              <p:ext uri="{D42A27DB-BD31-4B8C-83A1-F6EECF244321}">
                <p14:modId xmlns:p14="http://schemas.microsoft.com/office/powerpoint/2010/main" val="614180481"/>
              </p:ext>
            </p:extLst>
          </p:nvPr>
        </p:nvGraphicFramePr>
        <p:xfrm>
          <a:off x="135019" y="4036624"/>
          <a:ext cx="6608682" cy="2232642"/>
        </p:xfrm>
        <a:graphic>
          <a:graphicData uri="http://schemas.openxmlformats.org/drawingml/2006/table">
            <a:tbl>
              <a:tblPr firstRow="1" bandRow="1">
                <a:tableStyleId>{5C22544A-7EE6-4342-B048-85BDC9FD1C3A}</a:tableStyleId>
              </a:tblPr>
              <a:tblGrid>
                <a:gridCol w="1239557">
                  <a:extLst>
                    <a:ext uri="{9D8B030D-6E8A-4147-A177-3AD203B41FA5}">
                      <a16:colId xmlns:a16="http://schemas.microsoft.com/office/drawing/2014/main" val="20000"/>
                    </a:ext>
                  </a:extLst>
                </a:gridCol>
                <a:gridCol w="3476790">
                  <a:extLst>
                    <a:ext uri="{9D8B030D-6E8A-4147-A177-3AD203B41FA5}">
                      <a16:colId xmlns:a16="http://schemas.microsoft.com/office/drawing/2014/main" val="20001"/>
                    </a:ext>
                  </a:extLst>
                </a:gridCol>
                <a:gridCol w="1892335">
                  <a:extLst>
                    <a:ext uri="{9D8B030D-6E8A-4147-A177-3AD203B41FA5}">
                      <a16:colId xmlns:a16="http://schemas.microsoft.com/office/drawing/2014/main" val="624752136"/>
                    </a:ext>
                  </a:extLst>
                </a:gridCol>
              </a:tblGrid>
              <a:tr h="372107">
                <a:tc>
                  <a:txBody>
                    <a:bodyPr/>
                    <a:lstStyle/>
                    <a:p>
                      <a:pPr algn="ctr">
                        <a:buNone/>
                      </a:pPr>
                      <a:r>
                        <a:rPr lang="zh-CN" altLang="en-US" sz="1600" b="1" dirty="0">
                          <a:latin typeface="微软雅黑" panose="020B0503020204020204" charset="-122"/>
                          <a:ea typeface="微软雅黑" panose="020B0503020204020204" charset="-122"/>
                        </a:rPr>
                        <a:t>数据类别</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F4E79"/>
                    </a:solidFill>
                  </a:tcPr>
                </a:tc>
                <a:tc>
                  <a:txBody>
                    <a:bodyPr/>
                    <a:lstStyle/>
                    <a:p>
                      <a:pPr algn="ctr">
                        <a:buNone/>
                      </a:pPr>
                      <a:r>
                        <a:rPr lang="zh-CN" altLang="en-US" sz="1600" b="1" dirty="0">
                          <a:latin typeface="微软雅黑" panose="020B0503020204020204" charset="-122"/>
                          <a:ea typeface="微软雅黑" panose="020B0503020204020204" charset="-122"/>
                        </a:rPr>
                        <a:t>数据内容</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F4E79"/>
                    </a:solidFill>
                  </a:tcPr>
                </a:tc>
                <a:tc>
                  <a:txBody>
                    <a:bodyPr/>
                    <a:lstStyle/>
                    <a:p>
                      <a:pPr algn="ctr">
                        <a:buNone/>
                      </a:pPr>
                      <a:r>
                        <a:rPr lang="zh-CN" altLang="en-US" sz="1600" b="1" dirty="0">
                          <a:latin typeface="微软雅黑" panose="020B0503020204020204" charset="-122"/>
                          <a:ea typeface="微软雅黑" panose="020B0503020204020204" charset="-122"/>
                        </a:rPr>
                        <a:t>高精地图数据分类</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372107">
                <a:tc rowSpan="2">
                  <a:txBody>
                    <a:bodyPr/>
                    <a:lstStyle/>
                    <a:p>
                      <a:pPr indent="0" algn="ctr" fontAlgn="ct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主体供应数据</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indent="0" algn="ctr" fontAlgn="ctr">
                        <a:spcBef>
                          <a:spcPct val="0"/>
                        </a:spcBef>
                        <a:spcAft>
                          <a:spcPct val="0"/>
                        </a:spcAft>
                      </a:pPr>
                      <a:r>
                        <a:rPr lang="zh-CN" altLang="zh-CN" sz="1400" b="1" dirty="0">
                          <a:latin typeface="微软雅黑" panose="020B0503020204020204" charset="-122"/>
                          <a:ea typeface="微软雅黑" panose="020B0503020204020204" charset="-122"/>
                        </a:rPr>
                        <a:t>用户信息（姓名、联系方式、账号信息等）</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DEEF"/>
                    </a:solidFill>
                  </a:tcPr>
                </a:tc>
                <a:tc row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59296752"/>
                          </a:ext>
                        </a:extLst>
                      </a:pPr>
                      <a:r>
                        <a:rPr lang="zh-CN" altLang="zh-CN" sz="1400" b="1" dirty="0">
                          <a:latin typeface="微软雅黑" panose="020B0503020204020204" charset="-122"/>
                          <a:ea typeface="微软雅黑" panose="020B0503020204020204" charset="-122"/>
                        </a:rPr>
                        <a:t>部分车辆用户信息</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DEEF"/>
                    </a:solidFill>
                  </a:tcPr>
                </a:tc>
                <a:extLst>
                  <a:ext uri="{0D108BD9-81ED-4DB2-BD59-A6C34878D82A}">
                    <a16:rowId xmlns:a16="http://schemas.microsoft.com/office/drawing/2014/main" val="10001"/>
                  </a:ext>
                </a:extLst>
              </a:tr>
              <a:tr h="372107">
                <a:tc vMerge="1">
                  <a:txBody>
                    <a:bodyPr/>
                    <a:lstStyle/>
                    <a:p>
                      <a:endParaRPr lang="zh-CN" altLang="en-US"/>
                    </a:p>
                  </a:txBody>
                  <a:tcPr/>
                </a:tc>
                <a:tc>
                  <a:txBody>
                    <a:bodyPr/>
                    <a:lstStyle/>
                    <a:p>
                      <a:pPr marL="0" indent="0" algn="ctr" fontAlgn="ctr">
                        <a:spcBef>
                          <a:spcPct val="0"/>
                        </a:spcBef>
                        <a:spcAft>
                          <a:spcPct val="0"/>
                        </a:spcAft>
                      </a:pPr>
                      <a:r>
                        <a:rPr lang="zh-CN" altLang="zh-CN" sz="1400" b="1" dirty="0">
                          <a:latin typeface="微软雅黑" panose="020B0503020204020204" charset="-122"/>
                          <a:ea typeface="微软雅黑" panose="020B0503020204020204" charset="-122"/>
                        </a:rPr>
                        <a:t>车辆信息（车型、车架号、软件版本等）</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DEEF"/>
                    </a:solidFill>
                  </a:tcPr>
                </a:tc>
                <a:tc vMerge="1">
                  <a:txBody>
                    <a:bodyPr/>
                    <a:lstStyle/>
                    <a:p>
                      <a:endParaRPr lang="zh-CN" altLang="en-US"/>
                    </a:p>
                  </a:txBody>
                  <a:tcPr/>
                </a:tc>
                <a:extLst>
                  <a:ext uri="{0D108BD9-81ED-4DB2-BD59-A6C34878D82A}">
                    <a16:rowId xmlns:a16="http://schemas.microsoft.com/office/drawing/2014/main" val="3571196977"/>
                  </a:ext>
                </a:extLst>
              </a:tr>
              <a:tr h="372107">
                <a:tc rowSpan="3">
                  <a:txBody>
                    <a:bodyPr/>
                    <a:lstStyle/>
                    <a:p>
                      <a:pPr indent="0" algn="ctr" fontAlgn="ct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主体行为数据</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AEFF7"/>
                    </a:solidFill>
                  </a:tcPr>
                </a:tc>
                <a:tc>
                  <a:txBody>
                    <a:bodyPr/>
                    <a:lstStyle/>
                    <a:p>
                      <a:pPr marL="0" indent="0" algn="ctr" fontAlgn="ctr">
                        <a:spcBef>
                          <a:spcPct val="0"/>
                        </a:spcBef>
                        <a:spcAft>
                          <a:spcPct val="0"/>
                        </a:spcAft>
                      </a:pPr>
                      <a:r>
                        <a:rPr lang="zh-CN" altLang="zh-CN" sz="1400" b="1" dirty="0">
                          <a:latin typeface="微软雅黑" panose="020B0503020204020204" charset="-122"/>
                          <a:ea typeface="微软雅黑" panose="020B0503020204020204" charset="-122"/>
                        </a:rPr>
                        <a:t>用户驾驶过程数据（定位、决策等）</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AEFF7"/>
                    </a:solidFill>
                  </a:tcPr>
                </a:tc>
                <a:tc row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59296752"/>
                          </a:ext>
                        </a:extLst>
                      </a:pPr>
                      <a:r>
                        <a:rPr lang="zh-CN" altLang="zh-CN" sz="1400" b="1" dirty="0">
                          <a:latin typeface="微软雅黑" panose="020B0503020204020204" charset="-122"/>
                          <a:ea typeface="微软雅黑" panose="020B0503020204020204" charset="-122"/>
                        </a:rPr>
                        <a:t>部分车辆用户信息、</a:t>
                      </a:r>
                      <a:endParaRPr lang="en-US" altLang="zh-CN" sz="1400" b="1" dirty="0">
                        <a:latin typeface="微软雅黑" panose="020B0503020204020204" charset="-122"/>
                        <a:ea typeface="微软雅黑" panose="020B0503020204020204" charset="-122"/>
                      </a:endParaRPr>
                    </a:p>
                    <a:p>
                      <a:pPr marL="0" marR="0" lvl="0" indent="0" algn="ctr" defTabSz="914400" rtl="0" eaLnBrk="1" fontAlgn="ctr" latinLnBrk="0" hangingPunct="1">
                        <a:lnSpc>
                          <a:spcPct val="100000"/>
                        </a:lnSpc>
                        <a:spcBef>
                          <a:spcPts val="0"/>
                        </a:spcBef>
                        <a:spcAft>
                          <a:spcPts val="0"/>
                        </a:spcAft>
                        <a:buClrTx/>
                        <a:buSzTx/>
                        <a:buFontTx/>
                        <a:buNone/>
                        <a:tabLst/>
                        <a:defRPr/>
                        <a:extLst>
                          <a:ext uri="{35155182-B16C-46BC-9424-99874614C6A1}">
                            <wpsdc:indentchars xmlns="" xmlns:wpsdc="http://www.wps.cn/officeDocument/2017/drawingmlCustomData" val="200" checksum="59296752"/>
                          </a:ext>
                        </a:extLst>
                      </a:pPr>
                      <a:r>
                        <a:rPr lang="zh-CN" altLang="zh-CN" sz="1400" b="1" dirty="0">
                          <a:latin typeface="微软雅黑" panose="020B0503020204020204" charset="-122"/>
                          <a:ea typeface="微软雅黑" panose="020B0503020204020204" charset="-122"/>
                        </a:rPr>
                        <a:t>车辆主动感知数据</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AEFF7"/>
                    </a:solidFill>
                  </a:tcPr>
                </a:tc>
                <a:extLst>
                  <a:ext uri="{0D108BD9-81ED-4DB2-BD59-A6C34878D82A}">
                    <a16:rowId xmlns:a16="http://schemas.microsoft.com/office/drawing/2014/main" val="10002"/>
                  </a:ext>
                </a:extLst>
              </a:tr>
              <a:tr h="372107">
                <a:tc vMerge="1">
                  <a:txBody>
                    <a:bodyPr/>
                    <a:lstStyle/>
                    <a:p>
                      <a:endParaRPr lang="zh-CN" altLang="en-US"/>
                    </a:p>
                  </a:txBody>
                  <a:tcPr/>
                </a:tc>
                <a:tc>
                  <a:txBody>
                    <a:bodyPr/>
                    <a:lstStyle/>
                    <a:p>
                      <a:pPr marL="0" indent="0" algn="ctr" fontAlgn="ctr">
                        <a:spcBef>
                          <a:spcPct val="0"/>
                        </a:spcBef>
                        <a:spcAft>
                          <a:spcPct val="0"/>
                        </a:spcAft>
                      </a:pPr>
                      <a:r>
                        <a:rPr lang="zh-CN" altLang="zh-CN" sz="1400" b="1" dirty="0">
                          <a:latin typeface="微软雅黑" panose="020B0503020204020204" charset="-122"/>
                          <a:ea typeface="微软雅黑" panose="020B0503020204020204" charset="-122"/>
                        </a:rPr>
                        <a:t>导航数据（导航地点、路线等）</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AEFF7"/>
                    </a:solidFill>
                  </a:tcPr>
                </a:tc>
                <a:tc vMerge="1">
                  <a:txBody>
                    <a:bodyPr/>
                    <a:lstStyle/>
                    <a:p>
                      <a:endParaRPr lang="zh-CN" altLang="en-US"/>
                    </a:p>
                  </a:txBody>
                  <a:tcPr/>
                </a:tc>
                <a:extLst>
                  <a:ext uri="{0D108BD9-81ED-4DB2-BD59-A6C34878D82A}">
                    <a16:rowId xmlns:a16="http://schemas.microsoft.com/office/drawing/2014/main" val="3191420827"/>
                  </a:ext>
                </a:extLst>
              </a:tr>
              <a:tr h="372107">
                <a:tc vMerge="1">
                  <a:txBody>
                    <a:bodyPr/>
                    <a:lstStyle/>
                    <a:p>
                      <a:endParaRPr lang="zh-CN" altLang="en-US"/>
                    </a:p>
                  </a:txBody>
                  <a:tcPr/>
                </a:tc>
                <a:tc>
                  <a:txBody>
                    <a:bodyPr/>
                    <a:lstStyle/>
                    <a:p>
                      <a:pPr marL="0" indent="0" algn="ctr" fontAlgn="ctr">
                        <a:spcBef>
                          <a:spcPct val="0"/>
                        </a:spcBef>
                        <a:spcAft>
                          <a:spcPct val="0"/>
                        </a:spcAft>
                      </a:pPr>
                      <a:r>
                        <a:rPr lang="zh-CN" altLang="zh-CN" sz="1400" b="1" dirty="0">
                          <a:latin typeface="微软雅黑" panose="020B0503020204020204" charset="-122"/>
                          <a:ea typeface="微软雅黑" panose="020B0503020204020204" charset="-122"/>
                        </a:rPr>
                        <a:t>车辆主动感知数据（感知环境数据）</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AEFF7"/>
                    </a:solidFill>
                  </a:tcPr>
                </a:tc>
                <a:tc vMerge="1">
                  <a:txBody>
                    <a:bodyPr/>
                    <a:lstStyle/>
                    <a:p>
                      <a:endParaRPr lang="zh-CN" altLang="en-US"/>
                    </a:p>
                  </a:txBody>
                  <a:tcPr/>
                </a:tc>
                <a:extLst>
                  <a:ext uri="{0D108BD9-81ED-4DB2-BD59-A6C34878D82A}">
                    <a16:rowId xmlns:a16="http://schemas.microsoft.com/office/drawing/2014/main" val="2143792413"/>
                  </a:ext>
                </a:extLst>
              </a:tr>
            </a:tbl>
          </a:graphicData>
        </a:graphic>
      </p:graphicFrame>
      <p:sp>
        <p:nvSpPr>
          <p:cNvPr id="11" name="文本框 10">
            <a:extLst>
              <a:ext uri="{FF2B5EF4-FFF2-40B4-BE49-F238E27FC236}">
                <a16:creationId xmlns:a16="http://schemas.microsoft.com/office/drawing/2014/main" id="{EC4E83D5-582E-6AB7-D69E-09AED32B372C}"/>
              </a:ext>
            </a:extLst>
          </p:cNvPr>
          <p:cNvSpPr txBox="1"/>
          <p:nvPr/>
        </p:nvSpPr>
        <p:spPr>
          <a:xfrm>
            <a:off x="9075738" y="4161084"/>
            <a:ext cx="1217612" cy="379799"/>
          </a:xfrm>
          <a:prstGeom prst="rect">
            <a:avLst/>
          </a:prstGeom>
          <a:noFill/>
        </p:spPr>
        <p:txBody>
          <a:bodyPr wrap="square">
            <a:spAutoFit/>
          </a:bodyPr>
          <a:lstStyle/>
          <a:p>
            <a:r>
              <a:rPr lang="zh-CN" altLang="en-US" sz="1800" b="1" dirty="0">
                <a:solidFill>
                  <a:srgbClr val="1F4E79"/>
                </a:solidFill>
                <a:latin typeface="微软雅黑" panose="020B0503020204020204" charset="-122"/>
                <a:ea typeface="微软雅黑" panose="020B0503020204020204" charset="-122"/>
                <a:cs typeface="微软雅黑" panose="020B0503020204020204" charset="-122"/>
              </a:rPr>
              <a:t>价值体现</a:t>
            </a:r>
            <a:endParaRPr lang="zh-CN" altLang="en-US" dirty="0"/>
          </a:p>
        </p:txBody>
      </p:sp>
      <p:sp>
        <p:nvSpPr>
          <p:cNvPr id="12" name="文本框 11">
            <a:extLst>
              <a:ext uri="{FF2B5EF4-FFF2-40B4-BE49-F238E27FC236}">
                <a16:creationId xmlns:a16="http://schemas.microsoft.com/office/drawing/2014/main" id="{1BF83F25-9565-55AF-7FDD-89F73B513E0A}"/>
              </a:ext>
            </a:extLst>
          </p:cNvPr>
          <p:cNvSpPr txBox="1"/>
          <p:nvPr/>
        </p:nvSpPr>
        <p:spPr>
          <a:xfrm>
            <a:off x="5145141" y="1488399"/>
            <a:ext cx="1217612" cy="369332"/>
          </a:xfrm>
          <a:prstGeom prst="rect">
            <a:avLst/>
          </a:prstGeom>
          <a:noFill/>
        </p:spPr>
        <p:txBody>
          <a:bodyPr wrap="square">
            <a:spAutoFit/>
          </a:bodyPr>
          <a:lstStyle/>
          <a:p>
            <a:r>
              <a:rPr lang="zh-CN" altLang="en-US" b="1" dirty="0">
                <a:solidFill>
                  <a:srgbClr val="1F4E79"/>
                </a:solidFill>
                <a:latin typeface="微软雅黑" panose="020B0503020204020204" charset="-122"/>
                <a:ea typeface="微软雅黑" panose="020B0503020204020204" charset="-122"/>
              </a:rPr>
              <a:t>权利流动</a:t>
            </a:r>
            <a:endParaRPr lang="zh-CN" altLang="en-US" dirty="0"/>
          </a:p>
        </p:txBody>
      </p:sp>
      <p:sp>
        <p:nvSpPr>
          <p:cNvPr id="19" name="箭头: 下 18">
            <a:extLst>
              <a:ext uri="{FF2B5EF4-FFF2-40B4-BE49-F238E27FC236}">
                <a16:creationId xmlns:a16="http://schemas.microsoft.com/office/drawing/2014/main" id="{4CB1FCD7-1463-4454-18A8-CF2742DFD610}"/>
              </a:ext>
            </a:extLst>
          </p:cNvPr>
          <p:cNvSpPr/>
          <p:nvPr/>
        </p:nvSpPr>
        <p:spPr>
          <a:xfrm>
            <a:off x="1670050" y="3587750"/>
            <a:ext cx="527050" cy="306509"/>
          </a:xfrm>
          <a:prstGeom prst="downArrow">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AB202F34-6C90-184B-3792-DE2392E7A471}"/>
              </a:ext>
            </a:extLst>
          </p:cNvPr>
          <p:cNvSpPr txBox="1"/>
          <p:nvPr/>
        </p:nvSpPr>
        <p:spPr>
          <a:xfrm>
            <a:off x="-6250" y="703669"/>
            <a:ext cx="892800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高精地图数据权利转移和价值体现：前置生产阶段</a:t>
            </a:r>
          </a:p>
        </p:txBody>
      </p:sp>
    </p:spTree>
    <p:extLst>
      <p:ext uri="{BB962C8B-B14F-4D97-AF65-F5344CB8AC3E}">
        <p14:creationId xmlns:p14="http://schemas.microsoft.com/office/powerpoint/2010/main" val="432434442"/>
      </p:ext>
    </p:extLst>
  </p:cSld>
  <p:clrMapOvr>
    <a:masterClrMapping/>
  </p:clrMapOvr>
  <p:transition spd="med" advClick="0" advTm="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sp>
        <p:nvSpPr>
          <p:cNvPr id="6" name="任意多边形: 形状 5">
            <a:extLst>
              <a:ext uri="{FF2B5EF4-FFF2-40B4-BE49-F238E27FC236}">
                <a16:creationId xmlns:a16="http://schemas.microsoft.com/office/drawing/2014/main" id="{23016F8F-BDB3-7CF7-A170-E51B1CBCE97E}"/>
              </a:ext>
            </a:extLst>
          </p:cNvPr>
          <p:cNvSpPr/>
          <p:nvPr/>
        </p:nvSpPr>
        <p:spPr bwMode="auto">
          <a:xfrm>
            <a:off x="-635" y="1484472"/>
            <a:ext cx="12192000" cy="4992528"/>
          </a:xfrm>
          <a:custGeom>
            <a:avLst/>
            <a:gdLst>
              <a:gd name="connsiteX0" fmla="*/ 6100513 w 12192000"/>
              <a:gd name="connsiteY0" fmla="*/ 65 h 5266033"/>
              <a:gd name="connsiteX1" fmla="*/ 12185886 w 12192000"/>
              <a:gd name="connsiteY1" fmla="*/ 2644790 h 5266033"/>
              <a:gd name="connsiteX2" fmla="*/ 12192000 w 12192000"/>
              <a:gd name="connsiteY2" fmla="*/ 2651338 h 5266033"/>
              <a:gd name="connsiteX3" fmla="*/ 12192000 w 12192000"/>
              <a:gd name="connsiteY3" fmla="*/ 5266033 h 5266033"/>
              <a:gd name="connsiteX4" fmla="*/ 0 w 12192000"/>
              <a:gd name="connsiteY4" fmla="*/ 5266033 h 5266033"/>
              <a:gd name="connsiteX5" fmla="*/ 0 w 12192000"/>
              <a:gd name="connsiteY5" fmla="*/ 2594379 h 5266033"/>
              <a:gd name="connsiteX6" fmla="*/ 269306 w 12192000"/>
              <a:gd name="connsiteY6" fmla="*/ 2332469 h 5266033"/>
              <a:gd name="connsiteX7" fmla="*/ 6100513 w 12192000"/>
              <a:gd name="connsiteY7" fmla="*/ 65 h 5266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266033">
                <a:moveTo>
                  <a:pt x="6100513" y="65"/>
                </a:moveTo>
                <a:cubicBezTo>
                  <a:pt x="8454195" y="9342"/>
                  <a:pt x="10597144" y="1011405"/>
                  <a:pt x="12185886" y="2644790"/>
                </a:cubicBezTo>
                <a:lnTo>
                  <a:pt x="12192000" y="2651338"/>
                </a:lnTo>
                <a:lnTo>
                  <a:pt x="12192000" y="5266033"/>
                </a:lnTo>
                <a:lnTo>
                  <a:pt x="0" y="5266033"/>
                </a:lnTo>
                <a:lnTo>
                  <a:pt x="0" y="2594379"/>
                </a:lnTo>
                <a:lnTo>
                  <a:pt x="269306" y="2332469"/>
                </a:lnTo>
                <a:cubicBezTo>
                  <a:pt x="1836778" y="869501"/>
                  <a:pt x="3877638" y="-8699"/>
                  <a:pt x="6100513" y="65"/>
                </a:cubicBezTo>
                <a:close/>
              </a:path>
            </a:pathLst>
          </a:custGeom>
          <a:gradFill>
            <a:gsLst>
              <a:gs pos="0">
                <a:schemeClr val="accent1">
                  <a:lumMod val="5000"/>
                  <a:lumOff val="95000"/>
                  <a:alpha val="20000"/>
                </a:schemeClr>
              </a:gs>
              <a:gs pos="100000">
                <a:schemeClr val="accent1">
                  <a:lumMod val="40000"/>
                  <a:lumOff val="60000"/>
                  <a:alpha val="50000"/>
                </a:schemeClr>
              </a:gs>
            </a:gsLst>
            <a:lin ang="16200000" scaled="0"/>
          </a:gradFill>
          <a:ln w="12700" cap="flat">
            <a:gradFill>
              <a:gsLst>
                <a:gs pos="53200">
                  <a:schemeClr val="accent1">
                    <a:lumMod val="20000"/>
                    <a:lumOff val="80000"/>
                    <a:alpha val="50000"/>
                  </a:schemeClr>
                </a:gs>
                <a:gs pos="0">
                  <a:schemeClr val="bg1">
                    <a:alpha val="0"/>
                  </a:schemeClr>
                </a:gs>
                <a:gs pos="100000">
                  <a:schemeClr val="accent1">
                    <a:lumMod val="75000"/>
                  </a:schemeClr>
                </a:gs>
              </a:gsLst>
              <a:lin ang="16200000" scaled="0"/>
            </a:gradFill>
            <a:prstDash val="solid"/>
            <a:miter lim="800000"/>
          </a:ln>
        </p:spPr>
        <p:txBody>
          <a:bodyPr wrap="square"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US" altLang="zh-CN" kern="0" dirty="0">
              <a:solidFill>
                <a:srgbClr val="000000"/>
              </a:solidFill>
              <a:latin typeface="Arial" panose="020B0604020202020204"/>
              <a:ea typeface="微软雅黑" panose="020B0503020204020204" charset="-122"/>
              <a:sym typeface="+mn-lt"/>
            </a:endParaRPr>
          </a:p>
        </p:txBody>
      </p:sp>
      <p:grpSp>
        <p:nvGrpSpPr>
          <p:cNvPr id="8" name="组合 7">
            <a:extLst>
              <a:ext uri="{FF2B5EF4-FFF2-40B4-BE49-F238E27FC236}">
                <a16:creationId xmlns:a16="http://schemas.microsoft.com/office/drawing/2014/main" id="{6E66D6CE-A63C-F038-66CF-9322167D5E42}"/>
              </a:ext>
            </a:extLst>
          </p:cNvPr>
          <p:cNvGrpSpPr/>
          <p:nvPr/>
        </p:nvGrpSpPr>
        <p:grpSpPr>
          <a:xfrm>
            <a:off x="5762995" y="1501552"/>
            <a:ext cx="664739" cy="664739"/>
            <a:chOff x="6045076" y="1096796"/>
            <a:chExt cx="664739" cy="664739"/>
          </a:xfrm>
        </p:grpSpPr>
        <p:sp>
          <p:nvSpPr>
            <p:cNvPr id="11" name="íṡļíḋé">
              <a:extLst>
                <a:ext uri="{FF2B5EF4-FFF2-40B4-BE49-F238E27FC236}">
                  <a16:creationId xmlns:a16="http://schemas.microsoft.com/office/drawing/2014/main" id="{F476DF0A-DA8C-E2E6-377C-0070EE2C44AB}"/>
                </a:ext>
              </a:extLst>
            </p:cNvPr>
            <p:cNvSpPr/>
            <p:nvPr/>
          </p:nvSpPr>
          <p:spPr bwMode="auto">
            <a:xfrm>
              <a:off x="6045076" y="1096796"/>
              <a:ext cx="664739" cy="664739"/>
            </a:xfrm>
            <a:prstGeom prst="ellipse">
              <a:avLst/>
            </a:prstGeom>
            <a:solidFill>
              <a:srgbClr val="1F4E79"/>
            </a:solidFill>
            <a:ln>
              <a:noFill/>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kern="0" dirty="0">
                <a:solidFill>
                  <a:srgbClr val="000000"/>
                </a:solidFill>
                <a:latin typeface="Arial" panose="020B0604020202020204"/>
                <a:ea typeface="微软雅黑" panose="020B0503020204020204" charset="-122"/>
                <a:sym typeface="+mn-lt"/>
              </a:endParaRPr>
            </a:p>
          </p:txBody>
        </p:sp>
        <p:sp>
          <p:nvSpPr>
            <p:cNvPr id="16" name="íṡ1îḍé">
              <a:extLst>
                <a:ext uri="{FF2B5EF4-FFF2-40B4-BE49-F238E27FC236}">
                  <a16:creationId xmlns:a16="http://schemas.microsoft.com/office/drawing/2014/main" id="{F1694281-4BFB-7424-D2E9-4C019863B20A}"/>
                </a:ext>
              </a:extLst>
            </p:cNvPr>
            <p:cNvSpPr/>
            <p:nvPr/>
          </p:nvSpPr>
          <p:spPr>
            <a:xfrm>
              <a:off x="6168172" y="1217473"/>
              <a:ext cx="421987" cy="370351"/>
            </a:xfrm>
            <a:custGeom>
              <a:avLst/>
              <a:gdLst>
                <a:gd name="T0" fmla="*/ 477 w 631"/>
                <a:gd name="T1" fmla="*/ 282 h 626"/>
                <a:gd name="T2" fmla="*/ 554 w 631"/>
                <a:gd name="T3" fmla="*/ 197 h 626"/>
                <a:gd name="T4" fmla="*/ 623 w 631"/>
                <a:gd name="T5" fmla="*/ 79 h 626"/>
                <a:gd name="T6" fmla="*/ 615 w 631"/>
                <a:gd name="T7" fmla="*/ 28 h 626"/>
                <a:gd name="T8" fmla="*/ 593 w 631"/>
                <a:gd name="T9" fmla="*/ 12 h 626"/>
                <a:gd name="T10" fmla="*/ 541 w 631"/>
                <a:gd name="T11" fmla="*/ 21 h 626"/>
                <a:gd name="T12" fmla="*/ 451 w 631"/>
                <a:gd name="T13" fmla="*/ 123 h 626"/>
                <a:gd name="T14" fmla="*/ 395 w 631"/>
                <a:gd name="T15" fmla="*/ 223 h 626"/>
                <a:gd name="T16" fmla="*/ 396 w 631"/>
                <a:gd name="T17" fmla="*/ 267 h 626"/>
                <a:gd name="T18" fmla="*/ 388 w 631"/>
                <a:gd name="T19" fmla="*/ 278 h 626"/>
                <a:gd name="T20" fmla="*/ 346 w 631"/>
                <a:gd name="T21" fmla="*/ 249 h 626"/>
                <a:gd name="T22" fmla="*/ 275 w 631"/>
                <a:gd name="T23" fmla="*/ 176 h 626"/>
                <a:gd name="T24" fmla="*/ 290 w 631"/>
                <a:gd name="T25" fmla="*/ 132 h 626"/>
                <a:gd name="T26" fmla="*/ 254 w 631"/>
                <a:gd name="T27" fmla="*/ 48 h 626"/>
                <a:gd name="T28" fmla="*/ 236 w 631"/>
                <a:gd name="T29" fmla="*/ 34 h 626"/>
                <a:gd name="T30" fmla="*/ 174 w 631"/>
                <a:gd name="T31" fmla="*/ 19 h 626"/>
                <a:gd name="T32" fmla="*/ 125 w 631"/>
                <a:gd name="T33" fmla="*/ 28 h 626"/>
                <a:gd name="T34" fmla="*/ 121 w 631"/>
                <a:gd name="T35" fmla="*/ 35 h 626"/>
                <a:gd name="T36" fmla="*/ 126 w 631"/>
                <a:gd name="T37" fmla="*/ 49 h 626"/>
                <a:gd name="T38" fmla="*/ 167 w 631"/>
                <a:gd name="T39" fmla="*/ 89 h 626"/>
                <a:gd name="T40" fmla="*/ 167 w 631"/>
                <a:gd name="T41" fmla="*/ 141 h 626"/>
                <a:gd name="T42" fmla="*/ 124 w 631"/>
                <a:gd name="T43" fmla="*/ 184 h 626"/>
                <a:gd name="T44" fmla="*/ 98 w 631"/>
                <a:gd name="T45" fmla="*/ 195 h 626"/>
                <a:gd name="T46" fmla="*/ 72 w 631"/>
                <a:gd name="T47" fmla="*/ 184 h 626"/>
                <a:gd name="T48" fmla="*/ 31 w 631"/>
                <a:gd name="T49" fmla="*/ 144 h 626"/>
                <a:gd name="T50" fmla="*/ 18 w 631"/>
                <a:gd name="T51" fmla="*/ 138 h 626"/>
                <a:gd name="T52" fmla="*/ 11 w 631"/>
                <a:gd name="T53" fmla="*/ 142 h 626"/>
                <a:gd name="T54" fmla="*/ 2 w 631"/>
                <a:gd name="T55" fmla="*/ 191 h 626"/>
                <a:gd name="T56" fmla="*/ 14 w 631"/>
                <a:gd name="T57" fmla="*/ 253 h 626"/>
                <a:gd name="T58" fmla="*/ 68 w 631"/>
                <a:gd name="T59" fmla="*/ 296 h 626"/>
                <a:gd name="T60" fmla="*/ 115 w 631"/>
                <a:gd name="T61" fmla="*/ 307 h 626"/>
                <a:gd name="T62" fmla="*/ 159 w 631"/>
                <a:gd name="T63" fmla="*/ 292 h 626"/>
                <a:gd name="T64" fmla="*/ 238 w 631"/>
                <a:gd name="T65" fmla="*/ 367 h 626"/>
                <a:gd name="T66" fmla="*/ 284 w 631"/>
                <a:gd name="T67" fmla="*/ 426 h 626"/>
                <a:gd name="T68" fmla="*/ 176 w 631"/>
                <a:gd name="T69" fmla="*/ 578 h 626"/>
                <a:gd name="T70" fmla="*/ 183 w 631"/>
                <a:gd name="T71" fmla="*/ 615 h 626"/>
                <a:gd name="T72" fmla="*/ 198 w 631"/>
                <a:gd name="T73" fmla="*/ 620 h 626"/>
                <a:gd name="T74" fmla="*/ 220 w 631"/>
                <a:gd name="T75" fmla="*/ 609 h 626"/>
                <a:gd name="T76" fmla="*/ 325 w 631"/>
                <a:gd name="T77" fmla="*/ 460 h 626"/>
                <a:gd name="T78" fmla="*/ 353 w 631"/>
                <a:gd name="T79" fmla="*/ 481 h 626"/>
                <a:gd name="T80" fmla="*/ 406 w 631"/>
                <a:gd name="T81" fmla="*/ 521 h 626"/>
                <a:gd name="T82" fmla="*/ 406 w 631"/>
                <a:gd name="T83" fmla="*/ 524 h 626"/>
                <a:gd name="T84" fmla="*/ 507 w 631"/>
                <a:gd name="T85" fmla="*/ 626 h 626"/>
                <a:gd name="T86" fmla="*/ 609 w 631"/>
                <a:gd name="T87" fmla="*/ 524 h 626"/>
                <a:gd name="T88" fmla="*/ 507 w 631"/>
                <a:gd name="T89" fmla="*/ 423 h 626"/>
                <a:gd name="T90" fmla="*/ 504 w 631"/>
                <a:gd name="T91" fmla="*/ 423 h 626"/>
                <a:gd name="T92" fmla="*/ 466 w 631"/>
                <a:gd name="T93" fmla="*/ 360 h 626"/>
                <a:gd name="T94" fmla="*/ 428 w 631"/>
                <a:gd name="T95" fmla="*/ 314 h 626"/>
                <a:gd name="T96" fmla="*/ 441 w 631"/>
                <a:gd name="T97" fmla="*/ 296 h 626"/>
                <a:gd name="T98" fmla="*/ 477 w 631"/>
                <a:gd name="T99" fmla="*/ 282 h 626"/>
                <a:gd name="T100" fmla="*/ 469 w 631"/>
                <a:gd name="T101" fmla="*/ 487 h 626"/>
                <a:gd name="T102" fmla="*/ 507 w 631"/>
                <a:gd name="T103" fmla="*/ 471 h 626"/>
                <a:gd name="T104" fmla="*/ 560 w 631"/>
                <a:gd name="T105" fmla="*/ 524 h 626"/>
                <a:gd name="T106" fmla="*/ 507 w 631"/>
                <a:gd name="T107" fmla="*/ 577 h 626"/>
                <a:gd name="T108" fmla="*/ 454 w 631"/>
                <a:gd name="T109" fmla="*/ 524 h 626"/>
                <a:gd name="T110" fmla="*/ 469 w 631"/>
                <a:gd name="T111" fmla="*/ 487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31" h="626">
                  <a:moveTo>
                    <a:pt x="477" y="282"/>
                  </a:moveTo>
                  <a:cubicBezTo>
                    <a:pt x="477" y="282"/>
                    <a:pt x="521" y="243"/>
                    <a:pt x="554" y="197"/>
                  </a:cubicBezTo>
                  <a:cubicBezTo>
                    <a:pt x="591" y="146"/>
                    <a:pt x="623" y="79"/>
                    <a:pt x="623" y="79"/>
                  </a:cubicBezTo>
                  <a:cubicBezTo>
                    <a:pt x="630" y="58"/>
                    <a:pt x="631" y="40"/>
                    <a:pt x="615" y="28"/>
                  </a:cubicBezTo>
                  <a:lnTo>
                    <a:pt x="593" y="12"/>
                  </a:lnTo>
                  <a:cubicBezTo>
                    <a:pt x="576" y="0"/>
                    <a:pt x="558" y="8"/>
                    <a:pt x="541" y="21"/>
                  </a:cubicBezTo>
                  <a:cubicBezTo>
                    <a:pt x="541" y="21"/>
                    <a:pt x="487" y="73"/>
                    <a:pt x="451" y="123"/>
                  </a:cubicBezTo>
                  <a:cubicBezTo>
                    <a:pt x="415" y="173"/>
                    <a:pt x="395" y="223"/>
                    <a:pt x="395" y="223"/>
                  </a:cubicBezTo>
                  <a:cubicBezTo>
                    <a:pt x="390" y="240"/>
                    <a:pt x="388" y="255"/>
                    <a:pt x="396" y="267"/>
                  </a:cubicBezTo>
                  <a:lnTo>
                    <a:pt x="388" y="278"/>
                  </a:lnTo>
                  <a:cubicBezTo>
                    <a:pt x="374" y="267"/>
                    <a:pt x="359" y="257"/>
                    <a:pt x="346" y="249"/>
                  </a:cubicBezTo>
                  <a:cubicBezTo>
                    <a:pt x="301" y="224"/>
                    <a:pt x="266" y="200"/>
                    <a:pt x="275" y="176"/>
                  </a:cubicBezTo>
                  <a:lnTo>
                    <a:pt x="290" y="132"/>
                  </a:lnTo>
                  <a:cubicBezTo>
                    <a:pt x="295" y="118"/>
                    <a:pt x="272" y="66"/>
                    <a:pt x="254" y="48"/>
                  </a:cubicBezTo>
                  <a:cubicBezTo>
                    <a:pt x="248" y="42"/>
                    <a:pt x="242" y="37"/>
                    <a:pt x="236" y="34"/>
                  </a:cubicBezTo>
                  <a:cubicBezTo>
                    <a:pt x="226" y="27"/>
                    <a:pt x="198" y="17"/>
                    <a:pt x="174" y="19"/>
                  </a:cubicBezTo>
                  <a:cubicBezTo>
                    <a:pt x="151" y="21"/>
                    <a:pt x="129" y="26"/>
                    <a:pt x="125" y="28"/>
                  </a:cubicBezTo>
                  <a:cubicBezTo>
                    <a:pt x="123" y="30"/>
                    <a:pt x="121" y="32"/>
                    <a:pt x="121" y="35"/>
                  </a:cubicBezTo>
                  <a:cubicBezTo>
                    <a:pt x="120" y="39"/>
                    <a:pt x="122" y="44"/>
                    <a:pt x="126" y="49"/>
                  </a:cubicBezTo>
                  <a:lnTo>
                    <a:pt x="167" y="89"/>
                  </a:lnTo>
                  <a:cubicBezTo>
                    <a:pt x="181" y="103"/>
                    <a:pt x="181" y="126"/>
                    <a:pt x="167" y="141"/>
                  </a:cubicBezTo>
                  <a:lnTo>
                    <a:pt x="124" y="184"/>
                  </a:lnTo>
                  <a:cubicBezTo>
                    <a:pt x="117" y="191"/>
                    <a:pt x="107" y="195"/>
                    <a:pt x="98" y="195"/>
                  </a:cubicBezTo>
                  <a:cubicBezTo>
                    <a:pt x="88" y="195"/>
                    <a:pt x="79" y="191"/>
                    <a:pt x="72" y="184"/>
                  </a:cubicBezTo>
                  <a:lnTo>
                    <a:pt x="31" y="144"/>
                  </a:lnTo>
                  <a:cubicBezTo>
                    <a:pt x="27" y="139"/>
                    <a:pt x="22" y="137"/>
                    <a:pt x="18" y="138"/>
                  </a:cubicBezTo>
                  <a:cubicBezTo>
                    <a:pt x="15" y="139"/>
                    <a:pt x="13" y="140"/>
                    <a:pt x="11" y="142"/>
                  </a:cubicBezTo>
                  <a:cubicBezTo>
                    <a:pt x="9" y="146"/>
                    <a:pt x="4" y="168"/>
                    <a:pt x="2" y="191"/>
                  </a:cubicBezTo>
                  <a:cubicBezTo>
                    <a:pt x="0" y="215"/>
                    <a:pt x="8" y="243"/>
                    <a:pt x="14" y="253"/>
                  </a:cubicBezTo>
                  <a:cubicBezTo>
                    <a:pt x="20" y="264"/>
                    <a:pt x="44" y="285"/>
                    <a:pt x="68" y="296"/>
                  </a:cubicBezTo>
                  <a:cubicBezTo>
                    <a:pt x="88" y="304"/>
                    <a:pt x="107" y="309"/>
                    <a:pt x="115" y="307"/>
                  </a:cubicBezTo>
                  <a:cubicBezTo>
                    <a:pt x="115" y="307"/>
                    <a:pt x="135" y="300"/>
                    <a:pt x="159" y="292"/>
                  </a:cubicBezTo>
                  <a:cubicBezTo>
                    <a:pt x="183" y="284"/>
                    <a:pt x="210" y="321"/>
                    <a:pt x="238" y="367"/>
                  </a:cubicBezTo>
                  <a:cubicBezTo>
                    <a:pt x="251" y="388"/>
                    <a:pt x="267" y="409"/>
                    <a:pt x="284" y="426"/>
                  </a:cubicBezTo>
                  <a:lnTo>
                    <a:pt x="176" y="578"/>
                  </a:lnTo>
                  <a:cubicBezTo>
                    <a:pt x="168" y="590"/>
                    <a:pt x="171" y="607"/>
                    <a:pt x="183" y="615"/>
                  </a:cubicBezTo>
                  <a:cubicBezTo>
                    <a:pt x="187" y="619"/>
                    <a:pt x="193" y="620"/>
                    <a:pt x="198" y="620"/>
                  </a:cubicBezTo>
                  <a:cubicBezTo>
                    <a:pt x="206" y="620"/>
                    <a:pt x="215" y="616"/>
                    <a:pt x="220" y="609"/>
                  </a:cubicBezTo>
                  <a:lnTo>
                    <a:pt x="325" y="460"/>
                  </a:lnTo>
                  <a:cubicBezTo>
                    <a:pt x="335" y="467"/>
                    <a:pt x="344" y="474"/>
                    <a:pt x="353" y="481"/>
                  </a:cubicBezTo>
                  <a:cubicBezTo>
                    <a:pt x="382" y="502"/>
                    <a:pt x="406" y="520"/>
                    <a:pt x="406" y="521"/>
                  </a:cubicBezTo>
                  <a:cubicBezTo>
                    <a:pt x="406" y="522"/>
                    <a:pt x="406" y="523"/>
                    <a:pt x="406" y="524"/>
                  </a:cubicBezTo>
                  <a:cubicBezTo>
                    <a:pt x="406" y="580"/>
                    <a:pt x="451" y="626"/>
                    <a:pt x="507" y="626"/>
                  </a:cubicBezTo>
                  <a:cubicBezTo>
                    <a:pt x="563" y="626"/>
                    <a:pt x="609" y="580"/>
                    <a:pt x="609" y="524"/>
                  </a:cubicBezTo>
                  <a:cubicBezTo>
                    <a:pt x="609" y="468"/>
                    <a:pt x="563" y="423"/>
                    <a:pt x="507" y="423"/>
                  </a:cubicBezTo>
                  <a:cubicBezTo>
                    <a:pt x="506" y="423"/>
                    <a:pt x="505" y="423"/>
                    <a:pt x="504" y="423"/>
                  </a:cubicBezTo>
                  <a:cubicBezTo>
                    <a:pt x="503" y="423"/>
                    <a:pt x="489" y="392"/>
                    <a:pt x="466" y="360"/>
                  </a:cubicBezTo>
                  <a:cubicBezTo>
                    <a:pt x="456" y="346"/>
                    <a:pt x="443" y="330"/>
                    <a:pt x="428" y="314"/>
                  </a:cubicBezTo>
                  <a:lnTo>
                    <a:pt x="441" y="296"/>
                  </a:lnTo>
                  <a:cubicBezTo>
                    <a:pt x="453" y="298"/>
                    <a:pt x="465" y="291"/>
                    <a:pt x="477" y="282"/>
                  </a:cubicBezTo>
                  <a:close/>
                  <a:moveTo>
                    <a:pt x="469" y="487"/>
                  </a:moveTo>
                  <a:cubicBezTo>
                    <a:pt x="479" y="476"/>
                    <a:pt x="493" y="471"/>
                    <a:pt x="507" y="471"/>
                  </a:cubicBezTo>
                  <a:cubicBezTo>
                    <a:pt x="536" y="471"/>
                    <a:pt x="560" y="495"/>
                    <a:pt x="560" y="524"/>
                  </a:cubicBezTo>
                  <a:cubicBezTo>
                    <a:pt x="560" y="553"/>
                    <a:pt x="536" y="577"/>
                    <a:pt x="507" y="577"/>
                  </a:cubicBezTo>
                  <a:cubicBezTo>
                    <a:pt x="478" y="577"/>
                    <a:pt x="454" y="553"/>
                    <a:pt x="454" y="524"/>
                  </a:cubicBezTo>
                  <a:cubicBezTo>
                    <a:pt x="454" y="510"/>
                    <a:pt x="459" y="497"/>
                    <a:pt x="469" y="487"/>
                  </a:cubicBezTo>
                  <a:close/>
                </a:path>
              </a:pathLst>
            </a:custGeom>
            <a:solidFill>
              <a:srgbClr val="FFFFFF"/>
            </a:solidFill>
            <a:ln w="12700" cap="flat" cmpd="sng" algn="ctr">
              <a:noFill/>
              <a:prstDash val="solid"/>
              <a:miter lim="800000"/>
            </a:ln>
            <a:effectLst/>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kern="0" dirty="0">
                <a:solidFill>
                  <a:srgbClr val="FFFFFF"/>
                </a:solidFill>
                <a:latin typeface="Arial" panose="020B0604020202020204"/>
                <a:ea typeface="微软雅黑" panose="020B0503020204020204" charset="-122"/>
                <a:sym typeface="+mn-lt"/>
              </a:endParaRPr>
            </a:p>
          </p:txBody>
        </p:sp>
      </p:grpSp>
      <p:graphicFrame>
        <p:nvGraphicFramePr>
          <p:cNvPr id="19" name="表格 18">
            <a:extLst>
              <a:ext uri="{FF2B5EF4-FFF2-40B4-BE49-F238E27FC236}">
                <a16:creationId xmlns:a16="http://schemas.microsoft.com/office/drawing/2014/main" id="{2D1DA053-D616-64E8-8E6C-932DC4D0AE5F}"/>
              </a:ext>
            </a:extLst>
          </p:cNvPr>
          <p:cNvGraphicFramePr/>
          <p:nvPr>
            <p:custDataLst>
              <p:tags r:id="rId7"/>
            </p:custDataLst>
            <p:extLst>
              <p:ext uri="{D42A27DB-BD31-4B8C-83A1-F6EECF244321}">
                <p14:modId xmlns:p14="http://schemas.microsoft.com/office/powerpoint/2010/main" val="1756210608"/>
              </p:ext>
            </p:extLst>
          </p:nvPr>
        </p:nvGraphicFramePr>
        <p:xfrm>
          <a:off x="395700" y="3198458"/>
          <a:ext cx="11325808" cy="2339140"/>
        </p:xfrm>
        <a:graphic>
          <a:graphicData uri="http://schemas.openxmlformats.org/drawingml/2006/table">
            <a:tbl>
              <a:tblPr firstCol="1">
                <a:tableStyleId>{C6ED69F8-9B72-4EC9-AA9E-6817DAD541F4}</a:tableStyleId>
              </a:tblPr>
              <a:tblGrid>
                <a:gridCol w="1140832">
                  <a:extLst>
                    <a:ext uri="{9D8B030D-6E8A-4147-A177-3AD203B41FA5}">
                      <a16:colId xmlns:a16="http://schemas.microsoft.com/office/drawing/2014/main" val="20000"/>
                    </a:ext>
                  </a:extLst>
                </a:gridCol>
                <a:gridCol w="1697496">
                  <a:extLst>
                    <a:ext uri="{9D8B030D-6E8A-4147-A177-3AD203B41FA5}">
                      <a16:colId xmlns:a16="http://schemas.microsoft.com/office/drawing/2014/main" val="20001"/>
                    </a:ext>
                  </a:extLst>
                </a:gridCol>
                <a:gridCol w="1697496">
                  <a:extLst>
                    <a:ext uri="{9D8B030D-6E8A-4147-A177-3AD203B41FA5}">
                      <a16:colId xmlns:a16="http://schemas.microsoft.com/office/drawing/2014/main" val="20002"/>
                    </a:ext>
                  </a:extLst>
                </a:gridCol>
                <a:gridCol w="1697496">
                  <a:extLst>
                    <a:ext uri="{9D8B030D-6E8A-4147-A177-3AD203B41FA5}">
                      <a16:colId xmlns:a16="http://schemas.microsoft.com/office/drawing/2014/main" val="3326857211"/>
                    </a:ext>
                  </a:extLst>
                </a:gridCol>
                <a:gridCol w="1697496">
                  <a:extLst>
                    <a:ext uri="{9D8B030D-6E8A-4147-A177-3AD203B41FA5}">
                      <a16:colId xmlns:a16="http://schemas.microsoft.com/office/drawing/2014/main" val="2663601228"/>
                    </a:ext>
                  </a:extLst>
                </a:gridCol>
                <a:gridCol w="1697496">
                  <a:extLst>
                    <a:ext uri="{9D8B030D-6E8A-4147-A177-3AD203B41FA5}">
                      <a16:colId xmlns:a16="http://schemas.microsoft.com/office/drawing/2014/main" val="943429247"/>
                    </a:ext>
                  </a:extLst>
                </a:gridCol>
                <a:gridCol w="1697496">
                  <a:extLst>
                    <a:ext uri="{9D8B030D-6E8A-4147-A177-3AD203B41FA5}">
                      <a16:colId xmlns:a16="http://schemas.microsoft.com/office/drawing/2014/main" val="1284536593"/>
                    </a:ext>
                  </a:extLst>
                </a:gridCol>
              </a:tblGrid>
              <a:tr h="673795">
                <a:tc>
                  <a:txBody>
                    <a:bodyPr/>
                    <a:lstStyle/>
                    <a:p>
                      <a:pPr algn="ctr" fontAlgn="ctr"/>
                      <a:r>
                        <a:rPr lang="zh-CN" altLang="en-US" sz="1800" dirty="0">
                          <a:solidFill>
                            <a:schemeClr val="bg1"/>
                          </a:solidFill>
                          <a:latin typeface="微软雅黑" panose="020B0503020204020204" pitchFamily="34" charset="-122"/>
                          <a:ea typeface="微软雅黑" panose="020B0503020204020204" pitchFamily="34" charset="-122"/>
                        </a:rPr>
                        <a:t>数据来源</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F4E79"/>
                    </a:solidFill>
                  </a:tcPr>
                </a:tc>
                <a:tc gridSpan="2">
                  <a:txBody>
                    <a:bodyPr/>
                    <a:lstStyle/>
                    <a:p>
                      <a:pPr algn="ctr" fontAlgn="ctr"/>
                      <a:r>
                        <a:rPr lang="zh-CN" altLang="en-US" sz="1600" b="1" dirty="0">
                          <a:latin typeface="微软雅黑" panose="020B0503020204020204" charset="-122"/>
                          <a:ea typeface="微软雅黑" panose="020B0503020204020204" charset="-122"/>
                        </a:rPr>
                        <a:t>车端平台</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tc hMerge="1">
                  <a:txBody>
                    <a:bodyPr/>
                    <a:lstStyle/>
                    <a:p>
                      <a:endParaRPr dirty="0"/>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tc gridSpan="2">
                  <a:txBody>
                    <a:bodyPr/>
                    <a:lstStyle/>
                    <a:p>
                      <a:pPr algn="ctr" fontAlgn="ctr"/>
                      <a:r>
                        <a:rPr lang="zh-CN" altLang="en-US" sz="1600" b="1" dirty="0">
                          <a:latin typeface="微软雅黑" panose="020B0503020204020204" charset="-122"/>
                          <a:ea typeface="微软雅黑" panose="020B0503020204020204" charset="-122"/>
                        </a:rPr>
                        <a:t>路端平台</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tc hMerge="1">
                  <a:txBody>
                    <a:bodyPr/>
                    <a:lstStyle/>
                    <a:p>
                      <a:pPr algn="ctr" fontAlgn="ctr"/>
                      <a:endParaRPr lang="zh-CN" altLang="en-US" sz="1600" b="1" dirty="0">
                        <a:latin typeface="微软雅黑" panose="020B0503020204020204" charset="-122"/>
                        <a:ea typeface="微软雅黑" panose="020B0503020204020204" charset="-122"/>
                      </a:endParaRP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tc gridSpan="2">
                  <a:txBody>
                    <a:bodyPr/>
                    <a:lstStyle/>
                    <a:p>
                      <a:pPr algn="ctr" fontAlgn="ctr"/>
                      <a:r>
                        <a:rPr lang="zh-CN" altLang="en-US" sz="1600" b="1" dirty="0">
                          <a:latin typeface="微软雅黑" panose="020B0503020204020204" charset="-122"/>
                          <a:ea typeface="微软雅黑" panose="020B0503020204020204" charset="-122"/>
                        </a:rPr>
                        <a:t>云支撑平台</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tc hMerge="1">
                  <a:txBody>
                    <a:bodyPr/>
                    <a:lstStyle/>
                    <a:p>
                      <a:pPr algn="ctr" fontAlgn="ctr"/>
                      <a:endParaRPr lang="zh-CN" altLang="en-US" sz="1600" b="1" dirty="0">
                        <a:latin typeface="微软雅黑" panose="020B0503020204020204" charset="-122"/>
                        <a:ea typeface="微软雅黑" panose="020B0503020204020204" charset="-122"/>
                      </a:endParaRP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extLst>
                  <a:ext uri="{0D108BD9-81ED-4DB2-BD59-A6C34878D82A}">
                    <a16:rowId xmlns:a16="http://schemas.microsoft.com/office/drawing/2014/main" val="10001"/>
                  </a:ext>
                </a:extLst>
              </a:tr>
              <a:tr h="990699">
                <a:tc>
                  <a:txBody>
                    <a:bodyPr/>
                    <a:lstStyle/>
                    <a:p>
                      <a:pPr algn="ctr" fontAlgn="ctr"/>
                      <a:r>
                        <a:rPr lang="zh-CN" altLang="en-US" sz="1800" dirty="0">
                          <a:solidFill>
                            <a:schemeClr val="bg1"/>
                          </a:solidFill>
                          <a:latin typeface="微软雅黑" panose="020B0503020204020204" pitchFamily="34" charset="-122"/>
                          <a:ea typeface="微软雅黑" panose="020B0503020204020204" pitchFamily="34" charset="-122"/>
                        </a:rPr>
                        <a:t>数据类型</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F4E79"/>
                    </a:solidFill>
                  </a:tcPr>
                </a:tc>
                <a:tc>
                  <a:txBody>
                    <a:bodyPr/>
                    <a:lstStyle/>
                    <a:p>
                      <a:pPr algn="ctr" fontAlgn="ctr"/>
                      <a:r>
                        <a:rPr lang="zh-CN" altLang="en-US" sz="1600" b="1" dirty="0">
                          <a:latin typeface="微软雅黑" panose="020B0503020204020204" charset="-122"/>
                          <a:ea typeface="微软雅黑" panose="020B0503020204020204" charset="-122"/>
                        </a:rPr>
                        <a:t>车辆用户信息</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AEFF7"/>
                    </a:solidFill>
                  </a:tcPr>
                </a:tc>
                <a:tc>
                  <a:txBody>
                    <a:bodyPr/>
                    <a:lstStyle/>
                    <a:p>
                      <a:pPr algn="ctr" fontAlgn="ctr"/>
                      <a:r>
                        <a:rPr lang="zh-CN" altLang="en-US" sz="1600" b="1" dirty="0">
                          <a:latin typeface="微软雅黑" panose="020B0503020204020204" charset="-122"/>
                          <a:ea typeface="微软雅黑" panose="020B0503020204020204" charset="-122"/>
                        </a:rPr>
                        <a:t>车辆主动感知信息</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AEFF7"/>
                    </a:solidFill>
                  </a:tcPr>
                </a:tc>
                <a:tc>
                  <a:txBody>
                    <a:bodyPr/>
                    <a:lstStyle/>
                    <a:p>
                      <a:pPr algn="ctr" fontAlgn="ctr"/>
                      <a:r>
                        <a:rPr lang="zh-CN" altLang="en-US" sz="1600" b="1" dirty="0">
                          <a:latin typeface="微软雅黑" panose="020B0503020204020204" charset="-122"/>
                          <a:ea typeface="微软雅黑" panose="020B0503020204020204" charset="-122"/>
                        </a:rPr>
                        <a:t>车辆被动感知信息</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AEFF7"/>
                    </a:solidFill>
                  </a:tcPr>
                </a:tc>
                <a:tc>
                  <a:txBody>
                    <a:bodyPr/>
                    <a:lstStyle/>
                    <a:p>
                      <a:pPr algn="ctr" fontAlgn="ctr"/>
                      <a:r>
                        <a:rPr lang="zh-CN" altLang="en-US" sz="1600" b="1" dirty="0">
                          <a:latin typeface="微软雅黑" panose="020B0503020204020204" charset="-122"/>
                          <a:ea typeface="微软雅黑" panose="020B0503020204020204" charset="-122"/>
                        </a:rPr>
                        <a:t>道路实时信息</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AEFF7"/>
                    </a:solidFill>
                  </a:tcPr>
                </a:tc>
                <a:tc>
                  <a:txBody>
                    <a:bodyPr/>
                    <a:lstStyle/>
                    <a:p>
                      <a:pPr algn="ctr" fontAlgn="ctr"/>
                      <a:r>
                        <a:rPr lang="zh-CN" altLang="en-US" sz="1600" b="1" dirty="0">
                          <a:latin typeface="微软雅黑" panose="020B0503020204020204" charset="-122"/>
                          <a:ea typeface="微软雅黑" panose="020B0503020204020204" charset="-122"/>
                        </a:rPr>
                        <a:t>高精度动态地图基础平台地图数据（静态部分）</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AEFF7"/>
                    </a:solidFill>
                  </a:tcPr>
                </a:tc>
                <a:tc>
                  <a:txBody>
                    <a:bodyPr/>
                    <a:lstStyle/>
                    <a:p>
                      <a:pPr algn="ctr" fontAlgn="ctr"/>
                      <a:r>
                        <a:rPr lang="zh-CN" altLang="en-US" sz="1600" b="1" dirty="0">
                          <a:latin typeface="微软雅黑" panose="020B0503020204020204" charset="-122"/>
                          <a:ea typeface="微软雅黑" panose="020B0503020204020204" charset="-122"/>
                        </a:rPr>
                        <a:t>第三方数据</a:t>
                      </a:r>
                      <a:endParaRPr lang="en-US" altLang="zh-CN" sz="1600" b="1" dirty="0">
                        <a:latin typeface="微软雅黑" panose="020B0503020204020204" charset="-122"/>
                        <a:ea typeface="微软雅黑" panose="020B0503020204020204" charset="-122"/>
                      </a:endParaRPr>
                    </a:p>
                    <a:p>
                      <a:pPr algn="ctr" fontAlgn="ctr"/>
                      <a:r>
                        <a:rPr lang="zh-CN" altLang="en-US" sz="1600" b="1" dirty="0">
                          <a:latin typeface="微软雅黑" panose="020B0503020204020204" charset="-122"/>
                          <a:ea typeface="微软雅黑" panose="020B0503020204020204" charset="-122"/>
                        </a:rPr>
                        <a:t>（气象、交管、急救等数据）</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AEFF7"/>
                    </a:solidFill>
                  </a:tcPr>
                </a:tc>
                <a:extLst>
                  <a:ext uri="{0D108BD9-81ED-4DB2-BD59-A6C34878D82A}">
                    <a16:rowId xmlns:a16="http://schemas.microsoft.com/office/drawing/2014/main" val="10002"/>
                  </a:ext>
                </a:extLst>
              </a:tr>
              <a:tr h="674646">
                <a:tc>
                  <a:txBody>
                    <a:bodyPr/>
                    <a:lstStyle/>
                    <a:p>
                      <a:pPr algn="ctr" fontAlgn="ctr"/>
                      <a:r>
                        <a:rPr lang="zh-CN" altLang="en-US" sz="1800" dirty="0">
                          <a:solidFill>
                            <a:schemeClr val="bg1"/>
                          </a:solidFill>
                          <a:latin typeface="微软雅黑" panose="020B0503020204020204" pitchFamily="34" charset="-122"/>
                          <a:ea typeface="微软雅黑" panose="020B0503020204020204" pitchFamily="34" charset="-122"/>
                        </a:rPr>
                        <a:t>相关主体</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1F4E79"/>
                    </a:solidFill>
                  </a:tcPr>
                </a:tc>
                <a:tc>
                  <a:txBody>
                    <a:bodyPr/>
                    <a:lstStyle/>
                    <a:p>
                      <a:pPr algn="ctr" fontAlgn="ctr"/>
                      <a:r>
                        <a:rPr lang="zh-CN" altLang="en-US" sz="1600" b="1" dirty="0">
                          <a:latin typeface="微软雅黑" panose="020B0503020204020204" charset="-122"/>
                          <a:ea typeface="微软雅黑" panose="020B0503020204020204" charset="-122"/>
                        </a:rPr>
                        <a:t>个人</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tc>
                  <a:txBody>
                    <a:bodyPr/>
                    <a:lstStyle/>
                    <a:p>
                      <a:pPr algn="ctr" fontAlgn="ctr"/>
                      <a:r>
                        <a:rPr lang="zh-CN" altLang="en-US" sz="1600" b="1" dirty="0">
                          <a:latin typeface="微软雅黑" panose="020B0503020204020204" charset="-122"/>
                          <a:ea typeface="微软雅黑" panose="020B0503020204020204" charset="-122"/>
                        </a:rPr>
                        <a:t>个人、车企</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tc>
                  <a:txBody>
                    <a:bodyPr/>
                    <a:lstStyle/>
                    <a:p>
                      <a:pPr algn="ctr" fontAlgn="ctr"/>
                      <a:r>
                        <a:rPr lang="en-US" altLang="zh-CN" sz="1600" b="1" dirty="0">
                          <a:latin typeface="微软雅黑" panose="020B0503020204020204" charset="-122"/>
                          <a:ea typeface="微软雅黑" panose="020B0503020204020204" charset="-122"/>
                        </a:rPr>
                        <a:t>ITS</a:t>
                      </a:r>
                      <a:r>
                        <a:rPr lang="zh-CN" altLang="en-US" sz="1600" b="1" dirty="0">
                          <a:latin typeface="微软雅黑" panose="020B0503020204020204" charset="-122"/>
                          <a:ea typeface="微软雅黑" panose="020B0503020204020204" charset="-122"/>
                        </a:rPr>
                        <a:t>供应商</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tc>
                  <a:txBody>
                    <a:bodyPr/>
                    <a:lstStyle/>
                    <a:p>
                      <a:pPr algn="ctr" fontAlgn="ctr"/>
                      <a:r>
                        <a:rPr lang="zh-CN" altLang="en-US" sz="1600" b="1" dirty="0">
                          <a:latin typeface="微软雅黑" panose="020B0503020204020204" charset="-122"/>
                          <a:ea typeface="微软雅黑" panose="020B0503020204020204" charset="-122"/>
                        </a:rPr>
                        <a:t>政府交管部门</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tc>
                  <a:txBody>
                    <a:bodyPr/>
                    <a:lstStyle/>
                    <a:p>
                      <a:pPr algn="ctr" fontAlgn="ctr"/>
                      <a:r>
                        <a:rPr lang="zh-CN" altLang="en-US" sz="1600" b="1" dirty="0">
                          <a:latin typeface="微软雅黑" panose="020B0503020204020204" charset="-122"/>
                          <a:ea typeface="微软雅黑" panose="020B0503020204020204" charset="-122"/>
                        </a:rPr>
                        <a:t>图商</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tc>
                  <a:txBody>
                    <a:bodyPr/>
                    <a:lstStyle/>
                    <a:p>
                      <a:pPr algn="ctr" fontAlgn="ctr"/>
                      <a:r>
                        <a:rPr lang="zh-CN" altLang="en-US" sz="1600" b="1" dirty="0">
                          <a:latin typeface="微软雅黑" panose="020B0503020204020204" charset="-122"/>
                          <a:ea typeface="微软雅黑" panose="020B0503020204020204" charset="-122"/>
                        </a:rPr>
                        <a:t>政府、气象、交管等相关部门</a:t>
                      </a:r>
                    </a:p>
                  </a:txBody>
                  <a:tcPr marL="7937" marR="7937" marT="7937" marB="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D2DEEF"/>
                    </a:solidFill>
                  </a:tcPr>
                </a:tc>
                <a:extLst>
                  <a:ext uri="{0D108BD9-81ED-4DB2-BD59-A6C34878D82A}">
                    <a16:rowId xmlns:a16="http://schemas.microsoft.com/office/drawing/2014/main" val="10003"/>
                  </a:ext>
                </a:extLst>
              </a:tr>
            </a:tbl>
          </a:graphicData>
        </a:graphic>
      </p:graphicFrame>
      <p:sp>
        <p:nvSpPr>
          <p:cNvPr id="10" name="文本框 38">
            <a:extLst>
              <a:ext uri="{FF2B5EF4-FFF2-40B4-BE49-F238E27FC236}">
                <a16:creationId xmlns:a16="http://schemas.microsoft.com/office/drawing/2014/main" id="{D9EDC1BB-75B4-763E-03B0-3466A04B22A8}"/>
              </a:ext>
            </a:extLst>
          </p:cNvPr>
          <p:cNvSpPr txBox="1"/>
          <p:nvPr/>
        </p:nvSpPr>
        <p:spPr>
          <a:xfrm>
            <a:off x="3807723" y="2129668"/>
            <a:ext cx="4575282" cy="454246"/>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rgbClr val="1F4E79"/>
                </a:solidFill>
                <a:latin typeface="Arial" panose="020B0604020202020204"/>
                <a:ea typeface="微软雅黑" panose="020B0503020204020204" charset="-122"/>
                <a:cs typeface="+mn-ea"/>
                <a:sym typeface="+mn-lt"/>
              </a:rPr>
              <a:t>车路云一体化下高精地图的数据</a:t>
            </a:r>
            <a:endParaRPr lang="en-US" altLang="zh-CN" sz="2400" b="1" dirty="0">
              <a:solidFill>
                <a:srgbClr val="1F4E79"/>
              </a:solidFill>
              <a:latin typeface="Arial" panose="020B0604020202020204"/>
              <a:ea typeface="微软雅黑" panose="020B0503020204020204" charset="-122"/>
              <a:cs typeface="+mn-ea"/>
              <a:sym typeface="+mn-lt"/>
            </a:endParaRPr>
          </a:p>
        </p:txBody>
      </p:sp>
      <p:sp>
        <p:nvSpPr>
          <p:cNvPr id="12" name="文本框 17">
            <a:extLst>
              <a:ext uri="{FF2B5EF4-FFF2-40B4-BE49-F238E27FC236}">
                <a16:creationId xmlns:a16="http://schemas.microsoft.com/office/drawing/2014/main" id="{74E94A9D-8665-D47C-62BA-3C8DFFCB6552}"/>
              </a:ext>
            </a:extLst>
          </p:cNvPr>
          <p:cNvSpPr txBox="1"/>
          <p:nvPr/>
        </p:nvSpPr>
        <p:spPr>
          <a:xfrm>
            <a:off x="1430617" y="2780835"/>
            <a:ext cx="9994234" cy="509494"/>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266700" fontAlgn="auto">
              <a:lnSpc>
                <a:spcPts val="2300"/>
              </a:lnSpc>
              <a:spcBef>
                <a:spcPct val="0"/>
              </a:spcBef>
              <a:spcAft>
                <a:spcPct val="0"/>
              </a:spcAft>
            </a:pPr>
            <a:r>
              <a:rPr lang="zh-CN" altLang="en-US" sz="1800" b="1" dirty="0">
                <a:solidFill>
                  <a:srgbClr val="C00000"/>
                </a:solidFill>
                <a:latin typeface="微软雅黑" panose="020B0503020204020204" charset="-122"/>
                <a:ea typeface="微软雅黑" panose="020B0503020204020204" charset="-122"/>
              </a:rPr>
              <a:t>在感知阶段，</a:t>
            </a:r>
            <a:r>
              <a:rPr lang="zh-CN" altLang="en-US" sz="1800" b="1" dirty="0">
                <a:latin typeface="微软雅黑" panose="020B0503020204020204" charset="-122"/>
                <a:ea typeface="微软雅黑" panose="020B0503020204020204" charset="-122"/>
              </a:rPr>
              <a:t>结合四层一体化模型的数据分类对感知阶段高精地图数据来源及类型进行分类：</a:t>
            </a:r>
            <a:endParaRPr lang="zh-CN" altLang="en-US" b="1" dirty="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3" name="文本框 17">
            <a:extLst>
              <a:ext uri="{FF2B5EF4-FFF2-40B4-BE49-F238E27FC236}">
                <a16:creationId xmlns:a16="http://schemas.microsoft.com/office/drawing/2014/main" id="{3B54E037-540D-9EE0-81D6-8D3AE691B1DA}"/>
              </a:ext>
            </a:extLst>
          </p:cNvPr>
          <p:cNvSpPr txBox="1"/>
          <p:nvPr/>
        </p:nvSpPr>
        <p:spPr>
          <a:xfrm>
            <a:off x="395700" y="5644837"/>
            <a:ext cx="11325808" cy="509494"/>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defTabSz="266700" fontAlgn="auto">
              <a:lnSpc>
                <a:spcPts val="2300"/>
              </a:lnSpc>
              <a:spcBef>
                <a:spcPct val="0"/>
              </a:spcBef>
              <a:spcAft>
                <a:spcPct val="0"/>
              </a:spcAft>
            </a:pPr>
            <a:r>
              <a:rPr lang="zh-CN" altLang="en-US" sz="1800" b="1" dirty="0">
                <a:latin typeface="微软雅黑" panose="020B0503020204020204" charset="-122"/>
                <a:ea typeface="微软雅黑" panose="020B0503020204020204" charset="-122"/>
              </a:rPr>
              <a:t>在</a:t>
            </a:r>
            <a:r>
              <a:rPr lang="zh-CN" altLang="en-US" sz="1800" b="1" dirty="0">
                <a:solidFill>
                  <a:srgbClr val="C00000"/>
                </a:solidFill>
                <a:latin typeface="微软雅黑" panose="020B0503020204020204" charset="-122"/>
                <a:ea typeface="微软雅黑" panose="020B0503020204020204" charset="-122"/>
              </a:rPr>
              <a:t>决策与控制阶段</a:t>
            </a:r>
            <a:r>
              <a:rPr lang="zh-CN" altLang="en-US" sz="1800" b="1" dirty="0">
                <a:latin typeface="微软雅黑" panose="020B0503020204020204" charset="-122"/>
                <a:ea typeface="微软雅黑" panose="020B0503020204020204" charset="-122"/>
              </a:rPr>
              <a:t>，感知阶段数据在系统中流通，经过各级机构与组织对其进行加工产生的</a:t>
            </a:r>
            <a:r>
              <a:rPr lang="zh-CN" altLang="en-US" sz="1800" b="1" dirty="0">
                <a:solidFill>
                  <a:srgbClr val="C00000"/>
                </a:solidFill>
                <a:latin typeface="微软雅黑" panose="020B0503020204020204" charset="-122"/>
                <a:ea typeface="微软雅黑" panose="020B0503020204020204" charset="-122"/>
              </a:rPr>
              <a:t>衍生数据与衍生数据产品</a:t>
            </a:r>
            <a:r>
              <a:rPr lang="zh-CN" altLang="en-US" sz="1800" b="1" dirty="0">
                <a:latin typeface="微软雅黑" panose="020B0503020204020204" charset="-122"/>
                <a:ea typeface="微软雅黑" panose="020B0503020204020204" charset="-122"/>
              </a:rPr>
              <a:t>，用于智能网联汽车的决策与控制。</a:t>
            </a:r>
          </a:p>
          <a:p>
            <a:pPr algn="just" defTabSz="266700" fontAlgn="auto">
              <a:lnSpc>
                <a:spcPts val="2300"/>
              </a:lnSpc>
              <a:spcBef>
                <a:spcPct val="0"/>
              </a:spcBef>
              <a:spcAft>
                <a:spcPct val="0"/>
              </a:spcAft>
            </a:pPr>
            <a:endParaRPr lang="zh-CN" altLang="en-US" b="1" dirty="0">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5" name="文本框 14">
            <a:extLst>
              <a:ext uri="{FF2B5EF4-FFF2-40B4-BE49-F238E27FC236}">
                <a16:creationId xmlns:a16="http://schemas.microsoft.com/office/drawing/2014/main" id="{B0A870B7-5213-62D1-1688-B26C95474EA8}"/>
              </a:ext>
            </a:extLst>
          </p:cNvPr>
          <p:cNvSpPr txBox="1"/>
          <p:nvPr/>
        </p:nvSpPr>
        <p:spPr>
          <a:xfrm>
            <a:off x="-6250" y="703669"/>
            <a:ext cx="898515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高精地图数据权利转移和价值体现：正式生产阶段</a:t>
            </a:r>
          </a:p>
        </p:txBody>
      </p:sp>
    </p:spTree>
    <p:extLst>
      <p:ext uri="{BB962C8B-B14F-4D97-AF65-F5344CB8AC3E}">
        <p14:creationId xmlns:p14="http://schemas.microsoft.com/office/powerpoint/2010/main" val="2030695171"/>
      </p:ext>
    </p:extLst>
  </p:cSld>
  <p:clrMapOvr>
    <a:masterClrMapping/>
  </p:clrMapOvr>
  <p:transition spd="med" advClick="0" advTm="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pic>
        <p:nvPicPr>
          <p:cNvPr id="6" name="图片 5">
            <a:extLst>
              <a:ext uri="{FF2B5EF4-FFF2-40B4-BE49-F238E27FC236}">
                <a16:creationId xmlns:a16="http://schemas.microsoft.com/office/drawing/2014/main" id="{D1A22EED-7B4F-7F22-B816-E0332A5904ED}"/>
              </a:ext>
            </a:extLst>
          </p:cNvPr>
          <p:cNvPicPr>
            <a:picLocks noChangeAspect="1"/>
          </p:cNvPicPr>
          <p:nvPr/>
        </p:nvPicPr>
        <p:blipFill>
          <a:blip r:embed="rId9"/>
          <a:srcRect l="1663" t="8774" r="9928" b="10295"/>
          <a:stretch>
            <a:fillRect/>
          </a:stretch>
        </p:blipFill>
        <p:spPr>
          <a:xfrm>
            <a:off x="94246" y="1213532"/>
            <a:ext cx="8394446" cy="5171633"/>
          </a:xfrm>
          <a:prstGeom prst="rect">
            <a:avLst/>
          </a:prstGeom>
          <a:noFill/>
          <a:ln>
            <a:noFill/>
          </a:ln>
        </p:spPr>
      </p:pic>
      <p:sp>
        <p:nvSpPr>
          <p:cNvPr id="8" name="矩形 7">
            <a:extLst>
              <a:ext uri="{FF2B5EF4-FFF2-40B4-BE49-F238E27FC236}">
                <a16:creationId xmlns:a16="http://schemas.microsoft.com/office/drawing/2014/main" id="{01E55C90-F224-7299-49C7-1E7DC24BBB72}"/>
              </a:ext>
            </a:extLst>
          </p:cNvPr>
          <p:cNvSpPr/>
          <p:nvPr/>
        </p:nvSpPr>
        <p:spPr>
          <a:xfrm>
            <a:off x="8910259" y="1814751"/>
            <a:ext cx="2884170" cy="404054"/>
          </a:xfrm>
          <a:prstGeom prst="rect">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latin typeface="微软雅黑" panose="020B0503020204020204" charset="-122"/>
                <a:ea typeface="微软雅黑" panose="020B0503020204020204" charset="-122"/>
              </a:rPr>
              <a:t>（</a:t>
            </a:r>
            <a:r>
              <a:rPr lang="en-US" altLang="zh-CN" b="1" dirty="0">
                <a:latin typeface="微软雅黑" panose="020B0503020204020204" charset="-122"/>
                <a:ea typeface="微软雅黑" panose="020B0503020204020204" charset="-122"/>
              </a:rPr>
              <a:t>1</a:t>
            </a:r>
            <a:r>
              <a:rPr lang="zh-CN" altLang="en-US" b="1" dirty="0">
                <a:latin typeface="微软雅黑" panose="020B0503020204020204" charset="-122"/>
                <a:ea typeface="微软雅黑" panose="020B0503020204020204" charset="-122"/>
              </a:rPr>
              <a:t>）车端数据流通</a:t>
            </a:r>
          </a:p>
        </p:txBody>
      </p:sp>
      <p:sp>
        <p:nvSpPr>
          <p:cNvPr id="11" name="矩形 10">
            <a:extLst>
              <a:ext uri="{FF2B5EF4-FFF2-40B4-BE49-F238E27FC236}">
                <a16:creationId xmlns:a16="http://schemas.microsoft.com/office/drawing/2014/main" id="{DE334C91-983E-BBDB-57B7-8CCE1AA0DCCF}"/>
              </a:ext>
            </a:extLst>
          </p:cNvPr>
          <p:cNvSpPr/>
          <p:nvPr/>
        </p:nvSpPr>
        <p:spPr>
          <a:xfrm>
            <a:off x="8910259" y="2218804"/>
            <a:ext cx="2884170" cy="333239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457200" algn="just"/>
            <a:r>
              <a:rPr lang="zh-CN" altLang="en-US" sz="1600" b="1" dirty="0">
                <a:solidFill>
                  <a:srgbClr val="C00000"/>
                </a:solidFill>
                <a:latin typeface="微软雅黑" panose="020B0503020204020204" charset="-122"/>
                <a:ea typeface="微软雅黑" panose="020B0503020204020204" charset="-122"/>
              </a:rPr>
              <a:t>①车端通信：</a:t>
            </a:r>
            <a:r>
              <a:rPr lang="zh-CN" altLang="en-US" sz="1600" b="1" dirty="0">
                <a:solidFill>
                  <a:schemeClr val="tx1"/>
                </a:solidFill>
                <a:latin typeface="微软雅黑" panose="020B0503020204020204" charset="-122"/>
                <a:ea typeface="微软雅黑" panose="020B0503020204020204" charset="-122"/>
              </a:rPr>
              <a:t>车车协同，实时交换车辆运行状态、环境感知数据及驾驶意图等信息。</a:t>
            </a:r>
            <a:endParaRPr lang="en-US" altLang="zh-CN" sz="1600" b="1" dirty="0">
              <a:solidFill>
                <a:schemeClr val="tx1"/>
              </a:solidFill>
              <a:latin typeface="微软雅黑" panose="020B0503020204020204" charset="-122"/>
              <a:ea typeface="微软雅黑" panose="020B0503020204020204" charset="-122"/>
            </a:endParaRPr>
          </a:p>
          <a:p>
            <a:pPr indent="457200" algn="just"/>
            <a:r>
              <a:rPr lang="zh-CN" altLang="en-US" sz="1600" b="1" dirty="0">
                <a:solidFill>
                  <a:srgbClr val="C00000"/>
                </a:solidFill>
                <a:latin typeface="微软雅黑" panose="020B0503020204020204" charset="-122"/>
                <a:ea typeface="微软雅黑" panose="020B0503020204020204" charset="-122"/>
              </a:rPr>
              <a:t>②路端通信：</a:t>
            </a:r>
            <a:r>
              <a:rPr lang="zh-CN" altLang="en-US" sz="1600" b="1" dirty="0">
                <a:solidFill>
                  <a:schemeClr val="tx1"/>
                </a:solidFill>
                <a:latin typeface="微软雅黑" panose="020B0503020204020204" charset="-122"/>
                <a:ea typeface="微软雅黑" panose="020B0503020204020204" charset="-122"/>
              </a:rPr>
              <a:t>向路侧单元传输车端实时运行状态与感知数据，支持路侧协同决策。</a:t>
            </a:r>
            <a:endParaRPr lang="en-US" altLang="zh-CN" sz="1600" b="1" dirty="0">
              <a:solidFill>
                <a:schemeClr val="tx1"/>
              </a:solidFill>
              <a:latin typeface="微软雅黑" panose="020B0503020204020204" charset="-122"/>
              <a:ea typeface="微软雅黑" panose="020B0503020204020204" charset="-122"/>
            </a:endParaRPr>
          </a:p>
          <a:p>
            <a:pPr indent="457200" algn="just"/>
            <a:r>
              <a:rPr lang="zh-CN" altLang="en-US" sz="1600" b="1" dirty="0">
                <a:solidFill>
                  <a:srgbClr val="C00000"/>
                </a:solidFill>
                <a:latin typeface="微软雅黑" panose="020B0503020204020204" charset="-122"/>
                <a:ea typeface="微软雅黑" panose="020B0503020204020204" charset="-122"/>
              </a:rPr>
              <a:t>③云端通信：</a:t>
            </a:r>
            <a:r>
              <a:rPr lang="zh-CN" altLang="en-US" sz="1600" b="1" dirty="0">
                <a:solidFill>
                  <a:schemeClr val="tx1"/>
                </a:solidFill>
                <a:latin typeface="微软雅黑" panose="020B0503020204020204" charset="-122"/>
                <a:ea typeface="微软雅黑" panose="020B0503020204020204" charset="-122"/>
              </a:rPr>
              <a:t>向云端上传车辆运行参数及周边交通态势数据。</a:t>
            </a:r>
            <a:endParaRPr lang="en-US" altLang="zh-CN" sz="1600" b="1" dirty="0">
              <a:solidFill>
                <a:schemeClr val="tx1"/>
              </a:solidFill>
              <a:latin typeface="微软雅黑" panose="020B0503020204020204" charset="-122"/>
              <a:ea typeface="微软雅黑" panose="020B0503020204020204" charset="-122"/>
            </a:endParaRPr>
          </a:p>
          <a:p>
            <a:pPr indent="457200" algn="just"/>
            <a:r>
              <a:rPr lang="zh-CN" altLang="en-US" sz="1600" b="1" dirty="0">
                <a:solidFill>
                  <a:srgbClr val="C00000"/>
                </a:solidFill>
                <a:latin typeface="微软雅黑" panose="020B0503020204020204" charset="-122"/>
                <a:ea typeface="微软雅黑" panose="020B0503020204020204" charset="-122"/>
              </a:rPr>
              <a:t>④相关支撑平台通信：</a:t>
            </a:r>
            <a:r>
              <a:rPr lang="zh-CN" altLang="en-US" sz="1600" b="1" dirty="0">
                <a:solidFill>
                  <a:schemeClr val="tx1"/>
                </a:solidFill>
                <a:latin typeface="微软雅黑" panose="020B0503020204020204" charset="-122"/>
                <a:ea typeface="微软雅黑" panose="020B0503020204020204" charset="-122"/>
              </a:rPr>
              <a:t>向相关支撑平台提交数字身份认证及高精度定位增强数据。</a:t>
            </a:r>
          </a:p>
        </p:txBody>
      </p:sp>
      <p:sp>
        <p:nvSpPr>
          <p:cNvPr id="10" name="文本框 9">
            <a:extLst>
              <a:ext uri="{FF2B5EF4-FFF2-40B4-BE49-F238E27FC236}">
                <a16:creationId xmlns:a16="http://schemas.microsoft.com/office/drawing/2014/main" id="{C6AAFD06-13BB-B67E-3BFA-B7E1FEB813C4}"/>
              </a:ext>
            </a:extLst>
          </p:cNvPr>
          <p:cNvSpPr txBox="1"/>
          <p:nvPr/>
        </p:nvSpPr>
        <p:spPr>
          <a:xfrm>
            <a:off x="-6250" y="703669"/>
            <a:ext cx="1090285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高精地图数据权利转移和价值体现：正式生产阶段数据流通</a:t>
            </a:r>
          </a:p>
        </p:txBody>
      </p:sp>
    </p:spTree>
    <p:extLst>
      <p:ext uri="{BB962C8B-B14F-4D97-AF65-F5344CB8AC3E}">
        <p14:creationId xmlns:p14="http://schemas.microsoft.com/office/powerpoint/2010/main" val="3595982728"/>
      </p:ext>
    </p:extLst>
  </p:cSld>
  <p:clrMapOvr>
    <a:masterClrMapping/>
  </p:clrMapOvr>
  <p:transition spd="med" advClick="0" advTm="0"/>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pic>
        <p:nvPicPr>
          <p:cNvPr id="6" name="图片 5">
            <a:extLst>
              <a:ext uri="{FF2B5EF4-FFF2-40B4-BE49-F238E27FC236}">
                <a16:creationId xmlns:a16="http://schemas.microsoft.com/office/drawing/2014/main" id="{D1A22EED-7B4F-7F22-B816-E0332A5904ED}"/>
              </a:ext>
            </a:extLst>
          </p:cNvPr>
          <p:cNvPicPr>
            <a:picLocks noChangeAspect="1"/>
          </p:cNvPicPr>
          <p:nvPr/>
        </p:nvPicPr>
        <p:blipFill>
          <a:blip r:embed="rId9"/>
          <a:srcRect l="1663" t="8774" r="9928" b="10295"/>
          <a:stretch>
            <a:fillRect/>
          </a:stretch>
        </p:blipFill>
        <p:spPr>
          <a:xfrm>
            <a:off x="94246" y="1213532"/>
            <a:ext cx="8394446" cy="5171633"/>
          </a:xfrm>
          <a:prstGeom prst="rect">
            <a:avLst/>
          </a:prstGeom>
          <a:noFill/>
          <a:ln>
            <a:noFill/>
          </a:ln>
        </p:spPr>
      </p:pic>
      <p:sp>
        <p:nvSpPr>
          <p:cNvPr id="8" name="矩形 7">
            <a:extLst>
              <a:ext uri="{FF2B5EF4-FFF2-40B4-BE49-F238E27FC236}">
                <a16:creationId xmlns:a16="http://schemas.microsoft.com/office/drawing/2014/main" id="{01E55C90-F224-7299-49C7-1E7DC24BBB72}"/>
              </a:ext>
            </a:extLst>
          </p:cNvPr>
          <p:cNvSpPr/>
          <p:nvPr/>
        </p:nvSpPr>
        <p:spPr>
          <a:xfrm>
            <a:off x="8903059" y="1638873"/>
            <a:ext cx="2884170" cy="404054"/>
          </a:xfrm>
          <a:prstGeom prst="rect">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latin typeface="微软雅黑" panose="020B0503020204020204" charset="-122"/>
                <a:ea typeface="微软雅黑" panose="020B0503020204020204" charset="-122"/>
              </a:rPr>
              <a:t>（</a:t>
            </a:r>
            <a:r>
              <a:rPr lang="en-US" altLang="zh-CN" b="1" dirty="0">
                <a:latin typeface="微软雅黑" panose="020B0503020204020204" charset="-122"/>
                <a:ea typeface="微软雅黑" panose="020B0503020204020204" charset="-122"/>
              </a:rPr>
              <a:t>2</a:t>
            </a:r>
            <a:r>
              <a:rPr lang="zh-CN" altLang="en-US" b="1" dirty="0">
                <a:latin typeface="微软雅黑" panose="020B0503020204020204" charset="-122"/>
                <a:ea typeface="微软雅黑" panose="020B0503020204020204" charset="-122"/>
              </a:rPr>
              <a:t>）路端数据流通</a:t>
            </a:r>
          </a:p>
        </p:txBody>
      </p:sp>
      <p:sp>
        <p:nvSpPr>
          <p:cNvPr id="11" name="矩形 10">
            <a:extLst>
              <a:ext uri="{FF2B5EF4-FFF2-40B4-BE49-F238E27FC236}">
                <a16:creationId xmlns:a16="http://schemas.microsoft.com/office/drawing/2014/main" id="{DE334C91-983E-BBDB-57B7-8CCE1AA0DCCF}"/>
              </a:ext>
            </a:extLst>
          </p:cNvPr>
          <p:cNvSpPr/>
          <p:nvPr/>
        </p:nvSpPr>
        <p:spPr>
          <a:xfrm>
            <a:off x="8903059" y="2042926"/>
            <a:ext cx="2884170" cy="3771596"/>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457200" algn="just"/>
            <a:r>
              <a:rPr lang="zh-CN" altLang="en-US" sz="1600" b="1" dirty="0">
                <a:solidFill>
                  <a:srgbClr val="C00000"/>
                </a:solidFill>
                <a:latin typeface="微软雅黑" panose="020B0503020204020204" charset="-122"/>
                <a:ea typeface="微软雅黑" panose="020B0503020204020204" charset="-122"/>
              </a:rPr>
              <a:t>①车端通信：</a:t>
            </a:r>
            <a:r>
              <a:rPr lang="zh-CN" altLang="en-US" sz="1600" b="1" dirty="0">
                <a:solidFill>
                  <a:schemeClr val="tx1"/>
                </a:solidFill>
                <a:latin typeface="微软雅黑" panose="020B0503020204020204" charset="-122"/>
                <a:ea typeface="微软雅黑" panose="020B0503020204020204" charset="-122"/>
              </a:rPr>
              <a:t>向车端实时推送局部交通态势感知结果、协同决策建议、设施地图位置信息及定位增强服务。</a:t>
            </a:r>
            <a:endParaRPr lang="en-US" altLang="zh-CN" sz="1600" b="1" dirty="0">
              <a:solidFill>
                <a:schemeClr val="tx1"/>
              </a:solidFill>
              <a:latin typeface="微软雅黑" panose="020B0503020204020204" charset="-122"/>
              <a:ea typeface="微软雅黑" panose="020B0503020204020204" charset="-122"/>
            </a:endParaRPr>
          </a:p>
          <a:p>
            <a:pPr indent="457200" algn="just"/>
            <a:r>
              <a:rPr lang="zh-CN" altLang="en-US" sz="1600" b="1" dirty="0">
                <a:solidFill>
                  <a:srgbClr val="C00000"/>
                </a:solidFill>
                <a:latin typeface="微软雅黑" panose="020B0503020204020204" charset="-122"/>
                <a:ea typeface="微软雅黑" panose="020B0503020204020204" charset="-122"/>
              </a:rPr>
              <a:t>②路端（交通管控部门）通信：</a:t>
            </a:r>
            <a:r>
              <a:rPr lang="zh-CN" altLang="en-US" sz="1600" b="1" dirty="0">
                <a:solidFill>
                  <a:schemeClr val="tx1"/>
                </a:solidFill>
                <a:latin typeface="微软雅黑" panose="020B0503020204020204" charset="-122"/>
                <a:ea typeface="微软雅黑" panose="020B0503020204020204" charset="-122"/>
              </a:rPr>
              <a:t>收到来自交通管理部门的管控指令，包括信号灯相位数据等数字化管控信号。</a:t>
            </a:r>
            <a:endParaRPr lang="en-US" altLang="zh-CN" sz="1600" b="1" dirty="0">
              <a:solidFill>
                <a:schemeClr val="tx1"/>
              </a:solidFill>
              <a:latin typeface="微软雅黑" panose="020B0503020204020204" charset="-122"/>
              <a:ea typeface="微软雅黑" panose="020B0503020204020204" charset="-122"/>
            </a:endParaRPr>
          </a:p>
          <a:p>
            <a:pPr indent="457200" algn="just"/>
            <a:r>
              <a:rPr lang="zh-CN" altLang="en-US" sz="1600" b="1" dirty="0">
                <a:solidFill>
                  <a:srgbClr val="C00000"/>
                </a:solidFill>
                <a:latin typeface="微软雅黑" panose="020B0503020204020204" charset="-122"/>
                <a:ea typeface="微软雅黑" panose="020B0503020204020204" charset="-122"/>
              </a:rPr>
              <a:t>③云端通信：</a:t>
            </a:r>
            <a:r>
              <a:rPr lang="zh-CN" altLang="en-US" sz="1600" b="1" dirty="0">
                <a:solidFill>
                  <a:schemeClr val="tx1"/>
                </a:solidFill>
                <a:latin typeface="微软雅黑" panose="020B0503020204020204" charset="-122"/>
                <a:ea typeface="微软雅黑" panose="020B0503020204020204" charset="-122"/>
              </a:rPr>
              <a:t>实时交通流数据和设施运维状态。</a:t>
            </a:r>
            <a:endParaRPr lang="en-US" altLang="zh-CN" sz="1600" b="1" dirty="0">
              <a:solidFill>
                <a:schemeClr val="tx1"/>
              </a:solidFill>
              <a:latin typeface="微软雅黑" panose="020B0503020204020204" charset="-122"/>
              <a:ea typeface="微软雅黑" panose="020B0503020204020204" charset="-122"/>
            </a:endParaRPr>
          </a:p>
          <a:p>
            <a:pPr indent="457200" algn="just"/>
            <a:r>
              <a:rPr lang="zh-CN" altLang="en-US" sz="1600" b="1" dirty="0">
                <a:solidFill>
                  <a:srgbClr val="C00000"/>
                </a:solidFill>
                <a:latin typeface="微软雅黑" panose="020B0503020204020204" charset="-122"/>
                <a:ea typeface="微软雅黑" panose="020B0503020204020204" charset="-122"/>
              </a:rPr>
              <a:t>④相关支撑平台通信：</a:t>
            </a:r>
            <a:r>
              <a:rPr lang="zh-CN" altLang="en-US" sz="1600" b="1" dirty="0">
                <a:solidFill>
                  <a:schemeClr val="tx1"/>
                </a:solidFill>
                <a:latin typeface="微软雅黑" panose="020B0503020204020204" charset="-122"/>
                <a:ea typeface="微软雅黑" panose="020B0503020204020204" charset="-122"/>
              </a:rPr>
              <a:t>地理信息数据、路侧路政状况、信号灯数据、数字身份认证及高精度定位增强数据。</a:t>
            </a:r>
          </a:p>
        </p:txBody>
      </p:sp>
      <p:sp>
        <p:nvSpPr>
          <p:cNvPr id="10" name="文本框 9">
            <a:extLst>
              <a:ext uri="{FF2B5EF4-FFF2-40B4-BE49-F238E27FC236}">
                <a16:creationId xmlns:a16="http://schemas.microsoft.com/office/drawing/2014/main" id="{E9076203-A983-7CC9-2BBC-E491836102DD}"/>
              </a:ext>
            </a:extLst>
          </p:cNvPr>
          <p:cNvSpPr txBox="1"/>
          <p:nvPr/>
        </p:nvSpPr>
        <p:spPr>
          <a:xfrm>
            <a:off x="-6250" y="703669"/>
            <a:ext cx="1090285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高精地图数据权利转移和价值体现：正式生产阶段数据流通</a:t>
            </a:r>
          </a:p>
        </p:txBody>
      </p:sp>
    </p:spTree>
    <p:extLst>
      <p:ext uri="{BB962C8B-B14F-4D97-AF65-F5344CB8AC3E}">
        <p14:creationId xmlns:p14="http://schemas.microsoft.com/office/powerpoint/2010/main" val="2349646054"/>
      </p:ext>
    </p:extLst>
  </p:cSld>
  <p:clrMapOvr>
    <a:masterClrMapping/>
  </p:clrMapOvr>
  <p:transition spd="med" advClick="0" advTm="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pic>
        <p:nvPicPr>
          <p:cNvPr id="6" name="图片 5">
            <a:extLst>
              <a:ext uri="{FF2B5EF4-FFF2-40B4-BE49-F238E27FC236}">
                <a16:creationId xmlns:a16="http://schemas.microsoft.com/office/drawing/2014/main" id="{D1A22EED-7B4F-7F22-B816-E0332A5904ED}"/>
              </a:ext>
            </a:extLst>
          </p:cNvPr>
          <p:cNvPicPr>
            <a:picLocks noChangeAspect="1"/>
          </p:cNvPicPr>
          <p:nvPr/>
        </p:nvPicPr>
        <p:blipFill>
          <a:blip r:embed="rId9"/>
          <a:srcRect l="1663" t="8774" r="9928" b="10295"/>
          <a:stretch>
            <a:fillRect/>
          </a:stretch>
        </p:blipFill>
        <p:spPr>
          <a:xfrm>
            <a:off x="94246" y="1213532"/>
            <a:ext cx="8394446" cy="5171633"/>
          </a:xfrm>
          <a:prstGeom prst="rect">
            <a:avLst/>
          </a:prstGeom>
          <a:noFill/>
          <a:ln>
            <a:noFill/>
          </a:ln>
        </p:spPr>
      </p:pic>
      <p:sp>
        <p:nvSpPr>
          <p:cNvPr id="8" name="矩形 7">
            <a:extLst>
              <a:ext uri="{FF2B5EF4-FFF2-40B4-BE49-F238E27FC236}">
                <a16:creationId xmlns:a16="http://schemas.microsoft.com/office/drawing/2014/main" id="{01E55C90-F224-7299-49C7-1E7DC24BBB72}"/>
              </a:ext>
            </a:extLst>
          </p:cNvPr>
          <p:cNvSpPr/>
          <p:nvPr/>
        </p:nvSpPr>
        <p:spPr>
          <a:xfrm>
            <a:off x="8903059" y="2121273"/>
            <a:ext cx="2884170" cy="404054"/>
          </a:xfrm>
          <a:prstGeom prst="rect">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latin typeface="微软雅黑" panose="020B0503020204020204" charset="-122"/>
                <a:ea typeface="微软雅黑" panose="020B0503020204020204" charset="-122"/>
              </a:rPr>
              <a:t>（</a:t>
            </a:r>
            <a:r>
              <a:rPr lang="en-US" altLang="zh-CN" b="1" dirty="0">
                <a:latin typeface="微软雅黑" panose="020B0503020204020204" charset="-122"/>
                <a:ea typeface="微软雅黑" panose="020B0503020204020204" charset="-122"/>
              </a:rPr>
              <a:t>3</a:t>
            </a:r>
            <a:r>
              <a:rPr lang="zh-CN" altLang="en-US" b="1" dirty="0">
                <a:latin typeface="微软雅黑" panose="020B0503020204020204" charset="-122"/>
                <a:ea typeface="微软雅黑" panose="020B0503020204020204" charset="-122"/>
              </a:rPr>
              <a:t>）云端数据流通</a:t>
            </a:r>
          </a:p>
        </p:txBody>
      </p:sp>
      <p:sp>
        <p:nvSpPr>
          <p:cNvPr id="11" name="矩形 10">
            <a:extLst>
              <a:ext uri="{FF2B5EF4-FFF2-40B4-BE49-F238E27FC236}">
                <a16:creationId xmlns:a16="http://schemas.microsoft.com/office/drawing/2014/main" id="{DE334C91-983E-BBDB-57B7-8CCE1AA0DCCF}"/>
              </a:ext>
            </a:extLst>
          </p:cNvPr>
          <p:cNvSpPr/>
          <p:nvPr/>
        </p:nvSpPr>
        <p:spPr>
          <a:xfrm>
            <a:off x="8903059" y="2525326"/>
            <a:ext cx="2884170" cy="2772148"/>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indent="457200" algn="just"/>
            <a:r>
              <a:rPr lang="zh-CN" altLang="en-US" sz="1600" b="1" dirty="0">
                <a:solidFill>
                  <a:srgbClr val="C00000"/>
                </a:solidFill>
                <a:latin typeface="微软雅黑" panose="020B0503020204020204" charset="-122"/>
                <a:ea typeface="微软雅黑" panose="020B0503020204020204" charset="-122"/>
              </a:rPr>
              <a:t>①车端通信：</a:t>
            </a:r>
            <a:r>
              <a:rPr lang="zh-CN" altLang="en-US" sz="1600" b="1" dirty="0">
                <a:solidFill>
                  <a:schemeClr val="tx1"/>
                </a:solidFill>
                <a:latin typeface="微软雅黑" panose="020B0503020204020204" charset="-122"/>
                <a:ea typeface="微软雅黑" panose="020B0503020204020204" charset="-122"/>
              </a:rPr>
              <a:t>向道路态势感知、行驶决策建议、控制信息及高精度定位增强的综合驾驶服务信息。</a:t>
            </a:r>
            <a:endParaRPr lang="en-US" altLang="zh-CN" sz="1600" b="1" dirty="0">
              <a:solidFill>
                <a:schemeClr val="tx1"/>
              </a:solidFill>
              <a:latin typeface="微软雅黑" panose="020B0503020204020204" charset="-122"/>
              <a:ea typeface="微软雅黑" panose="020B0503020204020204" charset="-122"/>
            </a:endParaRPr>
          </a:p>
          <a:p>
            <a:pPr indent="457200" algn="just"/>
            <a:r>
              <a:rPr lang="zh-CN" altLang="en-US" sz="1600" b="1" dirty="0">
                <a:solidFill>
                  <a:srgbClr val="C00000"/>
                </a:solidFill>
                <a:latin typeface="微软雅黑" panose="020B0503020204020204" charset="-122"/>
                <a:ea typeface="微软雅黑" panose="020B0503020204020204" charset="-122"/>
              </a:rPr>
              <a:t>②路端通信：</a:t>
            </a:r>
            <a:r>
              <a:rPr lang="zh-CN" altLang="en-US" sz="1600" b="1" dirty="0">
                <a:solidFill>
                  <a:schemeClr val="tx1"/>
                </a:solidFill>
                <a:latin typeface="微软雅黑" panose="020B0503020204020204" charset="-122"/>
                <a:ea typeface="微软雅黑" panose="020B0503020204020204" charset="-122"/>
              </a:rPr>
              <a:t>交通管控策略、信号优化方案等智能化配置指令、路端控制信息。</a:t>
            </a:r>
            <a:endParaRPr lang="en-US" altLang="zh-CN" sz="1600" b="1" dirty="0">
              <a:solidFill>
                <a:schemeClr val="tx1"/>
              </a:solidFill>
              <a:latin typeface="微软雅黑" panose="020B0503020204020204" charset="-122"/>
              <a:ea typeface="微软雅黑" panose="020B0503020204020204" charset="-122"/>
            </a:endParaRPr>
          </a:p>
          <a:p>
            <a:pPr indent="457200" algn="just"/>
            <a:r>
              <a:rPr lang="zh-CN" altLang="en-US" sz="1600" b="1" dirty="0">
                <a:solidFill>
                  <a:srgbClr val="C00000"/>
                </a:solidFill>
                <a:latin typeface="微软雅黑" panose="020B0503020204020204" charset="-122"/>
                <a:ea typeface="微软雅黑" panose="020B0503020204020204" charset="-122"/>
              </a:rPr>
              <a:t>③相关支撑平台通信：</a:t>
            </a:r>
            <a:r>
              <a:rPr lang="zh-CN" altLang="en-US" sz="1600" b="1" dirty="0">
                <a:solidFill>
                  <a:schemeClr val="tx1"/>
                </a:solidFill>
                <a:latin typeface="微软雅黑" panose="020B0503020204020204" charset="-122"/>
                <a:ea typeface="微软雅黑" panose="020B0503020204020204" charset="-122"/>
              </a:rPr>
              <a:t>实时交通动态变化数据、订阅信息。</a:t>
            </a:r>
          </a:p>
        </p:txBody>
      </p:sp>
      <p:sp>
        <p:nvSpPr>
          <p:cNvPr id="10" name="文本框 9">
            <a:extLst>
              <a:ext uri="{FF2B5EF4-FFF2-40B4-BE49-F238E27FC236}">
                <a16:creationId xmlns:a16="http://schemas.microsoft.com/office/drawing/2014/main" id="{B230E906-B956-719B-6D5E-490FB389E553}"/>
              </a:ext>
            </a:extLst>
          </p:cNvPr>
          <p:cNvSpPr txBox="1"/>
          <p:nvPr/>
        </p:nvSpPr>
        <p:spPr>
          <a:xfrm>
            <a:off x="-6250" y="703669"/>
            <a:ext cx="1090285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高精地图数据权利转移和价值体现：正式生产阶段数据流通</a:t>
            </a:r>
          </a:p>
        </p:txBody>
      </p:sp>
    </p:spTree>
    <p:extLst>
      <p:ext uri="{BB962C8B-B14F-4D97-AF65-F5344CB8AC3E}">
        <p14:creationId xmlns:p14="http://schemas.microsoft.com/office/powerpoint/2010/main" val="720451195"/>
      </p:ext>
    </p:extLst>
  </p:cSld>
  <p:clrMapOvr>
    <a:masterClrMapping/>
  </p:clrMapOvr>
  <p:transition spd="med" advClick="0"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pic>
        <p:nvPicPr>
          <p:cNvPr id="12" name="图片 11">
            <a:extLst>
              <a:ext uri="{FF2B5EF4-FFF2-40B4-BE49-F238E27FC236}">
                <a16:creationId xmlns:a16="http://schemas.microsoft.com/office/drawing/2014/main" id="{51E51982-54EF-3952-2B3E-32CA57EE4574}"/>
              </a:ext>
            </a:extLst>
          </p:cNvPr>
          <p:cNvPicPr/>
          <p:nvPr/>
        </p:nvPicPr>
        <p:blipFill>
          <a:blip r:embed="rId9"/>
          <a:stretch>
            <a:fillRect/>
          </a:stretch>
        </p:blipFill>
        <p:spPr>
          <a:xfrm>
            <a:off x="68165" y="2173969"/>
            <a:ext cx="5729605" cy="3550920"/>
          </a:xfrm>
          <a:prstGeom prst="rect">
            <a:avLst/>
          </a:prstGeom>
        </p:spPr>
      </p:pic>
      <p:sp>
        <p:nvSpPr>
          <p:cNvPr id="13" name="文本框 3">
            <a:extLst>
              <a:ext uri="{FF2B5EF4-FFF2-40B4-BE49-F238E27FC236}">
                <a16:creationId xmlns:a16="http://schemas.microsoft.com/office/drawing/2014/main" id="{29AA7CF8-2ECC-0362-D065-B8F3D9B3532A}"/>
              </a:ext>
            </a:extLst>
          </p:cNvPr>
          <p:cNvSpPr txBox="1"/>
          <p:nvPr/>
        </p:nvSpPr>
        <p:spPr>
          <a:xfrm>
            <a:off x="68165" y="5503298"/>
            <a:ext cx="5729605" cy="41819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66700">
              <a:lnSpc>
                <a:spcPct val="150000"/>
              </a:lnSpc>
              <a:spcAft>
                <a:spcPts val="800"/>
              </a:spcAft>
            </a:pPr>
            <a:r>
              <a:rPr lang="zh-CN" altLang="en-US" sz="1600" b="0" dirty="0">
                <a:latin typeface="微软雅黑" panose="020B0503020204020204" charset="-122"/>
                <a:ea typeface="微软雅黑" panose="020B0503020204020204" charset="-122"/>
              </a:rPr>
              <a:t>感知阶段初始数据流通（关键部分）</a:t>
            </a:r>
          </a:p>
        </p:txBody>
      </p:sp>
      <p:pic>
        <p:nvPicPr>
          <p:cNvPr id="15" name="图片 14">
            <a:extLst>
              <a:ext uri="{FF2B5EF4-FFF2-40B4-BE49-F238E27FC236}">
                <a16:creationId xmlns:a16="http://schemas.microsoft.com/office/drawing/2014/main" id="{97EFE818-F027-0242-CE8F-D08A090579D1}"/>
              </a:ext>
            </a:extLst>
          </p:cNvPr>
          <p:cNvPicPr/>
          <p:nvPr/>
        </p:nvPicPr>
        <p:blipFill>
          <a:blip r:embed="rId10"/>
          <a:stretch>
            <a:fillRect/>
          </a:stretch>
        </p:blipFill>
        <p:spPr>
          <a:xfrm>
            <a:off x="6146165" y="2105681"/>
            <a:ext cx="6045835" cy="3514725"/>
          </a:xfrm>
          <a:prstGeom prst="rect">
            <a:avLst/>
          </a:prstGeom>
        </p:spPr>
      </p:pic>
      <p:sp>
        <p:nvSpPr>
          <p:cNvPr id="16" name="文本框 5">
            <a:extLst>
              <a:ext uri="{FF2B5EF4-FFF2-40B4-BE49-F238E27FC236}">
                <a16:creationId xmlns:a16="http://schemas.microsoft.com/office/drawing/2014/main" id="{F555409B-25EA-FF95-90DA-0F3753098304}"/>
              </a:ext>
            </a:extLst>
          </p:cNvPr>
          <p:cNvSpPr txBox="1"/>
          <p:nvPr/>
        </p:nvSpPr>
        <p:spPr>
          <a:xfrm>
            <a:off x="6126769" y="5547063"/>
            <a:ext cx="5987286" cy="41819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66700">
              <a:lnSpc>
                <a:spcPct val="150000"/>
              </a:lnSpc>
              <a:spcBef>
                <a:spcPct val="0"/>
              </a:spcBef>
              <a:spcAft>
                <a:spcPct val="0"/>
              </a:spcAft>
            </a:pPr>
            <a:r>
              <a:rPr lang="zh-CN" altLang="en-US" sz="1600" b="0" dirty="0">
                <a:latin typeface="微软雅黑" panose="020B0503020204020204" charset="-122"/>
                <a:ea typeface="微软雅黑" panose="020B0503020204020204" charset="-122"/>
              </a:rPr>
              <a:t>决策、控制阶段衍生数据流通（关键部分）</a:t>
            </a:r>
          </a:p>
        </p:txBody>
      </p:sp>
      <p:sp>
        <p:nvSpPr>
          <p:cNvPr id="6" name="文本框 5">
            <a:extLst>
              <a:ext uri="{FF2B5EF4-FFF2-40B4-BE49-F238E27FC236}">
                <a16:creationId xmlns:a16="http://schemas.microsoft.com/office/drawing/2014/main" id="{DD6F9359-E31F-1754-F392-BE22A90AF591}"/>
              </a:ext>
            </a:extLst>
          </p:cNvPr>
          <p:cNvSpPr txBox="1"/>
          <p:nvPr/>
        </p:nvSpPr>
        <p:spPr>
          <a:xfrm>
            <a:off x="-6250" y="703669"/>
            <a:ext cx="1090285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高精地图数据权利转移和价值体现：正式生产阶段数据流通</a:t>
            </a:r>
          </a:p>
        </p:txBody>
      </p:sp>
      <p:sp>
        <p:nvSpPr>
          <p:cNvPr id="11" name="文本框 10">
            <a:extLst>
              <a:ext uri="{FF2B5EF4-FFF2-40B4-BE49-F238E27FC236}">
                <a16:creationId xmlns:a16="http://schemas.microsoft.com/office/drawing/2014/main" id="{9E1F9F34-F320-3887-EE14-CE63DE2F6863}"/>
              </a:ext>
            </a:extLst>
          </p:cNvPr>
          <p:cNvSpPr txBox="1"/>
          <p:nvPr/>
        </p:nvSpPr>
        <p:spPr>
          <a:xfrm>
            <a:off x="5119735" y="1538242"/>
            <a:ext cx="1749348" cy="369332"/>
          </a:xfrm>
          <a:prstGeom prst="rect">
            <a:avLst/>
          </a:prstGeom>
          <a:noFill/>
        </p:spPr>
        <p:txBody>
          <a:bodyPr wrap="square">
            <a:spAutoFit/>
          </a:bodyPr>
          <a:lstStyle/>
          <a:p>
            <a:r>
              <a:rPr lang="zh-CN" altLang="en-US" b="1" dirty="0">
                <a:solidFill>
                  <a:srgbClr val="1F4E79"/>
                </a:solidFill>
                <a:latin typeface="微软雅黑" panose="020B0503020204020204" charset="-122"/>
                <a:ea typeface="微软雅黑" panose="020B0503020204020204" charset="-122"/>
              </a:rPr>
              <a:t>数据流通过程</a:t>
            </a:r>
            <a:endParaRPr lang="zh-CN" altLang="en-US" dirty="0"/>
          </a:p>
        </p:txBody>
      </p:sp>
    </p:spTree>
    <p:extLst>
      <p:ext uri="{BB962C8B-B14F-4D97-AF65-F5344CB8AC3E}">
        <p14:creationId xmlns:p14="http://schemas.microsoft.com/office/powerpoint/2010/main" val="3797722852"/>
      </p:ext>
    </p:extLst>
  </p:cSld>
  <p:clrMapOvr>
    <a:masterClrMapping/>
  </p:clrMapOvr>
  <p:transition spd="med" advClick="0" advTm="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pic>
        <p:nvPicPr>
          <p:cNvPr id="6" name="图片 5">
            <a:extLst>
              <a:ext uri="{FF2B5EF4-FFF2-40B4-BE49-F238E27FC236}">
                <a16:creationId xmlns:a16="http://schemas.microsoft.com/office/drawing/2014/main" id="{EA4104BF-455B-5778-CB21-AD44DD9835B3}"/>
              </a:ext>
            </a:extLst>
          </p:cNvPr>
          <p:cNvPicPr/>
          <p:nvPr/>
        </p:nvPicPr>
        <p:blipFill>
          <a:blip r:embed="rId9"/>
          <a:srcRect l="1153" r="1153"/>
          <a:stretch>
            <a:fillRect/>
          </a:stretch>
        </p:blipFill>
        <p:spPr>
          <a:xfrm>
            <a:off x="137252" y="2384914"/>
            <a:ext cx="5575814" cy="3455608"/>
          </a:xfrm>
          <a:prstGeom prst="rect">
            <a:avLst/>
          </a:prstGeom>
        </p:spPr>
      </p:pic>
      <p:sp>
        <p:nvSpPr>
          <p:cNvPr id="8" name="文本框 3">
            <a:extLst>
              <a:ext uri="{FF2B5EF4-FFF2-40B4-BE49-F238E27FC236}">
                <a16:creationId xmlns:a16="http://schemas.microsoft.com/office/drawing/2014/main" id="{77472725-3822-176C-96B3-5F03BDC1B2E3}"/>
              </a:ext>
            </a:extLst>
          </p:cNvPr>
          <p:cNvSpPr txBox="1"/>
          <p:nvPr/>
        </p:nvSpPr>
        <p:spPr>
          <a:xfrm>
            <a:off x="137251" y="5622825"/>
            <a:ext cx="5575815" cy="41819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66700">
              <a:lnSpc>
                <a:spcPct val="150000"/>
              </a:lnSpc>
              <a:spcAft>
                <a:spcPts val="800"/>
              </a:spcAft>
            </a:pPr>
            <a:r>
              <a:rPr lang="en-US" altLang="zh-CN" sz="1600" b="0" dirty="0">
                <a:latin typeface="微软雅黑" panose="020B0503020204020204" charset="-122"/>
                <a:ea typeface="微软雅黑" panose="020B0503020204020204" charset="-122"/>
                <a:cs typeface="微软雅黑" panose="020B0503020204020204" charset="-122"/>
              </a:rPr>
              <a:t> </a:t>
            </a:r>
            <a:r>
              <a:rPr lang="zh-CN" altLang="en-US" sz="1600" b="0" dirty="0">
                <a:latin typeface="微软雅黑" panose="020B0503020204020204" charset="-122"/>
                <a:ea typeface="微软雅黑" panose="020B0503020204020204" charset="-122"/>
                <a:cs typeface="微软雅黑" panose="020B0503020204020204" charset="-122"/>
              </a:rPr>
              <a:t>感知阶段初始数据权利流动（关键部分）</a:t>
            </a:r>
          </a:p>
        </p:txBody>
      </p:sp>
      <p:pic>
        <p:nvPicPr>
          <p:cNvPr id="11" name="图片 10">
            <a:extLst>
              <a:ext uri="{FF2B5EF4-FFF2-40B4-BE49-F238E27FC236}">
                <a16:creationId xmlns:a16="http://schemas.microsoft.com/office/drawing/2014/main" id="{C08BCAB6-365E-687F-14AF-65E9DBFA0480}"/>
              </a:ext>
            </a:extLst>
          </p:cNvPr>
          <p:cNvPicPr/>
          <p:nvPr/>
        </p:nvPicPr>
        <p:blipFill>
          <a:blip r:embed="rId10"/>
          <a:srcRect l="1351" r="1268"/>
          <a:stretch>
            <a:fillRect/>
          </a:stretch>
        </p:blipFill>
        <p:spPr>
          <a:xfrm>
            <a:off x="5816676" y="2432845"/>
            <a:ext cx="6085840" cy="3203575"/>
          </a:xfrm>
          <a:prstGeom prst="rect">
            <a:avLst/>
          </a:prstGeom>
        </p:spPr>
      </p:pic>
      <p:sp>
        <p:nvSpPr>
          <p:cNvPr id="19" name="文本框 5">
            <a:extLst>
              <a:ext uri="{FF2B5EF4-FFF2-40B4-BE49-F238E27FC236}">
                <a16:creationId xmlns:a16="http://schemas.microsoft.com/office/drawing/2014/main" id="{BED3FA2A-5CA8-88B5-9110-C4B77095B3DE}"/>
              </a:ext>
            </a:extLst>
          </p:cNvPr>
          <p:cNvSpPr txBox="1"/>
          <p:nvPr/>
        </p:nvSpPr>
        <p:spPr>
          <a:xfrm>
            <a:off x="6326700" y="5618051"/>
            <a:ext cx="5575815" cy="41819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266700">
              <a:lnSpc>
                <a:spcPct val="150000"/>
              </a:lnSpc>
              <a:spcBef>
                <a:spcPct val="0"/>
              </a:spcBef>
              <a:spcAft>
                <a:spcPct val="0"/>
              </a:spcAft>
            </a:pPr>
            <a:r>
              <a:rPr lang="zh-CN" altLang="en-US" sz="1600" b="0" dirty="0">
                <a:latin typeface="微软雅黑" panose="020B0503020204020204" charset="-122"/>
                <a:ea typeface="微软雅黑" panose="020B0503020204020204" charset="-122"/>
              </a:rPr>
              <a:t>决策、控制阶段衍生数据权利流动（关键部分）</a:t>
            </a:r>
          </a:p>
        </p:txBody>
      </p:sp>
      <p:sp>
        <p:nvSpPr>
          <p:cNvPr id="12" name="文本框 11">
            <a:extLst>
              <a:ext uri="{FF2B5EF4-FFF2-40B4-BE49-F238E27FC236}">
                <a16:creationId xmlns:a16="http://schemas.microsoft.com/office/drawing/2014/main" id="{F2E205E0-17ED-AEB4-FDF4-1B3EDA35DD4C}"/>
              </a:ext>
            </a:extLst>
          </p:cNvPr>
          <p:cNvSpPr txBox="1"/>
          <p:nvPr/>
        </p:nvSpPr>
        <p:spPr>
          <a:xfrm>
            <a:off x="-6250" y="703669"/>
            <a:ext cx="1090285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高精地图数据权利转移和价值体现：正式生产阶段权利流动</a:t>
            </a:r>
          </a:p>
        </p:txBody>
      </p:sp>
      <p:sp>
        <p:nvSpPr>
          <p:cNvPr id="13" name="文本框 12">
            <a:extLst>
              <a:ext uri="{FF2B5EF4-FFF2-40B4-BE49-F238E27FC236}">
                <a16:creationId xmlns:a16="http://schemas.microsoft.com/office/drawing/2014/main" id="{20EEA235-893E-9204-0C32-BEFBDFD28D05}"/>
              </a:ext>
            </a:extLst>
          </p:cNvPr>
          <p:cNvSpPr txBox="1"/>
          <p:nvPr/>
        </p:nvSpPr>
        <p:spPr>
          <a:xfrm>
            <a:off x="5119735" y="1538242"/>
            <a:ext cx="1749348" cy="369332"/>
          </a:xfrm>
          <a:prstGeom prst="rect">
            <a:avLst/>
          </a:prstGeom>
          <a:noFill/>
        </p:spPr>
        <p:txBody>
          <a:bodyPr wrap="square">
            <a:spAutoFit/>
          </a:bodyPr>
          <a:lstStyle/>
          <a:p>
            <a:r>
              <a:rPr lang="zh-CN" altLang="en-US" b="1" dirty="0">
                <a:solidFill>
                  <a:srgbClr val="1F4E79"/>
                </a:solidFill>
                <a:latin typeface="微软雅黑" panose="020B0503020204020204" charset="-122"/>
                <a:ea typeface="微软雅黑" panose="020B0503020204020204" charset="-122"/>
              </a:rPr>
              <a:t>权利流动过程</a:t>
            </a:r>
            <a:endParaRPr lang="zh-CN" altLang="en-US" dirty="0"/>
          </a:p>
        </p:txBody>
      </p:sp>
    </p:spTree>
    <p:extLst>
      <p:ext uri="{BB962C8B-B14F-4D97-AF65-F5344CB8AC3E}">
        <p14:creationId xmlns:p14="http://schemas.microsoft.com/office/powerpoint/2010/main" val="3720545704"/>
      </p:ext>
    </p:extLst>
  </p:cSld>
  <p:clrMapOvr>
    <a:masterClrMapping/>
  </p:clrMapOvr>
  <p:transition spd="med" advClick="0" advTm="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sp>
        <p:nvSpPr>
          <p:cNvPr id="6" name="流程图: 可选过程 5">
            <a:extLst>
              <a:ext uri="{FF2B5EF4-FFF2-40B4-BE49-F238E27FC236}">
                <a16:creationId xmlns:a16="http://schemas.microsoft.com/office/drawing/2014/main" id="{47560070-29B6-3F19-BEB8-2332BC648A79}"/>
              </a:ext>
            </a:extLst>
          </p:cNvPr>
          <p:cNvSpPr/>
          <p:nvPr/>
        </p:nvSpPr>
        <p:spPr>
          <a:xfrm>
            <a:off x="57600" y="1314231"/>
            <a:ext cx="12045600" cy="651900"/>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indent="457200" algn="just" defTabSz="266700">
              <a:lnSpc>
                <a:spcPts val="2300"/>
              </a:lnSpc>
              <a:spcBef>
                <a:spcPct val="0"/>
              </a:spcBef>
              <a:spcAft>
                <a:spcPct val="0"/>
              </a:spcAft>
            </a:pPr>
            <a:r>
              <a:rPr lang="zh-CN" altLang="en-US" b="1" dirty="0">
                <a:solidFill>
                  <a:schemeClr val="tx1"/>
                </a:solidFill>
                <a:latin typeface="微软雅黑" panose="020B0503020204020204" charset="-122"/>
                <a:ea typeface="微软雅黑" panose="020B0503020204020204" charset="-122"/>
                <a:sym typeface="+mn-ea"/>
              </a:rPr>
              <a:t>数据通过价值转移进入生产过程，为数字劳动提供了“原料”，此过程本身不产生价值。数据的价值增殖来源于数字劳动。数字劳动包括数据的</a:t>
            </a:r>
            <a:r>
              <a:rPr lang="zh-CN" altLang="en-US" b="1" dirty="0">
                <a:solidFill>
                  <a:srgbClr val="C00000"/>
                </a:solidFill>
                <a:latin typeface="微软雅黑" panose="020B0503020204020204" charset="-122"/>
                <a:ea typeface="微软雅黑" panose="020B0503020204020204" charset="-122"/>
                <a:sym typeface="+mn-ea"/>
              </a:rPr>
              <a:t>采集、整理、分析、加工等一系列活动</a:t>
            </a:r>
            <a:r>
              <a:rPr lang="zh-CN" altLang="en-US" b="1" dirty="0">
                <a:solidFill>
                  <a:schemeClr val="tx1"/>
                </a:solidFill>
                <a:latin typeface="微软雅黑" panose="020B0503020204020204" charset="-122"/>
                <a:ea typeface="微软雅黑" panose="020B0503020204020204" charset="-122"/>
                <a:sym typeface="+mn-ea"/>
              </a:rPr>
              <a:t>，</a:t>
            </a:r>
            <a:r>
              <a:rPr lang="zh-CN" altLang="en-US" b="1" dirty="0">
                <a:solidFill>
                  <a:srgbClr val="C00000"/>
                </a:solidFill>
                <a:latin typeface="微软雅黑" panose="020B0503020204020204" charset="-122"/>
                <a:ea typeface="微软雅黑" panose="020B0503020204020204" charset="-122"/>
                <a:sym typeface="+mn-ea"/>
              </a:rPr>
              <a:t>这些活动赋予数据新的价值</a:t>
            </a:r>
            <a:r>
              <a:rPr lang="zh-CN" altLang="en-US" b="1" dirty="0">
                <a:solidFill>
                  <a:schemeClr val="tx1"/>
                </a:solidFill>
                <a:latin typeface="微软雅黑" panose="020B0503020204020204" charset="-122"/>
                <a:ea typeface="微软雅黑" panose="020B0503020204020204" charset="-122"/>
                <a:sym typeface="+mn-ea"/>
              </a:rPr>
              <a:t>，实现价值增殖。</a:t>
            </a:r>
          </a:p>
        </p:txBody>
      </p:sp>
      <p:pic>
        <p:nvPicPr>
          <p:cNvPr id="8" name="图片 7">
            <a:extLst>
              <a:ext uri="{FF2B5EF4-FFF2-40B4-BE49-F238E27FC236}">
                <a16:creationId xmlns:a16="http://schemas.microsoft.com/office/drawing/2014/main" id="{D914DD94-290C-B85D-BE02-50B7884F90CD}"/>
              </a:ext>
            </a:extLst>
          </p:cNvPr>
          <p:cNvPicPr>
            <a:picLocks noChangeAspect="1"/>
          </p:cNvPicPr>
          <p:nvPr/>
        </p:nvPicPr>
        <p:blipFill>
          <a:blip r:embed="rId10"/>
          <a:stretch>
            <a:fillRect/>
          </a:stretch>
        </p:blipFill>
        <p:spPr>
          <a:xfrm>
            <a:off x="-1" y="2015127"/>
            <a:ext cx="7638235" cy="4391084"/>
          </a:xfrm>
          <a:prstGeom prst="rect">
            <a:avLst/>
          </a:prstGeom>
          <a:noFill/>
          <a:ln>
            <a:noFill/>
          </a:ln>
        </p:spPr>
      </p:pic>
      <p:graphicFrame>
        <p:nvGraphicFramePr>
          <p:cNvPr id="10" name="表格 9">
            <a:extLst>
              <a:ext uri="{FF2B5EF4-FFF2-40B4-BE49-F238E27FC236}">
                <a16:creationId xmlns:a16="http://schemas.microsoft.com/office/drawing/2014/main" id="{AD4851C2-7359-7A65-4C53-2BE626DE3DEB}"/>
              </a:ext>
            </a:extLst>
          </p:cNvPr>
          <p:cNvGraphicFramePr/>
          <p:nvPr>
            <p:custDataLst>
              <p:tags r:id="rId7"/>
            </p:custDataLst>
            <p:extLst>
              <p:ext uri="{D42A27DB-BD31-4B8C-83A1-F6EECF244321}">
                <p14:modId xmlns:p14="http://schemas.microsoft.com/office/powerpoint/2010/main" val="2494114240"/>
              </p:ext>
            </p:extLst>
          </p:nvPr>
        </p:nvGraphicFramePr>
        <p:xfrm>
          <a:off x="7638234" y="2242592"/>
          <a:ext cx="4354766" cy="3957946"/>
        </p:xfrm>
        <a:graphic>
          <a:graphicData uri="http://schemas.openxmlformats.org/drawingml/2006/table">
            <a:tbl>
              <a:tblPr firstRow="1" bandRow="1">
                <a:tableStyleId>{5C22544A-7EE6-4342-B048-85BDC9FD1C3A}</a:tableStyleId>
              </a:tblPr>
              <a:tblGrid>
                <a:gridCol w="1381539">
                  <a:extLst>
                    <a:ext uri="{9D8B030D-6E8A-4147-A177-3AD203B41FA5}">
                      <a16:colId xmlns:a16="http://schemas.microsoft.com/office/drawing/2014/main" val="20000"/>
                    </a:ext>
                  </a:extLst>
                </a:gridCol>
                <a:gridCol w="2973227">
                  <a:extLst>
                    <a:ext uri="{9D8B030D-6E8A-4147-A177-3AD203B41FA5}">
                      <a16:colId xmlns:a16="http://schemas.microsoft.com/office/drawing/2014/main" val="20001"/>
                    </a:ext>
                  </a:extLst>
                </a:gridCol>
              </a:tblGrid>
              <a:tr h="449820">
                <a:tc>
                  <a:txBody>
                    <a:bodyPr/>
                    <a:lstStyle/>
                    <a:p>
                      <a:pPr algn="ctr">
                        <a:buNone/>
                      </a:pPr>
                      <a:r>
                        <a:rPr lang="zh-CN" altLang="en-US" sz="1800" b="1" dirty="0">
                          <a:latin typeface="微软雅黑" panose="020B0503020204020204" charset="-122"/>
                          <a:ea typeface="微软雅黑" panose="020B0503020204020204" charset="-122"/>
                        </a:rPr>
                        <a:t>增殖阶段</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F4E79"/>
                    </a:solidFill>
                  </a:tcPr>
                </a:tc>
                <a:tc>
                  <a:txBody>
                    <a:bodyPr/>
                    <a:lstStyle/>
                    <a:p>
                      <a:pPr algn="ctr">
                        <a:buNone/>
                      </a:pPr>
                      <a:r>
                        <a:rPr lang="zh-CN" altLang="en-US" sz="1800" b="1" dirty="0">
                          <a:latin typeface="微软雅黑" panose="020B0503020204020204" charset="-122"/>
                          <a:ea typeface="微软雅黑" panose="020B0503020204020204" charset="-122"/>
                        </a:rPr>
                        <a:t>价值体现</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1F4E79"/>
                    </a:solidFill>
                  </a:tcPr>
                </a:tc>
                <a:extLst>
                  <a:ext uri="{0D108BD9-81ED-4DB2-BD59-A6C34878D82A}">
                    <a16:rowId xmlns:a16="http://schemas.microsoft.com/office/drawing/2014/main" val="10000"/>
                  </a:ext>
                </a:extLst>
              </a:tr>
              <a:tr h="746370">
                <a:tc>
                  <a:txBody>
                    <a:bodyPr/>
                    <a:lstStyle/>
                    <a:p>
                      <a:pPr indent="0" algn="ctr" fontAlgn="ct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一次增殖</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tcPr>
                </a:tc>
                <a:tc>
                  <a:txBody>
                    <a:bodyPr/>
                    <a:lstStyle/>
                    <a:p>
                      <a:pPr marL="0" indent="360000" algn="l" fontAlgn="ctr">
                        <a:spcBef>
                          <a:spcPct val="0"/>
                        </a:spcBef>
                        <a:spcAft>
                          <a:spcPct val="0"/>
                        </a:spcAft>
                      </a:pPr>
                      <a:r>
                        <a:rPr lang="zh-CN" altLang="en-US" sz="1400" b="0" dirty="0">
                          <a:latin typeface="微软雅黑" panose="020B0503020204020204" charset="-122"/>
                          <a:ea typeface="微软雅黑" panose="020B0503020204020204" charset="-122"/>
                        </a:rPr>
                        <a:t>提升系统整体效率，为后续深度分析和决策提供基础。</a:t>
                      </a:r>
                      <a:endParaRPr lang="zh-CN" altLang="zh-CN" sz="1400" b="0" dirty="0">
                        <a:latin typeface="微软雅黑" panose="020B0503020204020204" charset="-122"/>
                        <a:ea typeface="微软雅黑" panose="020B0503020204020204" charset="-122"/>
                      </a:endParaRP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DEEF"/>
                    </a:solidFill>
                  </a:tcPr>
                </a:tc>
                <a:extLst>
                  <a:ext uri="{0D108BD9-81ED-4DB2-BD59-A6C34878D82A}">
                    <a16:rowId xmlns:a16="http://schemas.microsoft.com/office/drawing/2014/main" val="10001"/>
                  </a:ext>
                </a:extLst>
              </a:tr>
              <a:tr h="584722">
                <a:tc>
                  <a:txBody>
                    <a:bodyPr/>
                    <a:lstStyle/>
                    <a:p>
                      <a:pPr indent="0" algn="ctr" fontAlgn="ct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二次增殖</a:t>
                      </a: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solidFill>
                      <a:srgbClr val="EAEFF7"/>
                    </a:solidFill>
                  </a:tcPr>
                </a:tc>
                <a:tc>
                  <a:txBody>
                    <a:bodyPr/>
                    <a:lstStyle/>
                    <a:p>
                      <a:pPr marL="0" indent="360000" algn="l" fontAlgn="ctr">
                        <a:spcBef>
                          <a:spcPct val="0"/>
                        </a:spcBef>
                        <a:spcAft>
                          <a:spcPct val="0"/>
                        </a:spcAft>
                      </a:pPr>
                      <a:r>
                        <a:rPr lang="zh-CN" altLang="en-US" sz="1400" b="0" dirty="0">
                          <a:latin typeface="微软雅黑" panose="020B0503020204020204" charset="-122"/>
                          <a:ea typeface="微软雅黑" panose="020B0503020204020204" charset="-122"/>
                        </a:rPr>
                        <a:t>为自动驾驶决策提供全局动态支撑，协助实现更优的路径规划和决策。</a:t>
                      </a:r>
                      <a:endParaRPr lang="zh-CN" altLang="zh-CN" sz="1400" b="0" dirty="0">
                        <a:latin typeface="微软雅黑" panose="020B0503020204020204" charset="-122"/>
                        <a:ea typeface="微软雅黑" panose="020B0503020204020204" charset="-122"/>
                      </a:endParaRPr>
                    </a:p>
                  </a:txBody>
                  <a:tcPr marL="5080" marR="5080" marT="508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AEFF7"/>
                    </a:solidFill>
                  </a:tcPr>
                </a:tc>
                <a:extLst>
                  <a:ext uri="{0D108BD9-81ED-4DB2-BD59-A6C34878D82A}">
                    <a16:rowId xmlns:a16="http://schemas.microsoft.com/office/drawing/2014/main" val="10002"/>
                  </a:ext>
                </a:extLst>
              </a:tr>
              <a:tr h="725678">
                <a:tc>
                  <a:txBody>
                    <a:bodyPr/>
                    <a:lstStyle/>
                    <a:p>
                      <a:pPr indent="0" algn="ctr" fontAlgn="ct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三次增殖</a:t>
                      </a:r>
                    </a:p>
                  </a:txBody>
                  <a:tcPr marL="5080" marR="5080" marT="5080" marB="0" anchor="ctr">
                    <a:lnL w="6350" cap="flat" cmpd="sng" algn="ctr">
                      <a:solidFill>
                        <a:schemeClr val="bg1"/>
                      </a:solidFill>
                      <a:prstDash val="solid"/>
                      <a:round/>
                      <a:headEnd type="none" w="med" len="med"/>
                      <a:tailEnd type="none" w="med" len="med"/>
                    </a:lnL>
                    <a:solidFill>
                      <a:srgbClr val="D2DEEF"/>
                    </a:solidFill>
                  </a:tcPr>
                </a:tc>
                <a:tc>
                  <a:txBody>
                    <a:bodyPr/>
                    <a:lstStyle/>
                    <a:p>
                      <a:pPr marL="0" indent="360000" algn="l" fontAlgn="ctr">
                        <a:spcBef>
                          <a:spcPct val="0"/>
                        </a:spcBef>
                        <a:spcAft>
                          <a:spcPct val="0"/>
                        </a:spcAft>
                      </a:pPr>
                      <a:r>
                        <a:rPr lang="zh-CN" altLang="en-US" sz="1400" b="0" dirty="0">
                          <a:latin typeface="微软雅黑" panose="020B0503020204020204" charset="-122"/>
                          <a:ea typeface="微软雅黑" panose="020B0503020204020204" charset="-122"/>
                        </a:rPr>
                        <a:t>构成系统核心价值链条，实现全局最优控制策略，支持自动驾驶功能实现。</a:t>
                      </a:r>
                      <a:endParaRPr lang="zh-CN" altLang="zh-CN" sz="1400" b="0" dirty="0">
                        <a:latin typeface="微软雅黑" panose="020B0503020204020204" charset="-122"/>
                        <a:ea typeface="微软雅黑" panose="020B0503020204020204" charset="-122"/>
                      </a:endParaRPr>
                    </a:p>
                  </a:txBody>
                  <a:tcPr marL="5080" marR="5080" marT="5080" marB="0"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DEEF"/>
                    </a:solidFill>
                  </a:tcPr>
                </a:tc>
                <a:extLst>
                  <a:ext uri="{0D108BD9-81ED-4DB2-BD59-A6C34878D82A}">
                    <a16:rowId xmlns:a16="http://schemas.microsoft.com/office/drawing/2014/main" val="3191420827"/>
                  </a:ext>
                </a:extLst>
              </a:tr>
              <a:tr h="725678">
                <a:tc>
                  <a:txBody>
                    <a:bodyPr/>
                    <a:lstStyle/>
                    <a:p>
                      <a:pPr indent="0" algn="ctr" fontAlgn="ct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二三次前置增殖</a:t>
                      </a:r>
                    </a:p>
                  </a:txBody>
                  <a:tcPr marL="5080" marR="5080" marT="5080" marB="0" anchor="ctr">
                    <a:lnL w="6350" cap="flat" cmpd="sng" algn="ctr">
                      <a:solidFill>
                        <a:schemeClr val="bg1"/>
                      </a:solidFill>
                      <a:prstDash val="solid"/>
                      <a:round/>
                      <a:headEnd type="none" w="med" len="med"/>
                      <a:tailEnd type="none" w="med" len="med"/>
                    </a:lnL>
                    <a:solidFill>
                      <a:srgbClr val="EAEFF7"/>
                    </a:solidFill>
                  </a:tcPr>
                </a:tc>
                <a:tc>
                  <a:txBody>
                    <a:bodyPr/>
                    <a:lstStyle/>
                    <a:p>
                      <a:pPr marL="0" indent="360000" algn="l" fontAlgn="ctr">
                        <a:spcBef>
                          <a:spcPct val="0"/>
                        </a:spcBef>
                        <a:spcAft>
                          <a:spcPct val="0"/>
                        </a:spcAft>
                      </a:pPr>
                      <a:r>
                        <a:rPr lang="zh-CN" altLang="en-US" sz="1400" b="0" dirty="0">
                          <a:latin typeface="微软雅黑" panose="020B0503020204020204" charset="-122"/>
                          <a:ea typeface="微软雅黑" panose="020B0503020204020204" charset="-122"/>
                        </a:rPr>
                        <a:t>为二、三次增殖提供精准有效的数据支持，确保系统数据的统一性和可靠性。</a:t>
                      </a:r>
                      <a:endParaRPr lang="zh-CN" altLang="zh-CN" sz="1400" b="0" dirty="0">
                        <a:latin typeface="微软雅黑" panose="020B0503020204020204" charset="-122"/>
                        <a:ea typeface="微软雅黑" panose="020B0503020204020204" charset="-122"/>
                      </a:endParaRPr>
                    </a:p>
                  </a:txBody>
                  <a:tcPr marL="5080" marR="5080" marT="5080" marB="0"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EAEFF7"/>
                    </a:solidFill>
                  </a:tcPr>
                </a:tc>
                <a:extLst>
                  <a:ext uri="{0D108BD9-81ED-4DB2-BD59-A6C34878D82A}">
                    <a16:rowId xmlns:a16="http://schemas.microsoft.com/office/drawing/2014/main" val="2143792413"/>
                  </a:ext>
                </a:extLst>
              </a:tr>
              <a:tr h="725678">
                <a:tc>
                  <a:txBody>
                    <a:bodyPr/>
                    <a:lstStyle/>
                    <a:p>
                      <a:pPr indent="0" algn="ctr" fontAlgn="ctr"/>
                      <a:r>
                        <a:rPr lang="zh-CN" altLang="en-US" sz="1400" b="1" i="0" dirty="0">
                          <a:solidFill>
                            <a:schemeClr val="tx1"/>
                          </a:solidFill>
                          <a:latin typeface="微软雅黑" panose="020B0503020204020204" charset="-122"/>
                          <a:ea typeface="微软雅黑" panose="020B0503020204020204" charset="-122"/>
                          <a:cs typeface="微软雅黑" panose="020B0503020204020204" charset="-122"/>
                        </a:rPr>
                        <a:t>政府侧增殖</a:t>
                      </a:r>
                    </a:p>
                  </a:txBody>
                  <a:tcPr marL="5080" marR="5080" marT="5080" marB="0" anchor="ctr">
                    <a:lnL w="6350" cap="flat" cmpd="sng" algn="ctr">
                      <a:solidFill>
                        <a:schemeClr val="bg1"/>
                      </a:solidFill>
                      <a:prstDash val="solid"/>
                      <a:round/>
                      <a:headEnd type="none" w="med" len="med"/>
                      <a:tailEnd type="none" w="med" len="med"/>
                    </a:lnL>
                    <a:solidFill>
                      <a:srgbClr val="D2DEEF"/>
                    </a:solidFill>
                  </a:tcPr>
                </a:tc>
                <a:tc>
                  <a:txBody>
                    <a:bodyPr/>
                    <a:lstStyle/>
                    <a:p>
                      <a:pPr marL="0" indent="360000" algn="l" fontAlgn="ctr">
                        <a:spcBef>
                          <a:spcPct val="0"/>
                        </a:spcBef>
                        <a:spcAft>
                          <a:spcPct val="0"/>
                        </a:spcAft>
                      </a:pPr>
                      <a:r>
                        <a:rPr lang="zh-CN" altLang="en-US" sz="1400" b="0" dirty="0">
                          <a:latin typeface="微软雅黑" panose="020B0503020204020204" charset="-122"/>
                          <a:ea typeface="微软雅黑" panose="020B0503020204020204" charset="-122"/>
                        </a:rPr>
                        <a:t>提供全局性动态支撑，支持精准调控和公共资源优化配置，实现公共利益最大化。</a:t>
                      </a:r>
                      <a:endParaRPr lang="zh-CN" altLang="zh-CN" sz="1400" b="0" dirty="0">
                        <a:latin typeface="微软雅黑" panose="020B0503020204020204" charset="-122"/>
                        <a:ea typeface="微软雅黑" panose="020B0503020204020204" charset="-122"/>
                      </a:endParaRPr>
                    </a:p>
                  </a:txBody>
                  <a:tcPr marL="5080" marR="5080" marT="5080" marB="0" anchor="ctr">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D2DEEF"/>
                    </a:solidFill>
                  </a:tcPr>
                </a:tc>
                <a:extLst>
                  <a:ext uri="{0D108BD9-81ED-4DB2-BD59-A6C34878D82A}">
                    <a16:rowId xmlns:a16="http://schemas.microsoft.com/office/drawing/2014/main" val="2381400578"/>
                  </a:ext>
                </a:extLst>
              </a:tr>
            </a:tbl>
          </a:graphicData>
        </a:graphic>
      </p:graphicFrame>
      <p:sp>
        <p:nvSpPr>
          <p:cNvPr id="11" name="文本框 10">
            <a:extLst>
              <a:ext uri="{FF2B5EF4-FFF2-40B4-BE49-F238E27FC236}">
                <a16:creationId xmlns:a16="http://schemas.microsoft.com/office/drawing/2014/main" id="{D6C0ADF4-74EC-8A89-36D3-53293AF05FE2}"/>
              </a:ext>
            </a:extLst>
          </p:cNvPr>
          <p:cNvSpPr txBox="1"/>
          <p:nvPr/>
        </p:nvSpPr>
        <p:spPr>
          <a:xfrm>
            <a:off x="-6250" y="703669"/>
            <a:ext cx="1090285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高精地图数据权利转移和价值体现：正式生产阶段价值体现</a:t>
            </a:r>
          </a:p>
        </p:txBody>
      </p:sp>
    </p:spTree>
    <p:extLst>
      <p:ext uri="{BB962C8B-B14F-4D97-AF65-F5344CB8AC3E}">
        <p14:creationId xmlns:p14="http://schemas.microsoft.com/office/powerpoint/2010/main" val="3818891383"/>
      </p:ext>
    </p:extLst>
  </p:cSld>
  <p:clrMapOvr>
    <a:masterClrMapping/>
  </p:clrMapOvr>
  <p:transition spd="med" advClick="0" advTm="0"/>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sp>
        <p:nvSpPr>
          <p:cNvPr id="6" name="流程图: 可选过程 5">
            <a:extLst>
              <a:ext uri="{FF2B5EF4-FFF2-40B4-BE49-F238E27FC236}">
                <a16:creationId xmlns:a16="http://schemas.microsoft.com/office/drawing/2014/main" id="{47560070-29B6-3F19-BEB8-2332BC648A79}"/>
              </a:ext>
            </a:extLst>
          </p:cNvPr>
          <p:cNvSpPr/>
          <p:nvPr/>
        </p:nvSpPr>
        <p:spPr>
          <a:xfrm>
            <a:off x="67585" y="1291258"/>
            <a:ext cx="12045600" cy="651900"/>
          </a:xfrm>
          <a:prstGeom prst="flowChartAlternateProcess">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indent="457200" algn="just" defTabSz="266700">
              <a:lnSpc>
                <a:spcPts val="2300"/>
              </a:lnSpc>
              <a:spcBef>
                <a:spcPct val="0"/>
              </a:spcBef>
              <a:spcAft>
                <a:spcPct val="0"/>
              </a:spcAft>
            </a:pPr>
            <a:r>
              <a:rPr lang="zh-CN" altLang="en-US" b="1" dirty="0">
                <a:solidFill>
                  <a:schemeClr val="tx1"/>
                </a:solidFill>
                <a:latin typeface="微软雅黑" panose="020B0503020204020204" charset="-122"/>
                <a:ea typeface="微软雅黑" panose="020B0503020204020204" charset="-122"/>
                <a:sym typeface="+mn-ea"/>
              </a:rPr>
              <a:t>除了云端向云控应用平台的数据提供的数据有持有权和数据加工使用权的流动外，其他数据流通只伴随数据加工使用权的变化。</a:t>
            </a:r>
          </a:p>
        </p:txBody>
      </p:sp>
      <p:pic>
        <p:nvPicPr>
          <p:cNvPr id="11" name="图片 10">
            <a:extLst>
              <a:ext uri="{FF2B5EF4-FFF2-40B4-BE49-F238E27FC236}">
                <a16:creationId xmlns:a16="http://schemas.microsoft.com/office/drawing/2014/main" id="{363C0782-A71D-1FE5-FA45-A27DE551F3CE}"/>
              </a:ext>
            </a:extLst>
          </p:cNvPr>
          <p:cNvPicPr>
            <a:picLocks noChangeAspect="1"/>
          </p:cNvPicPr>
          <p:nvPr/>
        </p:nvPicPr>
        <p:blipFill>
          <a:blip r:embed="rId9"/>
          <a:srcRect l="1805" t="10776" r="1854" b="10552"/>
          <a:stretch>
            <a:fillRect/>
          </a:stretch>
        </p:blipFill>
        <p:spPr>
          <a:xfrm>
            <a:off x="1066584" y="2057966"/>
            <a:ext cx="10047602" cy="4419034"/>
          </a:xfrm>
          <a:prstGeom prst="rect">
            <a:avLst/>
          </a:prstGeom>
          <a:noFill/>
          <a:ln>
            <a:noFill/>
          </a:ln>
        </p:spPr>
      </p:pic>
      <p:sp>
        <p:nvSpPr>
          <p:cNvPr id="8" name="文本框 7">
            <a:extLst>
              <a:ext uri="{FF2B5EF4-FFF2-40B4-BE49-F238E27FC236}">
                <a16:creationId xmlns:a16="http://schemas.microsoft.com/office/drawing/2014/main" id="{98C4811A-D1A5-EC63-81AA-5674A54E9CB5}"/>
              </a:ext>
            </a:extLst>
          </p:cNvPr>
          <p:cNvSpPr txBox="1"/>
          <p:nvPr/>
        </p:nvSpPr>
        <p:spPr>
          <a:xfrm>
            <a:off x="-6250" y="703669"/>
            <a:ext cx="1090285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高精地图数据权利转移和价值体现：应用阶段</a:t>
            </a:r>
          </a:p>
        </p:txBody>
      </p:sp>
    </p:spTree>
    <p:extLst>
      <p:ext uri="{BB962C8B-B14F-4D97-AF65-F5344CB8AC3E}">
        <p14:creationId xmlns:p14="http://schemas.microsoft.com/office/powerpoint/2010/main" val="563217240"/>
      </p:ext>
    </p:extLst>
  </p:cSld>
  <p:clrMapOvr>
    <a:masterClrMapping/>
  </p:clrMapOvr>
  <p:transition spd="med" advClick="0" advTm="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487299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graphicFrame>
        <p:nvGraphicFramePr>
          <p:cNvPr id="8" name="表格 7">
            <a:extLst>
              <a:ext uri="{FF2B5EF4-FFF2-40B4-BE49-F238E27FC236}">
                <a16:creationId xmlns:a16="http://schemas.microsoft.com/office/drawing/2014/main" id="{7A581C8A-B781-CE60-E99F-07135E4236C5}"/>
              </a:ext>
            </a:extLst>
          </p:cNvPr>
          <p:cNvGraphicFramePr/>
          <p:nvPr>
            <p:custDataLst>
              <p:tags r:id="rId7"/>
            </p:custDataLst>
            <p:extLst>
              <p:ext uri="{D42A27DB-BD31-4B8C-83A1-F6EECF244321}">
                <p14:modId xmlns:p14="http://schemas.microsoft.com/office/powerpoint/2010/main" val="1500705908"/>
              </p:ext>
            </p:extLst>
          </p:nvPr>
        </p:nvGraphicFramePr>
        <p:xfrm>
          <a:off x="96154" y="1352029"/>
          <a:ext cx="11988461" cy="4534990"/>
        </p:xfrm>
        <a:graphic>
          <a:graphicData uri="http://schemas.openxmlformats.org/drawingml/2006/table">
            <a:tbl>
              <a:tblPr firstRow="1" bandRow="1">
                <a:tableStyleId>{5C22544A-7EE6-4342-B048-85BDC9FD1C3A}</a:tableStyleId>
              </a:tblPr>
              <a:tblGrid>
                <a:gridCol w="1611831">
                  <a:extLst>
                    <a:ext uri="{9D8B030D-6E8A-4147-A177-3AD203B41FA5}">
                      <a16:colId xmlns:a16="http://schemas.microsoft.com/office/drawing/2014/main" val="20000"/>
                    </a:ext>
                  </a:extLst>
                </a:gridCol>
                <a:gridCol w="1972800">
                  <a:extLst>
                    <a:ext uri="{9D8B030D-6E8A-4147-A177-3AD203B41FA5}">
                      <a16:colId xmlns:a16="http://schemas.microsoft.com/office/drawing/2014/main" val="20001"/>
                    </a:ext>
                  </a:extLst>
                </a:gridCol>
                <a:gridCol w="8403830">
                  <a:extLst>
                    <a:ext uri="{9D8B030D-6E8A-4147-A177-3AD203B41FA5}">
                      <a16:colId xmlns:a16="http://schemas.microsoft.com/office/drawing/2014/main" val="3683582113"/>
                    </a:ext>
                  </a:extLst>
                </a:gridCol>
              </a:tblGrid>
              <a:tr h="453499">
                <a:tc>
                  <a:txBody>
                    <a:bodyPr/>
                    <a:lstStyle/>
                    <a:p>
                      <a:pPr algn="ctr">
                        <a:buNone/>
                      </a:pPr>
                      <a:r>
                        <a:rPr lang="zh-CN" altLang="en-US" sz="1800" b="1" dirty="0">
                          <a:latin typeface="微软雅黑" panose="020B0503020204020204" charset="-122"/>
                          <a:ea typeface="微软雅黑" panose="020B0503020204020204" charset="-122"/>
                        </a:rPr>
                        <a:t>数据类型</a:t>
                      </a:r>
                    </a:p>
                  </a:txBody>
                  <a:tcPr anchor="ctr">
                    <a:solidFill>
                      <a:srgbClr val="1F4E79"/>
                    </a:solidFill>
                  </a:tcPr>
                </a:tc>
                <a:tc>
                  <a:txBody>
                    <a:bodyPr/>
                    <a:lstStyle/>
                    <a:p>
                      <a:pPr algn="ctr">
                        <a:buNone/>
                      </a:pPr>
                      <a:r>
                        <a:rPr lang="zh-CN" altLang="en-US" sz="1800" b="1" dirty="0">
                          <a:latin typeface="微软雅黑" panose="020B0503020204020204" charset="-122"/>
                          <a:ea typeface="微软雅黑" panose="020B0503020204020204" charset="-122"/>
                        </a:rPr>
                        <a:t>应用领域</a:t>
                      </a:r>
                    </a:p>
                  </a:txBody>
                  <a:tcPr anchor="ctr">
                    <a:solidFill>
                      <a:srgbClr val="1F4E79"/>
                    </a:solidFill>
                  </a:tcPr>
                </a:tc>
                <a:tc>
                  <a:txBody>
                    <a:bodyPr/>
                    <a:lstStyle/>
                    <a:p>
                      <a:pPr algn="ctr">
                        <a:buNone/>
                      </a:pPr>
                      <a:r>
                        <a:rPr lang="zh-CN" altLang="en-US" sz="1800" b="1" dirty="0">
                          <a:latin typeface="微软雅黑" panose="020B0503020204020204" charset="-122"/>
                          <a:ea typeface="微软雅黑" panose="020B0503020204020204" charset="-122"/>
                        </a:rPr>
                        <a:t>具体作用</a:t>
                      </a:r>
                    </a:p>
                  </a:txBody>
                  <a:tcPr anchor="ctr">
                    <a:solidFill>
                      <a:srgbClr val="1F4E79"/>
                    </a:solidFill>
                  </a:tcPr>
                </a:tc>
                <a:extLst>
                  <a:ext uri="{0D108BD9-81ED-4DB2-BD59-A6C34878D82A}">
                    <a16:rowId xmlns:a16="http://schemas.microsoft.com/office/drawing/2014/main" val="10000"/>
                  </a:ext>
                </a:extLst>
              </a:tr>
              <a:tr h="453499">
                <a:tc rowSpan="3">
                  <a:txBody>
                    <a:bodyPr/>
                    <a:lstStyle/>
                    <a:p>
                      <a:pPr indent="0" algn="ctr" fontAlgn="ctr"/>
                      <a:r>
                        <a:rPr lang="zh-CN" altLang="en-US" sz="1600" b="1" i="0" dirty="0">
                          <a:solidFill>
                            <a:schemeClr val="tx1"/>
                          </a:solidFill>
                          <a:latin typeface="微软雅黑" panose="020B0503020204020204" charset="-122"/>
                          <a:ea typeface="微软雅黑" panose="020B0503020204020204" charset="-122"/>
                          <a:cs typeface="微软雅黑" panose="020B0503020204020204" charset="-122"/>
                        </a:rPr>
                        <a:t>车端数据</a:t>
                      </a:r>
                      <a:endParaRPr lang="zh-CN" altLang="en-US" sz="1600" b="1" i="0" dirty="0">
                        <a:solidFill>
                          <a:schemeClr val="tx1"/>
                        </a:solidFill>
                        <a:latin typeface="微软雅黑" panose="020B0503020204020204" charset="-122"/>
                        <a:ea typeface="微软雅黑" panose="020B0503020204020204" charset="-122"/>
                      </a:endParaRPr>
                    </a:p>
                  </a:txBody>
                  <a:tcPr marL="5080" marR="5080" marT="5080" marB="0" anchor="ct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r>
                        <a:rPr lang="zh-CN" altLang="en-US" sz="1600" b="1" i="0">
                          <a:solidFill>
                            <a:srgbClr val="000000"/>
                          </a:solidFill>
                          <a:latin typeface="微软雅黑" panose="020B0503020204020204" charset="-122"/>
                          <a:ea typeface="微软雅黑" panose="020B0503020204020204" charset="-122"/>
                        </a:rPr>
                        <a:t>汽车研发</a:t>
                      </a:r>
                    </a:p>
                  </a:txBody>
                  <a:tcPr marL="7937" marR="7937" marT="7937" marB="0" anchor="ctr">
                    <a:solidFill>
                      <a:srgbClr val="D2DEEF"/>
                    </a:solid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ctr"/>
                      <a:r>
                        <a:rPr lang="zh-CN" altLang="en-US" sz="1400" b="0" i="0" dirty="0">
                          <a:solidFill>
                            <a:srgbClr val="000000"/>
                          </a:solidFill>
                          <a:latin typeface="微软雅黑" panose="020B0503020204020204" charset="-122"/>
                          <a:ea typeface="微软雅黑" panose="020B0503020204020204" charset="-122"/>
                        </a:rPr>
                        <a:t>揭示用户真实需求和驾驶习惯，优化车辆性能，开发新功能，提升产品质量</a:t>
                      </a:r>
                    </a:p>
                  </a:txBody>
                  <a:tcPr marL="7937" marR="7937" marT="7937" marB="0" anchor="ctr">
                    <a:solidFill>
                      <a:srgbClr val="D2DEEF"/>
                    </a:solidFill>
                  </a:tcPr>
                </a:tc>
                <a:extLst>
                  <a:ext uri="{0D108BD9-81ED-4DB2-BD59-A6C34878D82A}">
                    <a16:rowId xmlns:a16="http://schemas.microsoft.com/office/drawing/2014/main" val="10001"/>
                  </a:ext>
                </a:extLst>
              </a:tr>
              <a:tr h="453499">
                <a:tc vMerge="1">
                  <a:txBody>
                    <a:bodyPr/>
                    <a:lstStyle/>
                    <a:p>
                      <a:endParaRPr lang="zh-CN" altLang="en-US"/>
                    </a:p>
                  </a:txBody>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r>
                        <a:rPr lang="zh-CN" altLang="en-US" sz="1600" b="1" i="0">
                          <a:solidFill>
                            <a:srgbClr val="000000"/>
                          </a:solidFill>
                          <a:latin typeface="微软雅黑" panose="020B0503020204020204" charset="-122"/>
                          <a:ea typeface="微软雅黑" panose="020B0503020204020204" charset="-122"/>
                        </a:rPr>
                        <a:t>交通管理</a:t>
                      </a:r>
                    </a:p>
                  </a:txBody>
                  <a:tcPr marL="7937" marR="7937" marT="7937" marB="0" anchor="ctr">
                    <a:solidFill>
                      <a:srgbClr val="D2DEEF"/>
                    </a:solid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ctr"/>
                      <a:r>
                        <a:rPr lang="zh-CN" altLang="en-US" sz="1400" b="0" i="0" dirty="0">
                          <a:solidFill>
                            <a:srgbClr val="000000"/>
                          </a:solidFill>
                          <a:latin typeface="微软雅黑" panose="020B0503020204020204" charset="-122"/>
                          <a:ea typeface="微软雅黑" panose="020B0503020204020204" charset="-122"/>
                        </a:rPr>
                        <a:t>提供实时交通流量信息，优化信号灯配时，减少拥堵；分析事故数据，发现危险路段，降低事故概率</a:t>
                      </a:r>
                    </a:p>
                  </a:txBody>
                  <a:tcPr marL="7937" marR="7937" marT="7937" marB="0" anchor="ctr">
                    <a:solidFill>
                      <a:srgbClr val="D2DEEF"/>
                    </a:solidFill>
                  </a:tcPr>
                </a:tc>
                <a:extLst>
                  <a:ext uri="{0D108BD9-81ED-4DB2-BD59-A6C34878D82A}">
                    <a16:rowId xmlns:a16="http://schemas.microsoft.com/office/drawing/2014/main" val="1388197918"/>
                  </a:ext>
                </a:extLst>
              </a:tr>
              <a:tr h="453499">
                <a:tc vMerge="1">
                  <a:txBody>
                    <a:bodyPr/>
                    <a:lstStyle/>
                    <a:p>
                      <a:endParaRPr/>
                    </a:p>
                  </a:txBody>
                  <a:tcPr marL="5080" marR="5080" marT="5080" marB="0" anchor="ctr">
                    <a:solidFill>
                      <a:srgbClr val="EAEFF7"/>
                    </a:solid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r>
                        <a:rPr lang="zh-CN" altLang="en-US" sz="1600" b="1" i="0" dirty="0">
                          <a:solidFill>
                            <a:srgbClr val="000000"/>
                          </a:solidFill>
                          <a:latin typeface="微软雅黑" panose="020B0503020204020204" charset="-122"/>
                          <a:ea typeface="微软雅黑" panose="020B0503020204020204" charset="-122"/>
                        </a:rPr>
                        <a:t>保险行业</a:t>
                      </a:r>
                    </a:p>
                  </a:txBody>
                  <a:tcPr marL="7937" marR="7937" marT="7937" marB="0" anchor="ctr">
                    <a:solidFill>
                      <a:srgbClr val="EAEFF7"/>
                    </a:solid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ctr"/>
                      <a:r>
                        <a:rPr lang="zh-CN" altLang="en-US" sz="1400" b="0" i="0" dirty="0">
                          <a:solidFill>
                            <a:srgbClr val="000000"/>
                          </a:solidFill>
                          <a:latin typeface="微软雅黑" panose="020B0503020204020204" charset="-122"/>
                          <a:ea typeface="微软雅黑" panose="020B0503020204020204" charset="-122"/>
                        </a:rPr>
                        <a:t>支持精准车险定价，通过分析驾驶行为评估驾驶风险，为安全驾驶用户优惠保险费率</a:t>
                      </a:r>
                    </a:p>
                  </a:txBody>
                  <a:tcPr marL="7937" marR="7937" marT="7937" marB="0" anchor="ctr">
                    <a:solidFill>
                      <a:srgbClr val="EAEFF7"/>
                    </a:solidFill>
                  </a:tcPr>
                </a:tc>
                <a:extLst>
                  <a:ext uri="{0D108BD9-81ED-4DB2-BD59-A6C34878D82A}">
                    <a16:rowId xmlns:a16="http://schemas.microsoft.com/office/drawing/2014/main" val="10002"/>
                  </a:ext>
                </a:extLst>
              </a:tr>
              <a:tr h="453499">
                <a:tc rowSpan="3">
                  <a:txBody>
                    <a:bodyPr/>
                    <a:lstStyle/>
                    <a:p>
                      <a:pPr algn="ctr"/>
                      <a:r>
                        <a:rPr lang="zh-CN" altLang="en-US" sz="1600" b="1" i="0" kern="1200" dirty="0">
                          <a:solidFill>
                            <a:schemeClr val="tx1"/>
                          </a:solidFill>
                          <a:latin typeface="微软雅黑" panose="020B0503020204020204" charset="-122"/>
                          <a:ea typeface="微软雅黑" panose="020B0503020204020204" charset="-122"/>
                          <a:cs typeface="+mn-cs"/>
                        </a:rPr>
                        <a:t>路端数据</a:t>
                      </a:r>
                    </a:p>
                  </a:txBody>
                  <a:tcPr marL="5080" marR="5080" marT="5080" marB="0" anchor="ct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r>
                        <a:rPr lang="zh-CN" altLang="en-US" sz="1600" b="1" i="0" dirty="0">
                          <a:solidFill>
                            <a:srgbClr val="000000"/>
                          </a:solidFill>
                          <a:latin typeface="微软雅黑" panose="020B0503020204020204" charset="-122"/>
                          <a:ea typeface="微软雅黑" panose="020B0503020204020204" charset="-122"/>
                        </a:rPr>
                        <a:t>交通管理</a:t>
                      </a:r>
                    </a:p>
                  </a:txBody>
                  <a:tcPr marL="7937" marR="7937" marT="7937" marB="0" anchor="ctr">
                    <a:solidFill>
                      <a:srgbClr val="EAEFF7"/>
                    </a:solid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ctr"/>
                      <a:r>
                        <a:rPr lang="zh-CN" altLang="en-US" sz="1400" b="0" i="0" dirty="0">
                          <a:solidFill>
                            <a:srgbClr val="000000"/>
                          </a:solidFill>
                          <a:latin typeface="微软雅黑" panose="020B0503020204020204" charset="-122"/>
                          <a:ea typeface="微软雅黑" panose="020B0503020204020204" charset="-122"/>
                        </a:rPr>
                        <a:t>支持动态信号控制，优化交通信号灯配时，提高交通效率；提供事故现场信息，助力应急救援</a:t>
                      </a:r>
                    </a:p>
                  </a:txBody>
                  <a:tcPr marL="7937" marR="7937" marT="7937" marB="0" anchor="ctr">
                    <a:solidFill>
                      <a:srgbClr val="EAEFF7"/>
                    </a:solidFill>
                  </a:tcPr>
                </a:tc>
                <a:extLst>
                  <a:ext uri="{0D108BD9-81ED-4DB2-BD59-A6C34878D82A}">
                    <a16:rowId xmlns:a16="http://schemas.microsoft.com/office/drawing/2014/main" val="609041018"/>
                  </a:ext>
                </a:extLst>
              </a:tr>
              <a:tr h="453499">
                <a:tc vMerge="1">
                  <a:txBody>
                    <a:bodyPr/>
                    <a:lstStyle/>
                    <a:p>
                      <a:endParaRPr/>
                    </a:p>
                  </a:txBody>
                  <a:tcPr marL="5080" marR="5080" marT="5080" marB="0" anchor="ct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r>
                        <a:rPr lang="zh-CN" altLang="en-US" sz="1600" b="1" i="0">
                          <a:solidFill>
                            <a:srgbClr val="000000"/>
                          </a:solidFill>
                          <a:latin typeface="微软雅黑" panose="020B0503020204020204" charset="-122"/>
                          <a:ea typeface="微软雅黑" panose="020B0503020204020204" charset="-122"/>
                        </a:rPr>
                        <a:t>智能交通系统</a:t>
                      </a:r>
                    </a:p>
                  </a:txBody>
                  <a:tcPr marL="7937" marR="7937" marT="7937" marB="0" anchor="ct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ctr"/>
                      <a:r>
                        <a:rPr lang="zh-CN" altLang="en-US" sz="1400" b="0" i="0" dirty="0">
                          <a:solidFill>
                            <a:srgbClr val="000000"/>
                          </a:solidFill>
                          <a:latin typeface="微软雅黑" panose="020B0503020204020204" charset="-122"/>
                          <a:ea typeface="微软雅黑" panose="020B0503020204020204" charset="-122"/>
                        </a:rPr>
                        <a:t>提供实时路况信息和最优路径规划，帮助用户避开拥堵路段</a:t>
                      </a:r>
                    </a:p>
                  </a:txBody>
                  <a:tcPr marL="7937" marR="7937" marT="7937" marB="0" anchor="ctr"/>
                </a:tc>
                <a:extLst>
                  <a:ext uri="{0D108BD9-81ED-4DB2-BD59-A6C34878D82A}">
                    <a16:rowId xmlns:a16="http://schemas.microsoft.com/office/drawing/2014/main" val="10003"/>
                  </a:ext>
                </a:extLst>
              </a:tr>
              <a:tr h="453499">
                <a:tc vMerge="1">
                  <a:txBody>
                    <a:bodyPr/>
                    <a:lstStyle/>
                    <a:p>
                      <a:endParaRPr lang="zh-CN" altLang="en-US"/>
                    </a:p>
                  </a:txBody>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r>
                        <a:rPr lang="zh-CN" altLang="en-US" sz="1600" b="1" i="0">
                          <a:solidFill>
                            <a:srgbClr val="000000"/>
                          </a:solidFill>
                          <a:latin typeface="微软雅黑" panose="020B0503020204020204" charset="-122"/>
                          <a:ea typeface="微软雅黑" panose="020B0503020204020204" charset="-122"/>
                        </a:rPr>
                        <a:t>汽车研发</a:t>
                      </a:r>
                    </a:p>
                  </a:txBody>
                  <a:tcPr marL="7937" marR="7937" marT="7937" marB="0" anchor="ctr">
                    <a:solidFill>
                      <a:srgbClr val="D2DEEF"/>
                    </a:solid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ctr"/>
                      <a:r>
                        <a:rPr lang="zh-CN" altLang="en-US" sz="1400" b="0" i="0" dirty="0">
                          <a:solidFill>
                            <a:srgbClr val="000000"/>
                          </a:solidFill>
                          <a:latin typeface="微软雅黑" panose="020B0503020204020204" charset="-122"/>
                          <a:ea typeface="微软雅黑" panose="020B0503020204020204" charset="-122"/>
                        </a:rPr>
                        <a:t>提供丰富交通场景数据，支持自动驾驶技术研发和车辆产品升级优化，提升产品竞争力</a:t>
                      </a:r>
                    </a:p>
                  </a:txBody>
                  <a:tcPr marL="7937" marR="7937" marT="7937" marB="0" anchor="ctr">
                    <a:solidFill>
                      <a:srgbClr val="D2DEEF"/>
                    </a:solidFill>
                  </a:tcPr>
                </a:tc>
                <a:extLst>
                  <a:ext uri="{0D108BD9-81ED-4DB2-BD59-A6C34878D82A}">
                    <a16:rowId xmlns:a16="http://schemas.microsoft.com/office/drawing/2014/main" val="430617698"/>
                  </a:ext>
                </a:extLst>
              </a:tr>
              <a:tr h="453499">
                <a:tc rowSpan="3">
                  <a:txBody>
                    <a:bodyPr/>
                    <a:lstStyle/>
                    <a:p>
                      <a:pPr indent="0" algn="ctr" fontAlgn="ctr"/>
                      <a:r>
                        <a:rPr lang="zh-CN" altLang="en-US" sz="1600" b="1" i="0" dirty="0">
                          <a:solidFill>
                            <a:schemeClr val="tx1"/>
                          </a:solidFill>
                          <a:latin typeface="微软雅黑" panose="020B0503020204020204" charset="-122"/>
                          <a:ea typeface="微软雅黑" panose="020B0503020204020204" charset="-122"/>
                          <a:cs typeface="微软雅黑" panose="020B0503020204020204" charset="-122"/>
                        </a:rPr>
                        <a:t>云端数据</a:t>
                      </a:r>
                    </a:p>
                  </a:txBody>
                  <a:tcPr marL="5080" marR="5080" marT="5080" marB="0" anchor="ct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r>
                        <a:rPr lang="zh-CN" altLang="en-US" sz="1600" b="1" i="0">
                          <a:solidFill>
                            <a:srgbClr val="000000"/>
                          </a:solidFill>
                          <a:latin typeface="微软雅黑" panose="020B0503020204020204" charset="-122"/>
                          <a:ea typeface="微软雅黑" panose="020B0503020204020204" charset="-122"/>
                        </a:rPr>
                        <a:t>智能交通系统</a:t>
                      </a:r>
                    </a:p>
                  </a:txBody>
                  <a:tcPr marL="7937" marR="7937" marT="7937" marB="0" anchor="ctr">
                    <a:solidFill>
                      <a:srgbClr val="D2DEEF"/>
                    </a:solid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ctr"/>
                      <a:r>
                        <a:rPr lang="zh-CN" altLang="en-US" sz="1400" b="0" i="0" dirty="0">
                          <a:solidFill>
                            <a:srgbClr val="000000"/>
                          </a:solidFill>
                          <a:latin typeface="微软雅黑" panose="020B0503020204020204" charset="-122"/>
                          <a:ea typeface="微软雅黑" panose="020B0503020204020204" charset="-122"/>
                        </a:rPr>
                        <a:t>提供全局交通信息，支持全局优化，如动态调整信号灯配时，减少拥堵</a:t>
                      </a:r>
                    </a:p>
                  </a:txBody>
                  <a:tcPr marL="7937" marR="7937" marT="7937" marB="0" anchor="ctr">
                    <a:solidFill>
                      <a:srgbClr val="D2DEEF"/>
                    </a:solidFill>
                  </a:tcPr>
                </a:tc>
                <a:extLst>
                  <a:ext uri="{0D108BD9-81ED-4DB2-BD59-A6C34878D82A}">
                    <a16:rowId xmlns:a16="http://schemas.microsoft.com/office/drawing/2014/main" val="1096865362"/>
                  </a:ext>
                </a:extLst>
              </a:tr>
              <a:tr h="453499">
                <a:tc vMerge="1">
                  <a:txBody>
                    <a:bodyPr/>
                    <a:lstStyle/>
                    <a:p>
                      <a:pPr indent="0" algn="ctr" fontAlgn="ctr"/>
                      <a:endParaRPr lang="zh-CN" altLang="en-US" sz="1600" b="1" i="0" dirty="0">
                        <a:solidFill>
                          <a:schemeClr val="tx1"/>
                        </a:solidFill>
                        <a:latin typeface="微软雅黑" panose="020B0503020204020204" charset="-122"/>
                        <a:ea typeface="微软雅黑" panose="020B0503020204020204" charset="-122"/>
                        <a:cs typeface="微软雅黑" panose="020B0503020204020204" charset="-122"/>
                      </a:endParaRPr>
                    </a:p>
                  </a:txBody>
                  <a:tcPr marL="5080" marR="5080" marT="5080" marB="0" anchor="ct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r>
                        <a:rPr lang="zh-CN" altLang="en-US" sz="1600" b="1" i="0">
                          <a:solidFill>
                            <a:srgbClr val="000000"/>
                          </a:solidFill>
                          <a:latin typeface="微软雅黑" panose="020B0503020204020204" charset="-122"/>
                          <a:ea typeface="微软雅黑" panose="020B0503020204020204" charset="-122"/>
                        </a:rPr>
                        <a:t>交通管理</a:t>
                      </a:r>
                    </a:p>
                  </a:txBody>
                  <a:tcPr marL="7937" marR="7937" marT="7937" marB="0" anchor="ctr">
                    <a:solidFill>
                      <a:srgbClr val="D2DEEF"/>
                    </a:solid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ctr"/>
                      <a:r>
                        <a:rPr lang="zh-CN" altLang="en-US" sz="1400" b="0" i="0" dirty="0">
                          <a:solidFill>
                            <a:srgbClr val="000000"/>
                          </a:solidFill>
                          <a:latin typeface="微软雅黑" panose="020B0503020204020204" charset="-122"/>
                          <a:ea typeface="微软雅黑" panose="020B0503020204020204" charset="-122"/>
                        </a:rPr>
                        <a:t>提供实时交通流量信息，优化信号灯配时，分析事故数据，发现危险路段，降低事故概率</a:t>
                      </a:r>
                    </a:p>
                  </a:txBody>
                  <a:tcPr marL="7937" marR="7937" marT="7937" marB="0" anchor="ctr">
                    <a:solidFill>
                      <a:srgbClr val="D2DEEF"/>
                    </a:solidFill>
                  </a:tcPr>
                </a:tc>
                <a:extLst>
                  <a:ext uri="{0D108BD9-81ED-4DB2-BD59-A6C34878D82A}">
                    <a16:rowId xmlns:a16="http://schemas.microsoft.com/office/drawing/2014/main" val="2259503911"/>
                  </a:ext>
                </a:extLst>
              </a:tr>
              <a:tr h="453499">
                <a:tc vMerge="1">
                  <a:txBody>
                    <a:bodyPr/>
                    <a:lstStyle/>
                    <a:p>
                      <a:pPr indent="0" algn="ctr" fontAlgn="ctr"/>
                      <a:endParaRPr lang="zh-CN" altLang="en-US" sz="1600" b="1" i="0" dirty="0">
                        <a:solidFill>
                          <a:schemeClr val="tx1"/>
                        </a:solidFill>
                        <a:latin typeface="微软雅黑" panose="020B0503020204020204" charset="-122"/>
                        <a:ea typeface="微软雅黑" panose="020B0503020204020204" charset="-122"/>
                        <a:cs typeface="微软雅黑" panose="020B0503020204020204" charset="-122"/>
                      </a:endParaRPr>
                    </a:p>
                  </a:txBody>
                  <a:tcPr marL="5080" marR="5080" marT="5080" marB="0" anchor="ct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ctr"/>
                      <a:r>
                        <a:rPr lang="zh-CN" altLang="en-US" sz="1600" b="1" i="0" dirty="0">
                          <a:solidFill>
                            <a:srgbClr val="000000"/>
                          </a:solidFill>
                          <a:latin typeface="微软雅黑" panose="020B0503020204020204" charset="-122"/>
                          <a:ea typeface="微软雅黑" panose="020B0503020204020204" charset="-122"/>
                        </a:rPr>
                        <a:t>智慧城市建设</a:t>
                      </a:r>
                    </a:p>
                  </a:txBody>
                  <a:tcPr marL="7937" marR="7937" marT="7937" marB="0" anchor="ctr">
                    <a:solidFill>
                      <a:srgbClr val="D2DEEF"/>
                    </a:solidFill>
                  </a:tcPr>
                </a:tc>
                <a:tc>
                  <a:txBody>
                    <a:bodyP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0" algn="ctr" fontAlgn="ctr"/>
                      <a:r>
                        <a:rPr lang="zh-CN" altLang="en-US" sz="1400" b="0" i="0" dirty="0">
                          <a:solidFill>
                            <a:srgbClr val="000000"/>
                          </a:solidFill>
                          <a:latin typeface="微软雅黑" panose="020B0503020204020204" charset="-122"/>
                          <a:ea typeface="微软雅黑" panose="020B0503020204020204" charset="-122"/>
                        </a:rPr>
                        <a:t>支持城市交通网络优化，提高交通效率和居民生活质量；优化公交线路和站点布局，提升公共服务效率</a:t>
                      </a:r>
                    </a:p>
                  </a:txBody>
                  <a:tcPr marL="7937" marR="7937" marT="7937" marB="0" anchor="ctr">
                    <a:solidFill>
                      <a:srgbClr val="D2DEEF"/>
                    </a:solidFill>
                  </a:tcPr>
                </a:tc>
                <a:extLst>
                  <a:ext uri="{0D108BD9-81ED-4DB2-BD59-A6C34878D82A}">
                    <a16:rowId xmlns:a16="http://schemas.microsoft.com/office/drawing/2014/main" val="2076966635"/>
                  </a:ext>
                </a:extLst>
              </a:tr>
            </a:tbl>
          </a:graphicData>
        </a:graphic>
      </p:graphicFrame>
      <p:sp>
        <p:nvSpPr>
          <p:cNvPr id="10" name="文本框 18">
            <a:extLst>
              <a:ext uri="{FF2B5EF4-FFF2-40B4-BE49-F238E27FC236}">
                <a16:creationId xmlns:a16="http://schemas.microsoft.com/office/drawing/2014/main" id="{43219092-C577-2D0E-B99E-F3F9B245F4B1}"/>
              </a:ext>
            </a:extLst>
          </p:cNvPr>
          <p:cNvSpPr txBox="1"/>
          <p:nvPr/>
        </p:nvSpPr>
        <p:spPr>
          <a:xfrm>
            <a:off x="44951" y="5934601"/>
            <a:ext cx="12090866" cy="353060"/>
          </a:xfrm>
          <a:prstGeom prst="rect">
            <a:avLst/>
          </a:prstGeom>
        </p:spPr>
        <p:txBody>
          <a:bodyP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defTabSz="266700">
              <a:buClrTx/>
              <a:buSzTx/>
              <a:buFontTx/>
            </a:pPr>
            <a:r>
              <a:rPr lang="zh-CN" altLang="en-US" b="1" dirty="0">
                <a:latin typeface="微软雅黑" panose="020B0503020204020204" charset="-122"/>
                <a:ea typeface="微软雅黑" panose="020B0503020204020204" charset="-122"/>
                <a:sym typeface="+mn-ea"/>
              </a:rPr>
              <a:t>在应用阶段，数据的价值体现主要通过</a:t>
            </a:r>
            <a:r>
              <a:rPr lang="en-US" altLang="zh-CN" b="1" dirty="0">
                <a:solidFill>
                  <a:srgbClr val="C00000"/>
                </a:solidFill>
                <a:latin typeface="微软雅黑" panose="020B0503020204020204" charset="-122"/>
                <a:ea typeface="微软雅黑" panose="020B0503020204020204" charset="-122"/>
                <a:sym typeface="+mn-ea"/>
              </a:rPr>
              <a:t>“</a:t>
            </a:r>
            <a:r>
              <a:rPr lang="zh-CN" altLang="en-US" b="1" dirty="0">
                <a:solidFill>
                  <a:srgbClr val="C00000"/>
                </a:solidFill>
                <a:latin typeface="微软雅黑" panose="020B0503020204020204" charset="-122"/>
                <a:ea typeface="微软雅黑" panose="020B0503020204020204" charset="-122"/>
                <a:sym typeface="+mn-ea"/>
              </a:rPr>
              <a:t>数据赋能</a:t>
            </a:r>
            <a:r>
              <a:rPr lang="en-US" altLang="zh-CN" b="1" dirty="0">
                <a:solidFill>
                  <a:srgbClr val="C00000"/>
                </a:solidFill>
                <a:latin typeface="微软雅黑" panose="020B0503020204020204" charset="-122"/>
                <a:ea typeface="微软雅黑" panose="020B0503020204020204" charset="-122"/>
                <a:sym typeface="+mn-ea"/>
              </a:rPr>
              <a:t>”</a:t>
            </a:r>
            <a:r>
              <a:rPr lang="zh-CN" altLang="en-US" b="1" dirty="0">
                <a:latin typeface="微软雅黑" panose="020B0503020204020204" charset="-122"/>
                <a:ea typeface="微软雅黑" panose="020B0503020204020204" charset="-122"/>
                <a:sym typeface="+mn-ea"/>
              </a:rPr>
              <a:t>相关领域与应用场景实现。</a:t>
            </a:r>
          </a:p>
        </p:txBody>
      </p:sp>
      <p:sp>
        <p:nvSpPr>
          <p:cNvPr id="6" name="文本框 5">
            <a:extLst>
              <a:ext uri="{FF2B5EF4-FFF2-40B4-BE49-F238E27FC236}">
                <a16:creationId xmlns:a16="http://schemas.microsoft.com/office/drawing/2014/main" id="{053914B0-3093-CCB7-96BE-2971ED6A42F0}"/>
              </a:ext>
            </a:extLst>
          </p:cNvPr>
          <p:cNvSpPr txBox="1"/>
          <p:nvPr/>
        </p:nvSpPr>
        <p:spPr>
          <a:xfrm>
            <a:off x="-6250" y="703669"/>
            <a:ext cx="1090285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3.3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高精地图数据权利转移和价值体现：应用阶段</a:t>
            </a:r>
          </a:p>
        </p:txBody>
      </p:sp>
    </p:spTree>
    <p:extLst>
      <p:ext uri="{BB962C8B-B14F-4D97-AF65-F5344CB8AC3E}">
        <p14:creationId xmlns:p14="http://schemas.microsoft.com/office/powerpoint/2010/main" val="227620023"/>
      </p:ext>
    </p:extLst>
  </p:cSld>
  <p:clrMapOvr>
    <a:masterClrMapping/>
  </p:clrMapOvr>
  <p:transition spd="med" advClick="0" advTm="0"/>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p:cNvSpPr txBox="1"/>
          <p:nvPr/>
        </p:nvSpPr>
        <p:spPr>
          <a:xfrm>
            <a:off x="-6250" y="703669"/>
            <a:ext cx="320665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4.1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研究亮点</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7226153" y="-7088"/>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028344" y="-259725"/>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sp>
        <p:nvSpPr>
          <p:cNvPr id="19" name="矩形 18">
            <a:extLst>
              <a:ext uri="{FF2B5EF4-FFF2-40B4-BE49-F238E27FC236}">
                <a16:creationId xmlns:a16="http://schemas.microsoft.com/office/drawing/2014/main" id="{E01039D7-5DFB-FEE8-F3A4-DDCAD334AC0E}"/>
              </a:ext>
            </a:extLst>
          </p:cNvPr>
          <p:cNvSpPr/>
          <p:nvPr/>
        </p:nvSpPr>
        <p:spPr>
          <a:xfrm>
            <a:off x="402990" y="1644169"/>
            <a:ext cx="2636812" cy="523219"/>
          </a:xfrm>
          <a:prstGeom prst="rect">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latin typeface="微软雅黑" panose="020B0503020204020204" charset="-122"/>
                <a:ea typeface="微软雅黑" panose="020B0503020204020204" charset="-122"/>
              </a:rPr>
              <a:t>数据的确权逻辑</a:t>
            </a:r>
          </a:p>
        </p:txBody>
      </p:sp>
      <p:sp>
        <p:nvSpPr>
          <p:cNvPr id="28" name="矩形 27">
            <a:extLst>
              <a:ext uri="{FF2B5EF4-FFF2-40B4-BE49-F238E27FC236}">
                <a16:creationId xmlns:a16="http://schemas.microsoft.com/office/drawing/2014/main" id="{84C77C9F-9DBC-B36A-B057-8E86403FBAB0}"/>
              </a:ext>
            </a:extLst>
          </p:cNvPr>
          <p:cNvSpPr/>
          <p:nvPr/>
        </p:nvSpPr>
        <p:spPr>
          <a:xfrm>
            <a:off x="3682705" y="1644166"/>
            <a:ext cx="3027079" cy="523219"/>
          </a:xfrm>
          <a:prstGeom prst="rect">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latin typeface="微软雅黑" panose="020B0503020204020204" charset="-122"/>
                <a:ea typeface="微软雅黑" panose="020B0503020204020204" charset="-122"/>
              </a:rPr>
              <a:t>全新的高精地图概念</a:t>
            </a:r>
          </a:p>
        </p:txBody>
      </p:sp>
      <p:sp>
        <p:nvSpPr>
          <p:cNvPr id="29" name="矩形 28">
            <a:extLst>
              <a:ext uri="{FF2B5EF4-FFF2-40B4-BE49-F238E27FC236}">
                <a16:creationId xmlns:a16="http://schemas.microsoft.com/office/drawing/2014/main" id="{BC1E43A6-5C77-2785-190D-B0F6524FAC85}"/>
              </a:ext>
            </a:extLst>
          </p:cNvPr>
          <p:cNvSpPr/>
          <p:nvPr/>
        </p:nvSpPr>
        <p:spPr>
          <a:xfrm>
            <a:off x="7391532" y="1644167"/>
            <a:ext cx="2636812" cy="523219"/>
          </a:xfrm>
          <a:prstGeom prst="rect">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b="1" dirty="0">
                <a:latin typeface="微软雅黑" panose="020B0503020204020204" charset="-122"/>
                <a:ea typeface="微软雅黑" panose="020B0503020204020204" charset="-122"/>
              </a:rPr>
              <a:t>创新研究路径</a:t>
            </a:r>
          </a:p>
        </p:txBody>
      </p:sp>
      <p:sp>
        <p:nvSpPr>
          <p:cNvPr id="42" name="矩形 41">
            <a:extLst>
              <a:ext uri="{FF2B5EF4-FFF2-40B4-BE49-F238E27FC236}">
                <a16:creationId xmlns:a16="http://schemas.microsoft.com/office/drawing/2014/main" id="{046B4022-D3DE-9A3C-633C-6D2E62C21254}"/>
              </a:ext>
            </a:extLst>
          </p:cNvPr>
          <p:cNvSpPr/>
          <p:nvPr/>
        </p:nvSpPr>
        <p:spPr>
          <a:xfrm>
            <a:off x="492034" y="1557540"/>
            <a:ext cx="408805" cy="707886"/>
          </a:xfrm>
          <a:prstGeom prst="rect">
            <a:avLst/>
          </a:prstGeom>
          <a:noFill/>
        </p:spPr>
        <p:txBody>
          <a:bodyPr wrap="square" lIns="91440" tIns="45720" rIns="91440" bIns="45720">
            <a:spAutoFit/>
          </a:bodyPr>
          <a:lstStyle/>
          <a:p>
            <a:pPr algn="ctr"/>
            <a:r>
              <a:rPr lang="en-US" altLang="zh-CN" sz="4000" b="1" dirty="0">
                <a:ln w="9525">
                  <a:solidFill>
                    <a:schemeClr val="accent1">
                      <a:lumMod val="50000"/>
                    </a:schemeClr>
                  </a:solidFill>
                  <a:prstDash val="solid"/>
                </a:ln>
                <a:solidFill>
                  <a:schemeClr val="accent1">
                    <a:lumMod val="40000"/>
                    <a:lumOff val="60000"/>
                  </a:schemeClr>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1</a:t>
            </a:r>
            <a:endParaRPr lang="zh-CN" altLang="en-US" sz="4000" b="1" dirty="0">
              <a:ln w="9525">
                <a:solidFill>
                  <a:schemeClr val="accent1">
                    <a:lumMod val="50000"/>
                  </a:schemeClr>
                </a:solidFill>
                <a:prstDash val="solid"/>
              </a:ln>
              <a:solidFill>
                <a:schemeClr val="accent1">
                  <a:lumMod val="40000"/>
                  <a:lumOff val="60000"/>
                </a:schemeClr>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a16="http://schemas.microsoft.com/office/drawing/2014/main" id="{82C29A31-A3F5-9497-A382-A22E0B66CD27}"/>
              </a:ext>
            </a:extLst>
          </p:cNvPr>
          <p:cNvSpPr/>
          <p:nvPr/>
        </p:nvSpPr>
        <p:spPr>
          <a:xfrm>
            <a:off x="3727228" y="1537701"/>
            <a:ext cx="408805" cy="707886"/>
          </a:xfrm>
          <a:prstGeom prst="rect">
            <a:avLst/>
          </a:prstGeom>
          <a:noFill/>
        </p:spPr>
        <p:txBody>
          <a:bodyPr wrap="square" lIns="91440" tIns="45720" rIns="91440" bIns="45720">
            <a:spAutoFit/>
          </a:bodyPr>
          <a:lstStyle/>
          <a:p>
            <a:pPr algn="ctr"/>
            <a:r>
              <a:rPr lang="en-US" altLang="zh-CN" sz="4000" b="1" dirty="0">
                <a:ln w="9525">
                  <a:solidFill>
                    <a:schemeClr val="accent1">
                      <a:lumMod val="50000"/>
                    </a:schemeClr>
                  </a:solidFill>
                  <a:prstDash val="solid"/>
                </a:ln>
                <a:solidFill>
                  <a:schemeClr val="accent1">
                    <a:lumMod val="40000"/>
                    <a:lumOff val="60000"/>
                  </a:schemeClr>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2</a:t>
            </a:r>
            <a:endParaRPr lang="zh-CN" altLang="en-US" sz="4000" b="1" dirty="0">
              <a:ln w="9525">
                <a:solidFill>
                  <a:schemeClr val="accent1">
                    <a:lumMod val="50000"/>
                  </a:schemeClr>
                </a:solidFill>
                <a:prstDash val="solid"/>
              </a:ln>
              <a:solidFill>
                <a:schemeClr val="accent1">
                  <a:lumMod val="40000"/>
                  <a:lumOff val="60000"/>
                </a:schemeClr>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sp>
        <p:nvSpPr>
          <p:cNvPr id="59" name="矩形 58">
            <a:extLst>
              <a:ext uri="{FF2B5EF4-FFF2-40B4-BE49-F238E27FC236}">
                <a16:creationId xmlns:a16="http://schemas.microsoft.com/office/drawing/2014/main" id="{0A2D73B8-B859-E7C0-DC93-2AB8EE81AF00}"/>
              </a:ext>
            </a:extLst>
          </p:cNvPr>
          <p:cNvSpPr/>
          <p:nvPr/>
        </p:nvSpPr>
        <p:spPr>
          <a:xfrm>
            <a:off x="7352688" y="1551833"/>
            <a:ext cx="408805" cy="707886"/>
          </a:xfrm>
          <a:prstGeom prst="rect">
            <a:avLst/>
          </a:prstGeom>
          <a:noFill/>
        </p:spPr>
        <p:txBody>
          <a:bodyPr wrap="square" lIns="91440" tIns="45720" rIns="91440" bIns="45720">
            <a:spAutoFit/>
          </a:bodyPr>
          <a:lstStyle/>
          <a:p>
            <a:pPr algn="ctr"/>
            <a:r>
              <a:rPr lang="en-US" altLang="zh-CN" sz="4000" b="1" dirty="0">
                <a:ln w="9525">
                  <a:solidFill>
                    <a:schemeClr val="accent1">
                      <a:lumMod val="50000"/>
                    </a:schemeClr>
                  </a:solidFill>
                  <a:prstDash val="solid"/>
                </a:ln>
                <a:solidFill>
                  <a:schemeClr val="accent1">
                    <a:lumMod val="40000"/>
                    <a:lumOff val="60000"/>
                  </a:schemeClr>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rPr>
              <a:t>3</a:t>
            </a:r>
            <a:endParaRPr lang="zh-CN" altLang="en-US" sz="4000" b="1" dirty="0">
              <a:ln w="9525">
                <a:solidFill>
                  <a:schemeClr val="accent1">
                    <a:lumMod val="50000"/>
                  </a:schemeClr>
                </a:solidFill>
                <a:prstDash val="solid"/>
              </a:ln>
              <a:solidFill>
                <a:schemeClr val="accent1">
                  <a:lumMod val="40000"/>
                  <a:lumOff val="60000"/>
                </a:schemeClr>
              </a:solidFill>
              <a:effectLst>
                <a:outerShdw blurRad="12700" dist="38100" dir="2700000" algn="tl" rotWithShape="0">
                  <a:schemeClr val="accent5">
                    <a:lumMod val="60000"/>
                    <a:lumOff val="40000"/>
                  </a:schemeClr>
                </a:outerShdw>
              </a:effectLst>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32FB0DC6-DA6B-C315-9FB5-A52E911765B0}"/>
              </a:ext>
            </a:extLst>
          </p:cNvPr>
          <p:cNvSpPr txBox="1"/>
          <p:nvPr/>
        </p:nvSpPr>
        <p:spPr>
          <a:xfrm>
            <a:off x="-6250" y="2950534"/>
            <a:ext cx="1219327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4.2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研究难点</a:t>
            </a:r>
          </a:p>
        </p:txBody>
      </p:sp>
      <p:sp>
        <p:nvSpPr>
          <p:cNvPr id="8" name="文本框 7">
            <a:extLst>
              <a:ext uri="{FF2B5EF4-FFF2-40B4-BE49-F238E27FC236}">
                <a16:creationId xmlns:a16="http://schemas.microsoft.com/office/drawing/2014/main" id="{A40233E5-92C6-F71B-3203-696836EFDFA6}"/>
              </a:ext>
            </a:extLst>
          </p:cNvPr>
          <p:cNvSpPr txBox="1"/>
          <p:nvPr/>
        </p:nvSpPr>
        <p:spPr>
          <a:xfrm>
            <a:off x="310199" y="3900374"/>
            <a:ext cx="11397585" cy="1610069"/>
          </a:xfrm>
          <a:prstGeom prst="rect">
            <a:avLst/>
          </a:prstGeom>
          <a:noFill/>
        </p:spPr>
        <p:txBody>
          <a:bodyPr wrap="square" rtlCol="0" anchor="t">
            <a:noAutofit/>
          </a:bodyPr>
          <a:lstStyle/>
          <a:p>
            <a:pPr indent="0" algn="l" fontAlgn="auto">
              <a:buClrTx/>
              <a:buSzTx/>
              <a:buNone/>
            </a:pPr>
            <a:r>
              <a:rPr lang="en-US" altLang="zh-CN" sz="2000" b="1" dirty="0">
                <a:solidFill>
                  <a:srgbClr val="1F4E79"/>
                </a:solidFill>
                <a:latin typeface="微软雅黑" panose="020B0503020204020204" charset="-122"/>
                <a:ea typeface="微软雅黑" panose="020B0503020204020204" charset="-122"/>
              </a:rPr>
              <a:t>(1) 高精地图数据量庞大</a:t>
            </a:r>
            <a:r>
              <a:rPr lang="zh-CN" altLang="en-US" sz="2000" b="1" dirty="0">
                <a:solidFill>
                  <a:srgbClr val="1F4E79"/>
                </a:solidFill>
                <a:latin typeface="微软雅黑" panose="020B0503020204020204" charset="-122"/>
                <a:ea typeface="微软雅黑" panose="020B0503020204020204" charset="-122"/>
              </a:rPr>
              <a:t>、</a:t>
            </a:r>
            <a:r>
              <a:rPr lang="en-US" altLang="zh-CN" sz="2000" b="1" dirty="0">
                <a:solidFill>
                  <a:srgbClr val="1F4E79"/>
                </a:solidFill>
                <a:latin typeface="微软雅黑" panose="020B0503020204020204" charset="-122"/>
                <a:ea typeface="微软雅黑" panose="020B0503020204020204" charset="-122"/>
              </a:rPr>
              <a:t>未源广泛</a:t>
            </a:r>
            <a:r>
              <a:rPr lang="zh-CN" altLang="en-US" sz="2000" b="1" dirty="0">
                <a:solidFill>
                  <a:srgbClr val="1F4E79"/>
                </a:solidFill>
                <a:latin typeface="微软雅黑" panose="020B0503020204020204" charset="-122"/>
                <a:ea typeface="微软雅黑" panose="020B0503020204020204" charset="-122"/>
              </a:rPr>
              <a:t>，</a:t>
            </a:r>
            <a:r>
              <a:rPr lang="en-US" altLang="zh-CN" sz="2000" b="1" dirty="0">
                <a:solidFill>
                  <a:srgbClr val="1F4E79"/>
                </a:solidFill>
                <a:latin typeface="微软雅黑" panose="020B0503020204020204" charset="-122"/>
                <a:ea typeface="微软雅黑" panose="020B0503020204020204" charset="-122"/>
              </a:rPr>
              <a:t>权利类型复杂</a:t>
            </a:r>
            <a:r>
              <a:rPr lang="zh-CN" altLang="en-US" sz="2000" b="1" dirty="0">
                <a:solidFill>
                  <a:srgbClr val="1F4E79"/>
                </a:solidFill>
                <a:latin typeface="微软雅黑" panose="020B0503020204020204" charset="-122"/>
                <a:ea typeface="微软雅黑" panose="020B0503020204020204" charset="-122"/>
              </a:rPr>
              <a:t>，</a:t>
            </a:r>
            <a:r>
              <a:rPr lang="en-US" altLang="zh-CN" sz="2000" b="1" dirty="0">
                <a:solidFill>
                  <a:srgbClr val="1F4E79"/>
                </a:solidFill>
                <a:latin typeface="微软雅黑" panose="020B0503020204020204" charset="-122"/>
                <a:ea typeface="微软雅黑" panose="020B0503020204020204" charset="-122"/>
              </a:rPr>
              <a:t>难以确权</a:t>
            </a:r>
            <a:endParaRPr lang="zh-CN" altLang="en-US" sz="2000" b="1" dirty="0">
              <a:solidFill>
                <a:srgbClr val="1F4E79"/>
              </a:solidFill>
              <a:latin typeface="微软雅黑" panose="020B0503020204020204" charset="-122"/>
              <a:ea typeface="微软雅黑" panose="020B0503020204020204" charset="-122"/>
            </a:endParaRPr>
          </a:p>
          <a:p>
            <a:pPr indent="457200" algn="l">
              <a:buClrTx/>
              <a:buSzTx/>
              <a:buFontTx/>
            </a:pPr>
            <a:endParaRPr lang="en-US" altLang="zh-CN" b="1" dirty="0">
              <a:latin typeface="微软雅黑" panose="020B0503020204020204" charset="-122"/>
              <a:ea typeface="微软雅黑" panose="020B0503020204020204" charset="-122"/>
            </a:endParaRPr>
          </a:p>
          <a:p>
            <a:pPr algn="l">
              <a:buClrTx/>
              <a:buSzTx/>
              <a:buFontTx/>
            </a:pPr>
            <a:r>
              <a:rPr lang="en-US" altLang="zh-CN" sz="2000" b="1" dirty="0">
                <a:solidFill>
                  <a:srgbClr val="1F4E79"/>
                </a:solidFill>
                <a:latin typeface="微软雅黑" panose="020B0503020204020204" charset="-122"/>
                <a:ea typeface="微软雅黑" panose="020B0503020204020204" charset="-122"/>
              </a:rPr>
              <a:t>(2) </a:t>
            </a:r>
            <a:r>
              <a:rPr lang="en-US" altLang="zh-CN" sz="2000" b="1" dirty="0" err="1">
                <a:solidFill>
                  <a:srgbClr val="1F4E79"/>
                </a:solidFill>
                <a:latin typeface="微软雅黑" panose="020B0503020204020204" charset="-122"/>
                <a:ea typeface="微软雅黑" panose="020B0503020204020204" charset="-122"/>
              </a:rPr>
              <a:t>涉及涉密数据</a:t>
            </a:r>
            <a:r>
              <a:rPr lang="zh-CN" altLang="en-US" sz="2000" b="1" dirty="0">
                <a:solidFill>
                  <a:srgbClr val="1F4E79"/>
                </a:solidFill>
                <a:latin typeface="微软雅黑" panose="020B0503020204020204" charset="-122"/>
                <a:ea typeface="微软雅黑" panose="020B0503020204020204" charset="-122"/>
              </a:rPr>
              <a:t>，</a:t>
            </a:r>
            <a:r>
              <a:rPr lang="en-US" altLang="zh-CN" sz="2000" b="1" dirty="0">
                <a:solidFill>
                  <a:srgbClr val="1F4E79"/>
                </a:solidFill>
                <a:latin typeface="微软雅黑" panose="020B0503020204020204" charset="-122"/>
                <a:ea typeface="微软雅黑" panose="020B0503020204020204" charset="-122"/>
              </a:rPr>
              <a:t>数据流通受限</a:t>
            </a:r>
            <a:r>
              <a:rPr lang="zh-CN" altLang="en-US" sz="2000" b="1" dirty="0">
                <a:solidFill>
                  <a:srgbClr val="1F4E79"/>
                </a:solidFill>
                <a:latin typeface="微软雅黑" panose="020B0503020204020204" charset="-122"/>
                <a:ea typeface="微软雅黑" panose="020B0503020204020204" charset="-122"/>
              </a:rPr>
              <a:t>，</a:t>
            </a:r>
            <a:r>
              <a:rPr lang="en-US" altLang="zh-CN" sz="2000" b="1" dirty="0" err="1">
                <a:solidFill>
                  <a:srgbClr val="1F4E79"/>
                </a:solidFill>
                <a:latin typeface="微软雅黑" panose="020B0503020204020204" charset="-122"/>
                <a:ea typeface="微软雅黑" panose="020B0503020204020204" charset="-122"/>
              </a:rPr>
              <a:t>价值难以量化</a:t>
            </a:r>
            <a:endParaRPr lang="en-US" altLang="zh-CN" sz="2000" b="1" dirty="0">
              <a:solidFill>
                <a:srgbClr val="1F4E79"/>
              </a:solidFill>
              <a:latin typeface="微软雅黑" panose="020B0503020204020204" charset="-122"/>
              <a:ea typeface="微软雅黑" panose="020B0503020204020204" charset="-122"/>
            </a:endParaRPr>
          </a:p>
          <a:p>
            <a:pPr algn="l">
              <a:buClrTx/>
              <a:buSzTx/>
              <a:buFontTx/>
            </a:pPr>
            <a:endParaRPr lang="en-US" altLang="zh-CN" sz="2000" b="1" dirty="0">
              <a:solidFill>
                <a:srgbClr val="1F4E79"/>
              </a:solidFill>
              <a:latin typeface="微软雅黑" panose="020B0503020204020204" charset="-122"/>
              <a:ea typeface="微软雅黑" panose="020B0503020204020204" charset="-122"/>
            </a:endParaRPr>
          </a:p>
          <a:p>
            <a:pPr algn="l">
              <a:buClrTx/>
              <a:buSzTx/>
              <a:buFontTx/>
            </a:pPr>
            <a:r>
              <a:rPr lang="en-US" altLang="zh-CN" sz="2000" b="1" dirty="0">
                <a:solidFill>
                  <a:srgbClr val="1F4E79"/>
                </a:solidFill>
                <a:latin typeface="微软雅黑" panose="020B0503020204020204" charset="-122"/>
                <a:ea typeface="微软雅黑" panose="020B0503020204020204" charset="-122"/>
              </a:rPr>
              <a:t>(3) </a:t>
            </a:r>
            <a:r>
              <a:rPr lang="en-US" altLang="zh-CN" sz="2000" b="1" dirty="0" err="1">
                <a:solidFill>
                  <a:srgbClr val="1F4E79"/>
                </a:solidFill>
                <a:latin typeface="微软雅黑" panose="020B0503020204020204" charset="-122"/>
                <a:ea typeface="微软雅黑" panose="020B0503020204020204" charset="-122"/>
              </a:rPr>
              <a:t>数据资户价值评估领域研究方兴未艾</a:t>
            </a:r>
            <a:r>
              <a:rPr lang="zh-CN" altLang="en-US" sz="2000" b="1" dirty="0">
                <a:solidFill>
                  <a:srgbClr val="1F4E79"/>
                </a:solidFill>
                <a:latin typeface="微软雅黑" panose="020B0503020204020204" charset="-122"/>
                <a:ea typeface="微软雅黑" panose="020B0503020204020204" charset="-122"/>
              </a:rPr>
              <a:t>，</a:t>
            </a:r>
            <a:r>
              <a:rPr lang="en-US" altLang="zh-CN" sz="2000" b="1" dirty="0">
                <a:solidFill>
                  <a:srgbClr val="1F4E79"/>
                </a:solidFill>
                <a:latin typeface="微软雅黑" panose="020B0503020204020204" charset="-122"/>
                <a:ea typeface="微软雅黑" panose="020B0503020204020204" charset="-122"/>
              </a:rPr>
              <a:t>但对涉及空间信息的数据价体研究仍属空白，无迹可寻</a:t>
            </a:r>
          </a:p>
          <a:p>
            <a:pPr indent="457200" algn="l">
              <a:buClrTx/>
              <a:buSzTx/>
              <a:buFontTx/>
            </a:pPr>
            <a:endParaRPr lang="en-US" altLang="zh-CN" b="1" dirty="0">
              <a:solidFill>
                <a:srgbClr val="1F4E79"/>
              </a:solidFill>
              <a:latin typeface="微软雅黑" panose="020B0503020204020204" charset="-122"/>
              <a:ea typeface="微软雅黑" panose="020B0503020204020204" charset="-122"/>
              <a:sym typeface="+mn-ea"/>
            </a:endParaRPr>
          </a:p>
          <a:p>
            <a:pPr indent="457200" algn="l">
              <a:buClrTx/>
              <a:buSzTx/>
              <a:buFontTx/>
            </a:pPr>
            <a:endParaRPr lang="zh-CN" altLang="en-US" sz="2000" b="1" dirty="0">
              <a:solidFill>
                <a:srgbClr val="1F4E79"/>
              </a:solidFill>
              <a:latin typeface="微软雅黑" panose="020B0503020204020204" charset="-122"/>
              <a:ea typeface="微软雅黑" panose="020B0503020204020204" charset="-122"/>
              <a:sym typeface="+mn-ea"/>
            </a:endParaRPr>
          </a:p>
          <a:p>
            <a:pPr indent="457200" algn="l">
              <a:buClrTx/>
              <a:buSzTx/>
              <a:buFontTx/>
            </a:pPr>
            <a:endParaRPr lang="en-US" altLang="zh-CN" sz="1800" b="1" dirty="0">
              <a:latin typeface="微软雅黑" panose="020B0503020204020204" charset="-122"/>
              <a:ea typeface="微软雅黑" panose="020B0503020204020204" charset="-122"/>
            </a:endParaRPr>
          </a:p>
          <a:p>
            <a:pPr indent="457200" algn="l">
              <a:buClrTx/>
              <a:buSzTx/>
              <a:buFontTx/>
            </a:pPr>
            <a:endParaRPr lang="en-US" altLang="zh-CN" b="1" dirty="0">
              <a:latin typeface="微软雅黑" panose="020B0503020204020204" charset="-122"/>
              <a:ea typeface="微软雅黑" panose="020B0503020204020204" charset="-122"/>
            </a:endParaRPr>
          </a:p>
          <a:p>
            <a:pPr indent="457200" algn="l">
              <a:buClrTx/>
              <a:buSzTx/>
              <a:buFontTx/>
            </a:pPr>
            <a:endParaRPr lang="zh-CN" altLang="en-US" sz="1800" b="1" dirty="0">
              <a:latin typeface="微软雅黑" panose="020B0503020204020204" charset="-122"/>
              <a:ea typeface="微软雅黑" panose="020B0503020204020204" charset="-122"/>
            </a:endParaRPr>
          </a:p>
          <a:p>
            <a:pPr indent="457200" algn="l">
              <a:buClrTx/>
              <a:buSzTx/>
              <a:buNone/>
            </a:pPr>
            <a:endParaRPr lang="zh-CN" altLang="en-US" b="1" dirty="0">
              <a:solidFill>
                <a:srgbClr val="C00000"/>
              </a:solidFill>
              <a:latin typeface="微软雅黑" panose="020B0503020204020204" charset="-122"/>
              <a:ea typeface="微软雅黑" panose="020B0503020204020204" charset="-122"/>
            </a:endParaRPr>
          </a:p>
        </p:txBody>
      </p:sp>
    </p:spTree>
    <p:extLst>
      <p:ext uri="{BB962C8B-B14F-4D97-AF65-F5344CB8AC3E}">
        <p14:creationId xmlns:p14="http://schemas.microsoft.com/office/powerpoint/2010/main" val="3390323793"/>
      </p:ext>
    </p:extLst>
  </p:cSld>
  <p:clrMapOvr>
    <a:masterClrMapping/>
  </p:clrMapOvr>
  <p:transition spd="med" advClick="0" advTm="0"/>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p:cNvSpPr txBox="1"/>
          <p:nvPr/>
        </p:nvSpPr>
        <p:spPr>
          <a:xfrm>
            <a:off x="-6250" y="703669"/>
            <a:ext cx="1219327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5.1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构建高精地图数据价值评估指标体系</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974598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165281" y="-266959"/>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pic>
        <p:nvPicPr>
          <p:cNvPr id="10" name="图片 9" descr="指标体系">
            <a:extLst>
              <a:ext uri="{FF2B5EF4-FFF2-40B4-BE49-F238E27FC236}">
                <a16:creationId xmlns:a16="http://schemas.microsoft.com/office/drawing/2014/main" id="{A64C3003-F6ED-33FE-F4B2-23D52C2D4A67}"/>
              </a:ext>
            </a:extLst>
          </p:cNvPr>
          <p:cNvPicPr>
            <a:picLocks noChangeAspect="1"/>
          </p:cNvPicPr>
          <p:nvPr/>
        </p:nvPicPr>
        <p:blipFill>
          <a:blip r:embed="rId9"/>
          <a:stretch>
            <a:fillRect/>
          </a:stretch>
        </p:blipFill>
        <p:spPr>
          <a:xfrm>
            <a:off x="7595485" y="1897775"/>
            <a:ext cx="4442460" cy="2856754"/>
          </a:xfrm>
          <a:prstGeom prst="rect">
            <a:avLst/>
          </a:prstGeom>
        </p:spPr>
      </p:pic>
      <p:sp>
        <p:nvSpPr>
          <p:cNvPr id="11" name="文本框 10">
            <a:extLst>
              <a:ext uri="{FF2B5EF4-FFF2-40B4-BE49-F238E27FC236}">
                <a16:creationId xmlns:a16="http://schemas.microsoft.com/office/drawing/2014/main" id="{980B9328-FD14-9357-7348-812D17A9C6EC}"/>
              </a:ext>
            </a:extLst>
          </p:cNvPr>
          <p:cNvSpPr txBox="1"/>
          <p:nvPr/>
        </p:nvSpPr>
        <p:spPr>
          <a:xfrm>
            <a:off x="7391388" y="4903755"/>
            <a:ext cx="4646558" cy="646331"/>
          </a:xfrm>
          <a:prstGeom prst="rect">
            <a:avLst/>
          </a:prstGeom>
          <a:noFill/>
        </p:spPr>
        <p:txBody>
          <a:bodyPr wrap="square" rtlCol="0">
            <a:spAutoFit/>
          </a:bodyPr>
          <a:lstStyle/>
          <a:p>
            <a:pPr algn="ctr"/>
            <a:r>
              <a:rPr lang="zh-CN" altLang="en-US" b="1" dirty="0">
                <a:latin typeface="微软雅黑" panose="020B0503020204020204" pitchFamily="34" charset="-122"/>
                <a:ea typeface="微软雅黑" panose="020B0503020204020204" pitchFamily="34" charset="-122"/>
              </a:rPr>
              <a:t>高精地图数据资产价值评估</a:t>
            </a:r>
            <a:endParaRPr lang="en-US" altLang="zh-CN" b="1" dirty="0">
              <a:latin typeface="微软雅黑" panose="020B0503020204020204" pitchFamily="34" charset="-122"/>
              <a:ea typeface="微软雅黑" panose="020B0503020204020204" pitchFamily="34" charset="-122"/>
            </a:endParaRPr>
          </a:p>
          <a:p>
            <a:pPr algn="ctr"/>
            <a:r>
              <a:rPr lang="zh-CN" altLang="en-US" b="1" dirty="0">
                <a:latin typeface="微软雅黑" panose="020B0503020204020204" pitchFamily="34" charset="-122"/>
                <a:ea typeface="微软雅黑" panose="020B0503020204020204" pitchFamily="34" charset="-122"/>
              </a:rPr>
              <a:t>（车载高精地图为例）</a:t>
            </a:r>
          </a:p>
        </p:txBody>
      </p:sp>
      <p:sp>
        <p:nvSpPr>
          <p:cNvPr id="13" name="矩形 12">
            <a:extLst>
              <a:ext uri="{FF2B5EF4-FFF2-40B4-BE49-F238E27FC236}">
                <a16:creationId xmlns:a16="http://schemas.microsoft.com/office/drawing/2014/main" id="{E1A17DE2-4714-48B2-7E19-A21C342CBBF3}"/>
              </a:ext>
            </a:extLst>
          </p:cNvPr>
          <p:cNvSpPr/>
          <p:nvPr/>
        </p:nvSpPr>
        <p:spPr>
          <a:xfrm>
            <a:off x="148729" y="1234070"/>
            <a:ext cx="6096000" cy="5111888"/>
          </a:xfrm>
          <a:prstGeom prst="rect">
            <a:avLst/>
          </a:prstGeom>
          <a:solidFill>
            <a:srgbClr val="DEEBF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箭头: 下 14">
            <a:extLst>
              <a:ext uri="{FF2B5EF4-FFF2-40B4-BE49-F238E27FC236}">
                <a16:creationId xmlns:a16="http://schemas.microsoft.com/office/drawing/2014/main" id="{22D95536-14EE-C28D-0430-D1CF3AA22844}"/>
              </a:ext>
            </a:extLst>
          </p:cNvPr>
          <p:cNvSpPr/>
          <p:nvPr/>
        </p:nvSpPr>
        <p:spPr>
          <a:xfrm rot="16200000">
            <a:off x="6607472" y="3006098"/>
            <a:ext cx="523221" cy="1044611"/>
          </a:xfrm>
          <a:prstGeom prst="downArrow">
            <a:avLst/>
          </a:prstGeom>
          <a:solidFill>
            <a:srgbClr val="1F4E79"/>
          </a:solidFill>
          <a:ln>
            <a:solidFill>
              <a:srgbClr val="1F4E7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id="{073D9BA1-A766-6610-B6A6-FE516718EE85}"/>
              </a:ext>
            </a:extLst>
          </p:cNvPr>
          <p:cNvSpPr/>
          <p:nvPr/>
        </p:nvSpPr>
        <p:spPr>
          <a:xfrm>
            <a:off x="148728" y="1229715"/>
            <a:ext cx="6095999" cy="523220"/>
          </a:xfrm>
          <a:prstGeom prst="rect">
            <a:avLst/>
          </a:prstGeom>
          <a:solidFill>
            <a:srgbClr val="1F4E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sz="2000" b="1" dirty="0">
                <a:latin typeface="微软雅黑" panose="020B0503020204020204" charset="-122"/>
                <a:ea typeface="微软雅黑" panose="020B0503020204020204" charset="-122"/>
              </a:rPr>
              <a:t>其他领域数据资产价值评估体系</a:t>
            </a:r>
          </a:p>
        </p:txBody>
      </p:sp>
      <p:pic>
        <p:nvPicPr>
          <p:cNvPr id="20" name="图片 19">
            <a:extLst>
              <a:ext uri="{FF2B5EF4-FFF2-40B4-BE49-F238E27FC236}">
                <a16:creationId xmlns:a16="http://schemas.microsoft.com/office/drawing/2014/main" id="{A39A2974-FF79-436A-E051-EDC5A94B5EBF}"/>
              </a:ext>
            </a:extLst>
          </p:cNvPr>
          <p:cNvPicPr/>
          <p:nvPr/>
        </p:nvPicPr>
        <p:blipFill>
          <a:blip r:embed="rId10"/>
          <a:stretch>
            <a:fillRect/>
          </a:stretch>
        </p:blipFill>
        <p:spPr>
          <a:xfrm>
            <a:off x="1087606" y="1850634"/>
            <a:ext cx="4218241" cy="1658429"/>
          </a:xfrm>
          <a:prstGeom prst="roundRect">
            <a:avLst/>
          </a:prstGeom>
          <a:effectLst>
            <a:outerShdw blurRad="152400" dist="38100" dir="2700000" algn="tl" rotWithShape="0">
              <a:prstClr val="black">
                <a:alpha val="40000"/>
              </a:prstClr>
            </a:outerShdw>
          </a:effectLst>
        </p:spPr>
      </p:pic>
      <p:pic>
        <p:nvPicPr>
          <p:cNvPr id="22" name="图片 21">
            <a:extLst>
              <a:ext uri="{FF2B5EF4-FFF2-40B4-BE49-F238E27FC236}">
                <a16:creationId xmlns:a16="http://schemas.microsoft.com/office/drawing/2014/main" id="{A2D8B981-7590-C08A-7C82-80404F1A7EE0}"/>
              </a:ext>
            </a:extLst>
          </p:cNvPr>
          <p:cNvPicPr/>
          <p:nvPr/>
        </p:nvPicPr>
        <p:blipFill>
          <a:blip r:embed="rId11"/>
          <a:stretch>
            <a:fillRect/>
          </a:stretch>
        </p:blipFill>
        <p:spPr>
          <a:xfrm>
            <a:off x="1608908" y="4030447"/>
            <a:ext cx="3175635" cy="1987550"/>
          </a:xfrm>
          <a:prstGeom prst="roundRect">
            <a:avLst/>
          </a:prstGeom>
          <a:effectLst>
            <a:outerShdw blurRad="152400" dist="38100" dir="2700000" algn="tl" rotWithShape="0">
              <a:prstClr val="black">
                <a:alpha val="40000"/>
              </a:prstClr>
            </a:outerShdw>
          </a:effectLst>
        </p:spPr>
      </p:pic>
      <p:sp>
        <p:nvSpPr>
          <p:cNvPr id="23" name="文本框 22">
            <a:extLst>
              <a:ext uri="{FF2B5EF4-FFF2-40B4-BE49-F238E27FC236}">
                <a16:creationId xmlns:a16="http://schemas.microsoft.com/office/drawing/2014/main" id="{35736FAA-55BA-C8BE-4AAA-A7EBC8BC70EC}"/>
              </a:ext>
            </a:extLst>
          </p:cNvPr>
          <p:cNvSpPr txBox="1"/>
          <p:nvPr/>
        </p:nvSpPr>
        <p:spPr>
          <a:xfrm>
            <a:off x="148727" y="3531561"/>
            <a:ext cx="6096000" cy="337015"/>
          </a:xfrm>
          <a:prstGeom prst="rect">
            <a:avLst/>
          </a:prstGeom>
        </p:spPr>
        <p:txBody>
          <a:bodyPr wrap="square">
            <a:spAutoFit/>
          </a:bodyPr>
          <a:lstStyle/>
          <a:p>
            <a:pPr marL="0" indent="0" algn="ctr" defTabSz="266700">
              <a:lnSpc>
                <a:spcPct val="125000"/>
              </a:lnSpc>
              <a:spcBef>
                <a:spcPct val="0"/>
              </a:spcBef>
              <a:spcAft>
                <a:spcPct val="0"/>
              </a:spcAft>
            </a:pP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电子商务数据资产评价指标体系</a:t>
            </a:r>
            <a:r>
              <a:rPr lang="en-US" altLang="zh-CN" sz="1400" dirty="0">
                <a:latin typeface="微软雅黑" panose="020B0503020204020204" charset="-122"/>
                <a:ea typeface="微软雅黑" panose="020B0503020204020204" charset="-122"/>
              </a:rPr>
              <a:t>》</a:t>
            </a:r>
            <a:r>
              <a:rPr lang="zh-CN" altLang="en-US" sz="1400" dirty="0">
                <a:latin typeface="微软雅黑" panose="020B0503020204020204" charset="-122"/>
                <a:ea typeface="微软雅黑" panose="020B0503020204020204" charset="-122"/>
              </a:rPr>
              <a:t>中数据资产价值评价指标体系</a:t>
            </a:r>
          </a:p>
        </p:txBody>
      </p:sp>
      <p:sp>
        <p:nvSpPr>
          <p:cNvPr id="25" name="文本框 24">
            <a:extLst>
              <a:ext uri="{FF2B5EF4-FFF2-40B4-BE49-F238E27FC236}">
                <a16:creationId xmlns:a16="http://schemas.microsoft.com/office/drawing/2014/main" id="{F7307C6F-5416-05A7-9D15-92E2C069A167}"/>
              </a:ext>
            </a:extLst>
          </p:cNvPr>
          <p:cNvSpPr txBox="1"/>
          <p:nvPr/>
        </p:nvSpPr>
        <p:spPr>
          <a:xfrm>
            <a:off x="148728" y="5995673"/>
            <a:ext cx="6096000" cy="328936"/>
          </a:xfrm>
          <a:prstGeom prst="rect">
            <a:avLst/>
          </a:prstGeom>
        </p:spPr>
        <p:txBody>
          <a:bodyPr wrap="square">
            <a:spAutoFit/>
          </a:bodyPr>
          <a:lstStyle/>
          <a:p>
            <a:pPr marL="279400" indent="0" algn="ctr" defTabSz="266700">
              <a:lnSpc>
                <a:spcPct val="120000"/>
              </a:lnSpc>
              <a:spcBef>
                <a:spcPct val="0"/>
              </a:spcBef>
              <a:spcAft>
                <a:spcPct val="0"/>
              </a:spcAft>
            </a:pPr>
            <a:r>
              <a:rPr lang="zh-CN" altLang="en-US" sz="1400" dirty="0">
                <a:latin typeface="微软雅黑" panose="020B0503020204020204" charset="-122"/>
                <a:ea typeface="微软雅黑" panose="020B0503020204020204" charset="-122"/>
              </a:rPr>
              <a:t>医疗健康数据价值评估指标体系</a:t>
            </a:r>
          </a:p>
        </p:txBody>
      </p:sp>
    </p:spTree>
    <p:extLst>
      <p:ext uri="{BB962C8B-B14F-4D97-AF65-F5344CB8AC3E}">
        <p14:creationId xmlns:p14="http://schemas.microsoft.com/office/powerpoint/2010/main" val="30019078"/>
      </p:ext>
    </p:extLst>
  </p:cSld>
  <p:clrMapOvr>
    <a:masterClrMapping/>
  </p:clrMapOvr>
  <p:transition spd="med" advClick="0" advTm="0"/>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0" y="6477000"/>
            <a:ext cx="8352155"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武汉大学大学生创新训练计划项目结题报告</a:t>
            </a:r>
            <a:endParaRPr lang="en-US" altLang="zh-CN" sz="16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3" name="矩形 2"/>
          <p:cNvSpPr/>
          <p:nvPr/>
        </p:nvSpPr>
        <p:spPr>
          <a:xfrm>
            <a:off x="4698365" y="6477000"/>
            <a:ext cx="7494270" cy="381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mn-ea"/>
              </a:rPr>
              <a:t>二零二五年十二月</a:t>
            </a:r>
          </a:p>
        </p:txBody>
      </p:sp>
      <p:sp>
        <p:nvSpPr>
          <p:cNvPr id="96" name="文本框 95"/>
          <p:cNvSpPr txBox="1"/>
          <p:nvPr/>
        </p:nvSpPr>
        <p:spPr>
          <a:xfrm>
            <a:off x="-6250" y="703669"/>
            <a:ext cx="12193270" cy="523220"/>
          </a:xfrm>
          <a:prstGeom prst="rect">
            <a:avLst/>
          </a:prstGeom>
          <a:noFill/>
        </p:spPr>
        <p:txBody>
          <a:bodyPr wrap="square" rtlCol="0">
            <a:spAutoFit/>
          </a:bodyPr>
          <a:lstStyle/>
          <a:p>
            <a:r>
              <a:rPr lang="en-US" altLang="zh-CN" sz="2800" b="1" dirty="0">
                <a:solidFill>
                  <a:srgbClr val="1F4E79"/>
                </a:solidFill>
                <a:latin typeface="微软雅黑" panose="020B0503020204020204" charset="-122"/>
                <a:ea typeface="微软雅黑" panose="020B0503020204020204" charset="-122"/>
                <a:cs typeface="微软雅黑" panose="020B0503020204020204" charset="-122"/>
              </a:rPr>
              <a:t>5.2 </a:t>
            </a:r>
            <a:r>
              <a:rPr lang="zh-CN" altLang="en-US" sz="2800" b="1" dirty="0">
                <a:solidFill>
                  <a:srgbClr val="1F4E79"/>
                </a:solidFill>
                <a:latin typeface="微软雅黑" panose="020B0503020204020204" charset="-122"/>
                <a:ea typeface="微软雅黑" panose="020B0503020204020204" charset="-122"/>
                <a:cs typeface="微软雅黑" panose="020B0503020204020204" charset="-122"/>
              </a:rPr>
              <a:t>车路云一体化下高精地图数据市场的价值分配模式</a:t>
            </a:r>
          </a:p>
        </p:txBody>
      </p:sp>
      <p:sp>
        <p:nvSpPr>
          <p:cNvPr id="2" name="矩形 1">
            <a:extLst>
              <a:ext uri="{FF2B5EF4-FFF2-40B4-BE49-F238E27FC236}">
                <a16:creationId xmlns:a16="http://schemas.microsoft.com/office/drawing/2014/main" id="{2F876589-585B-9090-E9B4-E2F46330E161}"/>
              </a:ext>
            </a:extLst>
          </p:cNvPr>
          <p:cNvSpPr/>
          <p:nvPr/>
        </p:nvSpPr>
        <p:spPr>
          <a:xfrm>
            <a:off x="-635" y="7620"/>
            <a:ext cx="12193270" cy="629285"/>
          </a:xfrm>
          <a:prstGeom prst="rect">
            <a:avLst/>
          </a:prstGeom>
          <a:solidFill>
            <a:schemeClr val="bg1"/>
          </a:solidFill>
          <a:ln w="12700" cap="flat" cmpd="sng">
            <a:noFill/>
            <a:prstDash val="solid"/>
            <a:miter lim="800000"/>
          </a:ln>
          <a:effectLst>
            <a:outerShdw blurRad="50800" dist="38100" dir="5400000" algn="t"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任意多边形: 形状 83">
            <a:extLst>
              <a:ext uri="{FF2B5EF4-FFF2-40B4-BE49-F238E27FC236}">
                <a16:creationId xmlns:a16="http://schemas.microsoft.com/office/drawing/2014/main" id="{8571A9FA-68F9-320E-7B44-9896C2B482D9}"/>
              </a:ext>
            </a:extLst>
          </p:cNvPr>
          <p:cNvSpPr/>
          <p:nvPr>
            <p:custDataLst>
              <p:tags r:id="rId1"/>
            </p:custDataLst>
          </p:nvPr>
        </p:nvSpPr>
        <p:spPr>
          <a:xfrm rot="10800000">
            <a:off x="9745980" y="0"/>
            <a:ext cx="2446020" cy="786130"/>
          </a:xfrm>
          <a:custGeom>
            <a:avLst/>
            <a:gdLst>
              <a:gd name="connsiteX0" fmla="*/ 2295470 w 2295470"/>
              <a:gd name="connsiteY0" fmla="*/ 1031611 h 1031611"/>
              <a:gd name="connsiteX1" fmla="*/ 0 w 2295470"/>
              <a:gd name="connsiteY1" fmla="*/ 1031611 h 1031611"/>
              <a:gd name="connsiteX2" fmla="*/ 0 w 2295470"/>
              <a:gd name="connsiteY2" fmla="*/ 158486 h 1031611"/>
              <a:gd name="connsiteX3" fmla="*/ 1013737 w 2295470"/>
              <a:gd name="connsiteY3" fmla="*/ 158486 h 1031611"/>
              <a:gd name="connsiteX4" fmla="*/ 1147735 w 2295470"/>
              <a:gd name="connsiteY4" fmla="*/ 0 h 1031611"/>
              <a:gd name="connsiteX5" fmla="*/ 1281733 w 2295470"/>
              <a:gd name="connsiteY5" fmla="*/ 158486 h 1031611"/>
              <a:gd name="connsiteX6" fmla="*/ 2295470 w 2295470"/>
              <a:gd name="connsiteY6" fmla="*/ 158486 h 1031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95470" h="1031611">
                <a:moveTo>
                  <a:pt x="2295470" y="1031611"/>
                </a:moveTo>
                <a:lnTo>
                  <a:pt x="0" y="1031611"/>
                </a:lnTo>
                <a:lnTo>
                  <a:pt x="0" y="158486"/>
                </a:lnTo>
                <a:lnTo>
                  <a:pt x="1013737" y="158486"/>
                </a:lnTo>
                <a:lnTo>
                  <a:pt x="1147735" y="0"/>
                </a:lnTo>
                <a:lnTo>
                  <a:pt x="1281733" y="158486"/>
                </a:lnTo>
                <a:lnTo>
                  <a:pt x="2295470" y="158486"/>
                </a:lnTo>
                <a:close/>
              </a:path>
            </a:pathLst>
          </a:custGeom>
          <a:solidFill>
            <a:srgbClr val="1F4E7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2"/>
              </a:solidFill>
            </a:endParaRPr>
          </a:p>
        </p:txBody>
      </p:sp>
      <p:sp>
        <p:nvSpPr>
          <p:cNvPr id="5" name="文本框 4">
            <a:extLst>
              <a:ext uri="{FF2B5EF4-FFF2-40B4-BE49-F238E27FC236}">
                <a16:creationId xmlns:a16="http://schemas.microsoft.com/office/drawing/2014/main" id="{149657CA-5898-03C6-A065-E6F8D0408FBB}"/>
              </a:ext>
            </a:extLst>
          </p:cNvPr>
          <p:cNvSpPr txBox="1"/>
          <p:nvPr>
            <p:custDataLst>
              <p:tags r:id="rId2"/>
            </p:custDataLst>
          </p:nvPr>
        </p:nvSpPr>
        <p:spPr>
          <a:xfrm>
            <a:off x="2858017" y="-25972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研究背景</a:t>
            </a:r>
          </a:p>
        </p:txBody>
      </p:sp>
      <p:sp>
        <p:nvSpPr>
          <p:cNvPr id="9" name="文本框 8">
            <a:extLst>
              <a:ext uri="{FF2B5EF4-FFF2-40B4-BE49-F238E27FC236}">
                <a16:creationId xmlns:a16="http://schemas.microsoft.com/office/drawing/2014/main" id="{EED22ECC-6539-D021-FFCE-3B4FCF196897}"/>
              </a:ext>
            </a:extLst>
          </p:cNvPr>
          <p:cNvSpPr txBox="1"/>
          <p:nvPr>
            <p:custDataLst>
              <p:tags r:id="rId3"/>
            </p:custDataLst>
          </p:nvPr>
        </p:nvSpPr>
        <p:spPr>
          <a:xfrm>
            <a:off x="7638235" y="-266959"/>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buClrTx/>
              <a:buSzTx/>
              <a:buFontTx/>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亮点难点</a:t>
            </a:r>
          </a:p>
        </p:txBody>
      </p:sp>
      <p:sp>
        <p:nvSpPr>
          <p:cNvPr id="14" name="文本框 13">
            <a:extLst>
              <a:ext uri="{FF2B5EF4-FFF2-40B4-BE49-F238E27FC236}">
                <a16:creationId xmlns:a16="http://schemas.microsoft.com/office/drawing/2014/main" id="{797CCBA0-4C2C-7760-5184-AFC5953297B9}"/>
              </a:ext>
            </a:extLst>
          </p:cNvPr>
          <p:cNvSpPr txBox="1"/>
          <p:nvPr>
            <p:custDataLst>
              <p:tags r:id="rId4"/>
            </p:custDataLst>
          </p:nvPr>
        </p:nvSpPr>
        <p:spPr>
          <a:xfrm>
            <a:off x="10165281" y="-256470"/>
            <a:ext cx="1605280" cy="824136"/>
          </a:xfrm>
          <a:prstGeom prst="rect">
            <a:avLst/>
          </a:prstGeom>
          <a:noFill/>
        </p:spPr>
        <p:txBody>
          <a:bodyPr wrap="squar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bg1"/>
                </a:solidFill>
                <a:latin typeface="微软雅黑" panose="020B0503020204020204" charset="-122"/>
                <a:ea typeface="微软雅黑" panose="020B0503020204020204" charset="-122"/>
                <a:cs typeface="Arial Black" panose="020B0A04020102020204" charset="0"/>
                <a:sym typeface="+mn-ea"/>
              </a:rPr>
              <a:t>研究展望</a:t>
            </a:r>
          </a:p>
        </p:txBody>
      </p:sp>
      <p:sp>
        <p:nvSpPr>
          <p:cNvPr id="17" name="文本框 16">
            <a:extLst>
              <a:ext uri="{FF2B5EF4-FFF2-40B4-BE49-F238E27FC236}">
                <a16:creationId xmlns:a16="http://schemas.microsoft.com/office/drawing/2014/main" id="{AA852810-FFE3-5792-CBE5-41105D8050E7}"/>
              </a:ext>
            </a:extLst>
          </p:cNvPr>
          <p:cNvSpPr txBox="1"/>
          <p:nvPr>
            <p:custDataLst>
              <p:tags r:id="rId5"/>
            </p:custDataLst>
          </p:nvPr>
        </p:nvSpPr>
        <p:spPr>
          <a:xfrm>
            <a:off x="5248126" y="-259585"/>
            <a:ext cx="1620957" cy="824136"/>
          </a:xfrm>
          <a:prstGeom prst="rect">
            <a:avLst/>
          </a:prstGeom>
          <a:noFill/>
        </p:spPr>
        <p:txBody>
          <a:bodyPr wrap="none" rtlCol="0" anchor="t" anchorCtr="0">
            <a:sp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研究内容</a:t>
            </a:r>
          </a:p>
        </p:txBody>
      </p:sp>
      <p:sp>
        <p:nvSpPr>
          <p:cNvPr id="18" name="文本框 17">
            <a:extLst>
              <a:ext uri="{FF2B5EF4-FFF2-40B4-BE49-F238E27FC236}">
                <a16:creationId xmlns:a16="http://schemas.microsoft.com/office/drawing/2014/main" id="{E498DAC8-21E8-B72A-91DD-88FA2498D8E4}"/>
              </a:ext>
            </a:extLst>
          </p:cNvPr>
          <p:cNvSpPr txBox="1"/>
          <p:nvPr>
            <p:custDataLst>
              <p:tags r:id="rId6"/>
            </p:custDataLst>
          </p:nvPr>
        </p:nvSpPr>
        <p:spPr>
          <a:xfrm>
            <a:off x="402989" y="-279066"/>
            <a:ext cx="1620957" cy="824136"/>
          </a:xfrm>
          <a:prstGeom prst="rect">
            <a:avLst/>
          </a:prstGeom>
          <a:noFill/>
        </p:spPr>
        <p:txBody>
          <a:bodyPr wrap="none" rtlCol="0" anchor="t" anchorCtr="0">
            <a:noAutofit/>
          </a:bodyPr>
          <a:lstStyle>
            <a:defPPr>
              <a:defRPr lang="zh-CN"/>
            </a:defPPr>
            <a:lvl1pPr>
              <a:defRPr sz="6000">
                <a:gradFill>
                  <a:gsLst>
                    <a:gs pos="0">
                      <a:schemeClr val="accent1">
                        <a:lumMod val="75000"/>
                      </a:schemeClr>
                    </a:gs>
                    <a:gs pos="100000">
                      <a:schemeClr val="accent4">
                        <a:lumMod val="25000"/>
                      </a:schemeClr>
                    </a:gs>
                  </a:gsLst>
                  <a:lin ang="2700000" scaled="1"/>
                </a:gradFill>
                <a:latin typeface="+mj-ea"/>
                <a:ea typeface="+mj-ea"/>
              </a:defRPr>
            </a:lvl1pPr>
          </a:lstStyle>
          <a:p>
            <a:pPr algn="dist">
              <a:lnSpc>
                <a:spcPct val="200000"/>
              </a:lnSpc>
            </a:pPr>
            <a:r>
              <a:rPr lang="zh-CN" altLang="en-US" sz="2800" b="1" dirty="0">
                <a:solidFill>
                  <a:schemeClr val="tx1"/>
                </a:solidFill>
                <a:latin typeface="微软雅黑" panose="020B0503020204020204" charset="-122"/>
                <a:ea typeface="微软雅黑" panose="020B0503020204020204" charset="-122"/>
                <a:cs typeface="Arial Black" panose="020B0A04020102020204" charset="0"/>
                <a:sym typeface="+mn-ea"/>
              </a:rPr>
              <a:t>项目概述</a:t>
            </a:r>
          </a:p>
        </p:txBody>
      </p:sp>
      <p:pic>
        <p:nvPicPr>
          <p:cNvPr id="8" name="图片 7">
            <a:extLst>
              <a:ext uri="{FF2B5EF4-FFF2-40B4-BE49-F238E27FC236}">
                <a16:creationId xmlns:a16="http://schemas.microsoft.com/office/drawing/2014/main" id="{B782E2E9-54AE-8F46-7FFB-7E8BC0F7247B}"/>
              </a:ext>
            </a:extLst>
          </p:cNvPr>
          <p:cNvPicPr>
            <a:picLocks noChangeAspect="1"/>
          </p:cNvPicPr>
          <p:nvPr/>
        </p:nvPicPr>
        <p:blipFill>
          <a:blip r:embed="rId9"/>
          <a:srcRect t="1691"/>
          <a:stretch/>
        </p:blipFill>
        <p:spPr>
          <a:xfrm>
            <a:off x="208486" y="2232429"/>
            <a:ext cx="5299061" cy="3379354"/>
          </a:xfrm>
          <a:prstGeom prst="rect">
            <a:avLst/>
          </a:prstGeom>
        </p:spPr>
      </p:pic>
      <p:sp>
        <p:nvSpPr>
          <p:cNvPr id="12" name="流程图: 可选过程 11">
            <a:extLst>
              <a:ext uri="{FF2B5EF4-FFF2-40B4-BE49-F238E27FC236}">
                <a16:creationId xmlns:a16="http://schemas.microsoft.com/office/drawing/2014/main" id="{796AED83-3EDC-7975-C7ED-5736CD86B4B5}"/>
              </a:ext>
            </a:extLst>
          </p:cNvPr>
          <p:cNvSpPr/>
          <p:nvPr/>
        </p:nvSpPr>
        <p:spPr>
          <a:xfrm>
            <a:off x="85942" y="1367212"/>
            <a:ext cx="12008886" cy="523221"/>
          </a:xfrm>
          <a:prstGeom prst="flowChartAlternateProcess">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indent="457200" algn="just" defTabSz="266700">
              <a:lnSpc>
                <a:spcPts val="2300"/>
              </a:lnSpc>
              <a:spcBef>
                <a:spcPct val="0"/>
              </a:spcBef>
              <a:spcAft>
                <a:spcPct val="0"/>
              </a:spcAft>
            </a:pPr>
            <a:r>
              <a:rPr lang="zh-CN" altLang="en-US" b="1" dirty="0">
                <a:solidFill>
                  <a:srgbClr val="C00000"/>
                </a:solidFill>
                <a:latin typeface="微软雅黑" panose="020B0503020204020204" charset="-122"/>
                <a:ea typeface="微软雅黑" panose="020B0503020204020204" charset="-122"/>
                <a:sym typeface="+mn-ea"/>
              </a:rPr>
              <a:t>价值分配：</a:t>
            </a:r>
            <a:r>
              <a:rPr lang="zh-CN" altLang="en-US" b="1" dirty="0">
                <a:solidFill>
                  <a:schemeClr val="tx1"/>
                </a:solidFill>
                <a:latin typeface="微软雅黑" panose="020B0503020204020204" charset="-122"/>
                <a:ea typeface="微软雅黑" panose="020B0503020204020204" charset="-122"/>
                <a:sym typeface="+mn-ea"/>
              </a:rPr>
              <a:t>在表象上是数据风险与收益的再分配，而其内核则是数据价值实现过程中价值增殖（再造）。</a:t>
            </a:r>
          </a:p>
        </p:txBody>
      </p:sp>
      <p:pic>
        <p:nvPicPr>
          <p:cNvPr id="21" name="图片 20">
            <a:extLst>
              <a:ext uri="{FF2B5EF4-FFF2-40B4-BE49-F238E27FC236}">
                <a16:creationId xmlns:a16="http://schemas.microsoft.com/office/drawing/2014/main" id="{422C2CFB-2E7A-0E7A-8839-04FE4944A5F1}"/>
              </a:ext>
            </a:extLst>
          </p:cNvPr>
          <p:cNvPicPr>
            <a:picLocks noChangeAspect="1"/>
          </p:cNvPicPr>
          <p:nvPr/>
        </p:nvPicPr>
        <p:blipFill>
          <a:blip r:embed="rId10"/>
          <a:srcRect b="456"/>
          <a:stretch/>
        </p:blipFill>
        <p:spPr>
          <a:xfrm>
            <a:off x="5510744" y="2666595"/>
            <a:ext cx="6584084" cy="2634340"/>
          </a:xfrm>
          <a:prstGeom prst="rect">
            <a:avLst/>
          </a:prstGeom>
        </p:spPr>
      </p:pic>
    </p:spTree>
    <p:extLst>
      <p:ext uri="{BB962C8B-B14F-4D97-AF65-F5344CB8AC3E}">
        <p14:creationId xmlns:p14="http://schemas.microsoft.com/office/powerpoint/2010/main" val="3543405930"/>
      </p:ext>
    </p:extLst>
  </p:cSld>
  <p:clrMapOvr>
    <a:masterClrMapping/>
  </p:clrMapOvr>
  <p:transition spd="med" advClick="0" advTm="0"/>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pic>
        <p:nvPicPr>
          <p:cNvPr id="12" name="图片 11" descr="v2-007e96145ec1a9a8a69a87a72532bc6c_1440w"/>
          <p:cNvPicPr>
            <a:picLocks noChangeAspect="1"/>
          </p:cNvPicPr>
          <p:nvPr/>
        </p:nvPicPr>
        <p:blipFill>
          <a:blip r:embed="rId3">
            <a:alphaModFix amt="80000"/>
          </a:blip>
          <a:stretch>
            <a:fillRect/>
          </a:stretch>
        </p:blipFill>
        <p:spPr>
          <a:xfrm>
            <a:off x="-17145" y="0"/>
            <a:ext cx="12369800" cy="6858000"/>
          </a:xfrm>
          <a:prstGeom prst="rect">
            <a:avLst/>
          </a:prstGeom>
        </p:spPr>
      </p:pic>
      <p:sp>
        <p:nvSpPr>
          <p:cNvPr id="6" name="矩形 5"/>
          <p:cNvSpPr/>
          <p:nvPr/>
        </p:nvSpPr>
        <p:spPr>
          <a:xfrm>
            <a:off x="-17780" y="1634490"/>
            <a:ext cx="12226290" cy="5224145"/>
          </a:xfrm>
          <a:prstGeom prst="rect">
            <a:avLst/>
          </a:prstGeom>
          <a:solidFill>
            <a:schemeClr val="bg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3794760" y="6705600"/>
            <a:ext cx="4972050" cy="17145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1270" y="3312160"/>
            <a:ext cx="12174220" cy="934085"/>
          </a:xfrm>
          <a:prstGeom prst="rect">
            <a:avLst/>
          </a:prstGeom>
          <a:noFill/>
        </p:spPr>
        <p:txBody>
          <a:bodyPr wrap="square" rtlCol="0">
            <a:noAutofit/>
          </a:bodyPr>
          <a:lstStyle/>
          <a:p>
            <a:pPr algn="ctr"/>
            <a:r>
              <a:rPr lang="zh-CN" altLang="en-US" sz="5400" b="1">
                <a:solidFill>
                  <a:srgbClr val="1F4E79"/>
                </a:solidFill>
                <a:latin typeface="微软雅黑" panose="020B0503020204020204" charset="-122"/>
                <a:ea typeface="微软雅黑" panose="020B0503020204020204" charset="-122"/>
                <a:cs typeface="微软雅黑" panose="020B0503020204020204" charset="-122"/>
              </a:rPr>
              <a:t>感谢观看，敬请批评指正</a:t>
            </a:r>
          </a:p>
        </p:txBody>
      </p:sp>
      <p:sp>
        <p:nvSpPr>
          <p:cNvPr id="3" name="文本框 2"/>
          <p:cNvSpPr txBox="1"/>
          <p:nvPr/>
        </p:nvSpPr>
        <p:spPr>
          <a:xfrm>
            <a:off x="104775" y="4884420"/>
            <a:ext cx="12191365" cy="460375"/>
          </a:xfrm>
          <a:prstGeom prst="rect">
            <a:avLst/>
          </a:prstGeom>
          <a:noFill/>
        </p:spPr>
        <p:txBody>
          <a:bodyPr wrap="square" rtlCol="0">
            <a:spAutoFit/>
          </a:bodyPr>
          <a:lstStyle/>
          <a:p>
            <a:pPr algn="ctr"/>
            <a:r>
              <a:rPr lang="zh-CN" altLang="en-US" sz="2400" dirty="0">
                <a:solidFill>
                  <a:srgbClr val="1F4E79"/>
                </a:solidFill>
                <a:latin typeface="微软雅黑" panose="020B0503020204020204" charset="-122"/>
                <a:ea typeface="微软雅黑" panose="020B0503020204020204" charset="-122"/>
                <a:cs typeface="微软雅黑" panose="020B0503020204020204" charset="-122"/>
              </a:rPr>
              <a:t>武汉大学大学生创新训练计划项目结题报告</a:t>
            </a:r>
          </a:p>
        </p:txBody>
      </p:sp>
      <p:sp>
        <p:nvSpPr>
          <p:cNvPr id="2" name="灯片编号占位符 1"/>
          <p:cNvSpPr>
            <a:spLocks noGrp="1"/>
          </p:cNvSpPr>
          <p:nvPr>
            <p:ph type="sldNum" sz="quarter" idx="12"/>
          </p:nvPr>
        </p:nvSpPr>
        <p:spPr/>
        <p:txBody>
          <a:bodyPr/>
          <a:lstStyle/>
          <a:p>
            <a:fld id="{45415713-C7A7-47AD-8CA4-5FDFE231CA99}" type="slidenum">
              <a:rPr lang="zh-CN" altLang="en-US" smtClean="0"/>
              <a:t>29</a:t>
            </a:fld>
            <a:endParaRPr lang="zh-CN" altLang="en-US"/>
          </a:p>
        </p:txBody>
      </p:sp>
      <p:sp>
        <p:nvSpPr>
          <p:cNvPr id="11" name="文本框 10"/>
          <p:cNvSpPr txBox="1"/>
          <p:nvPr/>
        </p:nvSpPr>
        <p:spPr>
          <a:xfrm>
            <a:off x="-17780" y="5465445"/>
            <a:ext cx="12191365" cy="460375"/>
          </a:xfrm>
          <a:prstGeom prst="rect">
            <a:avLst/>
          </a:prstGeom>
          <a:noFill/>
        </p:spPr>
        <p:txBody>
          <a:bodyPr wrap="square" rtlCol="0">
            <a:spAutoFit/>
          </a:bodyPr>
          <a:lstStyle/>
          <a:p>
            <a:pPr algn="ctr"/>
            <a:r>
              <a:rPr lang="zh-CN" altLang="en-US" sz="2400" dirty="0">
                <a:solidFill>
                  <a:srgbClr val="1F4E79"/>
                </a:solidFill>
                <a:latin typeface="微软雅黑" panose="020B0503020204020204" charset="-122"/>
                <a:ea typeface="微软雅黑" panose="020B0503020204020204" charset="-122"/>
                <a:cs typeface="微软雅黑" panose="020B0503020204020204" charset="-122"/>
              </a:rPr>
              <a:t>团队成员：高家垚</a:t>
            </a:r>
            <a:r>
              <a:rPr lang="en-US" altLang="zh-CN" sz="2400" dirty="0">
                <a:solidFill>
                  <a:srgbClr val="1F4E79"/>
                </a:solidFill>
                <a:latin typeface="微软雅黑" panose="020B0503020204020204" charset="-122"/>
                <a:ea typeface="微软雅黑" panose="020B0503020204020204" charset="-122"/>
                <a:cs typeface="微软雅黑" panose="020B0503020204020204" charset="-122"/>
              </a:rPr>
              <a:t>  </a:t>
            </a:r>
            <a:r>
              <a:rPr lang="zh-CN" altLang="en-US" sz="2400" dirty="0">
                <a:solidFill>
                  <a:srgbClr val="1F4E79"/>
                </a:solidFill>
                <a:latin typeface="微软雅黑" panose="020B0503020204020204" charset="-122"/>
                <a:ea typeface="微软雅黑" panose="020B0503020204020204" charset="-122"/>
                <a:cs typeface="微软雅黑" panose="020B0503020204020204" charset="-122"/>
              </a:rPr>
              <a:t>何灿非  普贝吉</a:t>
            </a:r>
            <a:r>
              <a:rPr lang="en-US" altLang="zh-CN" sz="2400" dirty="0">
                <a:solidFill>
                  <a:srgbClr val="1F4E79"/>
                </a:solidFill>
                <a:latin typeface="微软雅黑" panose="020B0503020204020204" charset="-122"/>
                <a:ea typeface="微软雅黑" panose="020B0503020204020204" charset="-122"/>
                <a:cs typeface="微软雅黑" panose="020B0503020204020204" charset="-122"/>
              </a:rPr>
              <a:t>           </a:t>
            </a:r>
            <a:r>
              <a:rPr lang="zh-CN" altLang="en-US" sz="2400" dirty="0">
                <a:solidFill>
                  <a:srgbClr val="1F4E79"/>
                </a:solidFill>
                <a:latin typeface="微软雅黑" panose="020B0503020204020204" charset="-122"/>
                <a:ea typeface="微软雅黑" panose="020B0503020204020204" charset="-122"/>
                <a:cs typeface="微软雅黑" panose="020B0503020204020204" charset="-122"/>
              </a:rPr>
              <a:t>指导老师：应申</a:t>
            </a:r>
            <a:r>
              <a:rPr lang="en-US" altLang="zh-CN" sz="2400" dirty="0">
                <a:solidFill>
                  <a:srgbClr val="1F4E79"/>
                </a:solidFill>
                <a:latin typeface="微软雅黑" panose="020B0503020204020204" charset="-122"/>
                <a:ea typeface="微软雅黑" panose="020B0503020204020204" charset="-122"/>
                <a:cs typeface="微软雅黑" panose="020B0503020204020204" charset="-122"/>
              </a:rPr>
              <a:t>  </a:t>
            </a:r>
            <a:r>
              <a:rPr lang="zh-CN" altLang="en-US" sz="2400" dirty="0">
                <a:solidFill>
                  <a:srgbClr val="1F4E79"/>
                </a:solidFill>
                <a:latin typeface="微软雅黑" panose="020B0503020204020204" charset="-122"/>
                <a:ea typeface="微软雅黑" panose="020B0503020204020204" charset="-122"/>
                <a:cs typeface="微软雅黑" panose="020B0503020204020204" charset="-122"/>
              </a:rPr>
              <a:t>教授</a:t>
            </a:r>
          </a:p>
        </p:txBody>
      </p:sp>
      <p:sp>
        <p:nvSpPr>
          <p:cNvPr id="10" name="文本框 9"/>
          <p:cNvSpPr txBox="1"/>
          <p:nvPr/>
        </p:nvSpPr>
        <p:spPr>
          <a:xfrm>
            <a:off x="-35560" y="6245225"/>
            <a:ext cx="12191365" cy="398780"/>
          </a:xfrm>
          <a:prstGeom prst="rect">
            <a:avLst/>
          </a:prstGeom>
          <a:noFill/>
        </p:spPr>
        <p:txBody>
          <a:bodyPr wrap="square" rtlCol="0">
            <a:spAutoFit/>
          </a:bodyPr>
          <a:lstStyle/>
          <a:p>
            <a:pPr algn="ctr"/>
            <a:r>
              <a:rPr lang="zh-CN" altLang="en-US" sz="2000" dirty="0">
                <a:solidFill>
                  <a:srgbClr val="1F4E79"/>
                </a:solidFill>
                <a:latin typeface="微软雅黑" panose="020B0503020204020204" charset="-122"/>
                <a:ea typeface="微软雅黑" panose="020B0503020204020204" charset="-122"/>
                <a:cs typeface="微软雅黑" panose="020B0503020204020204" charset="-122"/>
              </a:rPr>
              <a:t>二零二五年十二月</a:t>
            </a:r>
          </a:p>
        </p:txBody>
      </p:sp>
      <p:pic>
        <p:nvPicPr>
          <p:cNvPr id="4" name="图片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91230" y="1365885"/>
            <a:ext cx="4531360" cy="1426210"/>
          </a:xfrm>
          <a:prstGeom prst="rect">
            <a:avLst/>
          </a:prstGeom>
        </p:spPr>
      </p:pic>
    </p:spTree>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COMMONDATA" val="eyJjb3VudCI6NjEsImhkaWQiOiI3YzRlZDFhNGY0YWZjZGZmNzk4ZThhZGIxNDI0ZjI4NCIsInVzZXJDb3VudCI6MjN9"/>
  <p:tag name="RESOURCE_RECORD_KEY" val="{&quot;10&quot;:[3642413,50044378,3658929,50034673,50042762],&quot;13&quot;:[4364974],&quot;29&quot;:[50052716,50000269,50000086,50000077,50000076]}"/>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73,&quot;left&quot;:483.2,&quot;top&quot;:20.85,&quot;width&quot;:570.05}"/>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73,&quot;left&quot;:483.2,&quot;top&quot;:20.85,&quot;width&quot;:570.05}"/>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73,&quot;left&quot;:483.2,&quot;top&quot;:20.85,&quot;width&quot;:570.05}"/>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73,&quot;left&quot;:483.2,&quot;top&quot;:20.85,&quot;width&quot;:570.05}"/>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73,&quot;left&quot;:483.2,&quot;top&quot;:20.85,&quot;width&quot;:570.05}"/>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73,&quot;left&quot;:483.2,&quot;top&quot;:20.85,&quot;width&quot;:570.05}"/>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73,&quot;left&quot;:483.2,&quot;top&quot;:20.85,&quot;width&quot;:570.05}"/>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73,&quot;left&quot;:483.2,&quot;top&quot;:20.85,&quot;width&quot;:570.0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91.9,&quot;left&quot;:466.65,&quot;top&quot;:64.35,&quot;width&quot;:566.6}"/>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TABLE_ENDDRAG_ORIGIN_RECT" val="890*409"/>
  <p:tag name="TABLE_ENDDRAG_RECT" val="40*75*890*409"/>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TABLE_ENDDRAG_ORIGIN_RECT" val="890*409"/>
  <p:tag name="TABLE_ENDDRAG_RECT" val="40*75*890*409"/>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TABLE_ENDDRAG_ORIGIN_RECT" val="890*409"/>
  <p:tag name="TABLE_ENDDRAG_RECT" val="40*75*890*409"/>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TABLE_ENDDRAG_ORIGIN_RECT" val="596*394"/>
  <p:tag name="TABLE_ENDDRAG_RECT" val="9*102*596*394"/>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TABLE_ENDDRAG_ORIGIN_RECT" val="890*409"/>
  <p:tag name="TABLE_ENDDRAG_RECT" val="40*75*890*409"/>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TABLE_ENDDRAG_ORIGIN_RECT" val="890*409"/>
  <p:tag name="TABLE_ENDDRAG_RECT" val="40*75*890*409"/>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1489</TotalTime>
  <Words>2857</Words>
  <Application>Microsoft Office PowerPoint</Application>
  <PresentationFormat>宽屏</PresentationFormat>
  <Paragraphs>468</Paragraphs>
  <Slides>29</Slides>
  <Notes>29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29</vt:i4>
      </vt:variant>
    </vt:vector>
  </HeadingPairs>
  <TitlesOfParts>
    <vt:vector size="36" baseType="lpstr">
      <vt:lpstr>Wingdings</vt:lpstr>
      <vt:lpstr>等线</vt:lpstr>
      <vt:lpstr>Calibri</vt:lpstr>
      <vt:lpstr>微软雅黑</vt:lpstr>
      <vt:lpstr>等线 Light</vt:lpstr>
      <vt:lpstr>Arial</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a77739</cp:lastModifiedBy>
  <cp:revision>272</cp:revision>
  <dcterms:created xsi:type="dcterms:W3CDTF">2024-08-21T14:09:00Z</dcterms:created>
  <dcterms:modified xsi:type="dcterms:W3CDTF">2026-01-04T14:31:17Z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2052-12.1.0.21541</vt:lpwstr>
  </property>
  <property fmtid="{D5CDD505-2E9C-101B-9397-08002B2CF9AE}" pid="3" name="KSOTemplateUUID">
    <vt:lpwstr>v1.0_mb_uGcgfR1ZIJGL601IjWvxaw==</vt:lpwstr>
  </property>
  <property fmtid="{D5CDD505-2E9C-101B-9397-08002B2CF9AE}" pid="4" name="ICV">
    <vt:lpwstr>01B35DB6FF1E4CE5939BE4D9DC4BA55C_13</vt:lpwstr>
  </property>
</Properties>
</file>